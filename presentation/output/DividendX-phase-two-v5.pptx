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37f1e1453a43c1" /><Relationship Type="http://schemas.openxmlformats.org/officeDocument/2006/relationships/extended-properties" Target="/docProps/app.xml" Id="R1e239fc4fb44477c" /><Relationship Type="http://schemas.openxmlformats.org/officeDocument/2006/relationships/officeDocument" Target="/ppt/presentation.xml" Id="R329352aad03248d2" /></Relationships>
</file>

<file path=ppt/presentation.xml><?xml version="1.0" encoding="utf-8"?>
<p:presentation xmlns:p="http://schemas.openxmlformats.org/presentationml/2006/main">
  <p:sldMasterIdLst>
    <p:sldMasterId xmlns:r="http://schemas.openxmlformats.org/officeDocument/2006/relationships" id="2147483648" r:id="Rc3b8963a8d2847ad"/>
  </p:sldMasterIdLst>
  <p:notesMasterIdLst>
    <p:notesMasterId xmlns:r="http://schemas.openxmlformats.org/officeDocument/2006/relationships" r:id="Rcb589c7ba85049c3"/>
  </p:notesMasterIdLst>
  <p:sldIdLst>
    <p:sldId xmlns:r="http://schemas.openxmlformats.org/officeDocument/2006/relationships" id="256" r:id="R5584e93d8c9c4a1e"/>
    <p:sldId xmlns:r="http://schemas.openxmlformats.org/officeDocument/2006/relationships" id="257" r:id="R612a53129e8a48dc"/>
    <p:sldId xmlns:r="http://schemas.openxmlformats.org/officeDocument/2006/relationships" id="258" r:id="R7b6ea39fa57a4976"/>
    <p:sldId xmlns:r="http://schemas.openxmlformats.org/officeDocument/2006/relationships" id="259" r:id="Rff412283f1d446a4"/>
    <p:sldId xmlns:r="http://schemas.openxmlformats.org/officeDocument/2006/relationships" id="260" r:id="Rd6b4706891ca4701"/>
    <p:sldId xmlns:r="http://schemas.openxmlformats.org/officeDocument/2006/relationships" id="261" r:id="R54181b3806dd4aea"/>
    <p:sldId xmlns:r="http://schemas.openxmlformats.org/officeDocument/2006/relationships" id="262" r:id="Ra684655ea984475e"/>
    <p:sldId xmlns:r="http://schemas.openxmlformats.org/officeDocument/2006/relationships" id="263" r:id="R5266d4eb0cb74b01"/>
    <p:sldId xmlns:r="http://schemas.openxmlformats.org/officeDocument/2006/relationships" id="264" r:id="R52c5de517ce645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7abfd4de2d4cb1" /><Relationship Type="http://schemas.openxmlformats.org/officeDocument/2006/relationships/slideMaster" Target="/ppt/slideMasters/slideMaster1.xml" Id="Rc3b8963a8d2847ad" /><Relationship Type="http://schemas.openxmlformats.org/officeDocument/2006/relationships/notesMaster" Target="/ppt/notesMasters/notesMaster1.xml" Id="Rcb589c7ba85049c3" /><Relationship Type="http://schemas.openxmlformats.org/officeDocument/2006/relationships/presProps" Target="/ppt/presProps.xml" Id="Rcb3bb2f6e06840b5" /><Relationship Type="http://schemas.openxmlformats.org/officeDocument/2006/relationships/tableStyles" Target="/ppt/tableStyles.xml" Id="Rad6d454a582544b5" /><Relationship Type="http://schemas.openxmlformats.org/officeDocument/2006/relationships/slide" Target="/ppt/slides/slide1.xml" Id="R5584e93d8c9c4a1e" /><Relationship Type="http://schemas.openxmlformats.org/officeDocument/2006/relationships/slide" Target="/ppt/slides/slide2.xml" Id="R612a53129e8a48dc" /><Relationship Type="http://schemas.openxmlformats.org/officeDocument/2006/relationships/slide" Target="/ppt/slides/slide3.xml" Id="R7b6ea39fa57a4976" /><Relationship Type="http://schemas.openxmlformats.org/officeDocument/2006/relationships/slide" Target="/ppt/slides/slide4.xml" Id="Rff412283f1d446a4" /><Relationship Type="http://schemas.openxmlformats.org/officeDocument/2006/relationships/slide" Target="/ppt/slides/slide5.xml" Id="Rd6b4706891ca4701" /><Relationship Type="http://schemas.openxmlformats.org/officeDocument/2006/relationships/slide" Target="/ppt/slides/slide6.xml" Id="R54181b3806dd4aea" /><Relationship Type="http://schemas.openxmlformats.org/officeDocument/2006/relationships/slide" Target="/ppt/slides/slide7.xml" Id="Ra684655ea984475e" /><Relationship Type="http://schemas.openxmlformats.org/officeDocument/2006/relationships/slide" Target="/ppt/slides/slide8.xml" Id="R5266d4eb0cb74b01" /><Relationship Type="http://schemas.openxmlformats.org/officeDocument/2006/relationships/slide" Target="/ppt/slides/slide9.xml" Id="R52c5de517ce645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63b9fdcd1b41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a1b7559d154c8d" /><Relationship Type="http://schemas.openxmlformats.org/officeDocument/2006/relationships/notesMaster" Target="/ppt/notesMasters/notesMaster1.xml" Id="R8027e81085ce47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6c1f945c624ce2" /><Relationship Type="http://schemas.openxmlformats.org/officeDocument/2006/relationships/notesMaster" Target="/ppt/notesMasters/notesMaster1.xml" Id="R724c6d4be8e046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8e9ebbf1c042f5" /><Relationship Type="http://schemas.openxmlformats.org/officeDocument/2006/relationships/notesMaster" Target="/ppt/notesMasters/notesMaster1.xml" Id="R10b7e3d4173c41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3963b27ec047e6" /><Relationship Type="http://schemas.openxmlformats.org/officeDocument/2006/relationships/notesMaster" Target="/ppt/notesMasters/notesMaster1.xml" Id="Rf424de6933324c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6af8ac7b944183" /><Relationship Type="http://schemas.openxmlformats.org/officeDocument/2006/relationships/notesMaster" Target="/ppt/notesMasters/notesMaster1.xml" Id="R877a03e6c88542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24d130f5d54781" /><Relationship Type="http://schemas.openxmlformats.org/officeDocument/2006/relationships/notesMaster" Target="/ppt/notesMasters/notesMaster1.xml" Id="Re2597f2d82d941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179026c8834346" /><Relationship Type="http://schemas.openxmlformats.org/officeDocument/2006/relationships/notesMaster" Target="/ppt/notesMasters/notesMaster1.xml" Id="Rfd53864d081d47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76d2a5efc24b6d" /><Relationship Type="http://schemas.openxmlformats.org/officeDocument/2006/relationships/notesMaster" Target="/ppt/notesMasters/notesMaster1.xml" Id="R4739171e81154c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61a41a40b04203" /><Relationship Type="http://schemas.openxmlformats.org/officeDocument/2006/relationships/notesMaster" Target="/ppt/notesMasters/notesMaster1.xml" Id="R42f393eb9cd842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DividendX lets a stock holder keep the stock exposure and sell the dividend rights. We are building a permissionless dividend market for selected stock tokens from xStocks, Backpack and Ondo on Solana.</a:t>
            </a:r>
          </a:p>
          <a:p xmlns:a="http://schemas.openxmlformats.org/drawingml/2006/main">
            <a:r>
              <a:t>Presenter notes: The protocol is not launched. Current software is an approved interface and working historical calculator. Selected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DividendX brings that choice to tokenized-stock holders: keep the stock exposure and sell the dividend rights.</a:t>
            </a:r>
          </a:p>
          <a:p xmlns:a="http://schemas.openxmlformats.org/drawingml/2006/main">
            <a:r>
              <a:t>Presenter notes: The institutions shown are participants in traditional dividend markets, not DividendX users. Bank direction varies by book and tenor; hedge funds can buy or sell. Traditional dividend futures and swaps are generally cash-settled. DividendX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Each pair is backed by its own stock-token collateral and redeems in that token. Its dollar value can change.</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DividendX connects those two ideas.</a:t>
            </a:r>
          </a:p>
          <a:p xmlns:a="http://schemas.openxmlformats.org/drawingml/2006/main">
            <a:r>
              <a:t>Presenter notes: Contracts and dollars are different measures. These figures establish precedents; they do not prove demand for DividendX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Our starting package includes familiar dividend payers such as Apple, Microsoft and Coca-Cola, represented by stock tokens on Solana.</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 The selected package contains 15 candidate mints across six companies: all six from xStocks and Ondo, and Micron, Nike and IBM from Backpack; this is not 15 completed integrations.</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stock tokens from different issuers use the same vault design. Each issuer's dividend data feeds common allocation rules. One transaction deposits collateral and creates both claims. Holders use the same deposit, trade and redemption flow, while each issuer's collateral stays separate.</a:t>
            </a:r>
          </a:p>
          <a:p xmlns:a="http://schemas.openxmlformats.org/drawingml/2006/main">
            <a:r>
              <a:t>Presenter notes: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holder or approved-vault products, no-dividend products and fee-bearing products are outside scope, not an upcoming integration track. Permissionless means no DividendX holder allowlist or issuer-specific approved-vault onboarding for admitted assets; underlying issuer controls and product restrictions remain. Ondo documents secondary transferability outside the United States subject to restrictions; issuer KYC for primary issuance or redemption is separate. Exact mint checks, event evidence and execution tests are required before a series opens. xStocks has public event history. Backpack MU has a fully bracketed sourced onchain reconstruction around its DividendDistribute transaction and later ordinary mint/redeem multiplier recomputations; an official event ledger and finality semantics remain unverified. Today's multiplier must not be used as an event factor. Ondo's keyed multiplier history still needs classified event joins, and no Ondo event is source-complete.</a:t>
            </a:r>
          </a:p>
          <a:p xmlns:a="http://schemas.openxmlformats.org/drawingml/2006/main">
            <a:r>
              <a:t>Sources (accessed/observed 16 September 2026 unless stated):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transferability: https://docs.ondo.finance/ondo-stocks/transferability | Ondo Solana repository: https://github.com/ondoprotocol/global-markets-solana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Other Solana applications can integrate the same claim interface.</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DividendX,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across supported Solana stock tokens: deposit, split, sell the dividend, redeem each side separately. We start with selected stocks from xStocks, Backpack and Ondo, proving one dividend event per issuer before expanding within the package. Other networks come later, with Solana as our home base for dividend liquidity.</a:t>
            </a:r>
          </a:p>
          <a:p xmlns:a="http://schemas.openxmlformats.org/drawingml/2006/main">
            <a:r>
              <a:t>Presenter notes: This is build scope and roadmap, not a claim of completed integration or partnership. The package contains 15 candidate mints across six companies: xStocks and Ondo each include Coca-Cola, Apple, Microsoft, Micron, Nike and IBM; Backpack includes Micron, Nike and IBM only. The six companies are not all available from all three issuers. KOx has a complete source-verified replay fixture; Backpack MU has a fully bracketed sourced onchain reconstruction; Ondo event binding still needs authenticated source data. One event per issuer is the first execution target. All vault execution remains planned. Excluded restricted, no-dividend, discontinued and fee-bearing families are outside scope. Coinbase collateral is on Base. The roadmap refers to Robinhood's new wallet-held Stock Tokens on Robinhood Chain. Cross-chain custody, settlement and messaging remain future design work.</a:t>
            </a:r>
          </a:p>
          <a:p xmlns:a="http://schemas.openxmlformats.org/drawingml/2006/main">
            <a:r>
              <a:t>Sources (accessed/observed 16 September 2026 unless stated): Selected asset package: planning/research/initial-asset-package.md | xStocks: https://xstocks.fi/ | xStocks docs: https://docs.xstocks.fi/docs | Backpack assets registry: https://api.backpack.exchange/api/v1/assets | Backpack MU: https://learn.backpack.exchange/blog/tokenized-micron-mu | Ondo corporate actions: https://docs.ondo.finance/ondo-stocks/corporate-actions | Ondo Solana registry: https://github.com/ondoprotocol/gm-solana-simulator/blob/0688add3c64aadc7006712989e9ec0592b5b10f8/constants.rs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0f22e7179b4a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661480e91c4fed" /><Relationship Type="http://schemas.openxmlformats.org/officeDocument/2006/relationships/slideLayout" Target="/ppt/slideLayouts/slideLayout1.xml" Id="Rff332593b0f540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332593b0f540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9a428309c74dcf" /><Relationship Type="http://schemas.openxmlformats.org/officeDocument/2006/relationships/notesSlide" Target="/ppt/notesSlides/notesSlide1.xml" Id="R145012b8a1cb4c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0886db8596433f" /><Relationship Type="http://schemas.openxmlformats.org/officeDocument/2006/relationships/notesSlide" Target="/ppt/notesSlides/notesSlide2.xml" Id="Rf528258f9f1f49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0e53c2206f435d" /><Relationship Type="http://schemas.openxmlformats.org/officeDocument/2006/relationships/notesSlide" Target="/ppt/notesSlides/notesSlide3.xml" Id="R2ae4c6d503284c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391bdb46fb4cd2" /><Relationship Type="http://schemas.openxmlformats.org/officeDocument/2006/relationships/notesSlide" Target="/ppt/notesSlides/notesSlide4.xml" Id="R2be587af014c4c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69b3954f3444bf" /><Relationship Type="http://schemas.openxmlformats.org/officeDocument/2006/relationships/notesSlide" Target="/ppt/notesSlides/notesSlide5.xml" Id="Rc955f12b3b694b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54084d0d7b499b" /><Relationship Type="http://schemas.openxmlformats.org/officeDocument/2006/relationships/notesSlide" Target="/ppt/notesSlides/notesSlide6.xml" Id="Rfb7b29e37c4e4f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29cea8543b04fae" /><Relationship Type="http://schemas.openxmlformats.org/officeDocument/2006/relationships/notesSlide" Target="/ppt/notesSlides/notesSlide7.xml" Id="R845147ba6b6240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d8e7356d6142c8" /><Relationship Type="http://schemas.openxmlformats.org/officeDocument/2006/relationships/image" Target="/ppt/media/image.png" Id="R1a03750130b94e0f" /><Relationship Type="http://schemas.openxmlformats.org/officeDocument/2006/relationships/notesSlide" Target="/ppt/notesSlides/notesSlide8.xml" Id="Rae870d9e2dfe43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6fe0badd054c88" /><Relationship Type="http://schemas.openxmlformats.org/officeDocument/2006/relationships/notesSlide" Target="/ppt/notesSlides/notesSlide9.xml" Id="R49db95e2d7f1431f"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0BFD0A-C967-4813-90F2-1C50FFC625B6}"/>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B37235-AE25-4916-ADA9-F92352CE415A}"/>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3C1E51-8435-48E0-8066-CEAB428EEDF4}"/>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B26AC26D-8B42-4A12-93D2-7C2C160B90C9}"/>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D768B187-69FC-4665-90AA-DAAA2704AD7F}"/>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AAFFD6E0-CBD7-4212-B1EB-463C7C5FB57D}"/>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157660C5-B075-4847-AC67-0CF8E059F645}"/>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C4459C2-0728-4F7B-B000-149A72454A03}"/>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98861988"/>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8925C33-365E-42E9-8298-5D50DBDCB8D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CBDB70-01BC-43E5-88F3-057B65447B6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ADBD0BC-37E7-4F34-ABEF-C131236F1D6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60368D0B-1D4F-444D-9EFC-B4283C74DFB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F191F7E6-82ED-4BF1-94DF-DD51C2C4DDF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BA815749-4CEF-4CFB-AC0D-6A8C524FE808}"/>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0BE68E7F-0FCD-4245-ABF2-FDCD3A4994DB}"/>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2A703064-E943-4AD4-98AC-F60E11A80CE9}"/>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01C3A6D6-B911-484B-95A0-F0B22D586593}"/>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2635910C-BFEB-49BD-BDCC-5AC2ECD1231B}"/>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FBF45D13-FA18-4BC6-B4EB-F51BA9675D84}"/>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67B5A139-63D0-4FF9-9D53-54355502B056}"/>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333A0B16-4962-43BB-B15A-3459C4146E4C}"/>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8763A6-9D2C-4C26-BD8A-44D462F8611A}"/>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8B675601-D75A-4F12-9B46-B3717DBA8F0C}"/>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BB01C712-53D1-44C6-A3BD-35FB3FC23EBA}"/>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EC94CD4D-387A-4A92-8CBF-307B590920F8}"/>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6F0E53A3-82B9-47FE-9AD6-B35EBD9B836E}"/>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07D93419-F219-4E44-B8C4-20C218C853DB}"/>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471F5586-C666-4D42-9EAE-4179B3DAB400}"/>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4ED5D67E-4664-439A-9949-F79B53A43137}"/>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5B1E8260-2919-414A-AAF3-08C0E7FA140E}"/>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24C2729E-A5FA-42DF-AC10-6BFFA57584E1}"/>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3004E8F-98DE-4E34-9338-4E1717213B94}"/>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418B741C-B833-49D7-886D-1F0E2578C52F}"/>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448837711"/>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7757A20-21B7-4602-BBAC-B1C9B29C979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757F0A-89DB-45D8-90E4-77E44CC79D1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312536C-1B61-4FC2-AF2D-EA5A1C46B65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00D3532A-3085-4E82-AC7C-98BB2C340D52}"/>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838FE1F8-4CC2-45C6-A3EE-81F19696BAB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Stock token">
            <a:extLst xmlns:a="http://schemas.openxmlformats.org/drawingml/2006/main">
              <a:ext uri="{FF2B5EF4-FFF2-40B4-BE49-F238E27FC236}">
                <a16:creationId xmlns:a16="http://schemas.microsoft.com/office/drawing/2014/main" id="{31A471C9-814F-4680-A727-1B26B9A29E41}"/>
              </a:ext>
            </a:extLst>
          </p:cNvPr>
          <p:cNvSpPr>
            <a:spLocks xmlns:a="http://schemas.openxmlformats.org/drawingml/2006/main" noGrp="1"/>
          </p:cNvSpPr>
          <p:nvPr/>
        </p:nvSpPr>
        <p:spPr>
          <a:xfrm xmlns:a="http://schemas.openxmlformats.org/drawingml/2006/main">
            <a:off x="742950" y="2705100"/>
            <a:ext cx="18097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985C6A0C-1AE9-4529-9458-A625A1F90ECA}"/>
              </a:ext>
            </a:extLst>
          </p:cNvPr>
          <p:cNvSpPr>
            <a:spLocks xmlns:a="http://schemas.openxmlformats.org/drawingml/2006/main" noGrp="1"/>
          </p:cNvSpPr>
          <p:nvPr/>
        </p:nvSpPr>
        <p:spPr>
          <a:xfrm xmlns:a="http://schemas.openxmlformats.org/drawingml/2006/main">
            <a:off x="914400" y="2924175"/>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Stock token</a:t>
            </a:r>
          </a:p>
        </p:txBody>
      </p:sp>
      <p:sp>
        <p:nvSpPr>
          <p:cNvPr id="8" name="Vault">
            <a:extLst xmlns:a="http://schemas.openxmlformats.org/drawingml/2006/main">
              <a:ext uri="{FF2B5EF4-FFF2-40B4-BE49-F238E27FC236}">
                <a16:creationId xmlns:a16="http://schemas.microsoft.com/office/drawing/2014/main" id="{8304673A-A114-462E-8A97-6E3F445C52F5}"/>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6A4A3D95-B104-4EEC-81AC-6AB392D6C570}"/>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586654FF-85F5-410D-9F9E-23BA5DD07176}"/>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CBB88D2A-B29B-435C-8F60-3830DDC3E388}"/>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49E29265-2D41-4BCF-B184-061318FF914C}"/>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58AD4105-77A8-4203-9048-108BF9904E52}"/>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8410D2A4-E317-4357-8129-825CC94C41B5}"/>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B3E515CE-3BDD-4FFF-A804-C27CBE0804BD}"/>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996AE1BB-D44F-4928-B09E-18DA4D5C6A9D}"/>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06A7671A-50AA-4B76-BD02-70535895B57F}"/>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DAE04498-22FC-404B-A591-4E45688E82DC}"/>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552700" y="3181350"/>
            <a:ext cx="11239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2ED4D1D8-BD7E-437E-9C4D-06D1B8C43535}"/>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3" name="">
            <a:extLst xmlns:a="http://schemas.openxmlformats.org/drawingml/2006/main">
              <a:ext uri="{FF2B5EF4-FFF2-40B4-BE49-F238E27FC236}">
                <a16:creationId xmlns:a16="http://schemas.microsoft.com/office/drawing/2014/main" id="{1D5EA28A-22A2-4734-9F9B-99014814DF6D}"/>
              </a:ext>
            </a:extLst>
          </p:cNvPr>
          <p:cNvSpPr>
            <a:spLocks xmlns:a="http://schemas.openxmlformats.org/drawingml/2006/main" noGrp="1"/>
          </p:cNvSpPr>
          <p:nvPr/>
        </p:nvSpPr>
        <p:spPr>
          <a:xfrm xmlns:a="http://schemas.openxmlformats.org/drawingml/2006/main">
            <a:off x="742950" y="5962650"/>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4" name="">
            <a:extLst xmlns:a="http://schemas.openxmlformats.org/drawingml/2006/main">
              <a:ext uri="{FF2B5EF4-FFF2-40B4-BE49-F238E27FC236}">
                <a16:creationId xmlns:a16="http://schemas.microsoft.com/office/drawing/2014/main" id="{B68B8154-586D-404B-AA9D-73CDDD87C233}"/>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1528097939"/>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87385A5-714D-43AC-8D3F-32A46DCD5FB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1BE23D-7165-4DF7-B82F-D08E9387206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4F5DD2-C168-4E5A-A258-D66BFD060773}"/>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5F61A7C3-7C06-4147-B8B4-F24964103A0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26E7CCE7-1F7C-4ACA-A31B-46A1C8269F1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8464F40B-5AB3-46BB-83EA-022A5136C9FE}"/>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4DF6A14B-7C30-402D-8317-594FB7ED31E8}"/>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CD4EACE9-92EB-4272-A399-442CBD753A48}"/>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08B5D504-F199-4877-BB26-F3903145A63B}"/>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802E1A6-3680-43D4-B5F4-2F2934D7EAB5}"/>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FF52CC87-4B34-4A7B-9C63-7006192E7DFE}"/>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E9046B47-B28E-45D3-9910-0252C95EFFDD}"/>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16F77C38-C4AA-49E7-951E-124816E02A69}"/>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8FD25A2D-2F98-4B52-A2BE-959CE725C172}"/>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553785025"/>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36141B7-CFF4-4FCF-9C49-7435BF6430B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400C9F-9CAB-4015-B48D-615906BD767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8DB6E7-F8F8-4C4A-B7DB-522E9A8DF6F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1136E1F4-D240-4FE7-B4A7-04A466D2232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3ABD1F2E-10AD-4997-90D7-27E4C559EBD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ED5059E1-A332-4024-81E1-6198540E6348}"/>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A72971EC-35A4-476F-9BDF-668065E3652D}"/>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F431620F-4C8C-44AA-84FA-779BD86F2FDE}"/>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D3C8DF9D-3A39-49AE-8344-293DF464239F}"/>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D7B053-C644-4FD9-8DD6-64EE7156D77A}"/>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2414EBFF-7C1F-497F-9031-F964A76E97D1}"/>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74F34880-1A3C-4664-9B87-54332B5709E6}"/>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7B2B0DCC-943C-4159-9E59-B51935FE3C6F}"/>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42E0DE6-334B-43B6-857B-CB366BB0B11F}"/>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F04E50EB-C5DA-487A-A388-8761972055A8}"/>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Selected dividend stocks on Solana</a:t>
            </a:r>
          </a:p>
        </p:txBody>
      </p:sp>
      <p:sp>
        <p:nvSpPr>
          <p:cNvPr id="16" name="">
            <a:extLst xmlns:a="http://schemas.openxmlformats.org/drawingml/2006/main">
              <a:ext uri="{FF2B5EF4-FFF2-40B4-BE49-F238E27FC236}">
                <a16:creationId xmlns:a16="http://schemas.microsoft.com/office/drawing/2014/main" id="{032B06EE-50E9-4813-8345-C98A23C0CBC6}"/>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FA795E0B-2192-4842-996D-C430E16D92B4}"/>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1714539063"/>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B2CC7B1-604F-477F-931C-26A9FC03A25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3D44C9-1E17-42BA-A43D-320647BC503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93987AF-6401-49F6-B246-A6D3CB55E54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C1BA4B95-7AAF-46EE-8B2F-D3619EC928CD}"/>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04D12EFE-A42F-44E8-A846-C406F30CDC2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069DF361-43FF-457B-A7F0-92753BB8553E}"/>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0D14A4DD-866A-4326-BEC8-1CA03815846C}"/>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007829E1-8CAE-404F-B552-90D725039A14}"/>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9305E17A-56E6-4BCE-A5E7-BDD8668F2BD0}"/>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02E7B81-9B84-4DBE-9870-2A8328E7F6B7}"/>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DC6AF56F-F55B-47EF-8033-165F17887688}"/>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5FD7134D-FD46-44E1-A34C-6079DE11F975}"/>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Deposit collateral and issue both claims together.</a:t>
            </a:r>
          </a:p>
        </p:txBody>
      </p:sp>
      <p:sp>
        <p:nvSpPr>
          <p:cNvPr id="13" name="">
            <a:extLst xmlns:a="http://schemas.openxmlformats.org/drawingml/2006/main">
              <a:ext uri="{FF2B5EF4-FFF2-40B4-BE49-F238E27FC236}">
                <a16:creationId xmlns:a16="http://schemas.microsoft.com/office/drawing/2014/main" id="{D376677A-E159-4C15-8555-67ABF0093625}"/>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1FADD1C-DD33-40E1-9144-62263E6C43D9}"/>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289D5927-A74F-4BC8-91F7-98F95981F25E}"/>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D7A83726-182B-4A56-8552-779952B38699}"/>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B67BD006-81BE-48E4-B0CD-DF60CE0A0057}"/>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09E73CD-9E48-4C4C-823B-231A8A6D4462}"/>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One shared flow. Separate collateral for each issuer.</a:t>
            </a:r>
          </a:p>
        </p:txBody>
      </p:sp>
    </p:spTree>
    <p:extLst>
      <p:ext uri="{BB962C8B-B14F-4D97-AF65-F5344CB8AC3E}">
        <p14:creationId xmlns:p14="http://schemas.microsoft.com/office/powerpoint/2010/main" val="562911181"/>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57665DA-B0DA-4531-AD39-C975BC8711E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A0800D-BA33-4983-A323-A014655A54A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742FB4-7FA6-4023-A299-E437B5A205D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18EE205B-2DB3-4D39-A74B-9BFED464467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84ABB087-9E53-478E-ACAB-3ACF393D731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A734A967-C86F-4D1B-B3EA-66D296C2B441}"/>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3AD47766-F060-4352-95B5-681F3583DF47}"/>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94FFABA7-D8A4-404C-8CFA-C107EA60F7F1}"/>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67E77774-2C1E-4E64-BD1F-48B7EDE41DA2}"/>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3061882E-C4B4-4D12-9A3D-F9FF917AA8EE}"/>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6DDD3A8C-3749-41B0-A89C-116F6DCDFEBE}"/>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B1FD9C63-EBE9-4818-BA5F-3B2897B0905B}"/>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6188DA25-A9EF-469C-AD44-67EDC763EDA8}"/>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FF9D3183-E78E-4532-8A09-451E51DE1FD7}"/>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CECBBE6-4B5C-4E06-863D-ECDF6EEABDFB}"/>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06260A0B-5356-47D2-97AF-2587E722E95F}"/>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DE9518DA-137C-4ADB-8466-F1CC86D6E44B}"/>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E45D3186-93EB-491E-8C70-67BA10C383CD}"/>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C2B79F59-BD31-4DC9-B8C5-4CA79DB8B232}"/>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475BDB4-CB86-4C47-9A73-7259A2052554}"/>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BF11307E-451E-4357-81FC-1131B2BA0E3E}"/>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DD26B8EB-B876-433D-9D25-979F04984971}"/>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E996B95-F608-48FF-95D8-37707D4AE543}"/>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7C121C9B-9078-415F-9065-B75E09BAB4B2}"/>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EB8EE223-1CC2-450B-9CD4-85A9E14F9BE3}"/>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13BC326-923E-4E55-8980-ECF5CBCB603B}"/>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638974403"/>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26911F6-A9DC-48BC-B9FC-559FB07EF1C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B6B3C6-05DD-49C3-8D92-EB9C6A1768F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710D597-F361-4861-8BED-F3B3A5A3C312}"/>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82684642-7AB4-40A6-ADCB-9D835B630F0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55197E99-9D1E-474D-BCE9-E875F0B42D1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a03750130b94e0f"/>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65B90961-BAB9-4058-86B7-F4896C6231F0}"/>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88EEAAAB-7EE0-43A2-99FB-845D1F8DE761}"/>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46E46AE0-B991-431A-B4F7-A859030D42CB}"/>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6B47A3CE-A77E-4787-A0E3-5367A3F836AC}"/>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D9D4F9B5-3B41-476A-9178-B9AC95495C60}"/>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B70612AC-5877-458D-8188-7089710DDA71}"/>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A85D1FEF-AB03-4976-AD81-67C7DFECC211}"/>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4E722180-FCDE-40A8-899A-E133D535217F}"/>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24A229C5-9628-4858-B16D-D9147ACF7B08}"/>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5ACDC57-BB09-4735-BC81-08DCB39E1D12}"/>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1CF985A5-86D6-4471-A895-DAC9DEC1A9AA}"/>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B09DF7D-69BB-4E51-A3EE-EDCDB7B189CB}"/>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730066775"/>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0D709A2-477F-464E-91F0-522158246144}"/>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1DC941-8A55-4972-8162-04D541C831B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A50D91-CBDA-420B-98E2-25AE8F8F5FD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29452CD8-858A-4543-9C2A-4F59E208C466}"/>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7332A973-6699-4C39-AC8F-7F95F6517801}"/>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8B51C1A1-6CA0-4F3B-B37B-250BBD15F73E}"/>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2F748819-632C-4275-99CF-C2D0B1251F16}"/>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BEC02158-AF01-4532-9B20-992D16BF0CCE}"/>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DB4B1C41-74CF-4867-A985-A0B9616C1BC0}"/>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A9761FDE-25A0-4F04-9126-2404DAB8FD44}"/>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2C0D3083-7F1B-4055-B14D-B1AFA75DCFEA}"/>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7424D9DC-D4FC-4D8A-A16D-36B454F111E7}"/>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C26BF184-848E-4667-946B-3568F621DCCE}"/>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900F862A-6FE8-4BEC-8806-90AC8BB24B99}"/>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78321F3A-EE05-4365-906D-C213A6D71B86}"/>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21228522-D793-4947-ACDD-5F3AE9A2EA3A}"/>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52C6760-D236-41DC-8F2C-2DD40A80170A}"/>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B8703106-2F9D-4B5D-B9B5-E7C5BD520119}"/>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D40F1EFE-01BA-4B1C-8BC5-D059A174C702}"/>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066EBDC0-75D4-447C-ADD5-5A5169A217DE}"/>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CF8A50C-7208-4D9C-8283-44C38F85659C}"/>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ECAFE1DD-7B58-4416-994C-00605DD39A35}"/>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Selected stocks</a:t>
            </a:r>
          </a:p>
        </p:txBody>
      </p:sp>
      <p:sp>
        <p:nvSpPr>
          <p:cNvPr id="26" name="">
            <a:extLst xmlns:a="http://schemas.openxmlformats.org/drawingml/2006/main">
              <a:ext uri="{FF2B5EF4-FFF2-40B4-BE49-F238E27FC236}">
                <a16:creationId xmlns:a16="http://schemas.microsoft.com/office/drawing/2014/main" id="{AB712EAB-F30E-4A96-ABAE-42BF05BD8880}"/>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Coca-Cola · Apple · Microsoft · Micron · Nike · IBM</a:t>
            </a:r>
          </a:p>
        </p:txBody>
      </p:sp>
      <p:sp>
        <p:nvSpPr>
          <p:cNvPr id="27" name="">
            <a:extLst xmlns:a="http://schemas.openxmlformats.org/drawingml/2006/main">
              <a:ext uri="{FF2B5EF4-FFF2-40B4-BE49-F238E27FC236}">
                <a16:creationId xmlns:a16="http://schemas.microsoft.com/office/drawing/2014/main" id="{C0198DD3-3624-4B3D-9503-3A01020ABEA7}"/>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9BBB3A4-F39D-486D-88E0-277FED49C527}"/>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14A23154-F7B9-4535-9CB9-AB72452FA804}"/>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9D53DBA3-B1EC-4057-A682-FA2C215E6C07}"/>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C1ECD35C-5230-420C-99DC-60EE1CD27E55}"/>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1023622752"/>
      </p:ext>
    </p:extLst>
  </p:cSld>
</p:sld>
</file>

<file path=ppt/theme/theme1.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2026-09-16T07:15:57.0410000Z</dcterms:created>
  <dcterms:modified xsi:type="dcterms:W3CDTF">2026-09-16T07:15:57.0410000Z</dcterms:modified>
</coreProperties>
</file>