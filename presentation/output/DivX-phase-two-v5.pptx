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37f1e1453a43c1" /><Relationship Type="http://schemas.openxmlformats.org/officeDocument/2006/relationships/extended-properties" Target="/docProps/app.xml" Id="R1e239fc4fb44477c" /><Relationship Type="http://schemas.openxmlformats.org/officeDocument/2006/relationships/officeDocument" Target="/ppt/presentation.xml" Id="R329352aad03248d2" /></Relationships>
</file>

<file path=ppt/presentation.xml><?xml version="1.0" encoding="utf-8"?>
<p:presentation xmlns:p="http://schemas.openxmlformats.org/presentationml/2006/main">
  <p:sldMasterIdLst>
    <p:sldMasterId xmlns:r="http://schemas.openxmlformats.org/officeDocument/2006/relationships" id="2147483648" r:id="Rc3b8963a8d2847ad"/>
  </p:sldMasterIdLst>
  <p:notesMasterIdLst>
    <p:notesMasterId xmlns:r="http://schemas.openxmlformats.org/officeDocument/2006/relationships" r:id="Rcb589c7ba85049c3"/>
  </p:notesMasterIdLst>
  <p:sldIdLst>
    <p:sldId xmlns:r="http://schemas.openxmlformats.org/officeDocument/2006/relationships" id="256" r:id="R5584e93d8c9c4a1e"/>
    <p:sldId xmlns:r="http://schemas.openxmlformats.org/officeDocument/2006/relationships" id="257" r:id="R612a53129e8a48dc"/>
    <p:sldId xmlns:r="http://schemas.openxmlformats.org/officeDocument/2006/relationships" id="258" r:id="R7b6ea39fa57a4976"/>
    <p:sldId xmlns:r="http://schemas.openxmlformats.org/officeDocument/2006/relationships" id="259" r:id="Rff412283f1d446a4"/>
    <p:sldId xmlns:r="http://schemas.openxmlformats.org/officeDocument/2006/relationships" id="260" r:id="Rd6b4706891ca4701"/>
    <p:sldId xmlns:r="http://schemas.openxmlformats.org/officeDocument/2006/relationships" id="261" r:id="R54181b3806dd4aea"/>
    <p:sldId xmlns:r="http://schemas.openxmlformats.org/officeDocument/2006/relationships" id="262" r:id="Ra684655ea984475e"/>
    <p:sldId xmlns:r="http://schemas.openxmlformats.org/officeDocument/2006/relationships" id="263" r:id="R5266d4eb0cb74b01"/>
    <p:sldId xmlns:r="http://schemas.openxmlformats.org/officeDocument/2006/relationships" id="264" r:id="R52c5de517ce645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7abfd4de2d4cb1" /><Relationship Type="http://schemas.openxmlformats.org/officeDocument/2006/relationships/slideMaster" Target="/ppt/slideMasters/slideMaster1.xml" Id="Rc3b8963a8d2847ad" /><Relationship Type="http://schemas.openxmlformats.org/officeDocument/2006/relationships/notesMaster" Target="/ppt/notesMasters/notesMaster1.xml" Id="Rcb589c7ba85049c3" /><Relationship Type="http://schemas.openxmlformats.org/officeDocument/2006/relationships/presProps" Target="/ppt/presProps.xml" Id="Rcb3bb2f6e06840b5" /><Relationship Type="http://schemas.openxmlformats.org/officeDocument/2006/relationships/tableStyles" Target="/ppt/tableStyles.xml" Id="Rad6d454a582544b5" /><Relationship Type="http://schemas.openxmlformats.org/officeDocument/2006/relationships/slide" Target="/ppt/slides/slide1.xml" Id="R5584e93d8c9c4a1e" /><Relationship Type="http://schemas.openxmlformats.org/officeDocument/2006/relationships/slide" Target="/ppt/slides/slide2.xml" Id="R612a53129e8a48dc" /><Relationship Type="http://schemas.openxmlformats.org/officeDocument/2006/relationships/slide" Target="/ppt/slides/slide3.xml" Id="R7b6ea39fa57a4976" /><Relationship Type="http://schemas.openxmlformats.org/officeDocument/2006/relationships/slide" Target="/ppt/slides/slide4.xml" Id="Rff412283f1d446a4" /><Relationship Type="http://schemas.openxmlformats.org/officeDocument/2006/relationships/slide" Target="/ppt/slides/slide5.xml" Id="Rd6b4706891ca4701" /><Relationship Type="http://schemas.openxmlformats.org/officeDocument/2006/relationships/slide" Target="/ppt/slides/slide6.xml" Id="R54181b3806dd4aea" /><Relationship Type="http://schemas.openxmlformats.org/officeDocument/2006/relationships/slide" Target="/ppt/slides/slide7.xml" Id="Ra684655ea984475e" /><Relationship Type="http://schemas.openxmlformats.org/officeDocument/2006/relationships/slide" Target="/ppt/slides/slide8.xml" Id="R5266d4eb0cb74b01" /><Relationship Type="http://schemas.openxmlformats.org/officeDocument/2006/relationships/slide" Target="/ppt/slides/slide9.xml" Id="R52c5de517ce645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63b9fdcd1b41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a1b7559d154c8d" /><Relationship Type="http://schemas.openxmlformats.org/officeDocument/2006/relationships/notesMaster" Target="/ppt/notesMasters/notesMaster1.xml" Id="R8027e81085ce47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6c1f945c624ce2" /><Relationship Type="http://schemas.openxmlformats.org/officeDocument/2006/relationships/notesMaster" Target="/ppt/notesMasters/notesMaster1.xml" Id="R724c6d4be8e046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8e9ebbf1c042f5" /><Relationship Type="http://schemas.openxmlformats.org/officeDocument/2006/relationships/notesMaster" Target="/ppt/notesMasters/notesMaster1.xml" Id="R10b7e3d4173c41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3963b27ec047e6" /><Relationship Type="http://schemas.openxmlformats.org/officeDocument/2006/relationships/notesMaster" Target="/ppt/notesMasters/notesMaster1.xml" Id="Rf424de6933324c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6af8ac7b944183" /><Relationship Type="http://schemas.openxmlformats.org/officeDocument/2006/relationships/notesMaster" Target="/ppt/notesMasters/notesMaster1.xml" Id="R877a03e6c88542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24d130f5d54781" /><Relationship Type="http://schemas.openxmlformats.org/officeDocument/2006/relationships/notesMaster" Target="/ppt/notesMasters/notesMaster1.xml" Id="Re2597f2d82d941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179026c8834346" /><Relationship Type="http://schemas.openxmlformats.org/officeDocument/2006/relationships/notesMaster" Target="/ppt/notesMasters/notesMaster1.xml" Id="Rfd53864d081d47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76d2a5efc24b6d" /><Relationship Type="http://schemas.openxmlformats.org/officeDocument/2006/relationships/notesMaster" Target="/ppt/notesMasters/notesMaster1.xml" Id="R4739171e81154c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61a41a40b04203" /><Relationship Type="http://schemas.openxmlformats.org/officeDocument/2006/relationships/notesMaster" Target="/ppt/notesMasters/notesMaster1.xml" Id="R42f393eb9cd842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a stock holder keep the stock exposure and sell the dividend rights. We are building a permissionless dividend market for selected stock tokens from xStocks, Backpack and Ondo on Solana.</a:t>
            </a:r>
          </a:p>
          <a:p xmlns:a="http://schemas.openxmlformats.org/drawingml/2006/main">
            <a:r>
              <a:t>Presenter notes: The protocol is not launched. Current software is an approved interface and working historical calculator. Selected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Traditional finance already has both sides: banks sell dividend exposure to manage risk from structured products; asset managers such as Survista buy discounted dividend futures. DivX brings that choice to tokenized-stock holders: keep the stock exposure and sell the dividend rights.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One deposit enters a locked vault. The program issues two paired claims: PT for the stock exposure and DR for the dividend-derived share. Each pair is backed by its own stock-token collateral and redeems in that token. Its dollar value can change.</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Eurex handled more than 21 million dividend contracts in 2024. Pendle reported 96.4 million dollars of average daily trading volume that year. Investors already trade dividends separately, and crypto users already separate yield. DivX connects those two ideas.</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Global dividends totaled 1.75 trillion dollars in 2024. RWA.xyz reported 2.92 billion dollars of tokenized-stock value on September 16, 2026. Our starting package includes familiar dividend payers such as Apple, Microsoft and Coca-Cola, represented by stock tokens on Solana.</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 The selected package contains 15 candidate mints across six companies: all six from xStocks and Ondo, and Micron, Nike and IBM from Backpack; this is not 15 completed integrations.</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stock tokens from different issuers use the same vault design. Each issuer's dividend data feeds common allocation rules. One transaction deposits collateral and creates both claims. Holders use the same deposit, trade and redemption flow, while each issuer's collateral stays separate.</a:t>
            </a:r>
          </a:p>
          <a:p xmlns:a="http://schemas.openxmlformats.org/drawingml/2006/main">
            <a:r>
              <a:t>Presenter notes: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holder or approved-vault products, no-dividend products and fee-bearing products are outside scope, not an upcoming integration track. Permissionless means no DivX holder allowlist or issuer-specific approved-vault onboarding for admitted assets; underlying issuer controls and product restrictions remain. Ondo documents secondary transferability outside the United States subject to restrictions; issuer KYC for primary issuance or redemption is separate. Exact mint checks, event evidence and execution tests are required before a series opens. xStocks has public event history. Backpack MU has a fully bracketed sourced onchain reconstruction around its DividendDistribute transaction and later ordinary mint/redeem multiplier recomputations; an official event ledger and finality semantics remain unverified. Today's multiplier must not be used as an event factor. Ondo's keyed multiplier history still needs classified event joins, and no Ondo event is source-complete.</a:t>
            </a:r>
          </a:p>
          <a:p xmlns:a="http://schemas.openxmlformats.org/drawingml/2006/main">
            <a:r>
              <a:t>Sources (accessed/observed 16 September 2026 unless stated):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transferability: https://docs.ondo.finance/ondo-stocks/transferability | Ondo Solana repository: https://github.com/ondoprotocol/global-markets-solana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Dividend claims are divisible, so a holder can sell part of an entitlement and a buyer can take a smaller position. Onchain records let users inspect the vault balance, claims outstanding and redemption history. Other Solana applications can integrate the same claim interface.</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Our example uses Coca-Cola, ticker KO, represented on Solana as KOx. For 100 share-equivalents, the historical event separates about 8,935 dollars of stock exposure from 37 dollars and 10 cents of reinvested dividends, valued at the event-implied share price. The calculator makes that allocation inspectable today; vault execution comes next.</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The hackathon target is one complete flow across supported Solana stock tokens: deposit, split, sell the dividend, redeem each side separately. We start with selected stocks from xStocks, Backpack and Ondo, proving one dividend event per issuer before expanding within the package. Other networks come later, with Solana as our home base for dividend liquidity.</a:t>
            </a:r>
          </a:p>
          <a:p xmlns:a="http://schemas.openxmlformats.org/drawingml/2006/main">
            <a:r>
              <a:t>Presenter notes: This is build scope and roadmap, not a claim of completed integration or partnership. The package contains 15 candidate mints across six companies: xStocks and Ondo each include Coca-Cola, Apple, Microsoft, Micron, Nike and IBM; Backpack includes Micron, Nike and IBM only. The six companies are not all available from all three issuers. KOx has a complete source-verified replay fixture; Backpack MU has a fully bracketed sourced onchain reconstruction; Ondo event binding still needs authenticated source data. One event per issuer is the first execution target. All vault execution remains planned. Excluded restricted, no-dividend, discontinued and fee-bearing families are outside scope. Coinbase collateral is on Base. The roadmap refers to Robinhood's new wallet-held Stock Tokens on Robinhood Chain. Cross-chain custody, settlement and messaging remain future design work.</a:t>
            </a:r>
          </a:p>
          <a:p xmlns:a="http://schemas.openxmlformats.org/drawingml/2006/main">
            <a:r>
              <a:t>Sources (accessed/observed 16 September 2026 unless stated): Selected asset package: planning/research/initial-asset-package.md | xStocks: https://xstocks.fi/ | xStocks docs: https://docs.xstocks.fi/docs | Backpack assets registry: https://api.backpack.exchange/api/v1/assets | Backpack MU: https://learn.backpack.exchange/blog/tokenized-micron-mu | Ondo corporate actions: https://docs.ondo.finance/ondo-stocks/corporate-actions | Ondo Solana registry: https://github.com/ondoprotocol/gm-solana-simulator/blob/0688add3c64aadc7006712989e9ec0592b5b10f8/constants.rs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0f22e7179b4a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661480e91c4fed" /><Relationship Type="http://schemas.openxmlformats.org/officeDocument/2006/relationships/slideLayout" Target="/ppt/slideLayouts/slideLayout1.xml" Id="Rff332593b0f540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332593b0f540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9a428309c74dcf" /><Relationship Type="http://schemas.openxmlformats.org/officeDocument/2006/relationships/notesSlide" Target="/ppt/notesSlides/notesSlide1.xml" Id="R145012b8a1cb4c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40886db8596433f" /><Relationship Type="http://schemas.openxmlformats.org/officeDocument/2006/relationships/notesSlide" Target="/ppt/notesSlides/notesSlide2.xml" Id="Rf528258f9f1f49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0e53c2206f435d" /><Relationship Type="http://schemas.openxmlformats.org/officeDocument/2006/relationships/notesSlide" Target="/ppt/notesSlides/notesSlide3.xml" Id="R2ae4c6d503284c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391bdb46fb4cd2" /><Relationship Type="http://schemas.openxmlformats.org/officeDocument/2006/relationships/notesSlide" Target="/ppt/notesSlides/notesSlide4.xml" Id="R2be587af014c4c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69b3954f3444bf" /><Relationship Type="http://schemas.openxmlformats.org/officeDocument/2006/relationships/notesSlide" Target="/ppt/notesSlides/notesSlide5.xml" Id="Rc955f12b3b694b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54084d0d7b499b" /><Relationship Type="http://schemas.openxmlformats.org/officeDocument/2006/relationships/notesSlide" Target="/ppt/notesSlides/notesSlide6.xml" Id="Rfb7b29e37c4e4f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29cea8543b04fae" /><Relationship Type="http://schemas.openxmlformats.org/officeDocument/2006/relationships/notesSlide" Target="/ppt/notesSlides/notesSlide7.xml" Id="R845147ba6b6240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d8e7356d6142c8" /><Relationship Type="http://schemas.openxmlformats.org/officeDocument/2006/relationships/image" Target="/ppt/media/image.png" Id="R1a03750130b94e0f" /><Relationship Type="http://schemas.openxmlformats.org/officeDocument/2006/relationships/notesSlide" Target="/ppt/notesSlides/notesSlide8.xml" Id="Rae870d9e2dfe43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46fe0badd054c88" /><Relationship Type="http://schemas.openxmlformats.org/officeDocument/2006/relationships/notesSlide" Target="/ppt/notesSlides/notesSlide9.xml" Id="R49db95e2d7f1431f"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0BFD0A-C967-4813-90F2-1C50FFC625B6}"/>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B37235-AE25-4916-ADA9-F92352CE415A}"/>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3C1E51-8435-48E0-8066-CEAB428EEDF4}"/>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B26AC26D-8B42-4A12-93D2-7C2C160B90C9}"/>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D768B187-69FC-4665-90AA-DAAA2704AD7F}"/>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AAFFD6E0-CBD7-4212-B1EB-463C7C5FB57D}"/>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157660C5-B075-4847-AC67-0CF8E059F645}"/>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C4459C2-0728-4F7B-B000-149A72454A03}"/>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98861988"/>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8925C33-365E-42E9-8298-5D50DBDCB8D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0CBDB70-01BC-43E5-88F3-057B65447B6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ADBD0BC-37E7-4F34-ABEF-C131236F1D6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0368D0B-1D4F-444D-9EFC-B4283C74DFBC}"/>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F191F7E6-82ED-4BF1-94DF-DD51C2C4DDF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BA815749-4CEF-4CFB-AC0D-6A8C524FE808}"/>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0BE68E7F-0FCD-4245-ABF2-FDCD3A4994DB}"/>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2A703064-E943-4AD4-98AC-F60E11A80CE9}"/>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01C3A6D6-B911-484B-95A0-F0B22D586593}"/>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2635910C-BFEB-49BD-BDCC-5AC2ECD1231B}"/>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FBF45D13-FA18-4BC6-B4EB-F51BA9675D84}"/>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67B5A139-63D0-4FF9-9D53-54355502B056}"/>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333A0B16-4962-43BB-B15A-3459C4146E4C}"/>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A8763A6-9D2C-4C26-BD8A-44D462F8611A}"/>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DIVIDENDX FLOW</a:t>
            </a:r>
          </a:p>
        </p:txBody>
      </p:sp>
      <p:sp>
        <p:nvSpPr>
          <p:cNvPr id="15" name="Stock holder">
            <a:extLst xmlns:a="http://schemas.openxmlformats.org/drawingml/2006/main">
              <a:ext uri="{FF2B5EF4-FFF2-40B4-BE49-F238E27FC236}">
                <a16:creationId xmlns:a16="http://schemas.microsoft.com/office/drawing/2014/main" id="{8B675601-D75A-4F12-9B46-B3717DBA8F0C}"/>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BB01C712-53D1-44C6-A3BD-35FB3FC23EBA}"/>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EC94CD4D-387A-4A92-8CBF-307B590920F8}"/>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6F0E53A3-82B9-47FE-9AD6-B35EBD9B836E}"/>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07D93419-F219-4E44-B8C4-20C218C853DB}"/>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471F5586-C666-4D42-9EAE-4179B3DAB400}"/>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4ED5D67E-4664-439A-9949-F79B53A43137}"/>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5B1E8260-2919-414A-AAF3-08C0E7FA140E}"/>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24C2729E-A5FA-42DF-AC10-6BFFA57584E1}"/>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3004E8F-98DE-4E34-9338-4E1717213B94}"/>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418B741C-B833-49D7-886D-1F0E2578C52F}"/>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448837711"/>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7757A20-21B7-4602-BBAC-B1C9B29C979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757F0A-89DB-45D8-90E4-77E44CC79D15}"/>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312536C-1B61-4FC2-AF2D-EA5A1C46B65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00D3532A-3085-4E82-AC7C-98BB2C340D52}"/>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838FE1F8-4CC2-45C6-A3EE-81F19696BAB5}"/>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sp>
        <p:nvSpPr>
          <p:cNvPr id="6" name="Stock token">
            <a:extLst xmlns:a="http://schemas.openxmlformats.org/drawingml/2006/main">
              <a:ext uri="{FF2B5EF4-FFF2-40B4-BE49-F238E27FC236}">
                <a16:creationId xmlns:a16="http://schemas.microsoft.com/office/drawing/2014/main" id="{31A471C9-814F-4680-A727-1B26B9A29E41}"/>
              </a:ext>
            </a:extLst>
          </p:cNvPr>
          <p:cNvSpPr>
            <a:spLocks xmlns:a="http://schemas.openxmlformats.org/drawingml/2006/main" noGrp="1"/>
          </p:cNvSpPr>
          <p:nvPr/>
        </p:nvSpPr>
        <p:spPr>
          <a:xfrm xmlns:a="http://schemas.openxmlformats.org/drawingml/2006/main">
            <a:off x="742950" y="2705100"/>
            <a:ext cx="1809750" cy="952500"/>
          </a:xfrm>
          <a:prstGeom xmlns:a="http://schemas.openxmlformats.org/drawingml/2006/main" prst="roundRect">
            <a:avLst>
              <a:gd name="adj" fmla="val 14000"/>
            </a:avLst>
          </a:prstGeom>
          <a:solidFill xmlns:a="http://schemas.openxmlformats.org/drawingml/2006/main">
            <a:srgbClr val="101820"/>
          </a:solidFill>
          <a:ln xmlns:a="http://schemas.openxmlformats.org/drawingml/2006/main" w="9525">
            <a:solidFill>
              <a:srgbClr val="101820"/>
            </a:solidFill>
            <a:prstDash val="solid"/>
          </a:ln>
        </p:spPr>
      </p:sp>
      <p:sp>
        <p:nvSpPr>
          <p:cNvPr id="7" name="">
            <a:extLst xmlns:a="http://schemas.openxmlformats.org/drawingml/2006/main">
              <a:ext uri="{FF2B5EF4-FFF2-40B4-BE49-F238E27FC236}">
                <a16:creationId xmlns:a16="http://schemas.microsoft.com/office/drawing/2014/main" id="{985C6A0C-1AE9-4529-9458-A625A1F90ECA}"/>
              </a:ext>
            </a:extLst>
          </p:cNvPr>
          <p:cNvSpPr>
            <a:spLocks xmlns:a="http://schemas.openxmlformats.org/drawingml/2006/main" noGrp="1"/>
          </p:cNvSpPr>
          <p:nvPr/>
        </p:nvSpPr>
        <p:spPr>
          <a:xfrm xmlns:a="http://schemas.openxmlformats.org/drawingml/2006/main">
            <a:off x="914400" y="2924175"/>
            <a:ext cx="1466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Stock token</a:t>
            </a:r>
          </a:p>
        </p:txBody>
      </p:sp>
      <p:sp>
        <p:nvSpPr>
          <p:cNvPr id="8" name="Vault">
            <a:extLst xmlns:a="http://schemas.openxmlformats.org/drawingml/2006/main">
              <a:ext uri="{FF2B5EF4-FFF2-40B4-BE49-F238E27FC236}">
                <a16:creationId xmlns:a16="http://schemas.microsoft.com/office/drawing/2014/main" id="{8304673A-A114-462E-8A97-6E3F445C52F5}"/>
              </a:ext>
            </a:extLst>
          </p:cNvPr>
          <p:cNvSpPr>
            <a:spLocks xmlns:a="http://schemas.openxmlformats.org/drawingml/2006/main" noGrp="1"/>
          </p:cNvSpPr>
          <p:nvPr/>
        </p:nvSpPr>
        <p:spPr>
          <a:xfrm xmlns:a="http://schemas.openxmlformats.org/drawingml/2006/main">
            <a:off x="3676650" y="2533650"/>
            <a:ext cx="2095500" cy="1295400"/>
          </a:xfrm>
          <a:prstGeom xmlns:a="http://schemas.openxmlformats.org/drawingml/2006/main" prst="roundRect">
            <a:avLst>
              <a:gd name="adj" fmla="val 11765"/>
            </a:avLst>
          </a:prstGeom>
          <a:solidFill xmlns:a="http://schemas.openxmlformats.org/drawingml/2006/main">
            <a:srgbClr val="FFFEFB"/>
          </a:solidFill>
          <a:ln xmlns:a="http://schemas.openxmlformats.org/drawingml/2006/main" w="9525">
            <a:solidFill>
              <a:srgbClr val="D7D2C8"/>
            </a:solidFill>
            <a:prstDash val="solid"/>
          </a:ln>
        </p:spPr>
      </p:sp>
      <p:sp>
        <p:nvSpPr>
          <p:cNvPr id="9" name="">
            <a:extLst xmlns:a="http://schemas.openxmlformats.org/drawingml/2006/main">
              <a:ext uri="{FF2B5EF4-FFF2-40B4-BE49-F238E27FC236}">
                <a16:creationId xmlns:a16="http://schemas.microsoft.com/office/drawing/2014/main" id="{6A4A3D95-B104-4EEC-81AC-6AB392D6C570}"/>
              </a:ext>
            </a:extLst>
          </p:cNvPr>
          <p:cNvSpPr>
            <a:spLocks xmlns:a="http://schemas.openxmlformats.org/drawingml/2006/main" noGrp="1"/>
          </p:cNvSpPr>
          <p:nvPr/>
        </p:nvSpPr>
        <p:spPr>
          <a:xfrm xmlns:a="http://schemas.openxmlformats.org/drawingml/2006/main">
            <a:off x="4038600" y="27241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0" name="">
            <a:extLst xmlns:a="http://schemas.openxmlformats.org/drawingml/2006/main">
              <a:ext uri="{FF2B5EF4-FFF2-40B4-BE49-F238E27FC236}">
                <a16:creationId xmlns:a16="http://schemas.microsoft.com/office/drawing/2014/main" id="{586654FF-85F5-410D-9F9E-23BA5DD07176}"/>
              </a:ext>
            </a:extLst>
          </p:cNvPr>
          <p:cNvSpPr>
            <a:spLocks xmlns:a="http://schemas.openxmlformats.org/drawingml/2006/main" noGrp="1"/>
          </p:cNvSpPr>
          <p:nvPr/>
        </p:nvSpPr>
        <p:spPr>
          <a:xfrm xmlns:a="http://schemas.openxmlformats.org/drawingml/2006/main">
            <a:off x="4038600" y="3038475"/>
            <a:ext cx="135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VAULT</a:t>
            </a:r>
          </a:p>
        </p:txBody>
      </p:sp>
      <p:sp>
        <p:nvSpPr>
          <p:cNvPr id="11" name="Stock exposure PT">
            <a:extLst xmlns:a="http://schemas.openxmlformats.org/drawingml/2006/main">
              <a:ext uri="{FF2B5EF4-FFF2-40B4-BE49-F238E27FC236}">
                <a16:creationId xmlns:a16="http://schemas.microsoft.com/office/drawing/2014/main" id="{CBB88D2A-B29B-435C-8F60-3830DDC3E388}"/>
              </a:ext>
            </a:extLst>
          </p:cNvPr>
          <p:cNvSpPr>
            <a:spLocks xmlns:a="http://schemas.openxmlformats.org/drawingml/2006/main" noGrp="1"/>
          </p:cNvSpPr>
          <p:nvPr/>
        </p:nvSpPr>
        <p:spPr>
          <a:xfrm xmlns:a="http://schemas.openxmlformats.org/drawingml/2006/main">
            <a:off x="7477125" y="1714500"/>
            <a:ext cx="3714750" cy="1428750"/>
          </a:xfrm>
          <a:prstGeom xmlns:a="http://schemas.openxmlformats.org/drawingml/2006/main" prst="roundRect">
            <a:avLst>
              <a:gd name="adj" fmla="val 9333"/>
            </a:avLst>
          </a:prstGeom>
          <a:solidFill xmlns:a="http://schemas.openxmlformats.org/drawingml/2006/main">
            <a:srgbClr val="EAF0FF"/>
          </a:solidFill>
          <a:ln xmlns:a="http://schemas.openxmlformats.org/drawingml/2006/main" w="9525">
            <a:solidFill>
              <a:srgbClr val="2457F5"/>
            </a:solidFill>
            <a:prstDash val="solid"/>
          </a:ln>
        </p:spPr>
      </p:sp>
      <p:sp>
        <p:nvSpPr>
          <p:cNvPr id="12" name="">
            <a:extLst xmlns:a="http://schemas.openxmlformats.org/drawingml/2006/main">
              <a:ext uri="{FF2B5EF4-FFF2-40B4-BE49-F238E27FC236}">
                <a16:creationId xmlns:a16="http://schemas.microsoft.com/office/drawing/2014/main" id="{49E29265-2D41-4BCF-B184-061318FF914C}"/>
              </a:ext>
            </a:extLst>
          </p:cNvPr>
          <p:cNvSpPr>
            <a:spLocks xmlns:a="http://schemas.openxmlformats.org/drawingml/2006/main" noGrp="1"/>
          </p:cNvSpPr>
          <p:nvPr/>
        </p:nvSpPr>
        <p:spPr>
          <a:xfrm xmlns:a="http://schemas.openxmlformats.org/drawingml/2006/main">
            <a:off x="7753350" y="19240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3" name="">
            <a:extLst xmlns:a="http://schemas.openxmlformats.org/drawingml/2006/main">
              <a:ext uri="{FF2B5EF4-FFF2-40B4-BE49-F238E27FC236}">
                <a16:creationId xmlns:a16="http://schemas.microsoft.com/office/drawing/2014/main" id="{58AD4105-77A8-4203-9048-108BF9904E52}"/>
              </a:ext>
            </a:extLst>
          </p:cNvPr>
          <p:cNvSpPr>
            <a:spLocks xmlns:a="http://schemas.openxmlformats.org/drawingml/2006/main" noGrp="1"/>
          </p:cNvSpPr>
          <p:nvPr/>
        </p:nvSpPr>
        <p:spPr>
          <a:xfrm xmlns:a="http://schemas.openxmlformats.org/drawingml/2006/main">
            <a:off x="7753350" y="222885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639A6"/>
                </a:solidFill>
                <a:latin typeface="Helvetica Neue"/>
                <a:ea typeface="Helvetica Neue"/>
                <a:cs typeface="Helvetica Neue"/>
              </a:defRPr>
            </a:pPr>
            <a:r>
              <a:rPr sz="2100" b="1">
                <a:solidFill>
                  <a:srgbClr val="1639A6"/>
                </a:solidFill>
                <a:latin typeface="Helvetica Neue"/>
                <a:ea typeface="Helvetica Neue"/>
                <a:cs typeface="Helvetica Neue"/>
              </a:rPr>
              <a:t>Stock exposure</a:t>
            </a:r>
          </a:p>
        </p:txBody>
      </p:sp>
      <p:sp>
        <p:nvSpPr>
          <p:cNvPr id="14" name="">
            <a:extLst xmlns:a="http://schemas.openxmlformats.org/drawingml/2006/main">
              <a:ext uri="{FF2B5EF4-FFF2-40B4-BE49-F238E27FC236}">
                <a16:creationId xmlns:a16="http://schemas.microsoft.com/office/drawing/2014/main" id="{8410D2A4-E317-4357-8129-825CC94C41B5}"/>
              </a:ext>
            </a:extLst>
          </p:cNvPr>
          <p:cNvSpPr>
            <a:spLocks xmlns:a="http://schemas.openxmlformats.org/drawingml/2006/main" noGrp="1"/>
          </p:cNvSpPr>
          <p:nvPr/>
        </p:nvSpPr>
        <p:spPr>
          <a:xfrm xmlns:a="http://schemas.openxmlformats.org/drawingml/2006/main">
            <a:off x="7753350" y="264795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Collateral remaining after this event’s dividend allocation.</a:t>
            </a:r>
          </a:p>
        </p:txBody>
      </p:sp>
      <p:sp>
        <p:nvSpPr>
          <p:cNvPr id="15" name="Dividend rights DR">
            <a:extLst xmlns:a="http://schemas.openxmlformats.org/drawingml/2006/main">
              <a:ext uri="{FF2B5EF4-FFF2-40B4-BE49-F238E27FC236}">
                <a16:creationId xmlns:a16="http://schemas.microsoft.com/office/drawing/2014/main" id="{B3E515CE-3BDD-4FFF-A804-C27CBE0804BD}"/>
              </a:ext>
            </a:extLst>
          </p:cNvPr>
          <p:cNvSpPr>
            <a:spLocks xmlns:a="http://schemas.openxmlformats.org/drawingml/2006/main" noGrp="1"/>
          </p:cNvSpPr>
          <p:nvPr/>
        </p:nvSpPr>
        <p:spPr>
          <a:xfrm xmlns:a="http://schemas.openxmlformats.org/drawingml/2006/main">
            <a:off x="7477125" y="3562350"/>
            <a:ext cx="3714750" cy="1428750"/>
          </a:xfrm>
          <a:prstGeom xmlns:a="http://schemas.openxmlformats.org/drawingml/2006/main" prst="roundRect">
            <a:avLst>
              <a:gd name="adj" fmla="val 9333"/>
            </a:avLst>
          </a:prstGeom>
          <a:solidFill xmlns:a="http://schemas.openxmlformats.org/drawingml/2006/main">
            <a:srgbClr val="F8E8D4"/>
          </a:solidFill>
          <a:ln xmlns:a="http://schemas.openxmlformats.org/drawingml/2006/main" w="9525">
            <a:solidFill>
              <a:srgbClr val="C46A00"/>
            </a:solidFill>
            <a:prstDash val="solid"/>
          </a:ln>
        </p:spPr>
      </p:sp>
      <p:sp>
        <p:nvSpPr>
          <p:cNvPr id="16" name="">
            <a:extLst xmlns:a="http://schemas.openxmlformats.org/drawingml/2006/main">
              <a:ext uri="{FF2B5EF4-FFF2-40B4-BE49-F238E27FC236}">
                <a16:creationId xmlns:a16="http://schemas.microsoft.com/office/drawing/2014/main" id="{996AE1BB-D44F-4928-B09E-18DA4D5C6A9D}"/>
              </a:ext>
            </a:extLst>
          </p:cNvPr>
          <p:cNvSpPr>
            <a:spLocks xmlns:a="http://schemas.openxmlformats.org/drawingml/2006/main" noGrp="1"/>
          </p:cNvSpPr>
          <p:nvPr/>
        </p:nvSpPr>
        <p:spPr>
          <a:xfrm xmlns:a="http://schemas.openxmlformats.org/drawingml/2006/main">
            <a:off x="7753350" y="377190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7" name="">
            <a:extLst xmlns:a="http://schemas.openxmlformats.org/drawingml/2006/main">
              <a:ext uri="{FF2B5EF4-FFF2-40B4-BE49-F238E27FC236}">
                <a16:creationId xmlns:a16="http://schemas.microsoft.com/office/drawing/2014/main" id="{06A7671A-50AA-4B76-BD02-70535895B57F}"/>
              </a:ext>
            </a:extLst>
          </p:cNvPr>
          <p:cNvSpPr>
            <a:spLocks xmlns:a="http://schemas.openxmlformats.org/drawingml/2006/main" noGrp="1"/>
          </p:cNvSpPr>
          <p:nvPr/>
        </p:nvSpPr>
        <p:spPr>
          <a:xfrm xmlns:a="http://schemas.openxmlformats.org/drawingml/2006/main">
            <a:off x="7753350" y="40767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7A4000"/>
                </a:solidFill>
                <a:latin typeface="Helvetica Neue"/>
                <a:ea typeface="Helvetica Neue"/>
                <a:cs typeface="Helvetica Neue"/>
              </a:defRPr>
            </a:pPr>
            <a:r>
              <a:rPr sz="2100" b="1">
                <a:solidFill>
                  <a:srgbClr val="7A4000"/>
                </a:solidFill>
                <a:latin typeface="Helvetica Neue"/>
                <a:ea typeface="Helvetica Neue"/>
                <a:cs typeface="Helvetica Neue"/>
              </a:rPr>
              <a:t>Dividend rights</a:t>
            </a:r>
          </a:p>
        </p:txBody>
      </p:sp>
      <p:sp>
        <p:nvSpPr>
          <p:cNvPr id="18" name="">
            <a:extLst xmlns:a="http://schemas.openxmlformats.org/drawingml/2006/main">
              <a:ext uri="{FF2B5EF4-FFF2-40B4-BE49-F238E27FC236}">
                <a16:creationId xmlns:a16="http://schemas.microsoft.com/office/drawing/2014/main" id="{DAE04498-22FC-404B-A591-4E45688E82DC}"/>
              </a:ext>
            </a:extLst>
          </p:cNvPr>
          <p:cNvSpPr>
            <a:spLocks xmlns:a="http://schemas.openxmlformats.org/drawingml/2006/main" noGrp="1"/>
          </p:cNvSpPr>
          <p:nvPr/>
        </p:nvSpPr>
        <p:spPr>
          <a:xfrm xmlns:a="http://schemas.openxmlformats.org/drawingml/2006/main">
            <a:off x="7753350" y="4495800"/>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This event’s dividend-derived share of the collateral.</a:t>
            </a:r>
          </a:p>
        </p:txBody>
      </p: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a:off x="2552700" y="3181350"/>
            <a:ext cx="112395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4" name=""/>
          <p:cNvCxnSpPr>
            <a:stCxn xmlns:a="http://schemas.openxmlformats.org/drawingml/2006/main" id="8" idx="3"/>
            <a:endCxn xmlns:a="http://schemas.openxmlformats.org/drawingml/2006/main" id="11" idx="1"/>
          </p:cNvCxnSpPr>
          <p:nvPr/>
        </p:nvCxnSpPr>
        <p:spPr>
          <a:xfrm xmlns:a="http://schemas.openxmlformats.org/drawingml/2006/main" flipV="1">
            <a:off x="5772150" y="2428875"/>
            <a:ext cx="1704975" cy="752475"/>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5" name=""/>
          <p:cNvCxnSpPr>
            <a:stCxn xmlns:a="http://schemas.openxmlformats.org/drawingml/2006/main" id="8" idx="3"/>
            <a:endCxn xmlns:a="http://schemas.openxmlformats.org/drawingml/2006/main" id="15" idx="1"/>
          </p:cNvCxnSpPr>
          <p:nvPr/>
        </p:nvCxnSpPr>
        <p:spPr>
          <a:xfrm xmlns:a="http://schemas.openxmlformats.org/drawingml/2006/main">
            <a:off x="5772150" y="3181350"/>
            <a:ext cx="1704975" cy="109537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2" name="">
            <a:extLst xmlns:a="http://schemas.openxmlformats.org/drawingml/2006/main">
              <a:ext uri="{FF2B5EF4-FFF2-40B4-BE49-F238E27FC236}">
                <a16:creationId xmlns:a16="http://schemas.microsoft.com/office/drawing/2014/main" id="{2ED4D1D8-BD7E-437E-9C4D-06D1B8C43535}"/>
              </a:ext>
            </a:extLst>
          </p:cNvPr>
          <p:cNvSpPr>
            <a:spLocks xmlns:a="http://schemas.openxmlformats.org/drawingml/2006/main" noGrp="1"/>
          </p:cNvSpPr>
          <p:nvPr/>
        </p:nvSpPr>
        <p:spPr>
          <a:xfrm xmlns:a="http://schemas.openxmlformats.org/drawingml/2006/main">
            <a:off x="742950" y="5505450"/>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3" name="">
            <a:extLst xmlns:a="http://schemas.openxmlformats.org/drawingml/2006/main">
              <a:ext uri="{FF2B5EF4-FFF2-40B4-BE49-F238E27FC236}">
                <a16:creationId xmlns:a16="http://schemas.microsoft.com/office/drawing/2014/main" id="{1D5EA28A-22A2-4734-9F9B-99014814DF6D}"/>
              </a:ext>
            </a:extLst>
          </p:cNvPr>
          <p:cNvSpPr>
            <a:spLocks xmlns:a="http://schemas.openxmlformats.org/drawingml/2006/main" noGrp="1"/>
          </p:cNvSpPr>
          <p:nvPr/>
        </p:nvSpPr>
        <p:spPr>
          <a:xfrm xmlns:a="http://schemas.openxmlformats.org/drawingml/2006/main">
            <a:off x="742950" y="5962650"/>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4" name="">
            <a:extLst xmlns:a="http://schemas.openxmlformats.org/drawingml/2006/main">
              <a:ext uri="{FF2B5EF4-FFF2-40B4-BE49-F238E27FC236}">
                <a16:creationId xmlns:a16="http://schemas.microsoft.com/office/drawing/2014/main" id="{B68B8154-586D-404B-AA9D-73CDDD87C233}"/>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1528097939"/>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87385A5-714D-43AC-8D3F-32A46DCD5FB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11BE23D-7165-4DF7-B82F-D08E9387206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4F5DD2-C168-4E5A-A258-D66BFD060773}"/>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5F61A7C3-7C06-4147-B8B4-F24964103A0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26E7CCE7-1F7C-4ACA-A31B-46A1C8269F17}"/>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8464F40B-5AB3-46BB-83EA-022A5136C9FE}"/>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4DF6A14B-7C30-402D-8317-594FB7ED31E8}"/>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CD4EACE9-92EB-4272-A399-442CBD753A48}"/>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08B5D504-F199-4877-BB26-F3903145A63B}"/>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802E1A6-3680-43D4-B5F4-2F2934D7EAB5}"/>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FF52CC87-4B34-4A7B-9C63-7006192E7DFE}"/>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E9046B47-B28E-45D3-9910-0252C95EFFDD}"/>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16F77C38-C4AA-49E7-951E-124816E02A69}"/>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8FD25A2D-2F98-4B52-A2BE-959CE725C172}"/>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553785025"/>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36141B7-CFF4-4FCF-9C49-7435BF6430B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400C9F-9CAB-4015-B48D-615906BD767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8DB6E7-F8F8-4C4A-B7DB-522E9A8DF6F4}"/>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136E1F4-D240-4FE7-B4A7-04A466D2232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3ABD1F2E-10AD-4997-90D7-27E4C559EBD6}"/>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ED5059E1-A332-4024-81E1-6198540E6348}"/>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A72971EC-35A4-476F-9BDF-668065E3652D}"/>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F431620F-4C8C-44AA-84FA-779BD86F2FDE}"/>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D3C8DF9D-3A39-49AE-8344-293DF464239F}"/>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ED7B053-C644-4FD9-8DD6-64EE7156D77A}"/>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2414EBFF-7C1F-497F-9031-F964A76E97D1}"/>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74F34880-1A3C-4664-9B87-54332B5709E6}"/>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7B2B0DCC-943C-4159-9E59-B51935FE3C6F}"/>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42E0DE6-334B-43B6-857B-CB366BB0B11F}"/>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F04E50EB-C5DA-487A-A388-8761972055A8}"/>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Selected dividend stocks on Solana</a:t>
            </a:r>
          </a:p>
        </p:txBody>
      </p:sp>
      <p:sp>
        <p:nvSpPr>
          <p:cNvPr id="16" name="">
            <a:extLst xmlns:a="http://schemas.openxmlformats.org/drawingml/2006/main">
              <a:ext uri="{FF2B5EF4-FFF2-40B4-BE49-F238E27FC236}">
                <a16:creationId xmlns:a16="http://schemas.microsoft.com/office/drawing/2014/main" id="{032B06EE-50E9-4813-8345-C98A23C0CBC6}"/>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FA795E0B-2192-4842-996D-C430E16D92B4}"/>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1714539063"/>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B2CC7B1-604F-477F-931C-26A9FC03A25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3D44C9-1E17-42BA-A43D-320647BC503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93987AF-6401-49F6-B246-A6D3CB55E54C}"/>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C1BA4B95-7AAF-46EE-8B2F-D3619EC928CD}"/>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04D12EFE-A42F-44E8-A846-C406F30CDC2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069DF361-43FF-457B-A7F0-92753BB8553E}"/>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0D14A4DD-866A-4326-BEC8-1CA03815846C}"/>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007829E1-8CAE-404F-B552-90D725039A14}"/>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9305E17A-56E6-4BCE-A5E7-BDD8668F2BD0}"/>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02E7B81-9B84-4DBE-9870-2A8328E7F6B7}"/>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DC6AF56F-F55B-47EF-8033-165F17887688}"/>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Atomic issuance</a:t>
            </a:r>
          </a:p>
        </p:txBody>
      </p:sp>
      <p:sp>
        <p:nvSpPr>
          <p:cNvPr id="12" name="">
            <a:extLst xmlns:a="http://schemas.openxmlformats.org/drawingml/2006/main">
              <a:ext uri="{FF2B5EF4-FFF2-40B4-BE49-F238E27FC236}">
                <a16:creationId xmlns:a16="http://schemas.microsoft.com/office/drawing/2014/main" id="{5FD7134D-FD46-44E1-A34C-6079DE11F975}"/>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Deposit collateral and issue both claims together.</a:t>
            </a:r>
          </a:p>
        </p:txBody>
      </p:sp>
      <p:sp>
        <p:nvSpPr>
          <p:cNvPr id="13" name="">
            <a:extLst xmlns:a="http://schemas.openxmlformats.org/drawingml/2006/main">
              <a:ext uri="{FF2B5EF4-FFF2-40B4-BE49-F238E27FC236}">
                <a16:creationId xmlns:a16="http://schemas.microsoft.com/office/drawing/2014/main" id="{D376677A-E159-4C15-8555-67ABF0093625}"/>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1FADD1C-DD33-40E1-9144-62263E6C43D9}"/>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289D5927-A74F-4BC8-91F7-98F95981F25E}"/>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D7A83726-182B-4A56-8552-779952B38699}"/>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B67BD006-81BE-48E4-B0CD-DF60CE0A0057}"/>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09E73CD-9E48-4C4C-823B-231A8A6D4462}"/>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One shared flow. Separate collateral for each issuer.</a:t>
            </a:r>
          </a:p>
        </p:txBody>
      </p:sp>
    </p:spTree>
    <p:extLst>
      <p:ext uri="{BB962C8B-B14F-4D97-AF65-F5344CB8AC3E}">
        <p14:creationId xmlns:p14="http://schemas.microsoft.com/office/powerpoint/2010/main" val="562911181"/>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57665DA-B0DA-4531-AD39-C975BC8711E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A0800D-BA33-4983-A323-A014655A54AD}"/>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9742FB4-7FA6-4023-A299-E437B5A205D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18EE205B-2DB3-4D39-A74B-9BFED464467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84ABB087-9E53-478E-ACAB-3ACF393D731D}"/>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A734A967-C86F-4D1B-B3EA-66D296C2B441}"/>
              </a:ext>
            </a:extLst>
          </p:cNvPr>
          <p:cNvSpPr>
            <a:spLocks xmlns:a="http://schemas.openxmlformats.org/drawingml/2006/main" noGrp="1"/>
          </p:cNvSpPr>
          <p:nvPr/>
        </p:nvSpPr>
        <p:spPr>
          <a:xfrm xmlns:a="http://schemas.openxmlformats.org/drawingml/2006/main">
            <a:off x="762000" y="188595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7" name="">
            <a:extLst xmlns:a="http://schemas.openxmlformats.org/drawingml/2006/main">
              <a:ext uri="{FF2B5EF4-FFF2-40B4-BE49-F238E27FC236}">
                <a16:creationId xmlns:a16="http://schemas.microsoft.com/office/drawing/2014/main" id="{3AD47766-F060-4352-95B5-681F3583DF47}"/>
              </a:ext>
            </a:extLst>
          </p:cNvPr>
          <p:cNvSpPr>
            <a:spLocks xmlns:a="http://schemas.openxmlformats.org/drawingml/2006/main" noGrp="1"/>
          </p:cNvSpPr>
          <p:nvPr/>
        </p:nvSpPr>
        <p:spPr>
          <a:xfrm xmlns:a="http://schemas.openxmlformats.org/drawingml/2006/main">
            <a:off x="762000" y="2228850"/>
            <a:ext cx="4572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Buy or sell part of a dividend claim.</a:t>
            </a:r>
          </a:p>
        </p:txBody>
      </p:sp>
      <p:sp>
        <p:nvSpPr>
          <p:cNvPr id="8" name="Dividend claim">
            <a:extLst xmlns:a="http://schemas.openxmlformats.org/drawingml/2006/main">
              <a:ext uri="{FF2B5EF4-FFF2-40B4-BE49-F238E27FC236}">
                <a16:creationId xmlns:a16="http://schemas.microsoft.com/office/drawing/2014/main" id="{94FFABA7-D8A4-404C-8CFA-C107EA60F7F1}"/>
              </a:ext>
            </a:extLst>
          </p:cNvPr>
          <p:cNvSpPr>
            <a:spLocks xmlns:a="http://schemas.openxmlformats.org/drawingml/2006/main" noGrp="1"/>
          </p:cNvSpPr>
          <p:nvPr/>
        </p:nvSpPr>
        <p:spPr>
          <a:xfrm xmlns:a="http://schemas.openxmlformats.org/drawingml/2006/main">
            <a:off x="762000" y="3276600"/>
            <a:ext cx="4381500" cy="457200"/>
          </a:xfrm>
          <a:prstGeom xmlns:a="http://schemas.openxmlformats.org/drawingml/2006/main" prst="roundRect">
            <a:avLst>
              <a:gd name="adj" fmla="val 20833"/>
            </a:avLst>
          </a:prstGeom>
          <a:solidFill xmlns:a="http://schemas.openxmlformats.org/drawingml/2006/main">
            <a:srgbClr val="F8E8D4"/>
          </a:solidFill>
          <a:ln xmlns:a="http://schemas.openxmlformats.org/drawingml/2006/main" w="9525">
            <a:solidFill>
              <a:srgbClr val="C46A00"/>
            </a:solidFill>
            <a:prstDash val="solid"/>
          </a:ln>
        </p:spPr>
      </p:sp>
      <p:sp>
        <p:nvSpPr>
          <p:cNvPr id="9" name="">
            <a:extLst xmlns:a="http://schemas.openxmlformats.org/drawingml/2006/main">
              <a:ext uri="{FF2B5EF4-FFF2-40B4-BE49-F238E27FC236}">
                <a16:creationId xmlns:a16="http://schemas.microsoft.com/office/drawing/2014/main" id="{67E77774-2C1E-4E64-BD1F-48B7EDE41DA2}"/>
              </a:ext>
            </a:extLst>
          </p:cNvPr>
          <p:cNvSpPr>
            <a:spLocks xmlns:a="http://schemas.openxmlformats.org/drawingml/2006/main" noGrp="1"/>
          </p:cNvSpPr>
          <p:nvPr/>
        </p:nvSpPr>
        <p:spPr>
          <a:xfrm xmlns:a="http://schemas.openxmlformats.org/drawingml/2006/main">
            <a:off x="933450" y="340995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0" name="Holder part">
            <a:extLst xmlns:a="http://schemas.openxmlformats.org/drawingml/2006/main">
              <a:ext uri="{FF2B5EF4-FFF2-40B4-BE49-F238E27FC236}">
                <a16:creationId xmlns:a16="http://schemas.microsoft.com/office/drawing/2014/main" id="{3061882E-C4B4-4D12-9A3D-F9FF917AA8EE}"/>
              </a:ext>
            </a:extLst>
          </p:cNvPr>
          <p:cNvSpPr>
            <a:spLocks xmlns:a="http://schemas.openxmlformats.org/drawingml/2006/main" noGrp="1"/>
          </p:cNvSpPr>
          <p:nvPr/>
        </p:nvSpPr>
        <p:spPr>
          <a:xfrm xmlns:a="http://schemas.openxmlformats.org/drawingml/2006/main">
            <a:off x="762000" y="4019550"/>
            <a:ext cx="1476375" cy="628650"/>
          </a:xfrm>
          <a:prstGeom xmlns:a="http://schemas.openxmlformats.org/drawingml/2006/main" prst="roundRect">
            <a:avLst>
              <a:gd name="adj" fmla="val 15152"/>
            </a:avLst>
          </a:prstGeom>
          <a:solidFill xmlns:a="http://schemas.openxmlformats.org/drawingml/2006/main">
            <a:srgbClr val="FFFEFB"/>
          </a:solidFill>
          <a:ln xmlns:a="http://schemas.openxmlformats.org/drawingml/2006/main" w="9525">
            <a:solidFill>
              <a:srgbClr val="C46A00"/>
            </a:solidFill>
            <a:prstDash val="solid"/>
          </a:ln>
        </p:spPr>
      </p:sp>
      <p:sp>
        <p:nvSpPr>
          <p:cNvPr id="11" name="">
            <a:extLst xmlns:a="http://schemas.openxmlformats.org/drawingml/2006/main">
              <a:ext uri="{FF2B5EF4-FFF2-40B4-BE49-F238E27FC236}">
                <a16:creationId xmlns:a16="http://schemas.microsoft.com/office/drawing/2014/main" id="{6DDD3A8C-3749-41B0-A89C-116F6DCDFEBE}"/>
              </a:ext>
            </a:extLst>
          </p:cNvPr>
          <p:cNvSpPr>
            <a:spLocks xmlns:a="http://schemas.openxmlformats.org/drawingml/2006/main" noGrp="1"/>
          </p:cNvSpPr>
          <p:nvPr/>
        </p:nvSpPr>
        <p:spPr>
          <a:xfrm xmlns:a="http://schemas.openxmlformats.org/drawingml/2006/main">
            <a:off x="914400" y="4210050"/>
            <a:ext cx="1171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holder keeps</a:t>
            </a:r>
          </a:p>
        </p:txBody>
      </p:sp>
      <p:sp>
        <p:nvSpPr>
          <p:cNvPr id="12" name="Buyer part">
            <a:extLst xmlns:a="http://schemas.openxmlformats.org/drawingml/2006/main">
              <a:ext uri="{FF2B5EF4-FFF2-40B4-BE49-F238E27FC236}">
                <a16:creationId xmlns:a16="http://schemas.microsoft.com/office/drawing/2014/main" id="{B1FD9C63-EBE9-4818-BA5F-3B2897B0905B}"/>
              </a:ext>
            </a:extLst>
          </p:cNvPr>
          <p:cNvSpPr>
            <a:spLocks xmlns:a="http://schemas.openxmlformats.org/drawingml/2006/main" noGrp="1"/>
          </p:cNvSpPr>
          <p:nvPr/>
        </p:nvSpPr>
        <p:spPr>
          <a:xfrm xmlns:a="http://schemas.openxmlformats.org/drawingml/2006/main">
            <a:off x="2505075" y="4019550"/>
            <a:ext cx="2638425" cy="628650"/>
          </a:xfrm>
          <a:prstGeom xmlns:a="http://schemas.openxmlformats.org/drawingml/2006/main" prst="roundRect">
            <a:avLst>
              <a:gd name="adj" fmla="val 15152"/>
            </a:avLst>
          </a:prstGeom>
          <a:solidFill xmlns:a="http://schemas.openxmlformats.org/drawingml/2006/main">
            <a:srgbClr val="F8E8D4"/>
          </a:solidFill>
          <a:ln xmlns:a="http://schemas.openxmlformats.org/drawingml/2006/main" w="9525">
            <a:solidFill>
              <a:srgbClr val="C46A00"/>
            </a:solidFill>
            <a:prstDash val="solid"/>
          </a:ln>
        </p:spPr>
      </p:sp>
      <p:sp>
        <p:nvSpPr>
          <p:cNvPr id="13" name="">
            <a:extLst xmlns:a="http://schemas.openxmlformats.org/drawingml/2006/main">
              <a:ext uri="{FF2B5EF4-FFF2-40B4-BE49-F238E27FC236}">
                <a16:creationId xmlns:a16="http://schemas.microsoft.com/office/drawing/2014/main" id="{6188DA25-A9EF-469C-AD44-67EDC763EDA8}"/>
              </a:ext>
            </a:extLst>
          </p:cNvPr>
          <p:cNvSpPr>
            <a:spLocks xmlns:a="http://schemas.openxmlformats.org/drawingml/2006/main" noGrp="1"/>
          </p:cNvSpPr>
          <p:nvPr/>
        </p:nvSpPr>
        <p:spPr>
          <a:xfrm xmlns:a="http://schemas.openxmlformats.org/drawingml/2006/main">
            <a:off x="2676525" y="4210050"/>
            <a:ext cx="2295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200" b="1">
                <a:solidFill>
                  <a:srgbClr val="7A4000"/>
                </a:solidFill>
                <a:latin typeface="Helvetica Neue"/>
                <a:ea typeface="Helvetica Neue"/>
                <a:cs typeface="Helvetica Neue"/>
              </a:defRPr>
            </a:pPr>
            <a:r>
              <a:rPr sz="1200" b="1">
                <a:solidFill>
                  <a:srgbClr val="7A4000"/>
                </a:solidFill>
                <a:latin typeface="Helvetica Neue"/>
                <a:ea typeface="Helvetica Neue"/>
                <a:cs typeface="Helvetica Neue"/>
              </a:rPr>
              <a:t>buyer takes part</a:t>
            </a:r>
          </a:p>
        </p:txBody>
      </p:sp>
      <p:cxnSp>
        <p:nvCxnSpPr>
          <p:cNvPr id="42" name=""/>
          <p:cNvCxnSpPr>
            <a:stCxn xmlns:a="http://schemas.openxmlformats.org/drawingml/2006/main" id="8" idx="2"/>
            <a:endCxn xmlns:a="http://schemas.openxmlformats.org/drawingml/2006/main" id="10" idx="0"/>
          </p:cNvCxnSpPr>
          <p:nvPr/>
        </p:nvCxnSpPr>
        <p:spPr>
          <a:xfrm xmlns:a="http://schemas.openxmlformats.org/drawingml/2006/main" flipH="1">
            <a:off x="1500188" y="3733800"/>
            <a:ext cx="1452563"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3" name=""/>
          <p:cNvCxnSpPr>
            <a:stCxn xmlns:a="http://schemas.openxmlformats.org/drawingml/2006/main" id="8" idx="2"/>
            <a:endCxn xmlns:a="http://schemas.openxmlformats.org/drawingml/2006/main" id="12" idx="0"/>
          </p:cNvCxnSpPr>
          <p:nvPr/>
        </p:nvCxnSpPr>
        <p:spPr>
          <a:xfrm xmlns:a="http://schemas.openxmlformats.org/drawingml/2006/main">
            <a:off x="2952750" y="3733800"/>
            <a:ext cx="871538" cy="285750"/>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6" name="">
            <a:extLst xmlns:a="http://schemas.openxmlformats.org/drawingml/2006/main">
              <a:ext uri="{FF2B5EF4-FFF2-40B4-BE49-F238E27FC236}">
                <a16:creationId xmlns:a16="http://schemas.microsoft.com/office/drawing/2014/main" id="{FF9D3183-E78E-4532-8A09-451E51DE1FD7}"/>
              </a:ext>
            </a:extLst>
          </p:cNvPr>
          <p:cNvSpPr>
            <a:spLocks xmlns:a="http://schemas.openxmlformats.org/drawingml/2006/main" noGrp="1"/>
          </p:cNvSpPr>
          <p:nvPr/>
        </p:nvSpPr>
        <p:spPr>
          <a:xfrm xmlns:a="http://schemas.openxmlformats.org/drawingml/2006/main">
            <a:off x="59436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CECBBE6-4B5C-4E06-863D-ECDF6EEABDFB}"/>
              </a:ext>
            </a:extLst>
          </p:cNvPr>
          <p:cNvSpPr>
            <a:spLocks xmlns:a="http://schemas.openxmlformats.org/drawingml/2006/main" noGrp="1"/>
          </p:cNvSpPr>
          <p:nvPr/>
        </p:nvSpPr>
        <p:spPr>
          <a:xfrm xmlns:a="http://schemas.openxmlformats.org/drawingml/2006/main">
            <a:off x="6572250" y="188595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8" name="">
            <a:extLst xmlns:a="http://schemas.openxmlformats.org/drawingml/2006/main">
              <a:ext uri="{FF2B5EF4-FFF2-40B4-BE49-F238E27FC236}">
                <a16:creationId xmlns:a16="http://schemas.microsoft.com/office/drawing/2014/main" id="{06260A0B-5356-47D2-97AF-2587E722E95F}"/>
              </a:ext>
            </a:extLst>
          </p:cNvPr>
          <p:cNvSpPr>
            <a:spLocks xmlns:a="http://schemas.openxmlformats.org/drawingml/2006/main" noGrp="1"/>
          </p:cNvSpPr>
          <p:nvPr/>
        </p:nvSpPr>
        <p:spPr>
          <a:xfrm xmlns:a="http://schemas.openxmlformats.org/drawingml/2006/main">
            <a:off x="6572250" y="222885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325" b="1">
                <a:solidFill>
                  <a:srgbClr val="101820"/>
                </a:solidFill>
                <a:latin typeface="Helvetica Neue"/>
                <a:ea typeface="Helvetica Neue"/>
                <a:cs typeface="Helvetica Neue"/>
              </a:defRPr>
            </a:pPr>
            <a:r>
              <a:rPr sz="2325" b="1">
                <a:solidFill>
                  <a:srgbClr val="101820"/>
                </a:solidFill>
                <a:latin typeface="Helvetica Neue"/>
                <a:ea typeface="Helvetica Neue"/>
                <a:cs typeface="Helvetica Neue"/>
              </a:rPr>
              <a:t>Inspect the onchain record.</a:t>
            </a:r>
          </a:p>
        </p:txBody>
      </p:sp>
      <p:sp>
        <p:nvSpPr>
          <p:cNvPr id="19" name="">
            <a:extLst xmlns:a="http://schemas.openxmlformats.org/drawingml/2006/main">
              <a:ext uri="{FF2B5EF4-FFF2-40B4-BE49-F238E27FC236}">
                <a16:creationId xmlns:a16="http://schemas.microsoft.com/office/drawing/2014/main" id="{DE9518DA-137C-4ADB-8466-F1CC86D6E44B}"/>
              </a:ext>
            </a:extLst>
          </p:cNvPr>
          <p:cNvSpPr>
            <a:spLocks xmlns:a="http://schemas.openxmlformats.org/drawingml/2006/main" noGrp="1"/>
          </p:cNvSpPr>
          <p:nvPr/>
        </p:nvSpPr>
        <p:spPr>
          <a:xfrm xmlns:a="http://schemas.openxmlformats.org/drawingml/2006/main">
            <a:off x="6572250" y="31623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E45D3186-93EB-491E-8C70-67BA10C383CD}"/>
              </a:ext>
            </a:extLst>
          </p:cNvPr>
          <p:cNvSpPr>
            <a:spLocks xmlns:a="http://schemas.openxmlformats.org/drawingml/2006/main" noGrp="1"/>
          </p:cNvSpPr>
          <p:nvPr/>
        </p:nvSpPr>
        <p:spPr>
          <a:xfrm xmlns:a="http://schemas.openxmlformats.org/drawingml/2006/main">
            <a:off x="7200900" y="31432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2457F5"/>
                </a:solidFill>
                <a:latin typeface="Helvetica Neue"/>
                <a:ea typeface="Helvetica Neue"/>
                <a:cs typeface="Helvetica Neue"/>
              </a:defRPr>
            </a:pPr>
            <a:r>
              <a:rPr sz="1650" b="1">
                <a:solidFill>
                  <a:srgbClr val="2457F5"/>
                </a:solidFill>
                <a:latin typeface="Helvetica Neue"/>
                <a:ea typeface="Helvetica Neue"/>
                <a:cs typeface="Helvetica Neue"/>
              </a:rPr>
              <a:t>Vault balance</a:t>
            </a:r>
          </a:p>
        </p:txBody>
      </p:sp>
      <p:sp>
        <p:nvSpPr>
          <p:cNvPr id="21" name="">
            <a:extLst xmlns:a="http://schemas.openxmlformats.org/drawingml/2006/main">
              <a:ext uri="{FF2B5EF4-FFF2-40B4-BE49-F238E27FC236}">
                <a16:creationId xmlns:a16="http://schemas.microsoft.com/office/drawing/2014/main" id="{C2B79F59-BD31-4DC9-B8C5-4CA79DB8B232}"/>
              </a:ext>
            </a:extLst>
          </p:cNvPr>
          <p:cNvSpPr>
            <a:spLocks xmlns:a="http://schemas.openxmlformats.org/drawingml/2006/main" noGrp="1"/>
          </p:cNvSpPr>
          <p:nvPr/>
        </p:nvSpPr>
        <p:spPr>
          <a:xfrm xmlns:a="http://schemas.openxmlformats.org/drawingml/2006/main">
            <a:off x="6572250" y="35623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475BDB4-CB86-4C47-9A73-7259A2052554}"/>
              </a:ext>
            </a:extLst>
          </p:cNvPr>
          <p:cNvSpPr>
            <a:spLocks xmlns:a="http://schemas.openxmlformats.org/drawingml/2006/main" noGrp="1"/>
          </p:cNvSpPr>
          <p:nvPr/>
        </p:nvSpPr>
        <p:spPr>
          <a:xfrm xmlns:a="http://schemas.openxmlformats.org/drawingml/2006/main">
            <a:off x="6572250" y="38481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3" name="">
            <a:extLst xmlns:a="http://schemas.openxmlformats.org/drawingml/2006/main">
              <a:ext uri="{FF2B5EF4-FFF2-40B4-BE49-F238E27FC236}">
                <a16:creationId xmlns:a16="http://schemas.microsoft.com/office/drawing/2014/main" id="{BF11307E-451E-4357-81FC-1131B2BA0E3E}"/>
              </a:ext>
            </a:extLst>
          </p:cNvPr>
          <p:cNvSpPr>
            <a:spLocks xmlns:a="http://schemas.openxmlformats.org/drawingml/2006/main" noGrp="1"/>
          </p:cNvSpPr>
          <p:nvPr/>
        </p:nvSpPr>
        <p:spPr>
          <a:xfrm xmlns:a="http://schemas.openxmlformats.org/drawingml/2006/main">
            <a:off x="7200900" y="38290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Claims outstanding</a:t>
            </a:r>
          </a:p>
        </p:txBody>
      </p:sp>
      <p:sp>
        <p:nvSpPr>
          <p:cNvPr id="24" name="">
            <a:extLst xmlns:a="http://schemas.openxmlformats.org/drawingml/2006/main">
              <a:ext uri="{FF2B5EF4-FFF2-40B4-BE49-F238E27FC236}">
                <a16:creationId xmlns:a16="http://schemas.microsoft.com/office/drawing/2014/main" id="{DD26B8EB-B876-433D-9D25-979F04984971}"/>
              </a:ext>
            </a:extLst>
          </p:cNvPr>
          <p:cNvSpPr>
            <a:spLocks xmlns:a="http://schemas.openxmlformats.org/drawingml/2006/main" noGrp="1"/>
          </p:cNvSpPr>
          <p:nvPr/>
        </p:nvSpPr>
        <p:spPr>
          <a:xfrm xmlns:a="http://schemas.openxmlformats.org/drawingml/2006/main">
            <a:off x="6572250" y="42481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E996B95-F608-48FF-95D8-37707D4AE543}"/>
              </a:ext>
            </a:extLst>
          </p:cNvPr>
          <p:cNvSpPr>
            <a:spLocks xmlns:a="http://schemas.openxmlformats.org/drawingml/2006/main" noGrp="1"/>
          </p:cNvSpPr>
          <p:nvPr/>
        </p:nvSpPr>
        <p:spPr>
          <a:xfrm xmlns:a="http://schemas.openxmlformats.org/drawingml/2006/main">
            <a:off x="6572250" y="4533900"/>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6" name="">
            <a:extLst xmlns:a="http://schemas.openxmlformats.org/drawingml/2006/main">
              <a:ext uri="{FF2B5EF4-FFF2-40B4-BE49-F238E27FC236}">
                <a16:creationId xmlns:a16="http://schemas.microsoft.com/office/drawing/2014/main" id="{7C121C9B-9078-415F-9065-B75E09BAB4B2}"/>
              </a:ext>
            </a:extLst>
          </p:cNvPr>
          <p:cNvSpPr>
            <a:spLocks xmlns:a="http://schemas.openxmlformats.org/drawingml/2006/main" noGrp="1"/>
          </p:cNvSpPr>
          <p:nvPr/>
        </p:nvSpPr>
        <p:spPr>
          <a:xfrm xmlns:a="http://schemas.openxmlformats.org/drawingml/2006/main">
            <a:off x="7200900" y="45148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1">
                <a:solidFill>
                  <a:srgbClr val="101820"/>
                </a:solidFill>
                <a:latin typeface="Helvetica Neue"/>
                <a:ea typeface="Helvetica Neue"/>
                <a:cs typeface="Helvetica Neue"/>
              </a:defRPr>
            </a:pPr>
            <a:r>
              <a:rPr sz="1650" b="1">
                <a:solidFill>
                  <a:srgbClr val="101820"/>
                </a:solidFill>
                <a:latin typeface="Helvetica Neue"/>
                <a:ea typeface="Helvetica Neue"/>
                <a:cs typeface="Helvetica Neue"/>
              </a:rPr>
              <a:t>Redemption history</a:t>
            </a:r>
          </a:p>
        </p:txBody>
      </p:sp>
      <p:sp>
        <p:nvSpPr>
          <p:cNvPr id="27" name="">
            <a:extLst xmlns:a="http://schemas.openxmlformats.org/drawingml/2006/main">
              <a:ext uri="{FF2B5EF4-FFF2-40B4-BE49-F238E27FC236}">
                <a16:creationId xmlns:a16="http://schemas.microsoft.com/office/drawing/2014/main" id="{EB8EE223-1CC2-450B-9CD4-85A9E14F9BE3}"/>
              </a:ext>
            </a:extLst>
          </p:cNvPr>
          <p:cNvSpPr>
            <a:spLocks xmlns:a="http://schemas.openxmlformats.org/drawingml/2006/main" noGrp="1"/>
          </p:cNvSpPr>
          <p:nvPr/>
        </p:nvSpPr>
        <p:spPr>
          <a:xfrm xmlns:a="http://schemas.openxmlformats.org/drawingml/2006/main">
            <a:off x="6572250" y="4933950"/>
            <a:ext cx="4476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13BC326-923E-4E55-8980-ECF5CBCB603B}"/>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638974403"/>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26911F6-A9DC-48BC-B9FC-559FB07EF1C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3B6B3C6-05DD-49C3-8D92-EB9C6A1768FB}"/>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710D597-F361-4861-8BED-F3B3A5A3C312}"/>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82684642-7AB4-40A6-ADCB-9D835B630F07}"/>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55197E99-9D1E-474D-BCE9-E875F0B42D1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a03750130b94e0f"/>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65B90961-BAB9-4058-86B7-F4896C6231F0}"/>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88EEAAAB-7EE0-43A2-99FB-845D1F8DE761}"/>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46E46AE0-B991-431A-B4F7-A859030D42CB}"/>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6B47A3CE-A77E-4787-A0E3-5367A3F836AC}"/>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D9D4F9B5-3B41-476A-9178-B9AC95495C60}"/>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B70612AC-5877-458D-8188-7089710DDA71}"/>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A85D1FEF-AB03-4976-AD81-67C7DFECC211}"/>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4E722180-FCDE-40A8-899A-E133D535217F}"/>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24A229C5-9628-4858-B16D-D9147ACF7B08}"/>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5ACDC57-BB09-4735-BC81-08DCB39E1D12}"/>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1CF985A5-86D6-4471-A895-DAC9DEC1A9AA}"/>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B09DF7D-69BB-4E51-A3EE-EDCDB7B189CB}"/>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730066775"/>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0D709A2-477F-464E-91F0-522158246144}"/>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1DC941-8A55-4972-8162-04D541C831B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DA50D91-CBDA-420B-98E2-25AE8F8F5FD7}"/>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29452CD8-858A-4543-9C2A-4F59E208C466}"/>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7332A973-6699-4C39-AC8F-7F95F6517801}"/>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8B51C1A1-6CA0-4F3B-B37B-250BBD15F73E}"/>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2F748819-632C-4275-99CF-C2D0B1251F16}"/>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BEC02158-AF01-4532-9B20-992D16BF0CCE}"/>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DB4B1C41-74CF-4867-A985-A0B9616C1BC0}"/>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A9761FDE-25A0-4F04-9126-2404DAB8FD44}"/>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2C0D3083-7F1B-4055-B14D-B1AFA75DCFEA}"/>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7424D9DC-D4FC-4D8A-A16D-36B454F111E7}"/>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C26BF184-848E-4667-946B-3568F621DCCE}"/>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900F862A-6FE8-4BEC-8806-90AC8BB24B99}"/>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78321F3A-EE05-4365-906D-C213A6D71B86}"/>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21228522-D793-4947-ACDD-5F3AE9A2EA3A}"/>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52C6760-D236-41DC-8F2C-2DD40A80170A}"/>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B8703106-2F9D-4B5D-B9B5-E7C5BD520119}"/>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D40F1EFE-01BA-4B1C-8BC5-D059A174C702}"/>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066EBDC0-75D4-447C-ADD5-5A5169A217DE}"/>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CF8A50C-7208-4D9C-8283-44C38F85659C}"/>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ECAFE1DD-7B58-4416-994C-00605DD39A35}"/>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Selected stocks</a:t>
            </a:r>
          </a:p>
        </p:txBody>
      </p:sp>
      <p:sp>
        <p:nvSpPr>
          <p:cNvPr id="26" name="">
            <a:extLst xmlns:a="http://schemas.openxmlformats.org/drawingml/2006/main">
              <a:ext uri="{FF2B5EF4-FFF2-40B4-BE49-F238E27FC236}">
                <a16:creationId xmlns:a16="http://schemas.microsoft.com/office/drawing/2014/main" id="{AB712EAB-F30E-4A96-ABAE-42BF05BD8880}"/>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Coca-Cola · Apple · Microsoft · Micron · Nike · IBM</a:t>
            </a:r>
          </a:p>
        </p:txBody>
      </p:sp>
      <p:sp>
        <p:nvSpPr>
          <p:cNvPr id="27" name="">
            <a:extLst xmlns:a="http://schemas.openxmlformats.org/drawingml/2006/main">
              <a:ext uri="{FF2B5EF4-FFF2-40B4-BE49-F238E27FC236}">
                <a16:creationId xmlns:a16="http://schemas.microsoft.com/office/drawing/2014/main" id="{C0198DD3-3624-4B3D-9503-3A01020ABEA7}"/>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9BBB3A4-F39D-486D-88E0-277FED49C527}"/>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14A23154-F7B9-4535-9CB9-AB72452FA804}"/>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9D53DBA3-B1EC-4057-A682-FA2C215E6C07}"/>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C1ECD35C-5230-420C-99DC-60EE1CD27E55}"/>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1023622752"/>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2026-09-16T07:15:57.0410000Z</dcterms:created>
  <dcterms:modified xsi:type="dcterms:W3CDTF">2026-09-16T07:15:57.0410000Z</dcterms:modified>
</coreProperties>
</file>