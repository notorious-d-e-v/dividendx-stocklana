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02eaf040f34de7" /><Relationship Type="http://schemas.openxmlformats.org/officeDocument/2006/relationships/extended-properties" Target="/docProps/app.xml" Id="Re488e83950b54f7d" /><Relationship Type="http://schemas.openxmlformats.org/officeDocument/2006/relationships/officeDocument" Target="/ppt/presentation.xml" Id="R74096b03c21840d2" /></Relationships>
</file>

<file path=ppt/presentation.xml><?xml version="1.0" encoding="utf-8"?>
<p:presentation xmlns:p="http://schemas.openxmlformats.org/presentationml/2006/main">
  <p:sldMasterIdLst>
    <p:sldMasterId xmlns:r="http://schemas.openxmlformats.org/officeDocument/2006/relationships" id="2147483648" r:id="R0b926781784e491b"/>
  </p:sldMasterIdLst>
  <p:notesMasterIdLst>
    <p:notesMasterId xmlns:r="http://schemas.openxmlformats.org/officeDocument/2006/relationships" r:id="Rb0ffd01f89f54632"/>
  </p:notesMasterIdLst>
  <p:sldIdLst>
    <p:sldId xmlns:r="http://schemas.openxmlformats.org/officeDocument/2006/relationships" id="256" r:id="R8b13c993bf184f51"/>
    <p:sldId xmlns:r="http://schemas.openxmlformats.org/officeDocument/2006/relationships" id="257" r:id="Rdaaf8d4141924166"/>
    <p:sldId xmlns:r="http://schemas.openxmlformats.org/officeDocument/2006/relationships" id="258" r:id="R3e7d3d8590064cc2"/>
    <p:sldId xmlns:r="http://schemas.openxmlformats.org/officeDocument/2006/relationships" id="259" r:id="R02ff55b803a9497c"/>
    <p:sldId xmlns:r="http://schemas.openxmlformats.org/officeDocument/2006/relationships" id="260" r:id="Rb45ba66378e44714"/>
    <p:sldId xmlns:r="http://schemas.openxmlformats.org/officeDocument/2006/relationships" id="261" r:id="R3aa7a131167e47e1"/>
    <p:sldId xmlns:r="http://schemas.openxmlformats.org/officeDocument/2006/relationships" id="262" r:id="Raa363e9af9a942f0"/>
    <p:sldId xmlns:r="http://schemas.openxmlformats.org/officeDocument/2006/relationships" id="263" r:id="R91d6d0a89f4d4841"/>
    <p:sldId xmlns:r="http://schemas.openxmlformats.org/officeDocument/2006/relationships" id="264" r:id="R81bff006571d41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3236f9ee704a88" /><Relationship Type="http://schemas.openxmlformats.org/officeDocument/2006/relationships/slideMaster" Target="/ppt/slideMasters/slideMaster1.xml" Id="R0b926781784e491b" /><Relationship Type="http://schemas.openxmlformats.org/officeDocument/2006/relationships/notesMaster" Target="/ppt/notesMasters/notesMaster1.xml" Id="Rb0ffd01f89f54632" /><Relationship Type="http://schemas.openxmlformats.org/officeDocument/2006/relationships/presProps" Target="/ppt/presProps.xml" Id="Re16258f97fd542b2" /><Relationship Type="http://schemas.openxmlformats.org/officeDocument/2006/relationships/tableStyles" Target="/ppt/tableStyles.xml" Id="Rb369d6d3f7684d0e" /><Relationship Type="http://schemas.openxmlformats.org/officeDocument/2006/relationships/slide" Target="/ppt/slides/slide1.xml" Id="R8b13c993bf184f51" /><Relationship Type="http://schemas.openxmlformats.org/officeDocument/2006/relationships/slide" Target="/ppt/slides/slide2.xml" Id="Rdaaf8d4141924166" /><Relationship Type="http://schemas.openxmlformats.org/officeDocument/2006/relationships/slide" Target="/ppt/slides/slide3.xml" Id="R3e7d3d8590064cc2" /><Relationship Type="http://schemas.openxmlformats.org/officeDocument/2006/relationships/slide" Target="/ppt/slides/slide4.xml" Id="R02ff55b803a9497c" /><Relationship Type="http://schemas.openxmlformats.org/officeDocument/2006/relationships/slide" Target="/ppt/slides/slide5.xml" Id="Rb45ba66378e44714" /><Relationship Type="http://schemas.openxmlformats.org/officeDocument/2006/relationships/slide" Target="/ppt/slides/slide6.xml" Id="R3aa7a131167e47e1" /><Relationship Type="http://schemas.openxmlformats.org/officeDocument/2006/relationships/slide" Target="/ppt/slides/slide7.xml" Id="Raa363e9af9a942f0" /><Relationship Type="http://schemas.openxmlformats.org/officeDocument/2006/relationships/slide" Target="/ppt/slides/slide8.xml" Id="R91d6d0a89f4d4841" /><Relationship Type="http://schemas.openxmlformats.org/officeDocument/2006/relationships/slide" Target="/ppt/slides/slide9.xml" Id="R81bff006571d41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aac59864404f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3c580de64c47f9" /><Relationship Type="http://schemas.openxmlformats.org/officeDocument/2006/relationships/notesMaster" Target="/ppt/notesMasters/notesMaster1.xml" Id="Rf374d3d02b784e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2b4bfdabbf4e69" /><Relationship Type="http://schemas.openxmlformats.org/officeDocument/2006/relationships/notesMaster" Target="/ppt/notesMasters/notesMaster1.xml" Id="R5bf15ceb9d2d42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56f3d9850b439f" /><Relationship Type="http://schemas.openxmlformats.org/officeDocument/2006/relationships/notesMaster" Target="/ppt/notesMasters/notesMaster1.xml" Id="Rce9db33ca67849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4118f32ae24643" /><Relationship Type="http://schemas.openxmlformats.org/officeDocument/2006/relationships/notesMaster" Target="/ppt/notesMasters/notesMaster1.xml" Id="R0b90870fdf0d44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a23b6bbf984d24" /><Relationship Type="http://schemas.openxmlformats.org/officeDocument/2006/relationships/notesMaster" Target="/ppt/notesMasters/notesMaster1.xml" Id="Rad81f19d68a24e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fd5ec3e4cf457a" /><Relationship Type="http://schemas.openxmlformats.org/officeDocument/2006/relationships/notesMaster" Target="/ppt/notesMasters/notesMaster1.xml" Id="R9f665973c71447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a53da39bab493c" /><Relationship Type="http://schemas.openxmlformats.org/officeDocument/2006/relationships/notesMaster" Target="/ppt/notesMasters/notesMaster1.xml" Id="R68896bb01a954e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78d55dfcc7b4e70" /><Relationship Type="http://schemas.openxmlformats.org/officeDocument/2006/relationships/notesMaster" Target="/ppt/notesMasters/notesMaster1.xml" Id="Rd26113a4e6e747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3aaba0f743415b" /><Relationship Type="http://schemas.openxmlformats.org/officeDocument/2006/relationships/notesMaster" Target="/ppt/notesMasters/notesMaster1.xml" Id="R76777c696e6649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DivX lets a stock holder keep the stock exposure and sell the dividend rights. We are building a shared dividend market for tokenized stocks on Solana, with xStocks, Backpack and Ondo in the initial integration scope.</a:t>
            </a:r>
          </a:p>
          <a:p xmlns:a="http://schemas.openxmlformats.org/drawingml/2006/main">
            <a:r>
              <a:t>Presenter notes: The protocol is not launched. Current software is an approved interface and working historical calculator. Initial integration scope does not mean every token from these issuers is eligible or already integrated.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Traditional finance already has both sides: banks sell dividend exposure to manage risk from structured products; asset managers such as Survista buy discounted dividend futures. DivX brings that choice to tokenized-stock holders: keep the stock exposure and sell the dividend rights.</a:t>
            </a:r>
          </a:p>
          <a:p xmlns:a="http://schemas.openxmlformats.org/drawingml/2006/main">
            <a:r>
              <a:t>Presenter notes: The institutions shown are participants in traditional dividend markets, not DivX users. Bank direction varies by book and tenor; hedge funds can buy or sell. Traditional dividend futures and swaps are generally cash-settled. DivX allocates collateral in the deposited stock token, and proceeds require a willing buyer at an agreed price.</a:t>
            </a:r>
          </a:p>
          <a:p xmlns:a="http://schemas.openxmlformats.org/drawingml/2006/main">
            <a:r>
              <a:t>Sources (accessed/observed 16 September 2026 unless stated):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One deposit enters a locked vault. The program issues two paired claims: PT for the stock exposure and DR for the dividend-derived share. Each pair is backed by its own stock-token collateral and redeems in that token. Its dollar value can change.</a:t>
            </a:r>
          </a:p>
          <a:p xmlns:a="http://schemas.openxmlformats.org/drawingml/2006/main">
            <a:r>
              <a:t>Presenter notes: This describes product mechanics, not deployed execution. Each vault isolates one issuer, mint and event. The supported Scaled UI reinvestment model shares raw-unit allocation rules across qualified xStocks, Backpack and Ondo tokens. Reinvested-token settlement stays in the deposited token. No third circulating wrapper exists. Deposit must precede the supported event, and claim receipt units differ from raw redemption allocations.</a:t>
            </a:r>
          </a:p>
          <a:p xmlns:a="http://schemas.openxmlformats.org/drawingml/2006/main">
            <a:r>
              <a:t>Sources (accessed/observed 16 September 2026 unless stated): xStocks multipliers: https://docs.xstocks.fi/developers/multipliers | Backpack MU: https://learn.backpack.exchange/blog/tokenized-micron-mu | Ondo corporate actions: https://docs.ondo.finance/ondo-stocks/corporate-actions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Eurex handled more than 21 million dividend contracts in 2024. Pendle reported 96.4 million dollars of average daily trading volume that year. Investors already trade dividends separately, and crypto users already separate yield. DivX connects those two ideas.</a:t>
            </a:r>
          </a:p>
          <a:p xmlns:a="http://schemas.openxmlformats.org/drawingml/2006/main">
            <a:r>
              <a:t>Presenter notes: Contracts and dollars are different measures. These figures establish precedents; they do not prove demand for DivX or forecast future volume.</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Global dividends totaled 1.75 trillion dollars in 2024. RWA.xyz reported 2.92 billion dollars of tokenized-stock value on September 16, 2026. Our starting market is dividend-paying stock tokens on Solana, across issuers.</a:t>
            </a:r>
          </a:p>
          <a:p xmlns:a="http://schemas.openxmlformats.org/drawingml/2006/main">
            <a:r>
              <a:t>Presenter notes: The RWA.xyz total is global and includes stocks, ETFs, native instruments, and synthetic representations. Eligible Solana dividend collateral is only a subset. Initial scope names issuer families under review, not a supported-token inventory or partnership announcement. The two measures are not additive TAM and do not support a growth estimate.</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and reconfirmed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lets assets from different issuers use the same vault design. Each issuer's dividend data feeds common allocation rules. One transaction deposits collateral and creates both claims. We enable each stock after verifying its dividend data and transfer requirements, while keeping each issuer's collateral separate.</a:t>
            </a:r>
          </a:p>
          <a:p xmlns:a="http://schemas.openxmlformats.org/drawingml/2006/main">
            <a:r>
              <a:t>Presenter notes: All three observed families use Token-2022 Scaled UI Amount, so qualified reinvested-dividend accounting can share one engine. Each issuer still needs its own event reader and custody checks. Exact mint, decimals, event source, extensions and issuer controls stay pinned per series. The engine never pools collateral, makes claims across issuers fungible, or guarantees liquidity. Permissioned shares, tokens without dividend rights, transfer-fee products and missing event data are not automatically enabled. xStocks has public event history. Backpack's MU history includes an observed DividendDistribute transaction and later multiplier recomputations during ordinary mint/redeem activity; its official event feed and finality semantics remain unverified, and onchain reconstruction is being assessed. Today's multiplier must not be used as an event factor. Ondo's keyed multiplier history still needs classified event joins.</a:t>
            </a:r>
          </a:p>
          <a:p xmlns:a="http://schemas.openxmlformats.org/drawingml/2006/main">
            <a:r>
              <a:t>Sources (accessed/observed 16 September 2026 unless stated): xStocks multipliers: https://docs.xstocks.fi/developers/multipliers | xStocks corporate actions: https://docs.xstocks.fi/apis/openapi/corporate-actions | Backpack MU: https://learn.backpack.exchange/blog/tokenized-micron-mu | Backpack MU finalized DividendDistribute transaction: https://explorer.solana.com/tx/39vTkahE7rUnFypAkKpaHUxwMyuC1nG4nJ12GEm3y9V1Kqep6ijvcX4isqsNXB63s3vsGNDjfi7uFFgH32Te59R | Local Backpack audit: planning/evidence/backpack-scope-mu-raw-transactions-2026-09-16.json | Ondo corporate actions: https://docs.ondo.finance/ondo-stocks/corporate-actions | Ondo multiplier history API: https://docs.ondo.finance/api-reference/assets/get-shares-multiplier-history-for-an-asset | Ondo Solana repository: https://github.com/ondoprotocol/global-markets-solana | Galaxy registered shares: https://investor.galaxy.com/ir-resources/tokenized-glxy-shares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 claims are divisible, so a holder can sell part of an entitlement and a buyer can take a smaller position. Onchain records let users inspect the vault balance, claims outstanding and redemption history. Other Solana applications can integrate the same claim interface.</a:t>
            </a:r>
          </a:p>
          <a:p xmlns:a="http://schemas.openxmlformats.org/drawingml/2006/main">
            <a:r>
              <a:t>Presenter notes: Onchain auditability covers held collateral and program records. It does not independently prove issuer reserves, correct issuer data, correct program code, or audit certification. Claim transferability remains subject to each eligible series' rules. Corporate-action handling remains technical Q&amp;A: the verified KOx dividend is accepted, while the exact HONx reverse split and later spinoff are unsupported dividend events.</a:t>
            </a:r>
          </a:p>
          <a:p xmlns:a="http://schemas.openxmlformats.org/drawingml/2006/main">
            <a:r>
              <a:t>Sources (accessed/observed 16 September 2026 unless stated): Solana tokens: https://solana.com/docs/tokens | Solana accounts: https://solana.com/docs/core/accounts | Solana transactions: https://solana.com/docs/core/transactions | Token supply RPC: https://solana.com/docs/rpc/http/gettokensupply | KOx history: https://api.xstocks.fi/api/v2/public/corporate-actions/history?page=1&amp;pageSize=100&amp;symbol=KOx&amp;sortBy=createdTimeUtc&amp;sortOrder=asc | HONx history: https://api.xstocks.fi/api/v2/public/corporate-actions/history?page=1&amp;pageSize=100&amp;symbol=HONx&amp;sortBy=createdTimeUtc&amp;sortOrder=asc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Our example uses Coca-Cola, ticker KO, represented on Solana as KOx. For 100 share-equivalents, the historical event separates about 8,935 dollars of stock exposure from 37 dollars and 10 cents of reinvested dividends, valued at the event-implied share price. The calculator makes that allocation inspectable today; vault execution comes next.</a:t>
            </a:r>
          </a:p>
          <a:p xmlns:a="http://schemas.openxmlformats.org/drawingml/2006/main">
            <a:r>
              <a:t>Presenter notes: KOx is the first source-verified reference example, not the only intended issuer. No Backpack or Ondo event is fabricated. Valuation basis: P = $0.371 / (1.0225601246249238 / 1.0183317967386898 - 1) = $89.349999989, approximately $89.35/share. The $37.10 is the event's net reinvestment reference value, not cash paid by DivX, a DR sale price, or a guaranteed payout. Both claims redeem in KOx units and their dollar value changes. Screenshot is a historical scenario, not a wallet position or proof that a vault captured the event. Exact raw Q=9,819,982,084; PT=9,779,376,057; DR=40,606,027; decimals=8; event 75c0c70e-1ae4-4ccd-ace6-d8990e1e8f9e v2. Coca-Cola company payment date is 1 October 2026; issuer adjustment is 15 September.</a:t>
            </a:r>
          </a:p>
          <a:p xmlns:a="http://schemas.openxmlformats.org/drawingml/2006/main">
            <a:r>
              <a:t>Sources (accessed/observed 16 September 2026 unless stated): KOx history: https://api.xstocks.fi/api/v2/public/corporate-actions/history?page=1&amp;pageSize=100&amp;symbol=KOx&amp;sortBy=createdTimeUtc&amp;sortOrder=asc | xStocks multiplier mechanics: https://docs.xstocks.fi/developers/multipliers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hackathon target is one complete flow across supported Solana stock tokens: deposit, split, sell the dividend, redeem each side separately. We build for xStocks, Backpack and Ondo now. Other networks come later, including Coinbase on Base and Robinhood Chain, with Solana as our home base for dividend liquidity.</a:t>
            </a:r>
          </a:p>
          <a:p xmlns:a="http://schemas.openxmlformats.org/drawingml/2006/main">
            <a:r>
              <a:t>Presenter notes: This is build scope and roadmap, not a claim of completed integration or partnership. Current observation covers real issuer/mint profiles. KOx has a complete source-verified replay fixture; vault execution remains planned. Each additional asset requires dividend rights, usable event data, custody compatibility and transfer tests. Restricted, no-dividend, discontinued or fee-bearing products may remain ineligible. Coinbase collateral is on Base. The roadmap refers to Robinhood's new wallet-held Stock Tokens on Robinhood Chain, not legacy Classic tokens. Cross-chain custody, settlement and messaging remain future design work.</a:t>
            </a:r>
          </a:p>
          <a:p xmlns:a="http://schemas.openxmlformats.org/drawingml/2006/main">
            <a:r>
              <a:t>Sources (accessed/observed 16 September 2026 unless stated): xStocks: https://xstocks.fi/ | xStocks docs: https://docs.xstocks.fi/docs | Backpack MU: https://learn.backpack.exchange/blog/tokenized-micron-mu | Ondo corporate actions: https://docs.ondo.finance/ondo-stocks/corporate-actions | Coinbase Tokenized Stocks: https://www.coinbase.com/tokenize | Robinhood Stock Tokens: https://robinhood.com/rhj/stocktokens/ | Robinhood Chain: https://robinhood.com/us/en/support/articles/robinhood-chain-testnet/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3af32a143e4d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7ed34b5ad24562" /><Relationship Type="http://schemas.openxmlformats.org/officeDocument/2006/relationships/slideLayout" Target="/ppt/slideLayouts/slideLayout1.xml" Id="R477e4a48354f4a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7e4a48354f4a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37d9d1fbf24be5" /><Relationship Type="http://schemas.openxmlformats.org/officeDocument/2006/relationships/notesSlide" Target="/ppt/notesSlides/notesSlide1.xml" Id="R752ba36139704e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cca4e3de48b4af9" /><Relationship Type="http://schemas.openxmlformats.org/officeDocument/2006/relationships/notesSlide" Target="/ppt/notesSlides/notesSlide2.xml" Id="R4267ffc1de5447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9dde43e6b8b4cb1" /><Relationship Type="http://schemas.openxmlformats.org/officeDocument/2006/relationships/notesSlide" Target="/ppt/notesSlides/notesSlide3.xml" Id="Rd15eb468e52a43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db39e307d54961" /><Relationship Type="http://schemas.openxmlformats.org/officeDocument/2006/relationships/notesSlide" Target="/ppt/notesSlides/notesSlide4.xml" Id="R6e4a7bbd2c424b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a5beb9bc113481d" /><Relationship Type="http://schemas.openxmlformats.org/officeDocument/2006/relationships/notesSlide" Target="/ppt/notesSlides/notesSlide5.xml" Id="R0272f592a60846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a016a60bf324769" /><Relationship Type="http://schemas.openxmlformats.org/officeDocument/2006/relationships/notesSlide" Target="/ppt/notesSlides/notesSlide6.xml" Id="R8028f2c0164f40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ff11d45b8c94272" /><Relationship Type="http://schemas.openxmlformats.org/officeDocument/2006/relationships/notesSlide" Target="/ppt/notesSlides/notesSlide7.xml" Id="Rb83cf1a5ecc243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e9228fa563d4a43" /><Relationship Type="http://schemas.openxmlformats.org/officeDocument/2006/relationships/image" Target="/ppt/media/image.png" Id="R9d3346ce12364f4d" /><Relationship Type="http://schemas.openxmlformats.org/officeDocument/2006/relationships/notesSlide" Target="/ppt/notesSlides/notesSlide8.xml" Id="R6ec9223787244d2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a35acd495644452" /><Relationship Type="http://schemas.openxmlformats.org/officeDocument/2006/relationships/notesSlide" Target="/ppt/notesSlides/notesSlide9.xml" Id="R7ccdce41cad64d55"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30E7DEC-5762-4FC5-9BF0-139E47F773F6}"/>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43D35CF-C659-4287-B5A0-8E50AF4D8F8D}"/>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A01A2BD-7F00-45DF-B427-B373002D6C4F}"/>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4D2F3CCD-6606-46C5-B7BC-6811DC9CBE59}"/>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C2745C17-7D5B-4619-9941-D7D7606EDE74}"/>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6EB06BA2-3850-4AF1-8284-70E565FC9882}"/>
              </a:ext>
            </a:extLst>
          </p:cNvPr>
          <p:cNvSpPr>
            <a:spLocks xmlns:a="http://schemas.openxmlformats.org/drawingml/2006/main" noGrp="1"/>
          </p:cNvSpPr>
          <p:nvPr/>
        </p:nvSpPr>
        <p:spPr>
          <a:xfrm xmlns:a="http://schemas.openxmlformats.org/drawingml/2006/main">
            <a:off x="800100" y="46958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dividend market for tokenized stocks on Solana.</a:t>
            </a:r>
          </a:p>
        </p:txBody>
      </p:sp>
      <p:sp>
        <p:nvSpPr>
          <p:cNvPr id="7" name="">
            <a:extLst xmlns:a="http://schemas.openxmlformats.org/drawingml/2006/main">
              <a:ext uri="{FF2B5EF4-FFF2-40B4-BE49-F238E27FC236}">
                <a16:creationId xmlns:a16="http://schemas.microsoft.com/office/drawing/2014/main" id="{E6A5607A-71BB-4F6E-8BB7-8A15CFD24E54}"/>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62A9AF6-254E-4421-9081-3ED7F8D7D9F4}"/>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912014003"/>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8B5807B-358A-448B-A6BB-2BEC79FAAB26}"/>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1947305-A600-43F8-8EDC-5A8F1038B807}"/>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1C0F93D-2BED-4194-8AA4-2C75B7D38C81}"/>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45B64DE1-3C21-43BD-95D8-87943817452E}"/>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07D605FD-F213-4513-8C51-DEF3F54F7640}"/>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A4EAE4EE-B4A9-4238-9CE8-735BDAD6B620}"/>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4B7EA8FE-CFC8-40DC-A5D2-E76422242009}"/>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27FFD040-5EDC-4B1A-BC3E-031A0598FB33}"/>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A8ACC2D2-2CBE-420B-BEC3-5D25CA0973C7}"/>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6F2C9F56-6AC4-490C-B35C-630D5B58286E}"/>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F04910BD-93F4-4161-906C-03F3268B4197}"/>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15462CD3-155A-46F6-8EB0-01916560428A}"/>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5527BCAE-19A9-419E-AA8C-F462C42CD5A4}"/>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078F64B-9F02-4E34-A723-E181BE49C069}"/>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DIVX FLOW</a:t>
            </a:r>
          </a:p>
        </p:txBody>
      </p:sp>
      <p:sp>
        <p:nvSpPr>
          <p:cNvPr id="15" name="Stock holder">
            <a:extLst xmlns:a="http://schemas.openxmlformats.org/drawingml/2006/main">
              <a:ext uri="{FF2B5EF4-FFF2-40B4-BE49-F238E27FC236}">
                <a16:creationId xmlns:a16="http://schemas.microsoft.com/office/drawing/2014/main" id="{A19423D7-EAF0-4610-947D-2B6DCC0FEFD1}"/>
              </a:ext>
            </a:extLst>
          </p:cNvPr>
          <p:cNvSpPr>
            <a:spLocks xmlns:a="http://schemas.openxmlformats.org/drawingml/2006/main" noGrp="1"/>
          </p:cNvSpPr>
          <p:nvPr/>
        </p:nvSpPr>
        <p:spPr>
          <a:xfrm xmlns:a="http://schemas.openxmlformats.org/drawingml/2006/main">
            <a:off x="85725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6" name="">
            <a:extLst xmlns:a="http://schemas.openxmlformats.org/drawingml/2006/main">
              <a:ext uri="{FF2B5EF4-FFF2-40B4-BE49-F238E27FC236}">
                <a16:creationId xmlns:a16="http://schemas.microsoft.com/office/drawing/2014/main" id="{49F78CDF-F67A-4CCB-AF8B-29298FA7C892}"/>
              </a:ext>
            </a:extLst>
          </p:cNvPr>
          <p:cNvSpPr>
            <a:spLocks xmlns:a="http://schemas.openxmlformats.org/drawingml/2006/main" noGrp="1"/>
          </p:cNvSpPr>
          <p:nvPr/>
        </p:nvSpPr>
        <p:spPr>
          <a:xfrm xmlns:a="http://schemas.openxmlformats.org/drawingml/2006/main">
            <a:off x="106680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STOCK HOLDER</a:t>
            </a:r>
          </a:p>
        </p:txBody>
      </p:sp>
      <p:sp>
        <p:nvSpPr>
          <p:cNvPr id="17" name="Buyer">
            <a:extLst xmlns:a="http://schemas.openxmlformats.org/drawingml/2006/main">
              <a:ext uri="{FF2B5EF4-FFF2-40B4-BE49-F238E27FC236}">
                <a16:creationId xmlns:a16="http://schemas.microsoft.com/office/drawing/2014/main" id="{B52EF10B-1559-4EBD-9959-2280F97C3BD6}"/>
              </a:ext>
            </a:extLst>
          </p:cNvPr>
          <p:cNvSpPr>
            <a:spLocks xmlns:a="http://schemas.openxmlformats.org/drawingml/2006/main" noGrp="1"/>
          </p:cNvSpPr>
          <p:nvPr/>
        </p:nvSpPr>
        <p:spPr>
          <a:xfrm xmlns:a="http://schemas.openxmlformats.org/drawingml/2006/main">
            <a:off x="952500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8" name="">
            <a:extLst xmlns:a="http://schemas.openxmlformats.org/drawingml/2006/main">
              <a:ext uri="{FF2B5EF4-FFF2-40B4-BE49-F238E27FC236}">
                <a16:creationId xmlns:a16="http://schemas.microsoft.com/office/drawing/2014/main" id="{C0AA4DD9-CEFA-4FD4-8CC7-DBA512A43CB6}"/>
              </a:ext>
            </a:extLst>
          </p:cNvPr>
          <p:cNvSpPr>
            <a:spLocks xmlns:a="http://schemas.openxmlformats.org/drawingml/2006/main" noGrp="1"/>
          </p:cNvSpPr>
          <p:nvPr/>
        </p:nvSpPr>
        <p:spPr>
          <a:xfrm xmlns:a="http://schemas.openxmlformats.org/drawingml/2006/main">
            <a:off x="973455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BUYER</a:t>
            </a:r>
          </a:p>
        </p:txBody>
      </p:sp>
      <p:sp>
        <p:nvSpPr>
          <p:cNvPr id="19" name="Dividend right label">
            <a:extLst xmlns:a="http://schemas.openxmlformats.org/drawingml/2006/main">
              <a:ext uri="{FF2B5EF4-FFF2-40B4-BE49-F238E27FC236}">
                <a16:creationId xmlns:a16="http://schemas.microsoft.com/office/drawing/2014/main" id="{5D92879B-34E4-490A-9CBA-DA8F24B391C6}"/>
              </a:ext>
            </a:extLst>
          </p:cNvPr>
          <p:cNvSpPr>
            <a:spLocks xmlns:a="http://schemas.openxmlformats.org/drawingml/2006/main" noGrp="1"/>
          </p:cNvSpPr>
          <p:nvPr/>
        </p:nvSpPr>
        <p:spPr>
          <a:xfrm xmlns:a="http://schemas.openxmlformats.org/drawingml/2006/main">
            <a:off x="4667250" y="3876675"/>
            <a:ext cx="2857500" cy="476250"/>
          </a:xfrm>
          <a:prstGeom xmlns:a="http://schemas.openxmlformats.org/drawingml/2006/main" prst="roundRect">
            <a:avLst>
              <a:gd name="adj" fmla="val 24000"/>
            </a:avLst>
          </a:prstGeom>
          <a:solidFill xmlns:a="http://schemas.openxmlformats.org/drawingml/2006/main">
            <a:srgbClr val="F8E8D4"/>
          </a:solidFill>
          <a:ln xmlns:a="http://schemas.openxmlformats.org/drawingml/2006/main" w="9525">
            <a:solidFill>
              <a:srgbClr val="C46A00"/>
            </a:solidFill>
            <a:prstDash val="solid"/>
          </a:ln>
        </p:spPr>
      </p:sp>
      <p:sp>
        <p:nvSpPr>
          <p:cNvPr id="20" name="">
            <a:extLst xmlns:a="http://schemas.openxmlformats.org/drawingml/2006/main">
              <a:ext uri="{FF2B5EF4-FFF2-40B4-BE49-F238E27FC236}">
                <a16:creationId xmlns:a16="http://schemas.microsoft.com/office/drawing/2014/main" id="{D4169269-ADB1-4270-AD3C-1833433A91D2}"/>
              </a:ext>
            </a:extLst>
          </p:cNvPr>
          <p:cNvSpPr>
            <a:spLocks xmlns:a="http://schemas.openxmlformats.org/drawingml/2006/main" noGrp="1"/>
          </p:cNvSpPr>
          <p:nvPr/>
        </p:nvSpPr>
        <p:spPr>
          <a:xfrm xmlns:a="http://schemas.openxmlformats.org/drawingml/2006/main">
            <a:off x="5010150" y="400050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21" name="Payment label">
            <a:extLst xmlns:a="http://schemas.openxmlformats.org/drawingml/2006/main">
              <a:ext uri="{FF2B5EF4-FFF2-40B4-BE49-F238E27FC236}">
                <a16:creationId xmlns:a16="http://schemas.microsoft.com/office/drawing/2014/main" id="{EA7BB4AC-E9F9-40DC-922A-0BAB0A5CF71F}"/>
              </a:ext>
            </a:extLst>
          </p:cNvPr>
          <p:cNvSpPr>
            <a:spLocks xmlns:a="http://schemas.openxmlformats.org/drawingml/2006/main" noGrp="1"/>
          </p:cNvSpPr>
          <p:nvPr/>
        </p:nvSpPr>
        <p:spPr>
          <a:xfrm xmlns:a="http://schemas.openxmlformats.org/drawingml/2006/main">
            <a:off x="4667250" y="5010150"/>
            <a:ext cx="2857500" cy="476250"/>
          </a:xfrm>
          <a:prstGeom xmlns:a="http://schemas.openxmlformats.org/drawingml/2006/main" prst="roundRect">
            <a:avLst>
              <a:gd name="adj" fmla="val 24000"/>
            </a:avLst>
          </a:prstGeom>
          <a:solidFill xmlns:a="http://schemas.openxmlformats.org/drawingml/2006/main">
            <a:srgbClr val="EAF0FF"/>
          </a:solidFill>
          <a:ln xmlns:a="http://schemas.openxmlformats.org/drawingml/2006/main" w="9525">
            <a:solidFill>
              <a:srgbClr val="2457F5"/>
            </a:solidFill>
            <a:prstDash val="solid"/>
          </a:ln>
        </p:spPr>
      </p:sp>
      <p:sp>
        <p:nvSpPr>
          <p:cNvPr id="22" name="">
            <a:extLst xmlns:a="http://schemas.openxmlformats.org/drawingml/2006/main">
              <a:ext uri="{FF2B5EF4-FFF2-40B4-BE49-F238E27FC236}">
                <a16:creationId xmlns:a16="http://schemas.microsoft.com/office/drawing/2014/main" id="{722AACF8-33B5-4757-8D98-A09C0215C96D}"/>
              </a:ext>
            </a:extLst>
          </p:cNvPr>
          <p:cNvSpPr>
            <a:spLocks xmlns:a="http://schemas.openxmlformats.org/drawingml/2006/main" noGrp="1"/>
          </p:cNvSpPr>
          <p:nvPr/>
        </p:nvSpPr>
        <p:spPr>
          <a:xfrm xmlns:a="http://schemas.openxmlformats.org/drawingml/2006/main">
            <a:off x="5010150" y="513397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52" name=""/>
          <p:cNvCxnSpPr>
            <a:stCxn xmlns:a="http://schemas.openxmlformats.org/drawingml/2006/main" id="15" idx="0"/>
            <a:endCxn xmlns:a="http://schemas.openxmlformats.org/drawingml/2006/main" id="19" idx="1"/>
          </p:cNvCxnSpPr>
          <p:nvPr/>
        </p:nvCxnSpPr>
        <p:spPr>
          <a:xfrm xmlns:a="http://schemas.openxmlformats.org/drawingml/2006/main" flipV="1">
            <a:off x="1762125" y="4095750"/>
            <a:ext cx="2905125" cy="228600"/>
          </a:xfrm>
          <a:prstGeom xmlns:a="http://schemas.openxmlformats.org/drawingml/2006/main" prst="bentConnector4">
            <a:avLst/>
          </a:prstGeom>
          <a:ln xmlns:a="http://schemas.openxmlformats.org/drawingml/2006/main" w="19050">
            <a:solidFill>
              <a:srgbClr val="C46A00"/>
            </a:solidFill>
            <a:prstDash val="solid"/>
          </a:ln>
        </p:spPr>
      </p:cxnSp>
      <p:cxnSp>
        <p:nvCxnSpPr>
          <p:cNvPr id="53" name=""/>
          <p:cNvCxnSpPr>
            <a:stCxn xmlns:a="http://schemas.openxmlformats.org/drawingml/2006/main" id="19" idx="3"/>
            <a:endCxn xmlns:a="http://schemas.openxmlformats.org/drawingml/2006/main" id="17" idx="0"/>
          </p:cNvCxnSpPr>
          <p:nvPr/>
        </p:nvCxnSpPr>
        <p:spPr>
          <a:xfrm xmlns:a="http://schemas.openxmlformats.org/drawingml/2006/main">
            <a:off x="7524750" y="4095750"/>
            <a:ext cx="2905125" cy="228600"/>
          </a:xfrm>
          <a:prstGeom xmlns:a="http://schemas.openxmlformats.org/drawingml/2006/main" prst="bentConnector4">
            <a:avLst/>
          </a:prstGeom>
          <a:ln xmlns:a="http://schemas.openxmlformats.org/drawingml/2006/main" w="19050">
            <a:solidFill>
              <a:srgbClr val="C46A00"/>
            </a:solidFill>
            <a:prstDash val="solid"/>
            <a:tailEnd type="triangle" w="sm" len="sm"/>
          </a:ln>
        </p:spPr>
      </p:cxnSp>
      <p:cxnSp>
        <p:nvCxnSpPr>
          <p:cNvPr id="54" name=""/>
          <p:cNvCxnSpPr>
            <a:stCxn xmlns:a="http://schemas.openxmlformats.org/drawingml/2006/main" id="17" idx="2"/>
            <a:endCxn xmlns:a="http://schemas.openxmlformats.org/drawingml/2006/main" id="21" idx="3"/>
          </p:cNvCxnSpPr>
          <p:nvPr/>
        </p:nvCxnSpPr>
        <p:spPr>
          <a:xfrm xmlns:a="http://schemas.openxmlformats.org/drawingml/2006/main" flipH="1">
            <a:off x="7524750" y="5029200"/>
            <a:ext cx="2905125" cy="228600"/>
          </a:xfrm>
          <a:prstGeom xmlns:a="http://schemas.openxmlformats.org/drawingml/2006/main" prst="bentConnector4">
            <a:avLst/>
          </a:prstGeom>
          <a:ln xmlns:a="http://schemas.openxmlformats.org/drawingml/2006/main" w="19050">
            <a:solidFill>
              <a:srgbClr val="2457F5"/>
            </a:solidFill>
            <a:prstDash val="solid"/>
          </a:ln>
        </p:spPr>
      </p:cxnSp>
      <p:cxnSp>
        <p:nvCxnSpPr>
          <p:cNvPr id="55" name=""/>
          <p:cNvCxnSpPr>
            <a:stCxn xmlns:a="http://schemas.openxmlformats.org/drawingml/2006/main" id="21" idx="1"/>
            <a:endCxn xmlns:a="http://schemas.openxmlformats.org/drawingml/2006/main" id="15" idx="2"/>
          </p:cNvCxnSpPr>
          <p:nvPr/>
        </p:nvCxnSpPr>
        <p:spPr>
          <a:xfrm xmlns:a="http://schemas.openxmlformats.org/drawingml/2006/main" flipH="1" flipV="1">
            <a:off x="1762125" y="5029200"/>
            <a:ext cx="2905125" cy="228600"/>
          </a:xfrm>
          <a:prstGeom xmlns:a="http://schemas.openxmlformats.org/drawingml/2006/main" prst="bentConnector4">
            <a:avLst/>
          </a:prstGeom>
          <a:ln xmlns:a="http://schemas.openxmlformats.org/drawingml/2006/main" w="19050">
            <a:solidFill>
              <a:srgbClr val="2457F5"/>
            </a:solidFill>
            <a:prstDash val="solid"/>
            <a:tailEnd type="triangle" w="sm" len="sm"/>
          </a:ln>
        </p:spPr>
      </p:cxnSp>
      <p:sp>
        <p:nvSpPr>
          <p:cNvPr id="27" name="Retained PT">
            <a:extLst xmlns:a="http://schemas.openxmlformats.org/drawingml/2006/main">
              <a:ext uri="{FF2B5EF4-FFF2-40B4-BE49-F238E27FC236}">
                <a16:creationId xmlns:a16="http://schemas.microsoft.com/office/drawing/2014/main" id="{7343C1B6-C8B9-4B36-B6FB-1D3F0DC80834}"/>
              </a:ext>
            </a:extLst>
          </p:cNvPr>
          <p:cNvSpPr>
            <a:spLocks xmlns:a="http://schemas.openxmlformats.org/drawingml/2006/main" noGrp="1"/>
          </p:cNvSpPr>
          <p:nvPr/>
        </p:nvSpPr>
        <p:spPr>
          <a:xfrm xmlns:a="http://schemas.openxmlformats.org/drawingml/2006/main">
            <a:off x="857250" y="5438775"/>
            <a:ext cx="1809750" cy="400050"/>
          </a:xfrm>
          <a:prstGeom xmlns:a="http://schemas.openxmlformats.org/drawingml/2006/main" prst="roundRect">
            <a:avLst>
              <a:gd name="adj" fmla="val 19048"/>
            </a:avLst>
          </a:prstGeom>
          <a:solidFill xmlns:a="http://schemas.openxmlformats.org/drawingml/2006/main">
            <a:srgbClr val="EAF0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389E916-2485-45C8-A539-E279B7C6F134}"/>
              </a:ext>
            </a:extLst>
          </p:cNvPr>
          <p:cNvSpPr>
            <a:spLocks xmlns:a="http://schemas.openxmlformats.org/drawingml/2006/main" noGrp="1"/>
          </p:cNvSpPr>
          <p:nvPr/>
        </p:nvSpPr>
        <p:spPr>
          <a:xfrm xmlns:a="http://schemas.openxmlformats.org/drawingml/2006/main">
            <a:off x="1066800" y="5534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PT retained</a:t>
            </a:r>
          </a:p>
        </p:txBody>
      </p:sp>
      <p:sp>
        <p:nvSpPr>
          <p:cNvPr id="29" name="">
            <a:extLst xmlns:a="http://schemas.openxmlformats.org/drawingml/2006/main">
              <a:ext uri="{FF2B5EF4-FFF2-40B4-BE49-F238E27FC236}">
                <a16:creationId xmlns:a16="http://schemas.microsoft.com/office/drawing/2014/main" id="{E026CF0F-300F-4D96-9D06-E63235F10F76}"/>
              </a:ext>
            </a:extLst>
          </p:cNvPr>
          <p:cNvSpPr>
            <a:spLocks xmlns:a="http://schemas.openxmlformats.org/drawingml/2006/main" noGrp="1"/>
          </p:cNvSpPr>
          <p:nvPr/>
        </p:nvSpPr>
        <p:spPr>
          <a:xfrm xmlns:a="http://schemas.openxmlformats.org/drawingml/2006/main">
            <a:off x="762000" y="6076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Stock exposure stays with the holder.</a:t>
            </a:r>
          </a:p>
        </p:txBody>
      </p:sp>
    </p:spTree>
    <p:extLst>
      <p:ext uri="{BB962C8B-B14F-4D97-AF65-F5344CB8AC3E}">
        <p14:creationId xmlns:p14="http://schemas.microsoft.com/office/powerpoint/2010/main" val="825847760"/>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67D7DE9-F787-4991-8A83-A4AF5D3AB932}"/>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3BB11AB-2425-4432-9DE0-D28B86CF095A}"/>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FA2CE48-163C-440E-BBB8-C555FB5F3FE3}"/>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6BD21B69-724A-47D4-9AD9-78D592518FBE}"/>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85DAD212-A062-40E1-88E2-32A66C8AE27B}"/>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sp>
        <p:nvSpPr>
          <p:cNvPr id="6" name="Stock token">
            <a:extLst xmlns:a="http://schemas.openxmlformats.org/drawingml/2006/main">
              <a:ext uri="{FF2B5EF4-FFF2-40B4-BE49-F238E27FC236}">
                <a16:creationId xmlns:a16="http://schemas.microsoft.com/office/drawing/2014/main" id="{C0513BF9-87D8-4220-A76B-1C5159FDBD2D}"/>
              </a:ext>
            </a:extLst>
          </p:cNvPr>
          <p:cNvSpPr>
            <a:spLocks xmlns:a="http://schemas.openxmlformats.org/drawingml/2006/main" noGrp="1"/>
          </p:cNvSpPr>
          <p:nvPr/>
        </p:nvSpPr>
        <p:spPr>
          <a:xfrm xmlns:a="http://schemas.openxmlformats.org/drawingml/2006/main">
            <a:off x="742950" y="2705100"/>
            <a:ext cx="1809750" cy="952500"/>
          </a:xfrm>
          <a:prstGeom xmlns:a="http://schemas.openxmlformats.org/drawingml/2006/main" prst="roundRect">
            <a:avLst>
              <a:gd name="adj" fmla="val 14000"/>
            </a:avLst>
          </a:prstGeom>
          <a:solidFill xmlns:a="http://schemas.openxmlformats.org/drawingml/2006/main">
            <a:srgbClr val="101820"/>
          </a:solidFill>
          <a:ln xmlns:a="http://schemas.openxmlformats.org/drawingml/2006/main" w="9525">
            <a:solidFill>
              <a:srgbClr val="101820"/>
            </a:solidFill>
            <a:prstDash val="solid"/>
          </a:ln>
        </p:spPr>
      </p:sp>
      <p:sp>
        <p:nvSpPr>
          <p:cNvPr id="7" name="">
            <a:extLst xmlns:a="http://schemas.openxmlformats.org/drawingml/2006/main">
              <a:ext uri="{FF2B5EF4-FFF2-40B4-BE49-F238E27FC236}">
                <a16:creationId xmlns:a16="http://schemas.microsoft.com/office/drawing/2014/main" id="{B2619BA7-47EC-4457-8721-240DF9101EF2}"/>
              </a:ext>
            </a:extLst>
          </p:cNvPr>
          <p:cNvSpPr>
            <a:spLocks xmlns:a="http://schemas.openxmlformats.org/drawingml/2006/main" noGrp="1"/>
          </p:cNvSpPr>
          <p:nvPr/>
        </p:nvSpPr>
        <p:spPr>
          <a:xfrm xmlns:a="http://schemas.openxmlformats.org/drawingml/2006/main">
            <a:off x="914400" y="2924175"/>
            <a:ext cx="146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Stock token</a:t>
            </a:r>
          </a:p>
        </p:txBody>
      </p:sp>
      <p:sp>
        <p:nvSpPr>
          <p:cNvPr id="8" name="Vault">
            <a:extLst xmlns:a="http://schemas.openxmlformats.org/drawingml/2006/main">
              <a:ext uri="{FF2B5EF4-FFF2-40B4-BE49-F238E27FC236}">
                <a16:creationId xmlns:a16="http://schemas.microsoft.com/office/drawing/2014/main" id="{3D147110-D12B-4092-9881-2DA9B3BFDAAF}"/>
              </a:ext>
            </a:extLst>
          </p:cNvPr>
          <p:cNvSpPr>
            <a:spLocks xmlns:a="http://schemas.openxmlformats.org/drawingml/2006/main" noGrp="1"/>
          </p:cNvSpPr>
          <p:nvPr/>
        </p:nvSpPr>
        <p:spPr>
          <a:xfrm xmlns:a="http://schemas.openxmlformats.org/drawingml/2006/main">
            <a:off x="3676650" y="2533650"/>
            <a:ext cx="2095500" cy="1295400"/>
          </a:xfrm>
          <a:prstGeom xmlns:a="http://schemas.openxmlformats.org/drawingml/2006/main" prst="roundRect">
            <a:avLst>
              <a:gd name="adj" fmla="val 11765"/>
            </a:avLst>
          </a:prstGeom>
          <a:solidFill xmlns:a="http://schemas.openxmlformats.org/drawingml/2006/main">
            <a:srgbClr val="FFFEFB"/>
          </a:solidFill>
          <a:ln xmlns:a="http://schemas.openxmlformats.org/drawingml/2006/main" w="9525">
            <a:solidFill>
              <a:srgbClr val="D7D2C8"/>
            </a:solidFill>
            <a:prstDash val="solid"/>
          </a:ln>
        </p:spPr>
      </p:sp>
      <p:sp>
        <p:nvSpPr>
          <p:cNvPr id="9" name="">
            <a:extLst xmlns:a="http://schemas.openxmlformats.org/drawingml/2006/main">
              <a:ext uri="{FF2B5EF4-FFF2-40B4-BE49-F238E27FC236}">
                <a16:creationId xmlns:a16="http://schemas.microsoft.com/office/drawing/2014/main" id="{25DB936D-19C7-4D2A-AF4F-1B8AD84FBA7E}"/>
              </a:ext>
            </a:extLst>
          </p:cNvPr>
          <p:cNvSpPr>
            <a:spLocks xmlns:a="http://schemas.openxmlformats.org/drawingml/2006/main" noGrp="1"/>
          </p:cNvSpPr>
          <p:nvPr/>
        </p:nvSpPr>
        <p:spPr>
          <a:xfrm xmlns:a="http://schemas.openxmlformats.org/drawingml/2006/main">
            <a:off x="4038600" y="27241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0" name="">
            <a:extLst xmlns:a="http://schemas.openxmlformats.org/drawingml/2006/main">
              <a:ext uri="{FF2B5EF4-FFF2-40B4-BE49-F238E27FC236}">
                <a16:creationId xmlns:a16="http://schemas.microsoft.com/office/drawing/2014/main" id="{3432D231-9FAF-4699-BDA2-788C9091F6AE}"/>
              </a:ext>
            </a:extLst>
          </p:cNvPr>
          <p:cNvSpPr>
            <a:spLocks xmlns:a="http://schemas.openxmlformats.org/drawingml/2006/main" noGrp="1"/>
          </p:cNvSpPr>
          <p:nvPr/>
        </p:nvSpPr>
        <p:spPr>
          <a:xfrm xmlns:a="http://schemas.openxmlformats.org/drawingml/2006/main">
            <a:off x="4038600" y="3038475"/>
            <a:ext cx="1352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VAULT</a:t>
            </a:r>
          </a:p>
        </p:txBody>
      </p:sp>
      <p:sp>
        <p:nvSpPr>
          <p:cNvPr id="11" name="Stock exposure PT">
            <a:extLst xmlns:a="http://schemas.openxmlformats.org/drawingml/2006/main">
              <a:ext uri="{FF2B5EF4-FFF2-40B4-BE49-F238E27FC236}">
                <a16:creationId xmlns:a16="http://schemas.microsoft.com/office/drawing/2014/main" id="{C484465F-5668-4CE3-BC6B-6A66CB6DF02C}"/>
              </a:ext>
            </a:extLst>
          </p:cNvPr>
          <p:cNvSpPr>
            <a:spLocks xmlns:a="http://schemas.openxmlformats.org/drawingml/2006/main" noGrp="1"/>
          </p:cNvSpPr>
          <p:nvPr/>
        </p:nvSpPr>
        <p:spPr>
          <a:xfrm xmlns:a="http://schemas.openxmlformats.org/drawingml/2006/main">
            <a:off x="7477125" y="1714500"/>
            <a:ext cx="3714750" cy="1428750"/>
          </a:xfrm>
          <a:prstGeom xmlns:a="http://schemas.openxmlformats.org/drawingml/2006/main" prst="roundRect">
            <a:avLst>
              <a:gd name="adj" fmla="val 9333"/>
            </a:avLst>
          </a:prstGeom>
          <a:solidFill xmlns:a="http://schemas.openxmlformats.org/drawingml/2006/main">
            <a:srgbClr val="EAF0FF"/>
          </a:solidFill>
          <a:ln xmlns:a="http://schemas.openxmlformats.org/drawingml/2006/main" w="9525">
            <a:solidFill>
              <a:srgbClr val="2457F5"/>
            </a:solidFill>
            <a:prstDash val="solid"/>
          </a:ln>
        </p:spPr>
      </p:sp>
      <p:sp>
        <p:nvSpPr>
          <p:cNvPr id="12" name="">
            <a:extLst xmlns:a="http://schemas.openxmlformats.org/drawingml/2006/main">
              <a:ext uri="{FF2B5EF4-FFF2-40B4-BE49-F238E27FC236}">
                <a16:creationId xmlns:a16="http://schemas.microsoft.com/office/drawing/2014/main" id="{5CC0D753-1CF8-47E1-B026-2FAB197470C5}"/>
              </a:ext>
            </a:extLst>
          </p:cNvPr>
          <p:cNvSpPr>
            <a:spLocks xmlns:a="http://schemas.openxmlformats.org/drawingml/2006/main" noGrp="1"/>
          </p:cNvSpPr>
          <p:nvPr/>
        </p:nvSpPr>
        <p:spPr>
          <a:xfrm xmlns:a="http://schemas.openxmlformats.org/drawingml/2006/main">
            <a:off x="7753350" y="19240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3" name="">
            <a:extLst xmlns:a="http://schemas.openxmlformats.org/drawingml/2006/main">
              <a:ext uri="{FF2B5EF4-FFF2-40B4-BE49-F238E27FC236}">
                <a16:creationId xmlns:a16="http://schemas.microsoft.com/office/drawing/2014/main" id="{4F04354D-D3A4-499B-B16A-DF9F8DE5DF40}"/>
              </a:ext>
            </a:extLst>
          </p:cNvPr>
          <p:cNvSpPr>
            <a:spLocks xmlns:a="http://schemas.openxmlformats.org/drawingml/2006/main" noGrp="1"/>
          </p:cNvSpPr>
          <p:nvPr/>
        </p:nvSpPr>
        <p:spPr>
          <a:xfrm xmlns:a="http://schemas.openxmlformats.org/drawingml/2006/main">
            <a:off x="7753350" y="222885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639A6"/>
                </a:solidFill>
                <a:latin typeface="Helvetica Neue"/>
                <a:ea typeface="Helvetica Neue"/>
                <a:cs typeface="Helvetica Neue"/>
              </a:defRPr>
            </a:pPr>
            <a:r>
              <a:rPr sz="2100" b="1">
                <a:solidFill>
                  <a:srgbClr val="1639A6"/>
                </a:solidFill>
                <a:latin typeface="Helvetica Neue"/>
                <a:ea typeface="Helvetica Neue"/>
                <a:cs typeface="Helvetica Neue"/>
              </a:rPr>
              <a:t>Stock exposure</a:t>
            </a:r>
          </a:p>
        </p:txBody>
      </p:sp>
      <p:sp>
        <p:nvSpPr>
          <p:cNvPr id="14" name="">
            <a:extLst xmlns:a="http://schemas.openxmlformats.org/drawingml/2006/main">
              <a:ext uri="{FF2B5EF4-FFF2-40B4-BE49-F238E27FC236}">
                <a16:creationId xmlns:a16="http://schemas.microsoft.com/office/drawing/2014/main" id="{6256FA1F-62EE-4033-8568-57D7F3673921}"/>
              </a:ext>
            </a:extLst>
          </p:cNvPr>
          <p:cNvSpPr>
            <a:spLocks xmlns:a="http://schemas.openxmlformats.org/drawingml/2006/main" noGrp="1"/>
          </p:cNvSpPr>
          <p:nvPr/>
        </p:nvSpPr>
        <p:spPr>
          <a:xfrm xmlns:a="http://schemas.openxmlformats.org/drawingml/2006/main">
            <a:off x="7753350" y="264795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Collateral remaining after this event’s dividend allocation.</a:t>
            </a:r>
          </a:p>
        </p:txBody>
      </p:sp>
      <p:sp>
        <p:nvSpPr>
          <p:cNvPr id="15" name="Dividend rights DR">
            <a:extLst xmlns:a="http://schemas.openxmlformats.org/drawingml/2006/main">
              <a:ext uri="{FF2B5EF4-FFF2-40B4-BE49-F238E27FC236}">
                <a16:creationId xmlns:a16="http://schemas.microsoft.com/office/drawing/2014/main" id="{01427D1F-2F64-452C-854A-6920D9A4D81D}"/>
              </a:ext>
            </a:extLst>
          </p:cNvPr>
          <p:cNvSpPr>
            <a:spLocks xmlns:a="http://schemas.openxmlformats.org/drawingml/2006/main" noGrp="1"/>
          </p:cNvSpPr>
          <p:nvPr/>
        </p:nvSpPr>
        <p:spPr>
          <a:xfrm xmlns:a="http://schemas.openxmlformats.org/drawingml/2006/main">
            <a:off x="7477125" y="3562350"/>
            <a:ext cx="3714750" cy="1428750"/>
          </a:xfrm>
          <a:prstGeom xmlns:a="http://schemas.openxmlformats.org/drawingml/2006/main" prst="roundRect">
            <a:avLst>
              <a:gd name="adj" fmla="val 9333"/>
            </a:avLst>
          </a:prstGeom>
          <a:solidFill xmlns:a="http://schemas.openxmlformats.org/drawingml/2006/main">
            <a:srgbClr val="F8E8D4"/>
          </a:solidFill>
          <a:ln xmlns:a="http://schemas.openxmlformats.org/drawingml/2006/main" w="9525">
            <a:solidFill>
              <a:srgbClr val="C46A00"/>
            </a:solidFill>
            <a:prstDash val="solid"/>
          </a:ln>
        </p:spPr>
      </p:sp>
      <p:sp>
        <p:nvSpPr>
          <p:cNvPr id="16" name="">
            <a:extLst xmlns:a="http://schemas.openxmlformats.org/drawingml/2006/main">
              <a:ext uri="{FF2B5EF4-FFF2-40B4-BE49-F238E27FC236}">
                <a16:creationId xmlns:a16="http://schemas.microsoft.com/office/drawing/2014/main" id="{089C2407-4E7B-41CF-A08B-43382BEDDFCF}"/>
              </a:ext>
            </a:extLst>
          </p:cNvPr>
          <p:cNvSpPr>
            <a:spLocks xmlns:a="http://schemas.openxmlformats.org/drawingml/2006/main" noGrp="1"/>
          </p:cNvSpPr>
          <p:nvPr/>
        </p:nvSpPr>
        <p:spPr>
          <a:xfrm xmlns:a="http://schemas.openxmlformats.org/drawingml/2006/main">
            <a:off x="7753350" y="377190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7" name="">
            <a:extLst xmlns:a="http://schemas.openxmlformats.org/drawingml/2006/main">
              <a:ext uri="{FF2B5EF4-FFF2-40B4-BE49-F238E27FC236}">
                <a16:creationId xmlns:a16="http://schemas.microsoft.com/office/drawing/2014/main" id="{F1A4A492-F0B9-4AC4-9650-FFD898F609D2}"/>
              </a:ext>
            </a:extLst>
          </p:cNvPr>
          <p:cNvSpPr>
            <a:spLocks xmlns:a="http://schemas.openxmlformats.org/drawingml/2006/main" noGrp="1"/>
          </p:cNvSpPr>
          <p:nvPr/>
        </p:nvSpPr>
        <p:spPr>
          <a:xfrm xmlns:a="http://schemas.openxmlformats.org/drawingml/2006/main">
            <a:off x="7753350" y="40767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7A4000"/>
                </a:solidFill>
                <a:latin typeface="Helvetica Neue"/>
                <a:ea typeface="Helvetica Neue"/>
                <a:cs typeface="Helvetica Neue"/>
              </a:defRPr>
            </a:pPr>
            <a:r>
              <a:rPr sz="2100" b="1">
                <a:solidFill>
                  <a:srgbClr val="7A4000"/>
                </a:solidFill>
                <a:latin typeface="Helvetica Neue"/>
                <a:ea typeface="Helvetica Neue"/>
                <a:cs typeface="Helvetica Neue"/>
              </a:rPr>
              <a:t>Dividend rights</a:t>
            </a:r>
          </a:p>
        </p:txBody>
      </p:sp>
      <p:sp>
        <p:nvSpPr>
          <p:cNvPr id="18" name="">
            <a:extLst xmlns:a="http://schemas.openxmlformats.org/drawingml/2006/main">
              <a:ext uri="{FF2B5EF4-FFF2-40B4-BE49-F238E27FC236}">
                <a16:creationId xmlns:a16="http://schemas.microsoft.com/office/drawing/2014/main" id="{969A3005-9610-4AE2-B1CF-86F8B330B381}"/>
              </a:ext>
            </a:extLst>
          </p:cNvPr>
          <p:cNvSpPr>
            <a:spLocks xmlns:a="http://schemas.openxmlformats.org/drawingml/2006/main" noGrp="1"/>
          </p:cNvSpPr>
          <p:nvPr/>
        </p:nvSpPr>
        <p:spPr>
          <a:xfrm xmlns:a="http://schemas.openxmlformats.org/drawingml/2006/main">
            <a:off x="7753350" y="44958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This event’s dividend-derived share of the collateral.</a:t>
            </a:r>
          </a:p>
        </p:txBody>
      </p:sp>
      <p:cxnSp>
        <p:nvCxnSpPr>
          <p:cNvPr id="43" name=""/>
          <p:cNvCxnSpPr>
            <a:stCxn xmlns:a="http://schemas.openxmlformats.org/drawingml/2006/main" id="6" idx="3"/>
            <a:endCxn xmlns:a="http://schemas.openxmlformats.org/drawingml/2006/main" id="8" idx="1"/>
          </p:cNvCxnSpPr>
          <p:nvPr/>
        </p:nvCxnSpPr>
        <p:spPr>
          <a:xfrm xmlns:a="http://schemas.openxmlformats.org/drawingml/2006/main">
            <a:off x="2552700" y="3181350"/>
            <a:ext cx="1123950" cy="0"/>
          </a:xfrm>
          <a:prstGeom xmlns:a="http://schemas.openxmlformats.org/drawingml/2006/main" prst="straightConnector1">
            <a:avLst/>
          </a:prstGeom>
          <a:ln xmlns:a="http://schemas.openxmlformats.org/drawingml/2006/main" w="19050">
            <a:solidFill>
              <a:srgbClr val="101820"/>
            </a:solidFill>
            <a:prstDash val="solid"/>
            <a:tail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772150" y="2428875"/>
            <a:ext cx="1704975" cy="752475"/>
          </a:xfrm>
          <a:prstGeom xmlns:a="http://schemas.openxmlformats.org/drawingml/2006/main" prst="straightConnector1">
            <a:avLst/>
          </a:prstGeom>
          <a:ln xmlns:a="http://schemas.openxmlformats.org/drawingml/2006/main" w="19050">
            <a:solidFill>
              <a:srgbClr val="2457F5"/>
            </a:solidFill>
            <a:prstDash val="solid"/>
            <a:tailEnd type="triangle" w="sm" len="sm"/>
          </a:ln>
        </p:spPr>
      </p:cxnSp>
      <p:cxnSp>
        <p:nvCxnSpPr>
          <p:cNvPr id="45" name=""/>
          <p:cNvCxnSpPr>
            <a:stCxn xmlns:a="http://schemas.openxmlformats.org/drawingml/2006/main" id="8" idx="3"/>
            <a:endCxn xmlns:a="http://schemas.openxmlformats.org/drawingml/2006/main" id="15" idx="1"/>
          </p:cNvCxnSpPr>
          <p:nvPr/>
        </p:nvCxnSpPr>
        <p:spPr>
          <a:xfrm xmlns:a="http://schemas.openxmlformats.org/drawingml/2006/main">
            <a:off x="5772150" y="3181350"/>
            <a:ext cx="1704975" cy="1095375"/>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22" name="">
            <a:extLst xmlns:a="http://schemas.openxmlformats.org/drawingml/2006/main">
              <a:ext uri="{FF2B5EF4-FFF2-40B4-BE49-F238E27FC236}">
                <a16:creationId xmlns:a16="http://schemas.microsoft.com/office/drawing/2014/main" id="{8F34AA71-2996-47A2-BE08-FAB7152AF6A5}"/>
              </a:ext>
            </a:extLst>
          </p:cNvPr>
          <p:cNvSpPr>
            <a:spLocks xmlns:a="http://schemas.openxmlformats.org/drawingml/2006/main" noGrp="1"/>
          </p:cNvSpPr>
          <p:nvPr/>
        </p:nvSpPr>
        <p:spPr>
          <a:xfrm xmlns:a="http://schemas.openxmlformats.org/drawingml/2006/main">
            <a:off x="742950" y="5505450"/>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Each pair of claims has its own locked collateral.</a:t>
            </a:r>
          </a:p>
        </p:txBody>
      </p:sp>
      <p:sp>
        <p:nvSpPr>
          <p:cNvPr id="23" name="">
            <a:extLst xmlns:a="http://schemas.openxmlformats.org/drawingml/2006/main">
              <a:ext uri="{FF2B5EF4-FFF2-40B4-BE49-F238E27FC236}">
                <a16:creationId xmlns:a16="http://schemas.microsoft.com/office/drawing/2014/main" id="{4D065505-F67E-461B-B7D2-716306740D14}"/>
              </a:ext>
            </a:extLst>
          </p:cNvPr>
          <p:cNvSpPr>
            <a:spLocks xmlns:a="http://schemas.openxmlformats.org/drawingml/2006/main" noGrp="1"/>
          </p:cNvSpPr>
          <p:nvPr/>
        </p:nvSpPr>
        <p:spPr>
          <a:xfrm xmlns:a="http://schemas.openxmlformats.org/drawingml/2006/main">
            <a:off x="742950" y="5962650"/>
            <a:ext cx="771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the deposited stock token. Dollar value can change.</a:t>
            </a:r>
          </a:p>
        </p:txBody>
      </p:sp>
      <p:sp>
        <p:nvSpPr>
          <p:cNvPr id="24" name="">
            <a:extLst xmlns:a="http://schemas.openxmlformats.org/drawingml/2006/main">
              <a:ext uri="{FF2B5EF4-FFF2-40B4-BE49-F238E27FC236}">
                <a16:creationId xmlns:a16="http://schemas.microsoft.com/office/drawing/2014/main" id="{60C7E966-C063-47AE-8474-7E28215393AE}"/>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886877799"/>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F418966-23B1-47F4-9DE5-53F8EB2386D7}"/>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6A26FCD-DC93-4FDA-8FE5-2186E389E0D9}"/>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BD86958-9A7A-42B2-864F-F89B56539394}"/>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9AAD31CD-0276-4B22-B43B-503C63959EF4}"/>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CA510DDB-0A0E-4A49-9D38-A4F2422E7348}"/>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B107FDD9-E812-43FD-8998-9B2D739C772D}"/>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E74F8199-4A3F-4FC8-9335-856E8DAC4A76}"/>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8DBFFF42-470A-498A-959A-B843A09411F6}"/>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74484807-0304-4843-AAF0-AADD5A0D0D99}"/>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333C6AB-6508-457E-A6AB-4B5C9F4A8D7D}"/>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286F78C7-B73C-4454-8D6D-FE5B8C671782}"/>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83AF217B-7465-4092-A8B4-78C451D40CDB}"/>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ADE1511B-3CA0-4AC2-BC96-280F8C04936D}"/>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708ABF58-4786-4971-9D1C-6EFF5A10C7F9}"/>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0">
                <a:solidFill>
                  <a:srgbClr val="53606B"/>
                </a:solidFill>
                <a:latin typeface="Helvetica Neue"/>
                <a:ea typeface="Helvetica Neue"/>
                <a:cs typeface="Helvetica Neue"/>
              </a:defRPr>
            </a:pPr>
            <a:r>
              <a:rPr sz="1200" b="0">
                <a:solidFill>
                  <a:srgbClr val="53606B"/>
                </a:solidFill>
                <a:latin typeface="Helvetica Neue"/>
                <a:ea typeface="Helvetica Neue"/>
                <a:cs typeface="Helvetica Neue"/>
              </a:rPr>
              <a:t>Established markets for trading dividends and separating yield.</a:t>
            </a:r>
          </a:p>
        </p:txBody>
      </p:sp>
    </p:spTree>
    <p:extLst>
      <p:ext uri="{BB962C8B-B14F-4D97-AF65-F5344CB8AC3E}">
        <p14:creationId xmlns:p14="http://schemas.microsoft.com/office/powerpoint/2010/main" val="1517231806"/>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D2A29D1-9027-4303-8CA5-F38A603A28ED}"/>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6D05767-5D42-44BE-BACC-57EE5133DF40}"/>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11D6C96-82F7-41CF-B2C1-5AD4FC3204AD}"/>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0ED70BD1-F8CD-470A-AC74-DC5D8B6A421E}"/>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597A93D3-58CD-4FB8-972A-1FD3DFC3303E}"/>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2DD6CDED-1C1F-4510-A81E-8F4291D1886B}"/>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15C09B8D-1E1A-4AEE-B8BB-CCDD9061092C}"/>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31AC1099-3557-44A2-A115-A9A5FAA80498}"/>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C9A91B36-9E87-4FEE-B8C7-6A42396BA594}"/>
              </a:ext>
            </a:extLst>
          </p:cNvPr>
          <p:cNvSpPr>
            <a:spLocks xmlns:a="http://schemas.openxmlformats.org/drawingml/2006/main" noGrp="1"/>
          </p:cNvSpPr>
          <p:nvPr/>
        </p:nvSpPr>
        <p:spPr>
          <a:xfrm xmlns:a="http://schemas.openxmlformats.org/drawingml/2006/main">
            <a:off x="59436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C8A77AE-F805-4480-9B40-EFB522ECA882}"/>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580781D2-C802-47A6-9BD4-552E1BEB5FCE}"/>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DBC05840-FB0B-45CA-87C8-F8DC7FE1F150}"/>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ED4EB930-C80E-4D45-8ACD-3DAA18C19B03}"/>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34C2260-8CE6-4665-8959-59215BE0E044}"/>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BF51277C-CE46-49BB-A52C-ADF6214DAC91}"/>
              </a:ext>
            </a:extLst>
          </p:cNvPr>
          <p:cNvSpPr>
            <a:spLocks xmlns:a="http://schemas.openxmlformats.org/drawingml/2006/main" noGrp="1"/>
          </p:cNvSpPr>
          <p:nvPr/>
        </p:nvSpPr>
        <p:spPr>
          <a:xfrm xmlns:a="http://schemas.openxmlformats.org/drawingml/2006/main">
            <a:off x="2971800" y="46101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Dividend-paying stock tokens on Solana</a:t>
            </a:r>
          </a:p>
        </p:txBody>
      </p:sp>
      <p:sp>
        <p:nvSpPr>
          <p:cNvPr id="16" name="">
            <a:extLst xmlns:a="http://schemas.openxmlformats.org/drawingml/2006/main">
              <a:ext uri="{FF2B5EF4-FFF2-40B4-BE49-F238E27FC236}">
                <a16:creationId xmlns:a16="http://schemas.microsoft.com/office/drawing/2014/main" id="{B6AB213D-A862-4F32-8DB4-3EB430DF0FA3}"/>
              </a:ext>
            </a:extLst>
          </p:cNvPr>
          <p:cNvSpPr>
            <a:spLocks xmlns:a="http://schemas.openxmlformats.org/drawingml/2006/main" noGrp="1"/>
          </p:cNvSpPr>
          <p:nvPr/>
        </p:nvSpPr>
        <p:spPr>
          <a:xfrm xmlns:a="http://schemas.openxmlformats.org/drawingml/2006/main">
            <a:off x="2971800" y="51244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639A6"/>
                </a:solidFill>
                <a:latin typeface="Helvetica Neue"/>
                <a:ea typeface="Helvetica Neue"/>
                <a:cs typeface="Helvetica Neue"/>
              </a:defRPr>
            </a:pPr>
            <a:r>
              <a:rPr sz="1350" b="1">
                <a:solidFill>
                  <a:srgbClr val="1639A6"/>
                </a:solidFill>
                <a:latin typeface="Helvetica Neue"/>
                <a:ea typeface="Helvetica Neue"/>
                <a:cs typeface="Helvetica Neue"/>
              </a:rPr>
              <a:t>Initial scope: xStocks, Backpack and Ondo</a:t>
            </a:r>
          </a:p>
        </p:txBody>
      </p:sp>
      <p:sp>
        <p:nvSpPr>
          <p:cNvPr id="17" name="">
            <a:extLst xmlns:a="http://schemas.openxmlformats.org/drawingml/2006/main">
              <a:ext uri="{FF2B5EF4-FFF2-40B4-BE49-F238E27FC236}">
                <a16:creationId xmlns:a16="http://schemas.microsoft.com/office/drawing/2014/main" id="{EB7B3F8E-78D6-4C8F-8636-13BB2DECD36C}"/>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a:t>
            </a:r>
          </a:p>
        </p:txBody>
      </p:sp>
    </p:spTree>
    <p:extLst>
      <p:ext uri="{BB962C8B-B14F-4D97-AF65-F5344CB8AC3E}">
        <p14:creationId xmlns:p14="http://schemas.microsoft.com/office/powerpoint/2010/main" val="202507461"/>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1B95883-B0C6-4900-89B7-E78EFDECA7BA}"/>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5DB9AE4-2171-4EF4-9FCC-76645EB1CB41}"/>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6C6FD2F-974D-43D8-8170-2920B69D75D0}"/>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A5A465A4-2B1C-44F7-A68E-4A9CB5434CD7}"/>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workflow across issuers</a:t>
            </a:r>
          </a:p>
        </p:txBody>
      </p:sp>
      <p:sp>
        <p:nvSpPr>
          <p:cNvPr id="5" name="">
            <a:extLst xmlns:a="http://schemas.openxmlformats.org/drawingml/2006/main">
              <a:ext uri="{FF2B5EF4-FFF2-40B4-BE49-F238E27FC236}">
                <a16:creationId xmlns:a16="http://schemas.microsoft.com/office/drawing/2014/main" id="{BAC1DE0A-737D-44CA-B059-DE7D67FB8454}"/>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605CD837-E15E-4AB9-AA3A-54D8B8B48B04}"/>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8686B444-957C-4E47-93E1-9836371B0F72}"/>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Multiple issuers</a:t>
            </a:r>
          </a:p>
        </p:txBody>
      </p:sp>
      <p:sp>
        <p:nvSpPr>
          <p:cNvPr id="8" name="">
            <a:extLst xmlns:a="http://schemas.openxmlformats.org/drawingml/2006/main">
              <a:ext uri="{FF2B5EF4-FFF2-40B4-BE49-F238E27FC236}">
                <a16:creationId xmlns:a16="http://schemas.microsoft.com/office/drawing/2014/main" id="{A5BA55E7-E011-4389-A2D5-BA406806D0FB}"/>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xStocks, Backpack and Ondo feed one vault design.</a:t>
            </a:r>
          </a:p>
        </p:txBody>
      </p:sp>
      <p:sp>
        <p:nvSpPr>
          <p:cNvPr id="9" name="">
            <a:extLst xmlns:a="http://schemas.openxmlformats.org/drawingml/2006/main">
              <a:ext uri="{FF2B5EF4-FFF2-40B4-BE49-F238E27FC236}">
                <a16:creationId xmlns:a16="http://schemas.microsoft.com/office/drawing/2014/main" id="{16F0017E-759E-4E91-9DB6-D9074AE0D909}"/>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947CC5E-5305-4D01-8E59-05AEA6CB7105}"/>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234061B1-F23F-48F6-8528-08210964BA3E}"/>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Atomic issuance</a:t>
            </a:r>
          </a:p>
        </p:txBody>
      </p:sp>
      <p:sp>
        <p:nvSpPr>
          <p:cNvPr id="12" name="">
            <a:extLst xmlns:a="http://schemas.openxmlformats.org/drawingml/2006/main">
              <a:ext uri="{FF2B5EF4-FFF2-40B4-BE49-F238E27FC236}">
                <a16:creationId xmlns:a16="http://schemas.microsoft.com/office/drawing/2014/main" id="{391DE21D-96A0-41D4-929B-4F6D6CA712C9}"/>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Deposit collateral and issue both claims together.</a:t>
            </a:r>
          </a:p>
        </p:txBody>
      </p:sp>
      <p:sp>
        <p:nvSpPr>
          <p:cNvPr id="13" name="">
            <a:extLst xmlns:a="http://schemas.openxmlformats.org/drawingml/2006/main">
              <a:ext uri="{FF2B5EF4-FFF2-40B4-BE49-F238E27FC236}">
                <a16:creationId xmlns:a16="http://schemas.microsoft.com/office/drawing/2014/main" id="{1E4E0146-4DF9-4D75-914C-CEDCE8503606}"/>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F3726D2-029F-4DFD-882F-1994B05A8FAD}"/>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F6BE69D8-8DD9-4B87-A248-6DB96CAEA93E}"/>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7F195F3E-0589-4931-85AD-32D211C91D2E}"/>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Transfer and redeem each claim under common rules.</a:t>
            </a:r>
          </a:p>
        </p:txBody>
      </p:sp>
      <p:sp>
        <p:nvSpPr>
          <p:cNvPr id="17" name="">
            <a:extLst xmlns:a="http://schemas.openxmlformats.org/drawingml/2006/main">
              <a:ext uri="{FF2B5EF4-FFF2-40B4-BE49-F238E27FC236}">
                <a16:creationId xmlns:a16="http://schemas.microsoft.com/office/drawing/2014/main" id="{80AE4073-8B45-4BCB-A8AB-FAAF8E35437B}"/>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A0BFCD5-A0E2-48E8-B053-D66134959E5D}"/>
              </a:ext>
            </a:extLst>
          </p:cNvPr>
          <p:cNvSpPr>
            <a:spLocks xmlns:a="http://schemas.openxmlformats.org/drawingml/2006/main" noGrp="1"/>
          </p:cNvSpPr>
          <p:nvPr/>
        </p:nvSpPr>
        <p:spPr>
          <a:xfrm xmlns:a="http://schemas.openxmlformats.org/drawingml/2006/main">
            <a:off x="1504950" y="5334000"/>
            <a:ext cx="914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Each stock needs verified dividend data and transfer compatibility.</a:t>
            </a:r>
          </a:p>
        </p:txBody>
      </p:sp>
    </p:spTree>
    <p:extLst>
      <p:ext uri="{BB962C8B-B14F-4D97-AF65-F5344CB8AC3E}">
        <p14:creationId xmlns:p14="http://schemas.microsoft.com/office/powerpoint/2010/main" val="306134664"/>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67491FA-0EA8-4C15-B01F-0BB2E412935B}"/>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D677770-82E0-455C-9A27-E5F272469060}"/>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2147F29-1B80-4177-B56D-D16BF2739DA9}"/>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A8F6156D-9AB2-4446-8DC9-B16AA3E7B91A}"/>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Fractional ownership and auditability</a:t>
            </a:r>
          </a:p>
        </p:txBody>
      </p:sp>
      <p:sp>
        <p:nvSpPr>
          <p:cNvPr id="5" name="">
            <a:extLst xmlns:a="http://schemas.openxmlformats.org/drawingml/2006/main">
              <a:ext uri="{FF2B5EF4-FFF2-40B4-BE49-F238E27FC236}">
                <a16:creationId xmlns:a16="http://schemas.microsoft.com/office/drawing/2014/main" id="{3FDC8FC9-2902-41E2-9EEE-7163CBF00240}"/>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5D8372AC-E979-47FE-A5A2-5BB8C4B4C5E4}"/>
              </a:ext>
            </a:extLst>
          </p:cNvPr>
          <p:cNvSpPr>
            <a:spLocks xmlns:a="http://schemas.openxmlformats.org/drawingml/2006/main" noGrp="1"/>
          </p:cNvSpPr>
          <p:nvPr/>
        </p:nvSpPr>
        <p:spPr>
          <a:xfrm xmlns:a="http://schemas.openxmlformats.org/drawingml/2006/main">
            <a:off x="762000" y="188595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FRACTIONAL OWNERSHIP</a:t>
            </a:r>
          </a:p>
        </p:txBody>
      </p:sp>
      <p:sp>
        <p:nvSpPr>
          <p:cNvPr id="7" name="">
            <a:extLst xmlns:a="http://schemas.openxmlformats.org/drawingml/2006/main">
              <a:ext uri="{FF2B5EF4-FFF2-40B4-BE49-F238E27FC236}">
                <a16:creationId xmlns:a16="http://schemas.microsoft.com/office/drawing/2014/main" id="{F8BB1640-962A-429B-A535-58D7A482F7E0}"/>
              </a:ext>
            </a:extLst>
          </p:cNvPr>
          <p:cNvSpPr>
            <a:spLocks xmlns:a="http://schemas.openxmlformats.org/drawingml/2006/main" noGrp="1"/>
          </p:cNvSpPr>
          <p:nvPr/>
        </p:nvSpPr>
        <p:spPr>
          <a:xfrm xmlns:a="http://schemas.openxmlformats.org/drawingml/2006/main">
            <a:off x="762000" y="2228850"/>
            <a:ext cx="4572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Buy or sell part of a dividend claim.</a:t>
            </a:r>
          </a:p>
        </p:txBody>
      </p:sp>
      <p:sp>
        <p:nvSpPr>
          <p:cNvPr id="8" name="Dividend claim">
            <a:extLst xmlns:a="http://schemas.openxmlformats.org/drawingml/2006/main">
              <a:ext uri="{FF2B5EF4-FFF2-40B4-BE49-F238E27FC236}">
                <a16:creationId xmlns:a16="http://schemas.microsoft.com/office/drawing/2014/main" id="{DE8657B8-DB19-4C69-8E7C-647F20155664}"/>
              </a:ext>
            </a:extLst>
          </p:cNvPr>
          <p:cNvSpPr>
            <a:spLocks xmlns:a="http://schemas.openxmlformats.org/drawingml/2006/main" noGrp="1"/>
          </p:cNvSpPr>
          <p:nvPr/>
        </p:nvSpPr>
        <p:spPr>
          <a:xfrm xmlns:a="http://schemas.openxmlformats.org/drawingml/2006/main">
            <a:off x="762000" y="3276600"/>
            <a:ext cx="4381500" cy="457200"/>
          </a:xfrm>
          <a:prstGeom xmlns:a="http://schemas.openxmlformats.org/drawingml/2006/main" prst="roundRect">
            <a:avLst>
              <a:gd name="adj" fmla="val 20833"/>
            </a:avLst>
          </a:prstGeom>
          <a:solidFill xmlns:a="http://schemas.openxmlformats.org/drawingml/2006/main">
            <a:srgbClr val="F8E8D4"/>
          </a:solidFill>
          <a:ln xmlns:a="http://schemas.openxmlformats.org/drawingml/2006/main" w="9525">
            <a:solidFill>
              <a:srgbClr val="C46A00"/>
            </a:solidFill>
            <a:prstDash val="solid"/>
          </a:ln>
        </p:spPr>
      </p:sp>
      <p:sp>
        <p:nvSpPr>
          <p:cNvPr id="9" name="">
            <a:extLst xmlns:a="http://schemas.openxmlformats.org/drawingml/2006/main">
              <a:ext uri="{FF2B5EF4-FFF2-40B4-BE49-F238E27FC236}">
                <a16:creationId xmlns:a16="http://schemas.microsoft.com/office/drawing/2014/main" id="{4F73981C-438C-4F43-8D6C-CCEB8F8FA2B5}"/>
              </a:ext>
            </a:extLst>
          </p:cNvPr>
          <p:cNvSpPr>
            <a:spLocks xmlns:a="http://schemas.openxmlformats.org/drawingml/2006/main" noGrp="1"/>
          </p:cNvSpPr>
          <p:nvPr/>
        </p:nvSpPr>
        <p:spPr>
          <a:xfrm xmlns:a="http://schemas.openxmlformats.org/drawingml/2006/main">
            <a:off x="933450" y="340995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050" b="1">
                <a:solidFill>
                  <a:srgbClr val="7A4000"/>
                </a:solidFill>
                <a:latin typeface="Helvetica Neue"/>
                <a:ea typeface="Helvetica Neue"/>
                <a:cs typeface="Helvetica Neue"/>
              </a:defRPr>
            </a:pPr>
            <a:r>
              <a:rPr sz="1050" b="1">
                <a:solidFill>
                  <a:srgbClr val="7A4000"/>
                </a:solidFill>
                <a:latin typeface="Helvetica Neue"/>
                <a:ea typeface="Helvetica Neue"/>
                <a:cs typeface="Helvetica Neue"/>
              </a:rPr>
              <a:t>DIVIDEND CLAIM</a:t>
            </a:r>
          </a:p>
        </p:txBody>
      </p:sp>
      <p:sp>
        <p:nvSpPr>
          <p:cNvPr id="10" name="Holder part">
            <a:extLst xmlns:a="http://schemas.openxmlformats.org/drawingml/2006/main">
              <a:ext uri="{FF2B5EF4-FFF2-40B4-BE49-F238E27FC236}">
                <a16:creationId xmlns:a16="http://schemas.microsoft.com/office/drawing/2014/main" id="{2B911769-F0A3-484D-89D1-E2334C9F28C1}"/>
              </a:ext>
            </a:extLst>
          </p:cNvPr>
          <p:cNvSpPr>
            <a:spLocks xmlns:a="http://schemas.openxmlformats.org/drawingml/2006/main" noGrp="1"/>
          </p:cNvSpPr>
          <p:nvPr/>
        </p:nvSpPr>
        <p:spPr>
          <a:xfrm xmlns:a="http://schemas.openxmlformats.org/drawingml/2006/main">
            <a:off x="762000" y="4019550"/>
            <a:ext cx="1476375" cy="628650"/>
          </a:xfrm>
          <a:prstGeom xmlns:a="http://schemas.openxmlformats.org/drawingml/2006/main" prst="roundRect">
            <a:avLst>
              <a:gd name="adj" fmla="val 15152"/>
            </a:avLst>
          </a:prstGeom>
          <a:solidFill xmlns:a="http://schemas.openxmlformats.org/drawingml/2006/main">
            <a:srgbClr val="FFFEFB"/>
          </a:solidFill>
          <a:ln xmlns:a="http://schemas.openxmlformats.org/drawingml/2006/main" w="9525">
            <a:solidFill>
              <a:srgbClr val="C46A00"/>
            </a:solidFill>
            <a:prstDash val="solid"/>
          </a:ln>
        </p:spPr>
      </p:sp>
      <p:sp>
        <p:nvSpPr>
          <p:cNvPr id="11" name="">
            <a:extLst xmlns:a="http://schemas.openxmlformats.org/drawingml/2006/main">
              <a:ext uri="{FF2B5EF4-FFF2-40B4-BE49-F238E27FC236}">
                <a16:creationId xmlns:a16="http://schemas.microsoft.com/office/drawing/2014/main" id="{899599DC-EE1A-4DFB-B45F-3FD5A4AD658F}"/>
              </a:ext>
            </a:extLst>
          </p:cNvPr>
          <p:cNvSpPr>
            <a:spLocks xmlns:a="http://schemas.openxmlformats.org/drawingml/2006/main" noGrp="1"/>
          </p:cNvSpPr>
          <p:nvPr/>
        </p:nvSpPr>
        <p:spPr>
          <a:xfrm xmlns:a="http://schemas.openxmlformats.org/drawingml/2006/main">
            <a:off x="914400" y="4210050"/>
            <a:ext cx="11715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holder keeps</a:t>
            </a:r>
          </a:p>
        </p:txBody>
      </p:sp>
      <p:sp>
        <p:nvSpPr>
          <p:cNvPr id="12" name="Buyer part">
            <a:extLst xmlns:a="http://schemas.openxmlformats.org/drawingml/2006/main">
              <a:ext uri="{FF2B5EF4-FFF2-40B4-BE49-F238E27FC236}">
                <a16:creationId xmlns:a16="http://schemas.microsoft.com/office/drawing/2014/main" id="{7838F096-9EEB-4F03-A2FF-3973676CFEC9}"/>
              </a:ext>
            </a:extLst>
          </p:cNvPr>
          <p:cNvSpPr>
            <a:spLocks xmlns:a="http://schemas.openxmlformats.org/drawingml/2006/main" noGrp="1"/>
          </p:cNvSpPr>
          <p:nvPr/>
        </p:nvSpPr>
        <p:spPr>
          <a:xfrm xmlns:a="http://schemas.openxmlformats.org/drawingml/2006/main">
            <a:off x="2505075" y="4019550"/>
            <a:ext cx="2638425" cy="628650"/>
          </a:xfrm>
          <a:prstGeom xmlns:a="http://schemas.openxmlformats.org/drawingml/2006/main" prst="roundRect">
            <a:avLst>
              <a:gd name="adj" fmla="val 15152"/>
            </a:avLst>
          </a:prstGeom>
          <a:solidFill xmlns:a="http://schemas.openxmlformats.org/drawingml/2006/main">
            <a:srgbClr val="F8E8D4"/>
          </a:solidFill>
          <a:ln xmlns:a="http://schemas.openxmlformats.org/drawingml/2006/main" w="9525">
            <a:solidFill>
              <a:srgbClr val="C46A00"/>
            </a:solidFill>
            <a:prstDash val="solid"/>
          </a:ln>
        </p:spPr>
      </p:sp>
      <p:sp>
        <p:nvSpPr>
          <p:cNvPr id="13" name="">
            <a:extLst xmlns:a="http://schemas.openxmlformats.org/drawingml/2006/main">
              <a:ext uri="{FF2B5EF4-FFF2-40B4-BE49-F238E27FC236}">
                <a16:creationId xmlns:a16="http://schemas.microsoft.com/office/drawing/2014/main" id="{01BDE574-0E4B-4B46-98DD-8C9F44432D56}"/>
              </a:ext>
            </a:extLst>
          </p:cNvPr>
          <p:cNvSpPr>
            <a:spLocks xmlns:a="http://schemas.openxmlformats.org/drawingml/2006/main" noGrp="1"/>
          </p:cNvSpPr>
          <p:nvPr/>
        </p:nvSpPr>
        <p:spPr>
          <a:xfrm xmlns:a="http://schemas.openxmlformats.org/drawingml/2006/main">
            <a:off x="2676525" y="4210050"/>
            <a:ext cx="2295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buyer takes part</a:t>
            </a:r>
          </a:p>
        </p:txBody>
      </p:sp>
      <p:cxnSp>
        <p:nvCxnSpPr>
          <p:cNvPr id="42" name=""/>
          <p:cNvCxnSpPr>
            <a:stCxn xmlns:a="http://schemas.openxmlformats.org/drawingml/2006/main" id="8" idx="2"/>
            <a:endCxn xmlns:a="http://schemas.openxmlformats.org/drawingml/2006/main" id="10" idx="0"/>
          </p:cNvCxnSpPr>
          <p:nvPr/>
        </p:nvCxnSpPr>
        <p:spPr>
          <a:xfrm xmlns:a="http://schemas.openxmlformats.org/drawingml/2006/main" flipH="1">
            <a:off x="1500188" y="3733800"/>
            <a:ext cx="1452563"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cxnSp>
        <p:nvCxnSpPr>
          <p:cNvPr id="43" name=""/>
          <p:cNvCxnSpPr>
            <a:stCxn xmlns:a="http://schemas.openxmlformats.org/drawingml/2006/main" id="8" idx="2"/>
            <a:endCxn xmlns:a="http://schemas.openxmlformats.org/drawingml/2006/main" id="12" idx="0"/>
          </p:cNvCxnSpPr>
          <p:nvPr/>
        </p:nvCxnSpPr>
        <p:spPr>
          <a:xfrm xmlns:a="http://schemas.openxmlformats.org/drawingml/2006/main">
            <a:off x="2952750" y="3733800"/>
            <a:ext cx="871538"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16" name="">
            <a:extLst xmlns:a="http://schemas.openxmlformats.org/drawingml/2006/main">
              <a:ext uri="{FF2B5EF4-FFF2-40B4-BE49-F238E27FC236}">
                <a16:creationId xmlns:a16="http://schemas.microsoft.com/office/drawing/2014/main" id="{EA5948F7-A5BB-484B-AF80-71E9E827C85F}"/>
              </a:ext>
            </a:extLst>
          </p:cNvPr>
          <p:cNvSpPr>
            <a:spLocks xmlns:a="http://schemas.openxmlformats.org/drawingml/2006/main" noGrp="1"/>
          </p:cNvSpPr>
          <p:nvPr/>
        </p:nvSpPr>
        <p:spPr>
          <a:xfrm xmlns:a="http://schemas.openxmlformats.org/drawingml/2006/main">
            <a:off x="5943600" y="1809750"/>
            <a:ext cx="9525" cy="339090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1AEF81A-9292-4FF4-BC56-B1FE1795837F}"/>
              </a:ext>
            </a:extLst>
          </p:cNvPr>
          <p:cNvSpPr>
            <a:spLocks xmlns:a="http://schemas.openxmlformats.org/drawingml/2006/main" noGrp="1"/>
          </p:cNvSpPr>
          <p:nvPr/>
        </p:nvSpPr>
        <p:spPr>
          <a:xfrm xmlns:a="http://schemas.openxmlformats.org/drawingml/2006/main">
            <a:off x="6572250" y="188595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AUDITABILITY</a:t>
            </a:r>
          </a:p>
        </p:txBody>
      </p:sp>
      <p:sp>
        <p:nvSpPr>
          <p:cNvPr id="18" name="">
            <a:extLst xmlns:a="http://schemas.openxmlformats.org/drawingml/2006/main">
              <a:ext uri="{FF2B5EF4-FFF2-40B4-BE49-F238E27FC236}">
                <a16:creationId xmlns:a16="http://schemas.microsoft.com/office/drawing/2014/main" id="{687DC7DF-4AE2-4E5A-A007-67810F3A18BE}"/>
              </a:ext>
            </a:extLst>
          </p:cNvPr>
          <p:cNvSpPr>
            <a:spLocks xmlns:a="http://schemas.openxmlformats.org/drawingml/2006/main" noGrp="1"/>
          </p:cNvSpPr>
          <p:nvPr/>
        </p:nvSpPr>
        <p:spPr>
          <a:xfrm xmlns:a="http://schemas.openxmlformats.org/drawingml/2006/main">
            <a:off x="6572250" y="222885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Inspect the onchain record.</a:t>
            </a:r>
          </a:p>
        </p:txBody>
      </p:sp>
      <p:sp>
        <p:nvSpPr>
          <p:cNvPr id="19" name="">
            <a:extLst xmlns:a="http://schemas.openxmlformats.org/drawingml/2006/main">
              <a:ext uri="{FF2B5EF4-FFF2-40B4-BE49-F238E27FC236}">
                <a16:creationId xmlns:a16="http://schemas.microsoft.com/office/drawing/2014/main" id="{0C97CBF9-EC3E-4DF7-95E6-3B892301583A}"/>
              </a:ext>
            </a:extLst>
          </p:cNvPr>
          <p:cNvSpPr>
            <a:spLocks xmlns:a="http://schemas.openxmlformats.org/drawingml/2006/main" noGrp="1"/>
          </p:cNvSpPr>
          <p:nvPr/>
        </p:nvSpPr>
        <p:spPr>
          <a:xfrm xmlns:a="http://schemas.openxmlformats.org/drawingml/2006/main">
            <a:off x="6572250" y="31623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C1258488-226D-4A20-BA77-819D6FF475D1}"/>
              </a:ext>
            </a:extLst>
          </p:cNvPr>
          <p:cNvSpPr>
            <a:spLocks xmlns:a="http://schemas.openxmlformats.org/drawingml/2006/main" noGrp="1"/>
          </p:cNvSpPr>
          <p:nvPr/>
        </p:nvSpPr>
        <p:spPr>
          <a:xfrm xmlns:a="http://schemas.openxmlformats.org/drawingml/2006/main">
            <a:off x="7200900" y="31432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2457F5"/>
                </a:solidFill>
                <a:latin typeface="Helvetica Neue"/>
                <a:ea typeface="Helvetica Neue"/>
                <a:cs typeface="Helvetica Neue"/>
              </a:defRPr>
            </a:pPr>
            <a:r>
              <a:rPr sz="1650" b="1">
                <a:solidFill>
                  <a:srgbClr val="2457F5"/>
                </a:solidFill>
                <a:latin typeface="Helvetica Neue"/>
                <a:ea typeface="Helvetica Neue"/>
                <a:cs typeface="Helvetica Neue"/>
              </a:rPr>
              <a:t>Vault balance</a:t>
            </a:r>
          </a:p>
        </p:txBody>
      </p:sp>
      <p:sp>
        <p:nvSpPr>
          <p:cNvPr id="21" name="">
            <a:extLst xmlns:a="http://schemas.openxmlformats.org/drawingml/2006/main">
              <a:ext uri="{FF2B5EF4-FFF2-40B4-BE49-F238E27FC236}">
                <a16:creationId xmlns:a16="http://schemas.microsoft.com/office/drawing/2014/main" id="{A156BD99-8DBE-4073-8E3B-0F1A3C665145}"/>
              </a:ext>
            </a:extLst>
          </p:cNvPr>
          <p:cNvSpPr>
            <a:spLocks xmlns:a="http://schemas.openxmlformats.org/drawingml/2006/main" noGrp="1"/>
          </p:cNvSpPr>
          <p:nvPr/>
        </p:nvSpPr>
        <p:spPr>
          <a:xfrm xmlns:a="http://schemas.openxmlformats.org/drawingml/2006/main">
            <a:off x="6572250" y="35623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6A7C1DE-2E92-460D-8EDE-5415A417B724}"/>
              </a:ext>
            </a:extLst>
          </p:cNvPr>
          <p:cNvSpPr>
            <a:spLocks xmlns:a="http://schemas.openxmlformats.org/drawingml/2006/main" noGrp="1"/>
          </p:cNvSpPr>
          <p:nvPr/>
        </p:nvSpPr>
        <p:spPr>
          <a:xfrm xmlns:a="http://schemas.openxmlformats.org/drawingml/2006/main">
            <a:off x="6572250" y="3848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02</a:t>
            </a:r>
          </a:p>
        </p:txBody>
      </p:sp>
      <p:sp>
        <p:nvSpPr>
          <p:cNvPr id="23" name="">
            <a:extLst xmlns:a="http://schemas.openxmlformats.org/drawingml/2006/main">
              <a:ext uri="{FF2B5EF4-FFF2-40B4-BE49-F238E27FC236}">
                <a16:creationId xmlns:a16="http://schemas.microsoft.com/office/drawing/2014/main" id="{1DA00627-15E5-4090-B24F-70B6D0AF65F1}"/>
              </a:ext>
            </a:extLst>
          </p:cNvPr>
          <p:cNvSpPr>
            <a:spLocks xmlns:a="http://schemas.openxmlformats.org/drawingml/2006/main" noGrp="1"/>
          </p:cNvSpPr>
          <p:nvPr/>
        </p:nvSpPr>
        <p:spPr>
          <a:xfrm xmlns:a="http://schemas.openxmlformats.org/drawingml/2006/main">
            <a:off x="7200900" y="38290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Claims outstanding</a:t>
            </a:r>
          </a:p>
        </p:txBody>
      </p:sp>
      <p:sp>
        <p:nvSpPr>
          <p:cNvPr id="24" name="">
            <a:extLst xmlns:a="http://schemas.openxmlformats.org/drawingml/2006/main">
              <a:ext uri="{FF2B5EF4-FFF2-40B4-BE49-F238E27FC236}">
                <a16:creationId xmlns:a16="http://schemas.microsoft.com/office/drawing/2014/main" id="{D4EAC18C-B5D4-41BD-8C79-A8EAD6CC702D}"/>
              </a:ext>
            </a:extLst>
          </p:cNvPr>
          <p:cNvSpPr>
            <a:spLocks xmlns:a="http://schemas.openxmlformats.org/drawingml/2006/main" noGrp="1"/>
          </p:cNvSpPr>
          <p:nvPr/>
        </p:nvSpPr>
        <p:spPr>
          <a:xfrm xmlns:a="http://schemas.openxmlformats.org/drawingml/2006/main">
            <a:off x="6572250" y="42481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850344C-EDB1-44FF-B8BE-6912C7F6891B}"/>
              </a:ext>
            </a:extLst>
          </p:cNvPr>
          <p:cNvSpPr>
            <a:spLocks xmlns:a="http://schemas.openxmlformats.org/drawingml/2006/main" noGrp="1"/>
          </p:cNvSpPr>
          <p:nvPr/>
        </p:nvSpPr>
        <p:spPr>
          <a:xfrm xmlns:a="http://schemas.openxmlformats.org/drawingml/2006/main">
            <a:off x="6572250" y="4533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03</a:t>
            </a:r>
          </a:p>
        </p:txBody>
      </p:sp>
      <p:sp>
        <p:nvSpPr>
          <p:cNvPr id="26" name="">
            <a:extLst xmlns:a="http://schemas.openxmlformats.org/drawingml/2006/main">
              <a:ext uri="{FF2B5EF4-FFF2-40B4-BE49-F238E27FC236}">
                <a16:creationId xmlns:a16="http://schemas.microsoft.com/office/drawing/2014/main" id="{FD150114-F7AF-4A34-A4BC-3AF085D633C2}"/>
              </a:ext>
            </a:extLst>
          </p:cNvPr>
          <p:cNvSpPr>
            <a:spLocks xmlns:a="http://schemas.openxmlformats.org/drawingml/2006/main" noGrp="1"/>
          </p:cNvSpPr>
          <p:nvPr/>
        </p:nvSpPr>
        <p:spPr>
          <a:xfrm xmlns:a="http://schemas.openxmlformats.org/drawingml/2006/main">
            <a:off x="7200900" y="45148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Redemption history</a:t>
            </a:r>
          </a:p>
        </p:txBody>
      </p:sp>
      <p:sp>
        <p:nvSpPr>
          <p:cNvPr id="27" name="">
            <a:extLst xmlns:a="http://schemas.openxmlformats.org/drawingml/2006/main">
              <a:ext uri="{FF2B5EF4-FFF2-40B4-BE49-F238E27FC236}">
                <a16:creationId xmlns:a16="http://schemas.microsoft.com/office/drawing/2014/main" id="{12AA609B-9EEC-4534-9190-970E85F5A6F2}"/>
              </a:ext>
            </a:extLst>
          </p:cNvPr>
          <p:cNvSpPr>
            <a:spLocks xmlns:a="http://schemas.openxmlformats.org/drawingml/2006/main" noGrp="1"/>
          </p:cNvSpPr>
          <p:nvPr/>
        </p:nvSpPr>
        <p:spPr>
          <a:xfrm xmlns:a="http://schemas.openxmlformats.org/drawingml/2006/main">
            <a:off x="6572250" y="49339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BEB3296-9764-4522-B36E-298833398874}"/>
              </a:ext>
            </a:extLst>
          </p:cNvPr>
          <p:cNvSpPr>
            <a:spLocks xmlns:a="http://schemas.openxmlformats.org/drawingml/2006/main" noGrp="1"/>
          </p:cNvSpPr>
          <p:nvPr/>
        </p:nvSpPr>
        <p:spPr>
          <a:xfrm xmlns:a="http://schemas.openxmlformats.org/drawingml/2006/main">
            <a:off x="762000" y="577215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A common claim interface for other Solana applications.</a:t>
            </a:r>
          </a:p>
        </p:txBody>
      </p:sp>
    </p:spTree>
    <p:extLst>
      <p:ext uri="{BB962C8B-B14F-4D97-AF65-F5344CB8AC3E}">
        <p14:creationId xmlns:p14="http://schemas.microsoft.com/office/powerpoint/2010/main" val="1838844390"/>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0250B1D-2130-4C74-A32C-C6E3C256C1DD}"/>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B7AEF10-EDDF-44F8-9D10-38E055771BD8}"/>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C9C654D-3770-42C2-B44D-3DBBDE0C03E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DBCE4158-8586-4825-B228-363BC27A107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Coca-Cola, in dollars</a:t>
            </a:r>
          </a:p>
        </p:txBody>
      </p:sp>
      <p:sp>
        <p:nvSpPr>
          <p:cNvPr id="5" name="">
            <a:extLst xmlns:a="http://schemas.openxmlformats.org/drawingml/2006/main">
              <a:ext uri="{FF2B5EF4-FFF2-40B4-BE49-F238E27FC236}">
                <a16:creationId xmlns:a16="http://schemas.microsoft.com/office/drawing/2014/main" id="{BC60ACFD-18ED-430E-99F3-0373E99B04B2}"/>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d3346ce12364f4d"/>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DB35FFAF-F8E5-4441-906F-9A6A3D2C28FC}"/>
              </a:ext>
            </a:extLst>
          </p:cNvPr>
          <p:cNvSpPr>
            <a:spLocks xmlns:a="http://schemas.openxmlformats.org/drawingml/2006/main" noGrp="1"/>
          </p:cNvSpPr>
          <p:nvPr/>
        </p:nvSpPr>
        <p:spPr>
          <a:xfrm xmlns:a="http://schemas.openxmlformats.org/drawingml/2006/main">
            <a:off x="8334375" y="17907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8F4978D5-3D1C-4B24-825F-F20F4050375B}"/>
              </a:ext>
            </a:extLst>
          </p:cNvPr>
          <p:cNvSpPr>
            <a:spLocks xmlns:a="http://schemas.openxmlformats.org/drawingml/2006/main" noGrp="1"/>
          </p:cNvSpPr>
          <p:nvPr/>
        </p:nvSpPr>
        <p:spPr>
          <a:xfrm xmlns:a="http://schemas.openxmlformats.org/drawingml/2006/main">
            <a:off x="8334375" y="20955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100 Coca-Cola share-equivalents</a:t>
            </a:r>
          </a:p>
        </p:txBody>
      </p:sp>
      <p:sp>
        <p:nvSpPr>
          <p:cNvPr id="9" name="">
            <a:extLst xmlns:a="http://schemas.openxmlformats.org/drawingml/2006/main">
              <a:ext uri="{FF2B5EF4-FFF2-40B4-BE49-F238E27FC236}">
                <a16:creationId xmlns:a16="http://schemas.microsoft.com/office/drawing/2014/main" id="{7F1C8093-673F-4533-8649-22E9012A4DF9}"/>
              </a:ext>
            </a:extLst>
          </p:cNvPr>
          <p:cNvSpPr>
            <a:spLocks xmlns:a="http://schemas.openxmlformats.org/drawingml/2006/main" noGrp="1"/>
          </p:cNvSpPr>
          <p:nvPr/>
        </p:nvSpPr>
        <p:spPr>
          <a:xfrm xmlns:a="http://schemas.openxmlformats.org/drawingml/2006/main">
            <a:off x="8334375" y="26479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KOx</a:t>
            </a:r>
          </a:p>
        </p:txBody>
      </p:sp>
      <p:sp>
        <p:nvSpPr>
          <p:cNvPr id="10" name="">
            <a:extLst xmlns:a="http://schemas.openxmlformats.org/drawingml/2006/main">
              <a:ext uri="{FF2B5EF4-FFF2-40B4-BE49-F238E27FC236}">
                <a16:creationId xmlns:a16="http://schemas.microsoft.com/office/drawing/2014/main" id="{5E6E7E0D-ED32-4A93-9BC6-28CA26CEA6B4}"/>
              </a:ext>
            </a:extLst>
          </p:cNvPr>
          <p:cNvSpPr>
            <a:spLocks xmlns:a="http://schemas.openxmlformats.org/drawingml/2006/main" noGrp="1"/>
          </p:cNvSpPr>
          <p:nvPr/>
        </p:nvSpPr>
        <p:spPr>
          <a:xfrm xmlns:a="http://schemas.openxmlformats.org/drawingml/2006/main">
            <a:off x="8334375" y="30099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2457F5"/>
                </a:solidFill>
                <a:latin typeface="Helvetica Neue"/>
                <a:ea typeface="Helvetica Neue"/>
                <a:cs typeface="Helvetica Neue"/>
              </a:defRPr>
            </a:pPr>
            <a:r>
              <a:rPr sz="2550" b="1">
                <a:solidFill>
                  <a:srgbClr val="2457F5"/>
                </a:solidFill>
                <a:latin typeface="Helvetica Neue"/>
                <a:ea typeface="Helvetica Neue"/>
                <a:cs typeface="Helvetica Neue"/>
              </a:rPr>
              <a:t>≈ $8,935</a:t>
            </a:r>
          </a:p>
        </p:txBody>
      </p:sp>
      <p:sp>
        <p:nvSpPr>
          <p:cNvPr id="11" name="">
            <a:extLst xmlns:a="http://schemas.openxmlformats.org/drawingml/2006/main">
              <a:ext uri="{FF2B5EF4-FFF2-40B4-BE49-F238E27FC236}">
                <a16:creationId xmlns:a16="http://schemas.microsoft.com/office/drawing/2014/main" id="{1AB4E91A-C734-4FDA-B955-0E5080D8A363}"/>
              </a:ext>
            </a:extLst>
          </p:cNvPr>
          <p:cNvSpPr>
            <a:spLocks xmlns:a="http://schemas.openxmlformats.org/drawingml/2006/main" noGrp="1"/>
          </p:cNvSpPr>
          <p:nvPr/>
        </p:nvSpPr>
        <p:spPr>
          <a:xfrm xmlns:a="http://schemas.openxmlformats.org/drawingml/2006/main">
            <a:off x="8334375" y="342900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100.0000 KOx · stock exposure</a:t>
            </a:r>
          </a:p>
        </p:txBody>
      </p:sp>
      <p:sp>
        <p:nvSpPr>
          <p:cNvPr id="12" name="">
            <a:extLst xmlns:a="http://schemas.openxmlformats.org/drawingml/2006/main">
              <a:ext uri="{FF2B5EF4-FFF2-40B4-BE49-F238E27FC236}">
                <a16:creationId xmlns:a16="http://schemas.microsoft.com/office/drawing/2014/main" id="{0AD66BDB-3446-43A0-B343-06515E2AE4AA}"/>
              </a:ext>
            </a:extLst>
          </p:cNvPr>
          <p:cNvSpPr>
            <a:spLocks xmlns:a="http://schemas.openxmlformats.org/drawingml/2006/main" noGrp="1"/>
          </p:cNvSpPr>
          <p:nvPr/>
        </p:nvSpPr>
        <p:spPr>
          <a:xfrm xmlns:a="http://schemas.openxmlformats.org/drawingml/2006/main">
            <a:off x="8334375" y="38766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C46A00"/>
                </a:solidFill>
                <a:latin typeface="Helvetica Neue"/>
                <a:ea typeface="Helvetica Neue"/>
                <a:cs typeface="Helvetica Neue"/>
              </a:defRPr>
            </a:pPr>
            <a:r>
              <a:rPr sz="2550" b="1">
                <a:solidFill>
                  <a:srgbClr val="C46A00"/>
                </a:solidFill>
                <a:latin typeface="Helvetica Neue"/>
                <a:ea typeface="Helvetica Neue"/>
                <a:cs typeface="Helvetica Neue"/>
              </a:rPr>
              <a:t>≈ $37.10</a:t>
            </a:r>
          </a:p>
        </p:txBody>
      </p:sp>
      <p:sp>
        <p:nvSpPr>
          <p:cNvPr id="13" name="">
            <a:extLst xmlns:a="http://schemas.openxmlformats.org/drawingml/2006/main">
              <a:ext uri="{FF2B5EF4-FFF2-40B4-BE49-F238E27FC236}">
                <a16:creationId xmlns:a16="http://schemas.microsoft.com/office/drawing/2014/main" id="{DF5999C2-9C21-440B-B9B4-1B1A82936482}"/>
              </a:ext>
            </a:extLst>
          </p:cNvPr>
          <p:cNvSpPr>
            <a:spLocks xmlns:a="http://schemas.openxmlformats.org/drawingml/2006/main" noGrp="1"/>
          </p:cNvSpPr>
          <p:nvPr/>
        </p:nvSpPr>
        <p:spPr>
          <a:xfrm xmlns:a="http://schemas.openxmlformats.org/drawingml/2006/main">
            <a:off x="8334375" y="42957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0.4152 KOx · dividend allocation</a:t>
            </a:r>
          </a:p>
        </p:txBody>
      </p:sp>
      <p:sp>
        <p:nvSpPr>
          <p:cNvPr id="14" name="">
            <a:extLst xmlns:a="http://schemas.openxmlformats.org/drawingml/2006/main">
              <a:ext uri="{FF2B5EF4-FFF2-40B4-BE49-F238E27FC236}">
                <a16:creationId xmlns:a16="http://schemas.microsoft.com/office/drawing/2014/main" id="{6754095B-7FFB-4892-8426-E4DCDBD41730}"/>
              </a:ext>
            </a:extLst>
          </p:cNvPr>
          <p:cNvSpPr>
            <a:spLocks xmlns:a="http://schemas.openxmlformats.org/drawingml/2006/main" noGrp="1"/>
          </p:cNvSpPr>
          <p:nvPr/>
        </p:nvSpPr>
        <p:spPr>
          <a:xfrm xmlns:a="http://schemas.openxmlformats.org/drawingml/2006/main">
            <a:off x="8334375" y="47053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101820"/>
                </a:solidFill>
                <a:latin typeface="Helvetica Neue"/>
                <a:ea typeface="Helvetica Neue"/>
                <a:cs typeface="Helvetica Neue"/>
              </a:defRPr>
            </a:pPr>
            <a:r>
              <a:rPr sz="1200" b="1">
                <a:solidFill>
                  <a:srgbClr val="101820"/>
                </a:solidFill>
                <a:latin typeface="Helvetica Neue"/>
                <a:ea typeface="Helvetica Neue"/>
                <a:cs typeface="Helvetica Neue"/>
              </a:rPr>
              <a:t>At the event-implied $89.35/share</a:t>
            </a:r>
          </a:p>
        </p:txBody>
      </p:sp>
      <p:sp>
        <p:nvSpPr>
          <p:cNvPr id="15" name="">
            <a:extLst xmlns:a="http://schemas.openxmlformats.org/drawingml/2006/main">
              <a:ext uri="{FF2B5EF4-FFF2-40B4-BE49-F238E27FC236}">
                <a16:creationId xmlns:a16="http://schemas.microsoft.com/office/drawing/2014/main" id="{EF69C041-982C-4259-9D49-8B24F9896405}"/>
              </a:ext>
            </a:extLst>
          </p:cNvPr>
          <p:cNvSpPr>
            <a:spLocks xmlns:a="http://schemas.openxmlformats.org/drawingml/2006/main" noGrp="1"/>
          </p:cNvSpPr>
          <p:nvPr/>
        </p:nvSpPr>
        <p:spPr>
          <a:xfrm xmlns:a="http://schemas.openxmlformats.org/drawingml/2006/main">
            <a:off x="8334375" y="504825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76D3326-A875-4A67-B3F8-E6772F9DFBA3}"/>
              </a:ext>
            </a:extLst>
          </p:cNvPr>
          <p:cNvSpPr>
            <a:spLocks xmlns:a="http://schemas.openxmlformats.org/drawingml/2006/main" noGrp="1"/>
          </p:cNvSpPr>
          <p:nvPr/>
        </p:nvSpPr>
        <p:spPr>
          <a:xfrm xmlns:a="http://schemas.openxmlformats.org/drawingml/2006/main">
            <a:off x="8334375" y="521970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Event · 15 September 2026</a:t>
            </a:r>
          </a:p>
        </p:txBody>
      </p:sp>
      <p:sp>
        <p:nvSpPr>
          <p:cNvPr id="17" name="">
            <a:extLst xmlns:a="http://schemas.openxmlformats.org/drawingml/2006/main">
              <a:ext uri="{FF2B5EF4-FFF2-40B4-BE49-F238E27FC236}">
                <a16:creationId xmlns:a16="http://schemas.microsoft.com/office/drawing/2014/main" id="{9C49BAF8-92D4-45D1-B74F-8766B99C044D}"/>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9740098-1D6D-4C26-AAEB-AB86AB78EDDA}"/>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1077707646"/>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41DAAB8-DAA6-41CE-9885-0CA59127194D}"/>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C838763-733A-4F5B-8713-660C3547C261}"/>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65ABB25-EEAA-44C2-8494-E5F110550ED7}"/>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163FCB98-D397-4253-98F8-F284F297F8B9}"/>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Solana issuers first</a:t>
            </a:r>
          </a:p>
        </p:txBody>
      </p:sp>
      <p:sp>
        <p:nvSpPr>
          <p:cNvPr id="5" name="">
            <a:extLst xmlns:a="http://schemas.openxmlformats.org/drawingml/2006/main">
              <a:ext uri="{FF2B5EF4-FFF2-40B4-BE49-F238E27FC236}">
                <a16:creationId xmlns:a16="http://schemas.microsoft.com/office/drawing/2014/main" id="{DCD23F57-0534-4796-95FB-9C590248D718}"/>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E6D2E949-B319-4A24-8FBF-6B9DAB7CDCC0}"/>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2B56FA0E-C5D9-47C9-B47E-BC681A585A7B}"/>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4519B8F2-59F7-43FC-AF63-9750619981A2}"/>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B3EF64CC-A674-478A-879A-15B3262367B3}"/>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6D584A82-4778-481A-87CD-CC60F0297EE0}"/>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a:extLst xmlns:a="http://schemas.openxmlformats.org/drawingml/2006/main">
              <a:ext uri="{FF2B5EF4-FFF2-40B4-BE49-F238E27FC236}">
                <a16:creationId xmlns:a16="http://schemas.microsoft.com/office/drawing/2014/main" id="{C3218A22-9F81-4D09-8001-C1F8565CFBE6}"/>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1005DF70-3435-486F-AE2F-493075627AB8}"/>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a:t>
            </a:r>
          </a:p>
        </p:txBody>
      </p:sp>
      <p:sp>
        <p:nvSpPr>
          <p:cNvPr id="13" name="Redeem separately">
            <a:extLst xmlns:a="http://schemas.openxmlformats.org/drawingml/2006/main">
              <a:ext uri="{FF2B5EF4-FFF2-40B4-BE49-F238E27FC236}">
                <a16:creationId xmlns:a16="http://schemas.microsoft.com/office/drawing/2014/main" id="{85F191BE-F2C7-418D-A3B5-E35E4FD09BFA}"/>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295FDE94-30CA-4474-A115-65EE89743217}"/>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46"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sp>
        <p:nvSpPr>
          <p:cNvPr id="18" name="">
            <a:extLst xmlns:a="http://schemas.openxmlformats.org/drawingml/2006/main">
              <a:ext uri="{FF2B5EF4-FFF2-40B4-BE49-F238E27FC236}">
                <a16:creationId xmlns:a16="http://schemas.microsoft.com/office/drawing/2014/main" id="{15E7A541-E93B-492C-9227-060C8CFD722E}"/>
              </a:ext>
            </a:extLst>
          </p:cNvPr>
          <p:cNvSpPr>
            <a:spLocks xmlns:a="http://schemas.openxmlformats.org/drawingml/2006/main" noGrp="1"/>
          </p:cNvSpPr>
          <p:nvPr/>
        </p:nvSpPr>
        <p:spPr>
          <a:xfrm xmlns:a="http://schemas.openxmlformats.org/drawingml/2006/main">
            <a:off x="762000" y="36385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BUILD SCOPE AND ROADMAP</a:t>
            </a:r>
          </a:p>
        </p:txBody>
      </p:sp>
      <p:sp>
        <p:nvSpPr>
          <p:cNvPr id="19" name="">
            <a:extLst xmlns:a="http://schemas.openxmlformats.org/drawingml/2006/main">
              <a:ext uri="{FF2B5EF4-FFF2-40B4-BE49-F238E27FC236}">
                <a16:creationId xmlns:a16="http://schemas.microsoft.com/office/drawing/2014/main" id="{D992C3E9-3445-4F9F-A8AD-22226582A269}"/>
              </a:ext>
            </a:extLst>
          </p:cNvPr>
          <p:cNvSpPr>
            <a:spLocks xmlns:a="http://schemas.openxmlformats.org/drawingml/2006/main" noGrp="1"/>
          </p:cNvSpPr>
          <p:nvPr/>
        </p:nvSpPr>
        <p:spPr>
          <a:xfrm xmlns:a="http://schemas.openxmlformats.org/drawingml/2006/main">
            <a:off x="762000" y="39433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E300AEB-B0C1-43FC-8E86-8C351293F5EA}"/>
              </a:ext>
            </a:extLst>
          </p:cNvPr>
          <p:cNvSpPr>
            <a:spLocks xmlns:a="http://schemas.openxmlformats.org/drawingml/2006/main" noGrp="1"/>
          </p:cNvSpPr>
          <p:nvPr/>
        </p:nvSpPr>
        <p:spPr>
          <a:xfrm xmlns:a="http://schemas.openxmlformats.org/drawingml/2006/main">
            <a:off x="762000" y="414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0F4B4B98-697C-4873-96C6-87AE87864F39}"/>
              </a:ext>
            </a:extLst>
          </p:cNvPr>
          <p:cNvSpPr>
            <a:spLocks xmlns:a="http://schemas.openxmlformats.org/drawingml/2006/main" noGrp="1"/>
          </p:cNvSpPr>
          <p:nvPr/>
        </p:nvSpPr>
        <p:spPr>
          <a:xfrm xmlns:a="http://schemas.openxmlformats.org/drawingml/2006/main">
            <a:off x="1381125" y="41243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Initial Solana scope</a:t>
            </a:r>
          </a:p>
        </p:txBody>
      </p:sp>
      <p:sp>
        <p:nvSpPr>
          <p:cNvPr id="22" name="">
            <a:extLst xmlns:a="http://schemas.openxmlformats.org/drawingml/2006/main">
              <a:ext uri="{FF2B5EF4-FFF2-40B4-BE49-F238E27FC236}">
                <a16:creationId xmlns:a16="http://schemas.microsoft.com/office/drawing/2014/main" id="{30B2AFE4-7D3A-4560-8F0A-A53094DA6E4D}"/>
              </a:ext>
            </a:extLst>
          </p:cNvPr>
          <p:cNvSpPr>
            <a:spLocks xmlns:a="http://schemas.openxmlformats.org/drawingml/2006/main" noGrp="1"/>
          </p:cNvSpPr>
          <p:nvPr/>
        </p:nvSpPr>
        <p:spPr>
          <a:xfrm xmlns:a="http://schemas.openxmlformats.org/drawingml/2006/main">
            <a:off x="4362450" y="41243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xStocks · Backpack · Ondo</a:t>
            </a:r>
          </a:p>
        </p:txBody>
      </p:sp>
      <p:sp>
        <p:nvSpPr>
          <p:cNvPr id="23" name="">
            <a:extLst xmlns:a="http://schemas.openxmlformats.org/drawingml/2006/main">
              <a:ext uri="{FF2B5EF4-FFF2-40B4-BE49-F238E27FC236}">
                <a16:creationId xmlns:a16="http://schemas.microsoft.com/office/drawing/2014/main" id="{3022CA11-4242-4AFE-8EE7-30F6B57D6A85}"/>
              </a:ext>
            </a:extLst>
          </p:cNvPr>
          <p:cNvSpPr>
            <a:spLocks xmlns:a="http://schemas.openxmlformats.org/drawingml/2006/main" noGrp="1"/>
          </p:cNvSpPr>
          <p:nvPr/>
        </p:nvSpPr>
        <p:spPr>
          <a:xfrm xmlns:a="http://schemas.openxmlformats.org/drawingml/2006/main">
            <a:off x="1381125" y="4514850"/>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70C5033-1084-4F61-8846-E7C48F48804E}"/>
              </a:ext>
            </a:extLst>
          </p:cNvPr>
          <p:cNvSpPr>
            <a:spLocks xmlns:a="http://schemas.openxmlformats.org/drawingml/2006/main" noGrp="1"/>
          </p:cNvSpPr>
          <p:nvPr/>
        </p:nvSpPr>
        <p:spPr>
          <a:xfrm xmlns:a="http://schemas.openxmlformats.org/drawingml/2006/main">
            <a:off x="762000" y="4686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25" name="">
            <a:extLst xmlns:a="http://schemas.openxmlformats.org/drawingml/2006/main">
              <a:ext uri="{FF2B5EF4-FFF2-40B4-BE49-F238E27FC236}">
                <a16:creationId xmlns:a16="http://schemas.microsoft.com/office/drawing/2014/main" id="{A49DF785-4682-44C2-834F-54FBD39D105C}"/>
              </a:ext>
            </a:extLst>
          </p:cNvPr>
          <p:cNvSpPr>
            <a:spLocks xmlns:a="http://schemas.openxmlformats.org/drawingml/2006/main" noGrp="1"/>
          </p:cNvSpPr>
          <p:nvPr/>
        </p:nvSpPr>
        <p:spPr>
          <a:xfrm xmlns:a="http://schemas.openxmlformats.org/drawingml/2006/main">
            <a:off x="1381125" y="46672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7A4000"/>
                </a:solidFill>
                <a:latin typeface="Helvetica Neue"/>
                <a:ea typeface="Helvetica Neue"/>
                <a:cs typeface="Helvetica Neue"/>
              </a:defRPr>
            </a:pPr>
            <a:r>
              <a:rPr sz="1500" b="1">
                <a:solidFill>
                  <a:srgbClr val="7A4000"/>
                </a:solidFill>
                <a:latin typeface="Helvetica Neue"/>
                <a:ea typeface="Helvetica Neue"/>
                <a:cs typeface="Helvetica Neue"/>
              </a:rPr>
              <a:t>More eligible Solana stocks</a:t>
            </a:r>
          </a:p>
        </p:txBody>
      </p:sp>
      <p:sp>
        <p:nvSpPr>
          <p:cNvPr id="26" name="">
            <a:extLst xmlns:a="http://schemas.openxmlformats.org/drawingml/2006/main">
              <a:ext uri="{FF2B5EF4-FFF2-40B4-BE49-F238E27FC236}">
                <a16:creationId xmlns:a16="http://schemas.microsoft.com/office/drawing/2014/main" id="{1E25256A-A2B4-44F5-A192-3A8BDE319E6B}"/>
              </a:ext>
            </a:extLst>
          </p:cNvPr>
          <p:cNvSpPr>
            <a:spLocks xmlns:a="http://schemas.openxmlformats.org/drawingml/2006/main" noGrp="1"/>
          </p:cNvSpPr>
          <p:nvPr/>
        </p:nvSpPr>
        <p:spPr>
          <a:xfrm xmlns:a="http://schemas.openxmlformats.org/drawingml/2006/main">
            <a:off x="4362450" y="4667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Additional assets after dividend and custody checks</a:t>
            </a:r>
          </a:p>
        </p:txBody>
      </p:sp>
      <p:sp>
        <p:nvSpPr>
          <p:cNvPr id="27" name="">
            <a:extLst xmlns:a="http://schemas.openxmlformats.org/drawingml/2006/main">
              <a:ext uri="{FF2B5EF4-FFF2-40B4-BE49-F238E27FC236}">
                <a16:creationId xmlns:a16="http://schemas.microsoft.com/office/drawing/2014/main" id="{5F20DE30-5932-4AE7-B97A-AF32C9AB60A8}"/>
              </a:ext>
            </a:extLst>
          </p:cNvPr>
          <p:cNvSpPr>
            <a:spLocks xmlns:a="http://schemas.openxmlformats.org/drawingml/2006/main" noGrp="1"/>
          </p:cNvSpPr>
          <p:nvPr/>
        </p:nvSpPr>
        <p:spPr>
          <a:xfrm xmlns:a="http://schemas.openxmlformats.org/drawingml/2006/main">
            <a:off x="1381125" y="5057775"/>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B6BF7AF-1B77-48C1-9B04-A9E204D4135C}"/>
              </a:ext>
            </a:extLst>
          </p:cNvPr>
          <p:cNvSpPr>
            <a:spLocks xmlns:a="http://schemas.openxmlformats.org/drawingml/2006/main" noGrp="1"/>
          </p:cNvSpPr>
          <p:nvPr/>
        </p:nvSpPr>
        <p:spPr>
          <a:xfrm xmlns:a="http://schemas.openxmlformats.org/drawingml/2006/main">
            <a:off x="762000" y="5229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29" name="">
            <a:extLst xmlns:a="http://schemas.openxmlformats.org/drawingml/2006/main">
              <a:ext uri="{FF2B5EF4-FFF2-40B4-BE49-F238E27FC236}">
                <a16:creationId xmlns:a16="http://schemas.microsoft.com/office/drawing/2014/main" id="{C92649AF-7DC1-4CE4-A4AC-D55CD9F7E1FB}"/>
              </a:ext>
            </a:extLst>
          </p:cNvPr>
          <p:cNvSpPr>
            <a:spLocks xmlns:a="http://schemas.openxmlformats.org/drawingml/2006/main" noGrp="1"/>
          </p:cNvSpPr>
          <p:nvPr/>
        </p:nvSpPr>
        <p:spPr>
          <a:xfrm xmlns:a="http://schemas.openxmlformats.org/drawingml/2006/main">
            <a:off x="1381125" y="521017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Other networks later</a:t>
            </a:r>
          </a:p>
        </p:txBody>
      </p:sp>
      <p:sp>
        <p:nvSpPr>
          <p:cNvPr id="30" name="">
            <a:extLst xmlns:a="http://schemas.openxmlformats.org/drawingml/2006/main">
              <a:ext uri="{FF2B5EF4-FFF2-40B4-BE49-F238E27FC236}">
                <a16:creationId xmlns:a16="http://schemas.microsoft.com/office/drawing/2014/main" id="{3F3DAC1D-BC13-4B23-A8DC-D293E9AF5351}"/>
              </a:ext>
            </a:extLst>
          </p:cNvPr>
          <p:cNvSpPr>
            <a:spLocks xmlns:a="http://schemas.openxmlformats.org/drawingml/2006/main" noGrp="1"/>
          </p:cNvSpPr>
          <p:nvPr/>
        </p:nvSpPr>
        <p:spPr>
          <a:xfrm xmlns:a="http://schemas.openxmlformats.org/drawingml/2006/main">
            <a:off x="4362450" y="52101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Coinbase on Base · Robinhood Chain</a:t>
            </a:r>
          </a:p>
        </p:txBody>
      </p:sp>
      <p:sp>
        <p:nvSpPr>
          <p:cNvPr id="31" name="">
            <a:extLst xmlns:a="http://schemas.openxmlformats.org/drawingml/2006/main">
              <a:ext uri="{FF2B5EF4-FFF2-40B4-BE49-F238E27FC236}">
                <a16:creationId xmlns:a16="http://schemas.microsoft.com/office/drawing/2014/main" id="{6D1E75F7-2233-4E98-91F1-218B78BCE39F}"/>
              </a:ext>
            </a:extLst>
          </p:cNvPr>
          <p:cNvSpPr>
            <a:spLocks xmlns:a="http://schemas.openxmlformats.org/drawingml/2006/main" noGrp="1"/>
          </p:cNvSpPr>
          <p:nvPr/>
        </p:nvSpPr>
        <p:spPr>
          <a:xfrm xmlns:a="http://schemas.openxmlformats.org/drawingml/2006/main">
            <a:off x="762000" y="60388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Solana as the home base for dividend liquidity.</a:t>
            </a:r>
          </a:p>
        </p:txBody>
      </p:sp>
    </p:spTree>
    <p:extLst>
      <p:ext uri="{BB962C8B-B14F-4D97-AF65-F5344CB8AC3E}">
        <p14:creationId xmlns:p14="http://schemas.microsoft.com/office/powerpoint/2010/main" val="1821650305"/>
      </p:ext>
    </p:extLst>
  </p:cSld>
</p:sld>
</file>

<file path=ppt/theme/theme1.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2026-09-16T06:05:46.5220000Z</dcterms:created>
  <dcterms:modified xsi:type="dcterms:W3CDTF">2026-09-16T06:05:46.5220000Z</dcterms:modified>
</coreProperties>
</file>