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c379d503a14b18" /><Relationship Type="http://schemas.openxmlformats.org/officeDocument/2006/relationships/extended-properties" Target="/docProps/app.xml" Id="Rd166dc03aad0405f" /><Relationship Type="http://schemas.openxmlformats.org/officeDocument/2006/relationships/officeDocument" Target="/ppt/presentation.xml" Id="R7e4e0eef8adf44ec" /></Relationships>
</file>

<file path=ppt/presentation.xml><?xml version="1.0" encoding="utf-8"?>
<p:presentation xmlns:p="http://schemas.openxmlformats.org/presentationml/2006/main">
  <p:sldMasterIdLst>
    <p:sldMasterId xmlns:r="http://schemas.openxmlformats.org/officeDocument/2006/relationships" id="2147483648" r:id="Ra3db5741740f4a70"/>
  </p:sldMasterIdLst>
  <p:notesMasterIdLst>
    <p:notesMasterId xmlns:r="http://schemas.openxmlformats.org/officeDocument/2006/relationships" r:id="R980e14e3d9de4748"/>
  </p:notesMasterIdLst>
  <p:sldIdLst>
    <p:sldId xmlns:r="http://schemas.openxmlformats.org/officeDocument/2006/relationships" id="256" r:id="R24e060b7cccc4497"/>
    <p:sldId xmlns:r="http://schemas.openxmlformats.org/officeDocument/2006/relationships" id="257" r:id="R95f90683b23447a4"/>
    <p:sldId xmlns:r="http://schemas.openxmlformats.org/officeDocument/2006/relationships" id="258" r:id="R33b5f0e5d5274cf8"/>
    <p:sldId xmlns:r="http://schemas.openxmlformats.org/officeDocument/2006/relationships" id="259" r:id="R7be5bd0cfa69450d"/>
    <p:sldId xmlns:r="http://schemas.openxmlformats.org/officeDocument/2006/relationships" id="260" r:id="R14e07c1d4b78405d"/>
    <p:sldId xmlns:r="http://schemas.openxmlformats.org/officeDocument/2006/relationships" id="261" r:id="R450baec828e7475f"/>
    <p:sldId xmlns:r="http://schemas.openxmlformats.org/officeDocument/2006/relationships" id="262" r:id="R10f711ecfcfc405d"/>
    <p:sldId xmlns:r="http://schemas.openxmlformats.org/officeDocument/2006/relationships" id="263" r:id="R64c82451a61a4eeb"/>
    <p:sldId xmlns:r="http://schemas.openxmlformats.org/officeDocument/2006/relationships" id="264" r:id="R68ed533f202e4c8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e882917517c4ca2" /><Relationship Type="http://schemas.openxmlformats.org/officeDocument/2006/relationships/slideMaster" Target="/ppt/slideMasters/slideMaster1.xml" Id="Ra3db5741740f4a70" /><Relationship Type="http://schemas.openxmlformats.org/officeDocument/2006/relationships/notesMaster" Target="/ppt/notesMasters/notesMaster1.xml" Id="R980e14e3d9de4748" /><Relationship Type="http://schemas.openxmlformats.org/officeDocument/2006/relationships/presProps" Target="/ppt/presProps.xml" Id="Ra732238d2bb54166" /><Relationship Type="http://schemas.openxmlformats.org/officeDocument/2006/relationships/tableStyles" Target="/ppt/tableStyles.xml" Id="Ref8970350b324010" /><Relationship Type="http://schemas.openxmlformats.org/officeDocument/2006/relationships/slide" Target="/ppt/slides/slide1.xml" Id="R24e060b7cccc4497" /><Relationship Type="http://schemas.openxmlformats.org/officeDocument/2006/relationships/slide" Target="/ppt/slides/slide2.xml" Id="R95f90683b23447a4" /><Relationship Type="http://schemas.openxmlformats.org/officeDocument/2006/relationships/slide" Target="/ppt/slides/slide3.xml" Id="R33b5f0e5d5274cf8" /><Relationship Type="http://schemas.openxmlformats.org/officeDocument/2006/relationships/slide" Target="/ppt/slides/slide4.xml" Id="R7be5bd0cfa69450d" /><Relationship Type="http://schemas.openxmlformats.org/officeDocument/2006/relationships/slide" Target="/ppt/slides/slide5.xml" Id="R14e07c1d4b78405d" /><Relationship Type="http://schemas.openxmlformats.org/officeDocument/2006/relationships/slide" Target="/ppt/slides/slide6.xml" Id="R450baec828e7475f" /><Relationship Type="http://schemas.openxmlformats.org/officeDocument/2006/relationships/slide" Target="/ppt/slides/slide7.xml" Id="R10f711ecfcfc405d" /><Relationship Type="http://schemas.openxmlformats.org/officeDocument/2006/relationships/slide" Target="/ppt/slides/slide8.xml" Id="R64c82451a61a4eeb" /><Relationship Type="http://schemas.openxmlformats.org/officeDocument/2006/relationships/slide" Target="/ppt/slides/slide9.xml" Id="R68ed533f202e4c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569a39421fd4a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5e5b7bb75e4a7e" /><Relationship Type="http://schemas.openxmlformats.org/officeDocument/2006/relationships/notesMaster" Target="/ppt/notesMasters/notesMaster1.xml" Id="Red055190a49b4c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4d660a4cae34e86" /><Relationship Type="http://schemas.openxmlformats.org/officeDocument/2006/relationships/notesMaster" Target="/ppt/notesMasters/notesMaster1.xml" Id="R53941cb3a7944f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2d91784ba046e8" /><Relationship Type="http://schemas.openxmlformats.org/officeDocument/2006/relationships/notesMaster" Target="/ppt/notesMasters/notesMaster1.xml" Id="Rffa1e5f8fb6c44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323bef212794f77" /><Relationship Type="http://schemas.openxmlformats.org/officeDocument/2006/relationships/notesMaster" Target="/ppt/notesMasters/notesMaster1.xml" Id="R9c1e43ea12e648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94cad9e60243a2" /><Relationship Type="http://schemas.openxmlformats.org/officeDocument/2006/relationships/notesMaster" Target="/ppt/notesMasters/notesMaster1.xml" Id="Rd457144ecfaa4e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305d3559a8048ad" /><Relationship Type="http://schemas.openxmlformats.org/officeDocument/2006/relationships/notesMaster" Target="/ppt/notesMasters/notesMaster1.xml" Id="Rdf844fb7f8cd45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7b1cfbd5fe7d4118" /><Relationship Type="http://schemas.openxmlformats.org/officeDocument/2006/relationships/notesMaster" Target="/ppt/notesMasters/notesMaster1.xml" Id="R3d5dc8671aa94896" /></Relationships>
</file>

<file path=ppt/notesSlides/_rels/notesSlide8.xml.rels>&#65279;<?xml version="1.0" encoding="utf-8"?><Relationships xmlns="http://schemas.openxmlformats.org/package/2006/relationships"><Relationship Type="http://schemas.openxmlformats.org/officeDocument/2006/relationships/slide" Target="/ppt/slides/slide8.xml" Id="R931640db9ef543b0" /><Relationship Type="http://schemas.openxmlformats.org/officeDocument/2006/relationships/notesMaster" Target="/ppt/notesMasters/notesMaster1.xml" Id="R6e46de9271e24a0f" /></Relationships>
</file>

<file path=ppt/notesSlides/_rels/notesSlide9.xml.rels>&#65279;<?xml version="1.0" encoding="utf-8"?><Relationships xmlns="http://schemas.openxmlformats.org/package/2006/relationships"><Relationship Type="http://schemas.openxmlformats.org/officeDocument/2006/relationships/slide" Target="/ppt/slides/slide9.xml" Id="R9c7ec3b185e942c0" /><Relationship Type="http://schemas.openxmlformats.org/officeDocument/2006/relationships/notesMaster" Target="/ppt/notesMasters/notesMaster1.xml" Id="R3ef592f448ea44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DivX is a Solana vault we are building to separate one tokenized stock position into stock exposure and the right to its next dividend-derived xStock units.</a:t>
            </a:r>
          </a:p>
          <a:p xmlns:a="http://schemas.openxmlformats.org/drawingml/2006/main">
            <a:r>
              <a:t>Presenter notes: The protocol is not launched. Current software is an approved interface and working historical calculator.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A holder could sell a dividend claim for cash while retaining stock exposure. A buyer could take the other side for the next verified dividend allocation.</a:t>
            </a:r>
          </a:p>
          <a:p xmlns:a="http://schemas.openxmlformats.org/drawingml/2006/main">
            <a:r>
              <a:t>Presenter notes: These are hypothetical personas. Proceeds require a willing buyer and an agreed market price. DR settles in reinvested xStock units, so its dollar value still moves with the stock.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One deposit enters a locked vault. The proposed program issues two paired claims: PT for the stock exposure and DR for this event’s dividend-derived share.</a:t>
            </a:r>
          </a:p>
          <a:p xmlns:a="http://schemas.openxmlformats.org/drawingml/2006/main">
            <a:r>
              <a:t>Presenter notes: The diagram is schematic. Deposit must precede the supported event. Claim receipt units differ from raw redemption allocations. Both claims reconcile to one locked xStock balance.</a:t>
            </a:r>
          </a:p>
          <a:p xmlns:a="http://schemas.openxmlformats.org/drawingml/2006/main">
            <a:r>
              <a:t>Sources (accessed/observed 16 September 2026 unless stated): https://docs.xstocks.fi/developers/multipliers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Dividend trading already has precedent. Eurex handled more than 21 million dividend contracts in 2024, while Pendle reported 96.4 million dollars of average daily trading volume for onchain yield markets.</a:t>
            </a:r>
          </a:p>
          <a:p xmlns:a="http://schemas.openxmlformats.org/drawingml/2006/main">
            <a:r>
              <a:t>Presenter notes: Contracts and dollars are different measures. Neither figure proves demand for DivX.</a:t>
            </a:r>
          </a:p>
          <a:p xmlns:a="http://schemas.openxmlformats.org/drawingml/2006/main">
            <a:r>
              <a:t>Sources (accessed/observed 16 September 2026 unless stated): Eurex release, published 6 January 2025: https://www.eurex.com/ex-en/find/news-center/news/Eurex-dividend-options-received-CFTC-approval-for-trading-in-the-U.S.--4248358 | Pendle team review, published 4 February 2025: https://medium.com/pendle/pendle-2025-zenith-cf1a91e6e23f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wider category is large, but our starting point stays narrow: dividend-paying xStocks on Solana. Global dividends totaled 1.75 trillion dollars in 2024, and RWA.xyz displayed 2.92 billion dollars of distributed tokenized-stock value on September 16.</a:t>
            </a:r>
          </a:p>
          <a:p xmlns:a="http://schemas.openxmlformats.org/drawingml/2006/main">
            <a:r>
              <a:t>Presenter notes: The RWA.xyz total includes stocks, ETFs, native instruments, and synthetic representations. Eligible DivX collateral is only a subset. These figures cannot be added into a market-size estimate.</a:t>
            </a:r>
          </a:p>
          <a:p xmlns:a="http://schemas.openxmlformats.org/drawingml/2006/main">
            <a:r>
              <a:t>Sources (accessed/observed 16 September 2026 unless stated): Janus Henderson, published 2025: https://www.janushenderson.com/en-dk/advisor/press-releases/global-dividends-jumped-to-a-record-1-75-trillion-in-2024/ | RWA.xyz Stocks dashboard, observed 16 September 2026: https://app.rwa.xyz/stocks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Solana gives the proposed vault a shared state for collateral, paired issuance, ownership, and redemption. That can replace manual reconciliation between the two claims.</a:t>
            </a:r>
          </a:p>
          <a:p xmlns:a="http://schemas.openxmlformats.org/drawingml/2006/main">
            <a:r>
              <a:t>Presenter notes: These are planned transaction flows, not completed program behavior. The current demonstration is the historical calculator. Solana does not remove issuer control, data trust, access restrictions, or the need for actual liquidity.</a:t>
            </a:r>
          </a:p>
          <a:p xmlns:a="http://schemas.openxmlformats.org/drawingml/2006/main">
            <a:r>
              <a:t>Sources (accessed/observed 16 September 2026 unless stated): Solana Token Extensions: https://solana.com/docs/tokens/extensions | Scaled UI Amount: https://solana.com/docs/tokens/extensions/scaled-ui-amount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Equity accounting is the core distinction. The KOx event is a verified cash dividend. The exact HONx reverse-split event is rejected, because a multiplier change alone cannot identify dividend yield.</a:t>
            </a:r>
          </a:p>
          <a:p xmlns:a="http://schemas.openxmlformats.org/drawingml/2006/main">
            <a:r>
              <a:t>Presenter notes: xStocks dividends and splits share Scaled UI Amount. Raw balances stay fixed. Issuer classification is a trusted attestation cross-checked against the multiplier. A later HONx spinoff on 29 June is a separate unsupported event. Pendle can normalize rebasing assets; DivX contributes Solana vault accounting for equity events.</a:t>
            </a:r>
          </a:p>
          <a:p xmlns:a="http://schemas.openxmlformats.org/drawingml/2006/main">
            <a:r>
              <a:t>Sources (accessed/observed 16 September 2026 unless stated): xStocks multiplier guide: https://docs.xstocks.fi/developers/multipliers | KOx history: https://api.xstocks.fi/api/v2/public/corporate-actions/history?page=1&amp;pageSize=100&amp;symbol=KOx&amp;sortBy=createdTimeUtc&amp;sortOrder=asc | HONx history: https://api.xstocks.fi/api/v2/public/corporate-actions/history?page=1&amp;pageSize=100&amp;symbol=HONx&amp;sortBy=createdTimeUtc&amp;sortOrder=asc | Pendle SY docs: https://docs.pendle.finance/pendle-v2-dev/Contracts/StandardizedYield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working software already lets anyone inspect a real historical KOx dividend and calculate its allocation. For one hundred pre-event displayed KOx, it shows one hundred KOx of stock exposure plus 0.4152 KOx of dividend allocation.</a:t>
            </a:r>
          </a:p>
          <a:p xmlns:a="http://schemas.openxmlformats.org/drawingml/2006/main">
            <a:r>
              <a:t>Presenter notes: This is a historical scenario from a source snapshot, not a wallet position or proof that a vault captured the event. The xStocks issuer adjustment occurred 15 September 2026; Coca-Cola's cash payment date is 1 October. Exact input raw Q=9,819,982,084; PT=9,779,376,057; DR=40,606,027; decimals=8; M0=1.0183317967386898; M1=1.0225601246249238; event 75c0c70e-1ae4-4ccd-ace6-d8990e1e8f9e v2. Displayed results are rounded equivalents. No onchain claim issuance exists yet.</a:t>
            </a:r>
          </a:p>
          <a:p xmlns:a="http://schemas.openxmlformats.org/drawingml/2006/main">
            <a:r>
              <a:t>Sources (accessed/observed 16 September 2026 unless stated): KOx history: https://api.xstocks.fi/api/v2/public/corporate-actions/history?page=1&amp;pageSize=100&amp;symbol=KOx&amp;sortBy=createdTimeUtc&amp;sortOrder=asc | Coca-Cola announcement, published 15 July 2026: https://investors.coca-colacompany.com/news-events/press-releases/detail/1165/board-of-directors-of-the-coca-cola-company-elects-new-officer-and-declares-regular-quarterly-dividend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hackathon target is one complete flow with test assets and the real historical event: deposit, split, sell the dividend claim, then redeem each side separately.</a:t>
            </a:r>
          </a:p>
          <a:p xmlns:a="http://schemas.openxmlformats.org/drawingml/2006/main">
            <a:r>
              <a:t>Presenter notes: This is the next build phase. After that, a future live series can validate the operational path before expansion to other stocks or issuers. Backpack is only a candidate pending corporate-action verification; no partnership or supported integration exists.</a:t>
            </a:r>
          </a:p>
          <a:p xmlns:a="http://schemas.openxmlformats.org/drawingml/2006/main">
            <a:r>
              <a:t>Sources (accessed/observed 16 September 2026 unless stated): Backpack corporate-actions explainer: https://learn.backpack.exchange/articles/what-are-corporate-actions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f45821c0b44a3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95db3ffc7745df" /><Relationship Type="http://schemas.openxmlformats.org/officeDocument/2006/relationships/slideLayout" Target="/ppt/slideLayouts/slideLayout1.xml" Id="R6b3306708636435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3306708636435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fe89063ccc74239" /><Relationship Type="http://schemas.openxmlformats.org/officeDocument/2006/relationships/notesSlide" Target="/ppt/notesSlides/notesSlide1.xml" Id="R6dbb06c6b5bf4d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d9921f90a3e429d" /><Relationship Type="http://schemas.openxmlformats.org/officeDocument/2006/relationships/notesSlide" Target="/ppt/notesSlides/notesSlide2.xml" Id="R5cea8f1cf37d4d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72c92fb6ba84d08" /><Relationship Type="http://schemas.openxmlformats.org/officeDocument/2006/relationships/notesSlide" Target="/ppt/notesSlides/notesSlide3.xml" Id="R1b86cdae18db46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b453561fa6c4d65" /><Relationship Type="http://schemas.openxmlformats.org/officeDocument/2006/relationships/notesSlide" Target="/ppt/notesSlides/notesSlide4.xml" Id="Rfa83ae1c9664468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5cf656b7ec7424c" /><Relationship Type="http://schemas.openxmlformats.org/officeDocument/2006/relationships/notesSlide" Target="/ppt/notesSlides/notesSlide5.xml" Id="R57cf92344bbb4f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444302447844903" /><Relationship Type="http://schemas.openxmlformats.org/officeDocument/2006/relationships/notesSlide" Target="/ppt/notesSlides/notesSlide6.xml" Id="R956632e2cfb34b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fc232076cab4393" /><Relationship Type="http://schemas.openxmlformats.org/officeDocument/2006/relationships/notesSlide" Target="/ppt/notesSlides/notesSlide7.xml" Id="R1c4c163feed0491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d1c6fe19ca64e18" /><Relationship Type="http://schemas.openxmlformats.org/officeDocument/2006/relationships/image" Target="/ppt/media/image.png" Id="R73b38bd1cd0344ed" /><Relationship Type="http://schemas.openxmlformats.org/officeDocument/2006/relationships/notesSlide" Target="/ppt/notesSlides/notesSlide8.xml" Id="R26e0093100e04a3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e17b5ccc4c244fe" /><Relationship Type="http://schemas.openxmlformats.org/officeDocument/2006/relationships/notesSlide" Target="/ppt/notesSlides/notesSlide9.xml" Id="Rd5b36569113b4887"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AC7FF48-0C0E-4A32-80A7-D5DACDB7A10D}"/>
              </a:ext>
            </a:extLst>
          </p:cNvPr>
          <p:cNvSpPr>
            <a:spLocks xmlns:a="http://schemas.openxmlformats.org/drawingml/2006/main" noGrp="1"/>
          </p:cNvSpPr>
          <p:nvPr/>
        </p:nvSpPr>
        <p:spPr>
          <a:xfrm xmlns:a="http://schemas.openxmlformats.org/drawingml/2006/main" rot="2700000">
            <a:off x="781050" y="666750"/>
            <a:ext cx="171450" cy="171450"/>
          </a:xfrm>
          <a:prstGeom xmlns:a="http://schemas.openxmlformats.org/drawingml/2006/main" prst="rect">
            <a:avLst/>
          </a:prstGeom>
          <a:solidFill xmlns:a="http://schemas.openxmlformats.org/drawingml/2006/main">
            <a:srgbClr val="729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7CF1CB6-B8B4-490B-9C97-921EE5B5023D}"/>
              </a:ext>
            </a:extLst>
          </p:cNvPr>
          <p:cNvSpPr>
            <a:spLocks xmlns:a="http://schemas.openxmlformats.org/drawingml/2006/main" noGrp="1"/>
          </p:cNvSpPr>
          <p:nvPr/>
        </p:nvSpPr>
        <p:spPr>
          <a:xfrm xmlns:a="http://schemas.openxmlformats.org/drawingml/2006/main" rot="2700000">
            <a:off x="923925" y="809625"/>
            <a:ext cx="171450" cy="171450"/>
          </a:xfrm>
          <a:prstGeom xmlns:a="http://schemas.openxmlformats.org/drawingml/2006/main" prst="rect">
            <a:avLst/>
          </a:prstGeom>
          <a:solidFill xmlns:a="http://schemas.openxmlformats.org/drawingml/2006/main">
            <a:srgbClr val="FFB6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E58A89A-1558-465A-9932-9EC34C4A48FA}"/>
              </a:ext>
            </a:extLst>
          </p:cNvPr>
          <p:cNvSpPr>
            <a:spLocks xmlns:a="http://schemas.openxmlformats.org/drawingml/2006/main" noGrp="1"/>
          </p:cNvSpPr>
          <p:nvPr/>
        </p:nvSpPr>
        <p:spPr>
          <a:xfrm xmlns:a="http://schemas.openxmlformats.org/drawingml/2006/main">
            <a:off x="1152525" y="6572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4F692F35-1188-4B1B-8825-E1C650A31E8C}"/>
              </a:ext>
            </a:extLst>
          </p:cNvPr>
          <p:cNvSpPr>
            <a:spLocks xmlns:a="http://schemas.openxmlformats.org/drawingml/2006/main" noGrp="1"/>
          </p:cNvSpPr>
          <p:nvPr/>
        </p:nvSpPr>
        <p:spPr>
          <a:xfrm xmlns:a="http://schemas.openxmlformats.org/drawingml/2006/main">
            <a:off x="781050" y="13906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STOCKLANA PROTOTYPE · SEPTEMBER 2026</a:t>
            </a:r>
          </a:p>
        </p:txBody>
      </p:sp>
      <p:sp>
        <p:nvSpPr>
          <p:cNvPr id="5" name="">
            <a:extLst xmlns:a="http://schemas.openxmlformats.org/drawingml/2006/main">
              <a:ext uri="{FF2B5EF4-FFF2-40B4-BE49-F238E27FC236}">
                <a16:creationId xmlns:a16="http://schemas.microsoft.com/office/drawing/2014/main" id="{5E8AC4BF-517B-4218-A91F-3E5E70DF3616}"/>
              </a:ext>
            </a:extLst>
          </p:cNvPr>
          <p:cNvSpPr>
            <a:spLocks xmlns:a="http://schemas.openxmlformats.org/drawingml/2006/main" noGrp="1"/>
          </p:cNvSpPr>
          <p:nvPr/>
        </p:nvSpPr>
        <p:spPr>
          <a:xfrm xmlns:a="http://schemas.openxmlformats.org/drawingml/2006/main">
            <a:off x="781050" y="2114550"/>
            <a:ext cx="9810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Helvetica Neue"/>
                <a:ea typeface="Helvetica Neue"/>
                <a:cs typeface="Helvetica Neue"/>
              </a:defRPr>
            </a:pPr>
            <a:r>
              <a:rPr b="1">
                <a:solidFill>
                  <a:srgbClr val="7292FF"/>
                </a:solidFill>
                <a:latin typeface="Helvetica Neue"/>
                <a:ea typeface="Helvetica Neue"/>
                <a:cs typeface="Helvetica Neue"/>
              </a:rPr>
              <a:t>Keep the stock exposure.</a:t>
            </a:r>
            <a:r>
              <a:rPr b="1">
                <a:solidFill>
                  <a:srgbClr val="FFB657"/>
                </a:solidFill>
                <a:latin typeface="Helvetica Neue"/>
                <a:ea typeface="Helvetica Neue"/>
                <a:cs typeface="Helvetica Neue"/>
              </a:rPr>
              <a:t>
Sell the dividend rights.</a:t>
            </a:r>
          </a:p>
        </p:txBody>
      </p:sp>
      <p:sp>
        <p:nvSpPr>
          <p:cNvPr id="6" name="">
            <a:extLst xmlns:a="http://schemas.openxmlformats.org/drawingml/2006/main">
              <a:ext uri="{FF2B5EF4-FFF2-40B4-BE49-F238E27FC236}">
                <a16:creationId xmlns:a16="http://schemas.microsoft.com/office/drawing/2014/main" id="{4254C9D4-32BF-4007-9B13-11D2CE9533C3}"/>
              </a:ext>
            </a:extLst>
          </p:cNvPr>
          <p:cNvSpPr>
            <a:spLocks xmlns:a="http://schemas.openxmlformats.org/drawingml/2006/main" noGrp="1"/>
          </p:cNvSpPr>
          <p:nvPr/>
        </p:nvSpPr>
        <p:spPr>
          <a:xfrm xmlns:a="http://schemas.openxmlformats.org/drawingml/2006/main">
            <a:off x="800100" y="4695825"/>
            <a:ext cx="685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0">
                <a:solidFill>
                  <a:srgbClr val="E6E8EA"/>
                </a:solidFill>
                <a:latin typeface="Helvetica Neue"/>
                <a:ea typeface="Helvetica Neue"/>
                <a:cs typeface="Helvetica Neue"/>
              </a:defRPr>
            </a:pPr>
            <a:r>
              <a:rPr sz="1875" b="0">
                <a:solidFill>
                  <a:srgbClr val="E6E8EA"/>
                </a:solidFill>
                <a:latin typeface="Helvetica Neue"/>
                <a:ea typeface="Helvetica Neue"/>
                <a:cs typeface="Helvetica Neue"/>
              </a:rPr>
              <a:t>A Solana vault for tokenized-stock dividends.</a:t>
            </a:r>
          </a:p>
        </p:txBody>
      </p:sp>
      <p:sp>
        <p:nvSpPr>
          <p:cNvPr id="7" name="">
            <a:extLst xmlns:a="http://schemas.openxmlformats.org/drawingml/2006/main">
              <a:ext uri="{FF2B5EF4-FFF2-40B4-BE49-F238E27FC236}">
                <a16:creationId xmlns:a16="http://schemas.microsoft.com/office/drawing/2014/main" id="{17A5C791-2DBC-4E23-A960-E40F193CA811}"/>
              </a:ext>
            </a:extLst>
          </p:cNvPr>
          <p:cNvSpPr>
            <a:spLocks xmlns:a="http://schemas.openxmlformats.org/drawingml/2006/main" noGrp="1"/>
          </p:cNvSpPr>
          <p:nvPr/>
        </p:nvSpPr>
        <p:spPr>
          <a:xfrm xmlns:a="http://schemas.openxmlformats.org/drawingml/2006/main">
            <a:off x="800100" y="5857875"/>
            <a:ext cx="10572750" cy="9525"/>
          </a:xfrm>
          <a:prstGeom xmlns:a="http://schemas.openxmlformats.org/drawingml/2006/main" prst="rect">
            <a:avLst/>
          </a:prstGeom>
          <a:solidFill xmlns:a="http://schemas.openxmlformats.org/drawingml/2006/main">
            <a:srgbClr val="303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4DADAD8-64A2-4041-A90F-9D0BE3805441}"/>
              </a:ext>
            </a:extLst>
          </p:cNvPr>
          <p:cNvSpPr>
            <a:spLocks xmlns:a="http://schemas.openxmlformats.org/drawingml/2006/main" noGrp="1"/>
          </p:cNvSpPr>
          <p:nvPr/>
        </p:nvSpPr>
        <p:spPr>
          <a:xfrm xmlns:a="http://schemas.openxmlformats.org/drawingml/2006/main">
            <a:off x="800100" y="60960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CONCEPT + WORKING HISTORICAL CALCULATOR</a:t>
            </a:r>
          </a:p>
        </p:txBody>
      </p:sp>
    </p:spTree>
    <p:extLst>
      <p:ext uri="{BB962C8B-B14F-4D97-AF65-F5344CB8AC3E}">
        <p14:creationId xmlns:p14="http://schemas.microsoft.com/office/powerpoint/2010/main" val="872311183"/>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976348C-88F2-4565-9F76-9766BB343FDA}"/>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E861378-9FD9-4E2C-8BFF-5B5F9BE85D5D}"/>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A86D89F-B9AE-42F4-A063-258146310565}"/>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0230D0C1-250E-40B7-A268-8A603B58E8E2}"/>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Two sides of one trade</a:t>
            </a:r>
          </a:p>
        </p:txBody>
      </p:sp>
      <p:sp>
        <p:nvSpPr>
          <p:cNvPr id="5" name="">
            <a:extLst xmlns:a="http://schemas.openxmlformats.org/drawingml/2006/main">
              <a:ext uri="{FF2B5EF4-FFF2-40B4-BE49-F238E27FC236}">
                <a16:creationId xmlns:a16="http://schemas.microsoft.com/office/drawing/2014/main" id="{E8637A0C-A8ED-42B3-8739-BAC9F7D27D5D}"/>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902A0D5F-9DC6-4665-81C8-57EF3DFCC881}"/>
              </a:ext>
            </a:extLst>
          </p:cNvPr>
          <p:cNvSpPr>
            <a:spLocks xmlns:a="http://schemas.openxmlformats.org/drawingml/2006/main" noGrp="1"/>
          </p:cNvSpPr>
          <p:nvPr/>
        </p:nvSpPr>
        <p:spPr>
          <a:xfrm xmlns:a="http://schemas.openxmlformats.org/drawingml/2006/main">
            <a:off x="819150" y="184785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HOLDER</a:t>
            </a:r>
          </a:p>
        </p:txBody>
      </p:sp>
      <p:sp>
        <p:nvSpPr>
          <p:cNvPr id="7" name="">
            <a:extLst xmlns:a="http://schemas.openxmlformats.org/drawingml/2006/main">
              <a:ext uri="{FF2B5EF4-FFF2-40B4-BE49-F238E27FC236}">
                <a16:creationId xmlns:a16="http://schemas.microsoft.com/office/drawing/2014/main" id="{25B755A6-D333-4D80-93AD-D9ADDBF4AF1B}"/>
              </a:ext>
            </a:extLst>
          </p:cNvPr>
          <p:cNvSpPr>
            <a:spLocks xmlns:a="http://schemas.openxmlformats.org/drawingml/2006/main" noGrp="1"/>
          </p:cNvSpPr>
          <p:nvPr/>
        </p:nvSpPr>
        <p:spPr>
          <a:xfrm xmlns:a="http://schemas.openxmlformats.org/drawingml/2006/main">
            <a:off x="819150" y="2209800"/>
            <a:ext cx="3905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 want cash today</a:t>
            </a:r>
            <a:r>
              <a:rPr>
                <a:solidFill>
                  <a:srgbClr val="53606B"/>
                </a:solidFill>
                <a:latin typeface="Helvetica Neue"/>
                <a:ea typeface="Helvetica Neue"/>
                <a:cs typeface="Helvetica Neue"/>
              </a:rPr>
              <a:t>
while keeping my stock exposure.”</a:t>
            </a:r>
          </a:p>
        </p:txBody>
      </p:sp>
      <p:sp>
        <p:nvSpPr>
          <p:cNvPr id="8" name="">
            <a:extLst xmlns:a="http://schemas.openxmlformats.org/drawingml/2006/main">
              <a:ext uri="{FF2B5EF4-FFF2-40B4-BE49-F238E27FC236}">
                <a16:creationId xmlns:a16="http://schemas.microsoft.com/office/drawing/2014/main" id="{CECEF637-C6A8-4B33-9593-EF4156288463}"/>
              </a:ext>
            </a:extLst>
          </p:cNvPr>
          <p:cNvSpPr>
            <a:spLocks xmlns:a="http://schemas.openxmlformats.org/drawingml/2006/main" noGrp="1"/>
          </p:cNvSpPr>
          <p:nvPr/>
        </p:nvSpPr>
        <p:spPr>
          <a:xfrm xmlns:a="http://schemas.openxmlformats.org/drawingml/2006/main">
            <a:off x="7839075" y="184785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BUYER</a:t>
            </a:r>
          </a:p>
        </p:txBody>
      </p:sp>
      <p:sp>
        <p:nvSpPr>
          <p:cNvPr id="9" name="">
            <a:extLst xmlns:a="http://schemas.openxmlformats.org/drawingml/2006/main">
              <a:ext uri="{FF2B5EF4-FFF2-40B4-BE49-F238E27FC236}">
                <a16:creationId xmlns:a16="http://schemas.microsoft.com/office/drawing/2014/main" id="{CB6DDFD3-175E-46EF-B3D1-E9BADD0B17E3}"/>
              </a:ext>
            </a:extLst>
          </p:cNvPr>
          <p:cNvSpPr>
            <a:spLocks xmlns:a="http://schemas.openxmlformats.org/drawingml/2006/main" noGrp="1"/>
          </p:cNvSpPr>
          <p:nvPr/>
        </p:nvSpPr>
        <p:spPr>
          <a:xfrm xmlns:a="http://schemas.openxmlformats.org/drawingml/2006/main">
            <a:off x="7839075" y="220980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 want the next dividend.”</a:t>
            </a:r>
          </a:p>
        </p:txBody>
      </p:sp>
      <p:sp>
        <p:nvSpPr>
          <p:cNvPr id="10" name="Holder">
            <a:extLst xmlns:a="http://schemas.openxmlformats.org/drawingml/2006/main">
              <a:ext uri="{FF2B5EF4-FFF2-40B4-BE49-F238E27FC236}">
                <a16:creationId xmlns:a16="http://schemas.microsoft.com/office/drawing/2014/main" id="{66F48730-7C4D-4D83-8FCF-32238CBB4B51}"/>
              </a:ext>
            </a:extLst>
          </p:cNvPr>
          <p:cNvSpPr>
            <a:spLocks xmlns:a="http://schemas.openxmlformats.org/drawingml/2006/main" noGrp="1"/>
          </p:cNvSpPr>
          <p:nvPr/>
        </p:nvSpPr>
        <p:spPr>
          <a:xfrm xmlns:a="http://schemas.openxmlformats.org/drawingml/2006/main">
            <a:off x="857250" y="3810000"/>
            <a:ext cx="1809750" cy="781050"/>
          </a:xfrm>
          <a:prstGeom xmlns:a="http://schemas.openxmlformats.org/drawingml/2006/main" prst="roundRect">
            <a:avLst>
              <a:gd name="adj" fmla="val 14634"/>
            </a:avLst>
          </a:prstGeom>
          <a:solidFill xmlns:a="http://schemas.openxmlformats.org/drawingml/2006/main">
            <a:srgbClr val="FFFEFB"/>
          </a:solidFill>
          <a:ln xmlns:a="http://schemas.openxmlformats.org/drawingml/2006/main" w="9525">
            <a:solidFill>
              <a:srgbClr val="101820"/>
            </a:solidFill>
            <a:prstDash val="solid"/>
          </a:ln>
        </p:spPr>
      </p:sp>
      <p:sp>
        <p:nvSpPr>
          <p:cNvPr id="11" name="">
            <a:extLst xmlns:a="http://schemas.openxmlformats.org/drawingml/2006/main">
              <a:ext uri="{FF2B5EF4-FFF2-40B4-BE49-F238E27FC236}">
                <a16:creationId xmlns:a16="http://schemas.microsoft.com/office/drawing/2014/main" id="{997896EC-57CE-4362-80FA-02C583C6BB33}"/>
              </a:ext>
            </a:extLst>
          </p:cNvPr>
          <p:cNvSpPr>
            <a:spLocks xmlns:a="http://schemas.openxmlformats.org/drawingml/2006/main" noGrp="1"/>
          </p:cNvSpPr>
          <p:nvPr/>
        </p:nvSpPr>
        <p:spPr>
          <a:xfrm xmlns:a="http://schemas.openxmlformats.org/drawingml/2006/main">
            <a:off x="1066800" y="4048125"/>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HOLDER</a:t>
            </a:r>
          </a:p>
        </p:txBody>
      </p:sp>
      <p:sp>
        <p:nvSpPr>
          <p:cNvPr id="12" name="Buyer">
            <a:extLst xmlns:a="http://schemas.openxmlformats.org/drawingml/2006/main">
              <a:ext uri="{FF2B5EF4-FFF2-40B4-BE49-F238E27FC236}">
                <a16:creationId xmlns:a16="http://schemas.microsoft.com/office/drawing/2014/main" id="{353CCFF9-5DC8-4BA9-9A84-EB7A6ABE145C}"/>
              </a:ext>
            </a:extLst>
          </p:cNvPr>
          <p:cNvSpPr>
            <a:spLocks xmlns:a="http://schemas.openxmlformats.org/drawingml/2006/main" noGrp="1"/>
          </p:cNvSpPr>
          <p:nvPr/>
        </p:nvSpPr>
        <p:spPr>
          <a:xfrm xmlns:a="http://schemas.openxmlformats.org/drawingml/2006/main">
            <a:off x="9525000" y="3810000"/>
            <a:ext cx="1809750" cy="781050"/>
          </a:xfrm>
          <a:prstGeom xmlns:a="http://schemas.openxmlformats.org/drawingml/2006/main" prst="roundRect">
            <a:avLst>
              <a:gd name="adj" fmla="val 14634"/>
            </a:avLst>
          </a:prstGeom>
          <a:solidFill xmlns:a="http://schemas.openxmlformats.org/drawingml/2006/main">
            <a:srgbClr val="FFFEFB"/>
          </a:solidFill>
          <a:ln xmlns:a="http://schemas.openxmlformats.org/drawingml/2006/main" w="9525">
            <a:solidFill>
              <a:srgbClr val="101820"/>
            </a:solidFill>
            <a:prstDash val="solid"/>
          </a:ln>
        </p:spPr>
      </p:sp>
      <p:sp>
        <p:nvSpPr>
          <p:cNvPr id="13" name="">
            <a:extLst xmlns:a="http://schemas.openxmlformats.org/drawingml/2006/main">
              <a:ext uri="{FF2B5EF4-FFF2-40B4-BE49-F238E27FC236}">
                <a16:creationId xmlns:a16="http://schemas.microsoft.com/office/drawing/2014/main" id="{46E863F5-21F2-4958-8130-A65DFA7A7931}"/>
              </a:ext>
            </a:extLst>
          </p:cNvPr>
          <p:cNvSpPr>
            <a:spLocks xmlns:a="http://schemas.openxmlformats.org/drawingml/2006/main" noGrp="1"/>
          </p:cNvSpPr>
          <p:nvPr/>
        </p:nvSpPr>
        <p:spPr>
          <a:xfrm xmlns:a="http://schemas.openxmlformats.org/drawingml/2006/main">
            <a:off x="9734550" y="4048125"/>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BUYER</a:t>
            </a:r>
          </a:p>
        </p:txBody>
      </p:sp>
      <p:sp>
        <p:nvSpPr>
          <p:cNvPr id="14" name="Dividend right label">
            <a:extLst xmlns:a="http://schemas.openxmlformats.org/drawingml/2006/main">
              <a:ext uri="{FF2B5EF4-FFF2-40B4-BE49-F238E27FC236}">
                <a16:creationId xmlns:a16="http://schemas.microsoft.com/office/drawing/2014/main" id="{49C9F21F-C861-472B-8220-A137B6798753}"/>
              </a:ext>
            </a:extLst>
          </p:cNvPr>
          <p:cNvSpPr>
            <a:spLocks xmlns:a="http://schemas.openxmlformats.org/drawingml/2006/main" noGrp="1"/>
          </p:cNvSpPr>
          <p:nvPr/>
        </p:nvSpPr>
        <p:spPr>
          <a:xfrm xmlns:a="http://schemas.openxmlformats.org/drawingml/2006/main">
            <a:off x="4667250" y="3257550"/>
            <a:ext cx="2857500" cy="514350"/>
          </a:xfrm>
          <a:prstGeom xmlns:a="http://schemas.openxmlformats.org/drawingml/2006/main" prst="roundRect">
            <a:avLst>
              <a:gd name="adj" fmla="val 22222"/>
            </a:avLst>
          </a:prstGeom>
          <a:solidFill xmlns:a="http://schemas.openxmlformats.org/drawingml/2006/main">
            <a:srgbClr val="F8E8D4"/>
          </a:solidFill>
          <a:ln xmlns:a="http://schemas.openxmlformats.org/drawingml/2006/main" w="9525">
            <a:solidFill>
              <a:srgbClr val="C46A00"/>
            </a:solidFill>
            <a:prstDash val="solid"/>
          </a:ln>
        </p:spPr>
      </p:sp>
      <p:sp>
        <p:nvSpPr>
          <p:cNvPr id="15" name="">
            <a:extLst xmlns:a="http://schemas.openxmlformats.org/drawingml/2006/main">
              <a:ext uri="{FF2B5EF4-FFF2-40B4-BE49-F238E27FC236}">
                <a16:creationId xmlns:a16="http://schemas.microsoft.com/office/drawing/2014/main" id="{78FAE05B-4528-4273-B9A6-8F7337DB9526}"/>
              </a:ext>
            </a:extLst>
          </p:cNvPr>
          <p:cNvSpPr>
            <a:spLocks xmlns:a="http://schemas.openxmlformats.org/drawingml/2006/main" noGrp="1"/>
          </p:cNvSpPr>
          <p:nvPr/>
        </p:nvSpPr>
        <p:spPr>
          <a:xfrm xmlns:a="http://schemas.openxmlformats.org/drawingml/2006/main">
            <a:off x="5010150" y="3400425"/>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7A4000"/>
                </a:solidFill>
                <a:latin typeface="Helvetica Neue"/>
                <a:ea typeface="Helvetica Neue"/>
                <a:cs typeface="Helvetica Neue"/>
              </a:defRPr>
            </a:pPr>
            <a:r>
              <a:rPr sz="1125" b="1">
                <a:solidFill>
                  <a:srgbClr val="7A4000"/>
                </a:solidFill>
                <a:latin typeface="Helvetica Neue"/>
                <a:ea typeface="Helvetica Neue"/>
                <a:cs typeface="Helvetica Neue"/>
              </a:rPr>
              <a:t>DIVIDEND RIGHT</a:t>
            </a:r>
          </a:p>
        </p:txBody>
      </p:sp>
      <p:sp>
        <p:nvSpPr>
          <p:cNvPr id="16" name="Payment label">
            <a:extLst xmlns:a="http://schemas.openxmlformats.org/drawingml/2006/main">
              <a:ext uri="{FF2B5EF4-FFF2-40B4-BE49-F238E27FC236}">
                <a16:creationId xmlns:a16="http://schemas.microsoft.com/office/drawing/2014/main" id="{A1FF73FA-5473-467E-AE37-C57D1C0A1E1F}"/>
              </a:ext>
            </a:extLst>
          </p:cNvPr>
          <p:cNvSpPr>
            <a:spLocks xmlns:a="http://schemas.openxmlformats.org/drawingml/2006/main" noGrp="1"/>
          </p:cNvSpPr>
          <p:nvPr/>
        </p:nvSpPr>
        <p:spPr>
          <a:xfrm xmlns:a="http://schemas.openxmlformats.org/drawingml/2006/main">
            <a:off x="4667250" y="4629150"/>
            <a:ext cx="2857500" cy="514350"/>
          </a:xfrm>
          <a:prstGeom xmlns:a="http://schemas.openxmlformats.org/drawingml/2006/main" prst="roundRect">
            <a:avLst>
              <a:gd name="adj" fmla="val 22222"/>
            </a:avLst>
          </a:prstGeom>
          <a:solidFill xmlns:a="http://schemas.openxmlformats.org/drawingml/2006/main">
            <a:srgbClr val="EAF0FF"/>
          </a:solidFill>
          <a:ln xmlns:a="http://schemas.openxmlformats.org/drawingml/2006/main" w="9525">
            <a:solidFill>
              <a:srgbClr val="2457F5"/>
            </a:solidFill>
            <a:prstDash val="solid"/>
          </a:ln>
        </p:spPr>
      </p:sp>
      <p:sp>
        <p:nvSpPr>
          <p:cNvPr id="17" name="">
            <a:extLst xmlns:a="http://schemas.openxmlformats.org/drawingml/2006/main">
              <a:ext uri="{FF2B5EF4-FFF2-40B4-BE49-F238E27FC236}">
                <a16:creationId xmlns:a16="http://schemas.microsoft.com/office/drawing/2014/main" id="{C02E7212-9F9C-48E4-BE49-50913119DC50}"/>
              </a:ext>
            </a:extLst>
          </p:cNvPr>
          <p:cNvSpPr>
            <a:spLocks xmlns:a="http://schemas.openxmlformats.org/drawingml/2006/main" noGrp="1"/>
          </p:cNvSpPr>
          <p:nvPr/>
        </p:nvSpPr>
        <p:spPr>
          <a:xfrm xmlns:a="http://schemas.openxmlformats.org/drawingml/2006/main">
            <a:off x="5010150" y="4772025"/>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PAYMENT</a:t>
            </a:r>
          </a:p>
        </p:txBody>
      </p:sp>
      <p:cxnSp>
        <p:nvCxnSpPr>
          <p:cNvPr id="42" name=""/>
          <p:cNvCxnSpPr>
            <a:stCxn xmlns:a="http://schemas.openxmlformats.org/drawingml/2006/main" id="10" idx="0"/>
            <a:endCxn xmlns:a="http://schemas.openxmlformats.org/drawingml/2006/main" id="14" idx="1"/>
          </p:cNvCxnSpPr>
          <p:nvPr/>
        </p:nvCxnSpPr>
        <p:spPr>
          <a:xfrm xmlns:a="http://schemas.openxmlformats.org/drawingml/2006/main" flipV="1">
            <a:off x="1762125" y="3514725"/>
            <a:ext cx="2905125" cy="295275"/>
          </a:xfrm>
          <a:prstGeom xmlns:a="http://schemas.openxmlformats.org/drawingml/2006/main" prst="bentConnector5">
            <a:avLst>
              <a:gd name="adj1" fmla="val 0"/>
              <a:gd name="adj2" fmla="val 77419"/>
              <a:gd name="adj3" fmla="val 92131"/>
            </a:avLst>
          </a:prstGeom>
          <a:ln xmlns:a="http://schemas.openxmlformats.org/drawingml/2006/main" w="19050">
            <a:solidFill>
              <a:srgbClr val="C46A00"/>
            </a:solidFill>
            <a:prstDash val="solid"/>
          </a:ln>
        </p:spPr>
      </p:cxnSp>
      <p:cxnSp>
        <p:nvCxnSpPr>
          <p:cNvPr id="43" name=""/>
          <p:cNvCxnSpPr>
            <a:stCxn xmlns:a="http://schemas.openxmlformats.org/drawingml/2006/main" id="14" idx="3"/>
            <a:endCxn xmlns:a="http://schemas.openxmlformats.org/drawingml/2006/main" id="12" idx="0"/>
          </p:cNvCxnSpPr>
          <p:nvPr/>
        </p:nvCxnSpPr>
        <p:spPr>
          <a:xfrm xmlns:a="http://schemas.openxmlformats.org/drawingml/2006/main">
            <a:off x="7524750" y="3514725"/>
            <a:ext cx="2905125" cy="295275"/>
          </a:xfrm>
          <a:prstGeom xmlns:a="http://schemas.openxmlformats.org/drawingml/2006/main" prst="bentConnector2">
            <a:avLst/>
          </a:prstGeom>
          <a:ln xmlns:a="http://schemas.openxmlformats.org/drawingml/2006/main" w="19050">
            <a:solidFill>
              <a:srgbClr val="C46A00"/>
            </a:solidFill>
            <a:prstDash val="solid"/>
            <a:tailEnd type="triangle" w="sm" len="sm"/>
          </a:ln>
        </p:spPr>
      </p:cxnSp>
      <p:cxnSp>
        <p:nvCxnSpPr>
          <p:cNvPr id="44" name=""/>
          <p:cNvCxnSpPr>
            <a:stCxn xmlns:a="http://schemas.openxmlformats.org/drawingml/2006/main" id="12" idx="2"/>
            <a:endCxn xmlns:a="http://schemas.openxmlformats.org/drawingml/2006/main" id="16" idx="3"/>
          </p:cNvCxnSpPr>
          <p:nvPr/>
        </p:nvCxnSpPr>
        <p:spPr>
          <a:xfrm xmlns:a="http://schemas.openxmlformats.org/drawingml/2006/main" flipH="1">
            <a:off x="7524750" y="4591050"/>
            <a:ext cx="2905125" cy="295275"/>
          </a:xfrm>
          <a:prstGeom xmlns:a="http://schemas.openxmlformats.org/drawingml/2006/main" prst="bentConnector5">
            <a:avLst>
              <a:gd name="adj1" fmla="val 0"/>
              <a:gd name="adj2" fmla="val 77419"/>
              <a:gd name="adj3" fmla="val 92131"/>
            </a:avLst>
          </a:prstGeom>
          <a:ln xmlns:a="http://schemas.openxmlformats.org/drawingml/2006/main" w="19050">
            <a:solidFill>
              <a:srgbClr val="2457F5"/>
            </a:solidFill>
            <a:prstDash val="solid"/>
          </a:ln>
        </p:spPr>
      </p:cxnSp>
      <p:cxnSp>
        <p:nvCxnSpPr>
          <p:cNvPr id="45" name=""/>
          <p:cNvCxnSpPr>
            <a:stCxn xmlns:a="http://schemas.openxmlformats.org/drawingml/2006/main" id="16" idx="1"/>
            <a:endCxn xmlns:a="http://schemas.openxmlformats.org/drawingml/2006/main" id="10" idx="2"/>
          </p:cNvCxnSpPr>
          <p:nvPr/>
        </p:nvCxnSpPr>
        <p:spPr>
          <a:xfrm xmlns:a="http://schemas.openxmlformats.org/drawingml/2006/main" flipH="1" flipV="1">
            <a:off x="1762125" y="4591050"/>
            <a:ext cx="2905125" cy="295275"/>
          </a:xfrm>
          <a:prstGeom xmlns:a="http://schemas.openxmlformats.org/drawingml/2006/main" prst="bentConnector2">
            <a:avLst/>
          </a:prstGeom>
          <a:ln xmlns:a="http://schemas.openxmlformats.org/drawingml/2006/main" w="19050">
            <a:solidFill>
              <a:srgbClr val="2457F5"/>
            </a:solidFill>
            <a:prstDash val="solid"/>
            <a:tailEnd type="triangle" w="sm" len="sm"/>
          </a:ln>
        </p:spPr>
      </p:cxnSp>
      <p:sp>
        <p:nvSpPr>
          <p:cNvPr id="22" name="Retained PT">
            <a:extLst xmlns:a="http://schemas.openxmlformats.org/drawingml/2006/main">
              <a:ext uri="{FF2B5EF4-FFF2-40B4-BE49-F238E27FC236}">
                <a16:creationId xmlns:a16="http://schemas.microsoft.com/office/drawing/2014/main" id="{1EB70784-5084-4DBC-9DEA-3228F2BF2CD8}"/>
              </a:ext>
            </a:extLst>
          </p:cNvPr>
          <p:cNvSpPr>
            <a:spLocks xmlns:a="http://schemas.openxmlformats.org/drawingml/2006/main" noGrp="1"/>
          </p:cNvSpPr>
          <p:nvPr/>
        </p:nvSpPr>
        <p:spPr>
          <a:xfrm xmlns:a="http://schemas.openxmlformats.org/drawingml/2006/main">
            <a:off x="857250" y="5029200"/>
            <a:ext cx="1809750" cy="438150"/>
          </a:xfrm>
          <a:prstGeom xmlns:a="http://schemas.openxmlformats.org/drawingml/2006/main" prst="roundRect">
            <a:avLst>
              <a:gd name="adj" fmla="val 17391"/>
            </a:avLst>
          </a:prstGeom>
          <a:solidFill xmlns:a="http://schemas.openxmlformats.org/drawingml/2006/main">
            <a:srgbClr val="EAF0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271839E-A59B-4F7F-8C9E-A489FD8643B1}"/>
              </a:ext>
            </a:extLst>
          </p:cNvPr>
          <p:cNvSpPr>
            <a:spLocks xmlns:a="http://schemas.openxmlformats.org/drawingml/2006/main" noGrp="1"/>
          </p:cNvSpPr>
          <p:nvPr/>
        </p:nvSpPr>
        <p:spPr>
          <a:xfrm xmlns:a="http://schemas.openxmlformats.org/drawingml/2006/main">
            <a:off x="1066800" y="5133975"/>
            <a:ext cx="1390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a:solidFill>
                  <a:srgbClr val="1639A6"/>
                </a:solidFill>
                <a:latin typeface="Helvetica Neue"/>
                <a:ea typeface="Helvetica Neue"/>
                <a:cs typeface="Helvetica Neue"/>
              </a:defRPr>
            </a:pPr>
            <a:r>
              <a:rPr sz="1200" b="1">
                <a:solidFill>
                  <a:srgbClr val="1639A6"/>
                </a:solidFill>
                <a:latin typeface="Helvetica Neue"/>
                <a:ea typeface="Helvetica Neue"/>
                <a:cs typeface="Helvetica Neue"/>
              </a:rPr>
              <a:t>PT retained</a:t>
            </a:r>
          </a:p>
        </p:txBody>
      </p:sp>
      <p:sp>
        <p:nvSpPr>
          <p:cNvPr id="24" name="">
            <a:extLst xmlns:a="http://schemas.openxmlformats.org/drawingml/2006/main">
              <a:ext uri="{FF2B5EF4-FFF2-40B4-BE49-F238E27FC236}">
                <a16:creationId xmlns:a16="http://schemas.microsoft.com/office/drawing/2014/main" id="{9CDA4F44-6970-4D83-A2AE-7BD17437FD39}"/>
              </a:ext>
            </a:extLst>
          </p:cNvPr>
          <p:cNvSpPr>
            <a:spLocks xmlns:a="http://schemas.openxmlformats.org/drawingml/2006/main" noGrp="1"/>
          </p:cNvSpPr>
          <p:nvPr/>
        </p:nvSpPr>
        <p:spPr>
          <a:xfrm xmlns:a="http://schemas.openxmlformats.org/drawingml/2006/main">
            <a:off x="2524125" y="5991225"/>
            <a:ext cx="714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The holder sells the dividend claim. The buyer pays its agreed price.</a:t>
            </a:r>
          </a:p>
        </p:txBody>
      </p:sp>
    </p:spTree>
    <p:extLst>
      <p:ext uri="{BB962C8B-B14F-4D97-AF65-F5344CB8AC3E}">
        <p14:creationId xmlns:p14="http://schemas.microsoft.com/office/powerpoint/2010/main" val="976141741"/>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A5C4B7F-B412-464E-9521-70E279380008}"/>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A006C3E-F852-4DD9-AEDA-4FBBAF629EA7}"/>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09EF721-5FC2-46A7-99BF-EF5F78D9F87E}"/>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9B08136D-2010-4142-A759-0F6C8270F3E3}"/>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deposit, two claims</a:t>
            </a:r>
          </a:p>
        </p:txBody>
      </p:sp>
      <p:sp>
        <p:nvSpPr>
          <p:cNvPr id="5" name="">
            <a:extLst xmlns:a="http://schemas.openxmlformats.org/drawingml/2006/main">
              <a:ext uri="{FF2B5EF4-FFF2-40B4-BE49-F238E27FC236}">
                <a16:creationId xmlns:a16="http://schemas.microsoft.com/office/drawing/2014/main" id="{01DEEF70-A5D2-4D3F-B908-17D86CA5D4B6}"/>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03</a:t>
            </a:r>
          </a:p>
        </p:txBody>
      </p:sp>
      <p:sp>
        <p:nvSpPr>
          <p:cNvPr id="6" name="xStock">
            <a:extLst xmlns:a="http://schemas.openxmlformats.org/drawingml/2006/main">
              <a:ext uri="{FF2B5EF4-FFF2-40B4-BE49-F238E27FC236}">
                <a16:creationId xmlns:a16="http://schemas.microsoft.com/office/drawing/2014/main" id="{DD79A1A1-AA77-49E2-A9D9-2E1C9F266215}"/>
              </a:ext>
            </a:extLst>
          </p:cNvPr>
          <p:cNvSpPr>
            <a:spLocks xmlns:a="http://schemas.openxmlformats.org/drawingml/2006/main" noGrp="1"/>
          </p:cNvSpPr>
          <p:nvPr/>
        </p:nvSpPr>
        <p:spPr>
          <a:xfrm xmlns:a="http://schemas.openxmlformats.org/drawingml/2006/main">
            <a:off x="742950" y="2705100"/>
            <a:ext cx="1619250" cy="952500"/>
          </a:xfrm>
          <a:prstGeom xmlns:a="http://schemas.openxmlformats.org/drawingml/2006/main" prst="roundRect">
            <a:avLst>
              <a:gd name="adj" fmla="val 14000"/>
            </a:avLst>
          </a:prstGeom>
          <a:solidFill xmlns:a="http://schemas.openxmlformats.org/drawingml/2006/main">
            <a:srgbClr val="101820"/>
          </a:solidFill>
          <a:ln xmlns:a="http://schemas.openxmlformats.org/drawingml/2006/main" w="9525">
            <a:solidFill>
              <a:srgbClr val="101820"/>
            </a:solidFill>
            <a:prstDash val="solid"/>
          </a:ln>
        </p:spPr>
      </p:sp>
      <p:sp>
        <p:nvSpPr>
          <p:cNvPr id="7" name="">
            <a:extLst xmlns:a="http://schemas.openxmlformats.org/drawingml/2006/main">
              <a:ext uri="{FF2B5EF4-FFF2-40B4-BE49-F238E27FC236}">
                <a16:creationId xmlns:a16="http://schemas.microsoft.com/office/drawing/2014/main" id="{2EACC6E6-0531-4537-A9F5-BEFFDF159199}"/>
              </a:ext>
            </a:extLst>
          </p:cNvPr>
          <p:cNvSpPr>
            <a:spLocks xmlns:a="http://schemas.openxmlformats.org/drawingml/2006/main" noGrp="1"/>
          </p:cNvSpPr>
          <p:nvPr/>
        </p:nvSpPr>
        <p:spPr>
          <a:xfrm xmlns:a="http://schemas.openxmlformats.org/drawingml/2006/main">
            <a:off x="981075" y="2914650"/>
            <a:ext cx="114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xStock</a:t>
            </a:r>
          </a:p>
        </p:txBody>
      </p:sp>
      <p:sp>
        <p:nvSpPr>
          <p:cNvPr id="8" name="Vault">
            <a:extLst xmlns:a="http://schemas.openxmlformats.org/drawingml/2006/main">
              <a:ext uri="{FF2B5EF4-FFF2-40B4-BE49-F238E27FC236}">
                <a16:creationId xmlns:a16="http://schemas.microsoft.com/office/drawing/2014/main" id="{414D21AB-FE04-4B6D-9898-35857E80F55D}"/>
              </a:ext>
            </a:extLst>
          </p:cNvPr>
          <p:cNvSpPr>
            <a:spLocks xmlns:a="http://schemas.openxmlformats.org/drawingml/2006/main" noGrp="1"/>
          </p:cNvSpPr>
          <p:nvPr/>
        </p:nvSpPr>
        <p:spPr>
          <a:xfrm xmlns:a="http://schemas.openxmlformats.org/drawingml/2006/main">
            <a:off x="3676650" y="2533650"/>
            <a:ext cx="2095500" cy="1295400"/>
          </a:xfrm>
          <a:prstGeom xmlns:a="http://schemas.openxmlformats.org/drawingml/2006/main" prst="roundRect">
            <a:avLst>
              <a:gd name="adj" fmla="val 11765"/>
            </a:avLst>
          </a:prstGeom>
          <a:solidFill xmlns:a="http://schemas.openxmlformats.org/drawingml/2006/main">
            <a:srgbClr val="FFFEFB"/>
          </a:solidFill>
          <a:ln xmlns:a="http://schemas.openxmlformats.org/drawingml/2006/main" w="9525">
            <a:solidFill>
              <a:srgbClr val="D7D2C8"/>
            </a:solidFill>
            <a:prstDash val="solid"/>
          </a:ln>
        </p:spPr>
      </p:sp>
      <p:sp>
        <p:nvSpPr>
          <p:cNvPr id="9" name="">
            <a:extLst xmlns:a="http://schemas.openxmlformats.org/drawingml/2006/main">
              <a:ext uri="{FF2B5EF4-FFF2-40B4-BE49-F238E27FC236}">
                <a16:creationId xmlns:a16="http://schemas.microsoft.com/office/drawing/2014/main" id="{5995656E-7FAB-4C28-AD0E-63C02ADC42D8}"/>
              </a:ext>
            </a:extLst>
          </p:cNvPr>
          <p:cNvSpPr>
            <a:spLocks xmlns:a="http://schemas.openxmlformats.org/drawingml/2006/main" noGrp="1"/>
          </p:cNvSpPr>
          <p:nvPr/>
        </p:nvSpPr>
        <p:spPr>
          <a:xfrm xmlns:a="http://schemas.openxmlformats.org/drawingml/2006/main">
            <a:off x="4038600" y="272415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LOCKED</a:t>
            </a:r>
          </a:p>
        </p:txBody>
      </p:sp>
      <p:sp>
        <p:nvSpPr>
          <p:cNvPr id="10" name="">
            <a:extLst xmlns:a="http://schemas.openxmlformats.org/drawingml/2006/main">
              <a:ext uri="{FF2B5EF4-FFF2-40B4-BE49-F238E27FC236}">
                <a16:creationId xmlns:a16="http://schemas.microsoft.com/office/drawing/2014/main" id="{A37E43B2-2E32-4D2A-9F17-D39037046D33}"/>
              </a:ext>
            </a:extLst>
          </p:cNvPr>
          <p:cNvSpPr>
            <a:spLocks xmlns:a="http://schemas.openxmlformats.org/drawingml/2006/main" noGrp="1"/>
          </p:cNvSpPr>
          <p:nvPr/>
        </p:nvSpPr>
        <p:spPr>
          <a:xfrm xmlns:a="http://schemas.openxmlformats.org/drawingml/2006/main">
            <a:off x="4038600" y="3038475"/>
            <a:ext cx="1352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VAULT</a:t>
            </a:r>
          </a:p>
        </p:txBody>
      </p:sp>
      <p:sp>
        <p:nvSpPr>
          <p:cNvPr id="11" name="Stock exposure PT">
            <a:extLst xmlns:a="http://schemas.openxmlformats.org/drawingml/2006/main">
              <a:ext uri="{FF2B5EF4-FFF2-40B4-BE49-F238E27FC236}">
                <a16:creationId xmlns:a16="http://schemas.microsoft.com/office/drawing/2014/main" id="{19C12854-A24D-49C6-96C9-3A946D3A4ED4}"/>
              </a:ext>
            </a:extLst>
          </p:cNvPr>
          <p:cNvSpPr>
            <a:spLocks xmlns:a="http://schemas.openxmlformats.org/drawingml/2006/main" noGrp="1"/>
          </p:cNvSpPr>
          <p:nvPr/>
        </p:nvSpPr>
        <p:spPr>
          <a:xfrm xmlns:a="http://schemas.openxmlformats.org/drawingml/2006/main">
            <a:off x="7477125" y="1714500"/>
            <a:ext cx="3714750" cy="1428750"/>
          </a:xfrm>
          <a:prstGeom xmlns:a="http://schemas.openxmlformats.org/drawingml/2006/main" prst="roundRect">
            <a:avLst>
              <a:gd name="adj" fmla="val 9333"/>
            </a:avLst>
          </a:prstGeom>
          <a:solidFill xmlns:a="http://schemas.openxmlformats.org/drawingml/2006/main">
            <a:srgbClr val="EAF0FF"/>
          </a:solidFill>
          <a:ln xmlns:a="http://schemas.openxmlformats.org/drawingml/2006/main" w="9525">
            <a:solidFill>
              <a:srgbClr val="2457F5"/>
            </a:solidFill>
            <a:prstDash val="solid"/>
          </a:ln>
        </p:spPr>
      </p:sp>
      <p:sp>
        <p:nvSpPr>
          <p:cNvPr id="12" name="">
            <a:extLst xmlns:a="http://schemas.openxmlformats.org/drawingml/2006/main">
              <a:ext uri="{FF2B5EF4-FFF2-40B4-BE49-F238E27FC236}">
                <a16:creationId xmlns:a16="http://schemas.microsoft.com/office/drawing/2014/main" id="{51ED9C77-DD03-4CC6-AEEE-1E3D6957D10E}"/>
              </a:ext>
            </a:extLst>
          </p:cNvPr>
          <p:cNvSpPr>
            <a:spLocks xmlns:a="http://schemas.openxmlformats.org/drawingml/2006/main" noGrp="1"/>
          </p:cNvSpPr>
          <p:nvPr/>
        </p:nvSpPr>
        <p:spPr>
          <a:xfrm xmlns:a="http://schemas.openxmlformats.org/drawingml/2006/main">
            <a:off x="7753350" y="192405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PT</a:t>
            </a:r>
          </a:p>
        </p:txBody>
      </p:sp>
      <p:sp>
        <p:nvSpPr>
          <p:cNvPr id="13" name="">
            <a:extLst xmlns:a="http://schemas.openxmlformats.org/drawingml/2006/main">
              <a:ext uri="{FF2B5EF4-FFF2-40B4-BE49-F238E27FC236}">
                <a16:creationId xmlns:a16="http://schemas.microsoft.com/office/drawing/2014/main" id="{5EB13B9D-41ED-4266-80DE-2DF6D3AE8515}"/>
              </a:ext>
            </a:extLst>
          </p:cNvPr>
          <p:cNvSpPr>
            <a:spLocks xmlns:a="http://schemas.openxmlformats.org/drawingml/2006/main" noGrp="1"/>
          </p:cNvSpPr>
          <p:nvPr/>
        </p:nvSpPr>
        <p:spPr>
          <a:xfrm xmlns:a="http://schemas.openxmlformats.org/drawingml/2006/main">
            <a:off x="7753350" y="222885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639A6"/>
                </a:solidFill>
                <a:latin typeface="Helvetica Neue"/>
                <a:ea typeface="Helvetica Neue"/>
                <a:cs typeface="Helvetica Neue"/>
              </a:defRPr>
            </a:pPr>
            <a:r>
              <a:rPr sz="2100" b="1">
                <a:solidFill>
                  <a:srgbClr val="1639A6"/>
                </a:solidFill>
                <a:latin typeface="Helvetica Neue"/>
                <a:ea typeface="Helvetica Neue"/>
                <a:cs typeface="Helvetica Neue"/>
              </a:rPr>
              <a:t>Stock exposure</a:t>
            </a:r>
          </a:p>
        </p:txBody>
      </p:sp>
      <p:sp>
        <p:nvSpPr>
          <p:cNvPr id="14" name="">
            <a:extLst xmlns:a="http://schemas.openxmlformats.org/drawingml/2006/main">
              <a:ext uri="{FF2B5EF4-FFF2-40B4-BE49-F238E27FC236}">
                <a16:creationId xmlns:a16="http://schemas.microsoft.com/office/drawing/2014/main" id="{35D65FDE-38CD-4897-B8A4-AD1CE25773AC}"/>
              </a:ext>
            </a:extLst>
          </p:cNvPr>
          <p:cNvSpPr>
            <a:spLocks xmlns:a="http://schemas.openxmlformats.org/drawingml/2006/main" noGrp="1"/>
          </p:cNvSpPr>
          <p:nvPr/>
        </p:nvSpPr>
        <p:spPr>
          <a:xfrm xmlns:a="http://schemas.openxmlformats.org/drawingml/2006/main">
            <a:off x="7753350" y="264795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Collateral remaining after this event’s dividend allocation.</a:t>
            </a:r>
          </a:p>
        </p:txBody>
      </p:sp>
      <p:sp>
        <p:nvSpPr>
          <p:cNvPr id="15" name="Dividend rights DR">
            <a:extLst xmlns:a="http://schemas.openxmlformats.org/drawingml/2006/main">
              <a:ext uri="{FF2B5EF4-FFF2-40B4-BE49-F238E27FC236}">
                <a16:creationId xmlns:a16="http://schemas.microsoft.com/office/drawing/2014/main" id="{9F716DCA-A997-4A56-94FB-12F7ECCA5159}"/>
              </a:ext>
            </a:extLst>
          </p:cNvPr>
          <p:cNvSpPr>
            <a:spLocks xmlns:a="http://schemas.openxmlformats.org/drawingml/2006/main" noGrp="1"/>
          </p:cNvSpPr>
          <p:nvPr/>
        </p:nvSpPr>
        <p:spPr>
          <a:xfrm xmlns:a="http://schemas.openxmlformats.org/drawingml/2006/main">
            <a:off x="7477125" y="3562350"/>
            <a:ext cx="3714750" cy="1428750"/>
          </a:xfrm>
          <a:prstGeom xmlns:a="http://schemas.openxmlformats.org/drawingml/2006/main" prst="roundRect">
            <a:avLst>
              <a:gd name="adj" fmla="val 9333"/>
            </a:avLst>
          </a:prstGeom>
          <a:solidFill xmlns:a="http://schemas.openxmlformats.org/drawingml/2006/main">
            <a:srgbClr val="F8E8D4"/>
          </a:solidFill>
          <a:ln xmlns:a="http://schemas.openxmlformats.org/drawingml/2006/main" w="9525">
            <a:solidFill>
              <a:srgbClr val="C46A00"/>
            </a:solidFill>
            <a:prstDash val="solid"/>
          </a:ln>
        </p:spPr>
      </p:sp>
      <p:sp>
        <p:nvSpPr>
          <p:cNvPr id="16" name="">
            <a:extLst xmlns:a="http://schemas.openxmlformats.org/drawingml/2006/main">
              <a:ext uri="{FF2B5EF4-FFF2-40B4-BE49-F238E27FC236}">
                <a16:creationId xmlns:a16="http://schemas.microsoft.com/office/drawing/2014/main" id="{DDBA8781-381E-49D9-83CB-716FC05357BA}"/>
              </a:ext>
            </a:extLst>
          </p:cNvPr>
          <p:cNvSpPr>
            <a:spLocks xmlns:a="http://schemas.openxmlformats.org/drawingml/2006/main" noGrp="1"/>
          </p:cNvSpPr>
          <p:nvPr/>
        </p:nvSpPr>
        <p:spPr>
          <a:xfrm xmlns:a="http://schemas.openxmlformats.org/drawingml/2006/main">
            <a:off x="7753350" y="377190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DR</a:t>
            </a:r>
          </a:p>
        </p:txBody>
      </p:sp>
      <p:sp>
        <p:nvSpPr>
          <p:cNvPr id="17" name="">
            <a:extLst xmlns:a="http://schemas.openxmlformats.org/drawingml/2006/main">
              <a:ext uri="{FF2B5EF4-FFF2-40B4-BE49-F238E27FC236}">
                <a16:creationId xmlns:a16="http://schemas.microsoft.com/office/drawing/2014/main" id="{CE1BC2A6-BD38-465B-93C1-992D2DF5D058}"/>
              </a:ext>
            </a:extLst>
          </p:cNvPr>
          <p:cNvSpPr>
            <a:spLocks xmlns:a="http://schemas.openxmlformats.org/drawingml/2006/main" noGrp="1"/>
          </p:cNvSpPr>
          <p:nvPr/>
        </p:nvSpPr>
        <p:spPr>
          <a:xfrm xmlns:a="http://schemas.openxmlformats.org/drawingml/2006/main">
            <a:off x="7753350" y="407670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7A4000"/>
                </a:solidFill>
                <a:latin typeface="Helvetica Neue"/>
                <a:ea typeface="Helvetica Neue"/>
                <a:cs typeface="Helvetica Neue"/>
              </a:defRPr>
            </a:pPr>
            <a:r>
              <a:rPr sz="2100" b="1">
                <a:solidFill>
                  <a:srgbClr val="7A4000"/>
                </a:solidFill>
                <a:latin typeface="Helvetica Neue"/>
                <a:ea typeface="Helvetica Neue"/>
                <a:cs typeface="Helvetica Neue"/>
              </a:rPr>
              <a:t>Dividend rights</a:t>
            </a:r>
          </a:p>
        </p:txBody>
      </p:sp>
      <p:sp>
        <p:nvSpPr>
          <p:cNvPr id="18" name="">
            <a:extLst xmlns:a="http://schemas.openxmlformats.org/drawingml/2006/main">
              <a:ext uri="{FF2B5EF4-FFF2-40B4-BE49-F238E27FC236}">
                <a16:creationId xmlns:a16="http://schemas.microsoft.com/office/drawing/2014/main" id="{B1D18E82-3E4E-4BAD-B5C7-0833D1E63792}"/>
              </a:ext>
            </a:extLst>
          </p:cNvPr>
          <p:cNvSpPr>
            <a:spLocks xmlns:a="http://schemas.openxmlformats.org/drawingml/2006/main" noGrp="1"/>
          </p:cNvSpPr>
          <p:nvPr/>
        </p:nvSpPr>
        <p:spPr>
          <a:xfrm xmlns:a="http://schemas.openxmlformats.org/drawingml/2006/main">
            <a:off x="7753350" y="44958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This event’s dividend-derived share of the collateral.</a:t>
            </a:r>
          </a:p>
        </p:txBody>
      </p:sp>
      <p:cxnSp>
        <p:nvCxnSpPr>
          <p:cNvPr id="43" name=""/>
          <p:cNvCxnSpPr>
            <a:stCxn xmlns:a="http://schemas.openxmlformats.org/drawingml/2006/main" id="6" idx="3"/>
            <a:endCxn xmlns:a="http://schemas.openxmlformats.org/drawingml/2006/main" id="8" idx="1"/>
          </p:cNvCxnSpPr>
          <p:nvPr/>
        </p:nvCxnSpPr>
        <p:spPr>
          <a:xfrm xmlns:a="http://schemas.openxmlformats.org/drawingml/2006/main">
            <a:off x="2362200" y="3181350"/>
            <a:ext cx="1314450" cy="0"/>
          </a:xfrm>
          <a:prstGeom xmlns:a="http://schemas.openxmlformats.org/drawingml/2006/main" prst="straightConnector1">
            <a:avLst/>
          </a:prstGeom>
          <a:ln xmlns:a="http://schemas.openxmlformats.org/drawingml/2006/main" w="19050">
            <a:solidFill>
              <a:srgbClr val="101820"/>
            </a:solidFill>
            <a:prstDash val="solid"/>
            <a:tailEnd type="triangle" w="sm" len="sm"/>
          </a:ln>
        </p:spPr>
      </p:cxnSp>
      <p:cxnSp>
        <p:nvCxnSpPr>
          <p:cNvPr id="44" name=""/>
          <p:cNvCxnSpPr>
            <a:stCxn xmlns:a="http://schemas.openxmlformats.org/drawingml/2006/main" id="8" idx="3"/>
            <a:endCxn xmlns:a="http://schemas.openxmlformats.org/drawingml/2006/main" id="11" idx="1"/>
          </p:cNvCxnSpPr>
          <p:nvPr/>
        </p:nvCxnSpPr>
        <p:spPr>
          <a:xfrm xmlns:a="http://schemas.openxmlformats.org/drawingml/2006/main" flipV="1">
            <a:off x="5772150" y="2428875"/>
            <a:ext cx="1704975" cy="752475"/>
          </a:xfrm>
          <a:prstGeom xmlns:a="http://schemas.openxmlformats.org/drawingml/2006/main" prst="straightConnector1">
            <a:avLst/>
          </a:prstGeom>
          <a:ln xmlns:a="http://schemas.openxmlformats.org/drawingml/2006/main" w="19050">
            <a:solidFill>
              <a:srgbClr val="2457F5"/>
            </a:solidFill>
            <a:prstDash val="solid"/>
            <a:tailEnd type="triangle" w="sm" len="sm"/>
          </a:ln>
        </p:spPr>
      </p:cxnSp>
      <p:cxnSp>
        <p:nvCxnSpPr>
          <p:cNvPr id="45" name=""/>
          <p:cNvCxnSpPr>
            <a:stCxn xmlns:a="http://schemas.openxmlformats.org/drawingml/2006/main" id="8" idx="3"/>
            <a:endCxn xmlns:a="http://schemas.openxmlformats.org/drawingml/2006/main" id="15" idx="1"/>
          </p:cNvCxnSpPr>
          <p:nvPr/>
        </p:nvCxnSpPr>
        <p:spPr>
          <a:xfrm xmlns:a="http://schemas.openxmlformats.org/drawingml/2006/main">
            <a:off x="5772150" y="3181350"/>
            <a:ext cx="1704975" cy="1095375"/>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22" name="">
            <a:extLst xmlns:a="http://schemas.openxmlformats.org/drawingml/2006/main">
              <a:ext uri="{FF2B5EF4-FFF2-40B4-BE49-F238E27FC236}">
                <a16:creationId xmlns:a16="http://schemas.microsoft.com/office/drawing/2014/main" id="{43757A95-5BC7-419B-A77E-4644DE527F83}"/>
              </a:ext>
            </a:extLst>
          </p:cNvPr>
          <p:cNvSpPr>
            <a:spLocks xmlns:a="http://schemas.openxmlformats.org/drawingml/2006/main" noGrp="1"/>
          </p:cNvSpPr>
          <p:nvPr/>
        </p:nvSpPr>
        <p:spPr>
          <a:xfrm xmlns:a="http://schemas.openxmlformats.org/drawingml/2006/main">
            <a:off x="742950" y="5505450"/>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Both claims are backed by the same locked xStock balance.</a:t>
            </a:r>
          </a:p>
        </p:txBody>
      </p:sp>
      <p:sp>
        <p:nvSpPr>
          <p:cNvPr id="23" name="">
            <a:extLst xmlns:a="http://schemas.openxmlformats.org/drawingml/2006/main">
              <a:ext uri="{FF2B5EF4-FFF2-40B4-BE49-F238E27FC236}">
                <a16:creationId xmlns:a16="http://schemas.microsoft.com/office/drawing/2014/main" id="{6C63FADE-124C-4399-8D25-F64C50B58767}"/>
              </a:ext>
            </a:extLst>
          </p:cNvPr>
          <p:cNvSpPr>
            <a:spLocks xmlns:a="http://schemas.openxmlformats.org/drawingml/2006/main" noGrp="1"/>
          </p:cNvSpPr>
          <p:nvPr/>
        </p:nvSpPr>
        <p:spPr>
          <a:xfrm xmlns:a="http://schemas.openxmlformats.org/drawingml/2006/main">
            <a:off x="742950" y="5962650"/>
            <a:ext cx="733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Redeems in xStock units; dollar value can change.</a:t>
            </a:r>
          </a:p>
        </p:txBody>
      </p:sp>
      <p:sp>
        <p:nvSpPr>
          <p:cNvPr id="24" name="">
            <a:extLst xmlns:a="http://schemas.openxmlformats.org/drawingml/2006/main">
              <a:ext uri="{FF2B5EF4-FFF2-40B4-BE49-F238E27FC236}">
                <a16:creationId xmlns:a16="http://schemas.microsoft.com/office/drawing/2014/main" id="{F1B180CE-AE7E-496E-A99F-4BB33E5C20F8}"/>
              </a:ext>
            </a:extLst>
          </p:cNvPr>
          <p:cNvSpPr>
            <a:spLocks xmlns:a="http://schemas.openxmlformats.org/drawingml/2006/main" noGrp="1"/>
          </p:cNvSpPr>
          <p:nvPr/>
        </p:nvSpPr>
        <p:spPr>
          <a:xfrm xmlns:a="http://schemas.openxmlformats.org/drawingml/2006/main">
            <a:off x="8801100" y="604837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SCHEMATIC, NOT A 50/50 ALLOCATION</a:t>
            </a:r>
          </a:p>
        </p:txBody>
      </p:sp>
    </p:spTree>
    <p:extLst>
      <p:ext uri="{BB962C8B-B14F-4D97-AF65-F5344CB8AC3E}">
        <p14:creationId xmlns:p14="http://schemas.microsoft.com/office/powerpoint/2010/main" val="64974868"/>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248F243-ABC2-4894-AE26-7A9957548876}"/>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C1E71BB-5D6D-432C-95A5-A5946E610FC9}"/>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D89ED90-32F4-4247-9BA5-B3D4BCDB73DE}"/>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26E8A867-E7C3-409E-9698-F8B30C0BA7DD}"/>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Established markets, familiar behavior</a:t>
            </a:r>
          </a:p>
        </p:txBody>
      </p:sp>
      <p:sp>
        <p:nvSpPr>
          <p:cNvPr id="5" name="">
            <a:extLst xmlns:a="http://schemas.openxmlformats.org/drawingml/2006/main">
              <a:ext uri="{FF2B5EF4-FFF2-40B4-BE49-F238E27FC236}">
                <a16:creationId xmlns:a16="http://schemas.microsoft.com/office/drawing/2014/main" id="{CBF1038C-7686-4DC2-9D35-4AE53840DE8F}"/>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53BDA1B2-37BE-4F53-9EEA-F7BD2A0A4611}"/>
              </a:ext>
            </a:extLst>
          </p:cNvPr>
          <p:cNvSpPr>
            <a:spLocks xmlns:a="http://schemas.openxmlformats.org/drawingml/2006/main" noGrp="1"/>
          </p:cNvSpPr>
          <p:nvPr/>
        </p:nvSpPr>
        <p:spPr>
          <a:xfrm xmlns:a="http://schemas.openxmlformats.org/drawingml/2006/main">
            <a:off x="7620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LISTED DIVIDEND DERIVATIVES</a:t>
            </a:r>
          </a:p>
        </p:txBody>
      </p:sp>
      <p:sp>
        <p:nvSpPr>
          <p:cNvPr id="7" name="">
            <a:extLst xmlns:a="http://schemas.openxmlformats.org/drawingml/2006/main">
              <a:ext uri="{FF2B5EF4-FFF2-40B4-BE49-F238E27FC236}">
                <a16:creationId xmlns:a16="http://schemas.microsoft.com/office/drawing/2014/main" id="{CDE9BB41-F892-4F19-BBDA-C7CB276FF2B5}"/>
              </a:ext>
            </a:extLst>
          </p:cNvPr>
          <p:cNvSpPr>
            <a:spLocks xmlns:a="http://schemas.openxmlformats.org/drawingml/2006/main" noGrp="1"/>
          </p:cNvSpPr>
          <p:nvPr/>
        </p:nvSpPr>
        <p:spPr>
          <a:xfrm xmlns:a="http://schemas.openxmlformats.org/drawingml/2006/main">
            <a:off x="762000" y="22479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101820"/>
                </a:solidFill>
                <a:latin typeface="Helvetica Neue"/>
                <a:ea typeface="Helvetica Neue"/>
                <a:cs typeface="Helvetica Neue"/>
              </a:defRPr>
            </a:pPr>
            <a:r>
              <a:rPr sz="5700" b="1">
                <a:solidFill>
                  <a:srgbClr val="101820"/>
                </a:solidFill>
                <a:latin typeface="Helvetica Neue"/>
                <a:ea typeface="Helvetica Neue"/>
                <a:cs typeface="Helvetica Neue"/>
              </a:rPr>
              <a:t>21M+</a:t>
            </a:r>
          </a:p>
        </p:txBody>
      </p:sp>
      <p:sp>
        <p:nvSpPr>
          <p:cNvPr id="8" name="">
            <a:extLst xmlns:a="http://schemas.openxmlformats.org/drawingml/2006/main">
              <a:ext uri="{FF2B5EF4-FFF2-40B4-BE49-F238E27FC236}">
                <a16:creationId xmlns:a16="http://schemas.microsoft.com/office/drawing/2014/main" id="{42B4606A-6FD6-4617-87CA-83D894E92E6A}"/>
              </a:ext>
            </a:extLst>
          </p:cNvPr>
          <p:cNvSpPr>
            <a:spLocks xmlns:a="http://schemas.openxmlformats.org/drawingml/2006/main" noGrp="1"/>
          </p:cNvSpPr>
          <p:nvPr/>
        </p:nvSpPr>
        <p:spPr>
          <a:xfrm xmlns:a="http://schemas.openxmlformats.org/drawingml/2006/main">
            <a:off x="781050" y="323850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dividend contracts traded on Eurex in 2024</a:t>
            </a:r>
          </a:p>
        </p:txBody>
      </p:sp>
      <p:sp>
        <p:nvSpPr>
          <p:cNvPr id="9" name="">
            <a:extLst xmlns:a="http://schemas.openxmlformats.org/drawingml/2006/main">
              <a:ext uri="{FF2B5EF4-FFF2-40B4-BE49-F238E27FC236}">
                <a16:creationId xmlns:a16="http://schemas.microsoft.com/office/drawing/2014/main" id="{C5A8A975-544C-4CB6-8B7C-CDB40CF7CE76}"/>
              </a:ext>
            </a:extLst>
          </p:cNvPr>
          <p:cNvSpPr>
            <a:spLocks xmlns:a="http://schemas.openxmlformats.org/drawingml/2006/main" noGrp="1"/>
          </p:cNvSpPr>
          <p:nvPr/>
        </p:nvSpPr>
        <p:spPr>
          <a:xfrm xmlns:a="http://schemas.openxmlformats.org/drawingml/2006/main">
            <a:off x="60960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6B1B3E3-3F3B-4E4E-966E-B7D97AA1E34E}"/>
              </a:ext>
            </a:extLst>
          </p:cNvPr>
          <p:cNvSpPr>
            <a:spLocks xmlns:a="http://schemas.openxmlformats.org/drawingml/2006/main" noGrp="1"/>
          </p:cNvSpPr>
          <p:nvPr/>
        </p:nvSpPr>
        <p:spPr>
          <a:xfrm xmlns:a="http://schemas.openxmlformats.org/drawingml/2006/main">
            <a:off x="66675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ONCHAIN YIELD SEPARATION</a:t>
            </a:r>
          </a:p>
        </p:txBody>
      </p:sp>
      <p:sp>
        <p:nvSpPr>
          <p:cNvPr id="11" name="">
            <a:extLst xmlns:a="http://schemas.openxmlformats.org/drawingml/2006/main">
              <a:ext uri="{FF2B5EF4-FFF2-40B4-BE49-F238E27FC236}">
                <a16:creationId xmlns:a16="http://schemas.microsoft.com/office/drawing/2014/main" id="{07932081-7B4D-4904-B775-D3DDC9B954D9}"/>
              </a:ext>
            </a:extLst>
          </p:cNvPr>
          <p:cNvSpPr>
            <a:spLocks xmlns:a="http://schemas.openxmlformats.org/drawingml/2006/main" noGrp="1"/>
          </p:cNvSpPr>
          <p:nvPr/>
        </p:nvSpPr>
        <p:spPr>
          <a:xfrm xmlns:a="http://schemas.openxmlformats.org/drawingml/2006/main">
            <a:off x="6667500" y="2247900"/>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2457F5"/>
                </a:solidFill>
                <a:latin typeface="Helvetica Neue"/>
                <a:ea typeface="Helvetica Neue"/>
                <a:cs typeface="Helvetica Neue"/>
              </a:defRPr>
            </a:pPr>
            <a:r>
              <a:rPr sz="5700" b="1">
                <a:solidFill>
                  <a:srgbClr val="2457F5"/>
                </a:solidFill>
                <a:latin typeface="Helvetica Neue"/>
                <a:ea typeface="Helvetica Neue"/>
                <a:cs typeface="Helvetica Neue"/>
              </a:rPr>
              <a:t>$96.4M</a:t>
            </a:r>
          </a:p>
        </p:txBody>
      </p:sp>
      <p:sp>
        <p:nvSpPr>
          <p:cNvPr id="12" name="">
            <a:extLst xmlns:a="http://schemas.openxmlformats.org/drawingml/2006/main">
              <a:ext uri="{FF2B5EF4-FFF2-40B4-BE49-F238E27FC236}">
                <a16:creationId xmlns:a16="http://schemas.microsoft.com/office/drawing/2014/main" id="{86E9A796-65DF-4AF5-AD2F-3449F8B63015}"/>
              </a:ext>
            </a:extLst>
          </p:cNvPr>
          <p:cNvSpPr>
            <a:spLocks xmlns:a="http://schemas.openxmlformats.org/drawingml/2006/main" noGrp="1"/>
          </p:cNvSpPr>
          <p:nvPr/>
        </p:nvSpPr>
        <p:spPr>
          <a:xfrm xmlns:a="http://schemas.openxmlformats.org/drawingml/2006/main">
            <a:off x="6686550" y="323850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average daily trading volume in 2024, reported by Pendle</a:t>
            </a:r>
          </a:p>
        </p:txBody>
      </p:sp>
      <p:sp>
        <p:nvSpPr>
          <p:cNvPr id="13" name="">
            <a:extLst xmlns:a="http://schemas.openxmlformats.org/drawingml/2006/main">
              <a:ext uri="{FF2B5EF4-FFF2-40B4-BE49-F238E27FC236}">
                <a16:creationId xmlns:a16="http://schemas.microsoft.com/office/drawing/2014/main" id="{D3E2CAC9-4FEA-4B20-8BA3-82D3E560982D}"/>
              </a:ext>
            </a:extLst>
          </p:cNvPr>
          <p:cNvSpPr>
            <a:spLocks xmlns:a="http://schemas.openxmlformats.org/drawingml/2006/main" noGrp="1"/>
          </p:cNvSpPr>
          <p:nvPr/>
        </p:nvSpPr>
        <p:spPr>
          <a:xfrm xmlns:a="http://schemas.openxmlformats.org/drawingml/2006/main">
            <a:off x="762000" y="476250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Investors already trade dividends separately.</a:t>
            </a:r>
            <a:r>
              <a:rPr b="1">
                <a:solidFill>
                  <a:srgbClr val="101820"/>
                </a:solidFill>
                <a:latin typeface="Helvetica Neue"/>
                <a:ea typeface="Helvetica Neue"/>
                <a:cs typeface="Helvetica Neue"/>
              </a:rPr>
              <a:t>
Crypto users already separate yield.</a:t>
            </a:r>
          </a:p>
        </p:txBody>
      </p:sp>
      <p:sp>
        <p:nvSpPr>
          <p:cNvPr id="14" name="">
            <a:extLst xmlns:a="http://schemas.openxmlformats.org/drawingml/2006/main">
              <a:ext uri="{FF2B5EF4-FFF2-40B4-BE49-F238E27FC236}">
                <a16:creationId xmlns:a16="http://schemas.microsoft.com/office/drawing/2014/main" id="{823781AD-9B00-47DB-B1D5-6CBC8F07414A}"/>
              </a:ext>
            </a:extLst>
          </p:cNvPr>
          <p:cNvSpPr>
            <a:spLocks xmlns:a="http://schemas.openxmlformats.org/drawingml/2006/main" noGrp="1"/>
          </p:cNvSpPr>
          <p:nvPr/>
        </p:nvSpPr>
        <p:spPr>
          <a:xfrm xmlns:a="http://schemas.openxmlformats.org/drawingml/2006/main">
            <a:off x="762000" y="59626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Different units and markets. These figures show precedents, not demand for DivX.</a:t>
            </a:r>
          </a:p>
        </p:txBody>
      </p:sp>
    </p:spTree>
    <p:extLst>
      <p:ext uri="{BB962C8B-B14F-4D97-AF65-F5344CB8AC3E}">
        <p14:creationId xmlns:p14="http://schemas.microsoft.com/office/powerpoint/2010/main" val="1506875327"/>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D0EA6EE-8F8A-44D6-91A3-310EA4839101}"/>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710FE3B-EE40-46FA-A92C-FE9DAA7AC0B7}"/>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9D12AAC-45AF-45AC-BB5D-9CA7CB9D17BE}"/>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8D9EE365-967E-4E08-B6D5-9A1DAC05BB9F}"/>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Tokenized stocks bring the collateral onchain</a:t>
            </a:r>
          </a:p>
        </p:txBody>
      </p:sp>
      <p:sp>
        <p:nvSpPr>
          <p:cNvPr id="5" name="">
            <a:extLst xmlns:a="http://schemas.openxmlformats.org/drawingml/2006/main">
              <a:ext uri="{FF2B5EF4-FFF2-40B4-BE49-F238E27FC236}">
                <a16:creationId xmlns:a16="http://schemas.microsoft.com/office/drawing/2014/main" id="{6AB58157-E550-4AFB-9297-F933B4ACEDA7}"/>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848781F2-0E33-41B7-90A2-9E5C38DC317B}"/>
              </a:ext>
            </a:extLst>
          </p:cNvPr>
          <p:cNvSpPr>
            <a:spLocks xmlns:a="http://schemas.openxmlformats.org/drawingml/2006/main" noGrp="1"/>
          </p:cNvSpPr>
          <p:nvPr/>
        </p:nvSpPr>
        <p:spPr>
          <a:xfrm xmlns:a="http://schemas.openxmlformats.org/drawingml/2006/main">
            <a:off x="762000" y="198120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ANNUAL GLOBAL DIVIDENDS</a:t>
            </a:r>
          </a:p>
        </p:txBody>
      </p:sp>
      <p:sp>
        <p:nvSpPr>
          <p:cNvPr id="7" name="">
            <a:extLst xmlns:a="http://schemas.openxmlformats.org/drawingml/2006/main">
              <a:ext uri="{FF2B5EF4-FFF2-40B4-BE49-F238E27FC236}">
                <a16:creationId xmlns:a16="http://schemas.microsoft.com/office/drawing/2014/main" id="{54657665-C08A-4E3D-B9D4-26799E02E4B1}"/>
              </a:ext>
            </a:extLst>
          </p:cNvPr>
          <p:cNvSpPr>
            <a:spLocks xmlns:a="http://schemas.openxmlformats.org/drawingml/2006/main" noGrp="1"/>
          </p:cNvSpPr>
          <p:nvPr/>
        </p:nvSpPr>
        <p:spPr>
          <a:xfrm xmlns:a="http://schemas.openxmlformats.org/drawingml/2006/main">
            <a:off x="762000" y="2333625"/>
            <a:ext cx="438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C46A00"/>
                </a:solidFill>
                <a:latin typeface="Helvetica Neue"/>
                <a:ea typeface="Helvetica Neue"/>
                <a:cs typeface="Helvetica Neue"/>
              </a:defRPr>
            </a:pPr>
            <a:r>
              <a:rPr sz="5400" b="1">
                <a:solidFill>
                  <a:srgbClr val="C46A00"/>
                </a:solidFill>
                <a:latin typeface="Helvetica Neue"/>
                <a:ea typeface="Helvetica Neue"/>
                <a:cs typeface="Helvetica Neue"/>
              </a:rPr>
              <a:t>$1.75T</a:t>
            </a:r>
          </a:p>
        </p:txBody>
      </p:sp>
      <p:sp>
        <p:nvSpPr>
          <p:cNvPr id="8" name="">
            <a:extLst xmlns:a="http://schemas.openxmlformats.org/drawingml/2006/main">
              <a:ext uri="{FF2B5EF4-FFF2-40B4-BE49-F238E27FC236}">
                <a16:creationId xmlns:a16="http://schemas.microsoft.com/office/drawing/2014/main" id="{44B82059-B30A-4A80-9836-B9E3F25412C3}"/>
              </a:ext>
            </a:extLst>
          </p:cNvPr>
          <p:cNvSpPr>
            <a:spLocks xmlns:a="http://schemas.openxmlformats.org/drawingml/2006/main" noGrp="1"/>
          </p:cNvSpPr>
          <p:nvPr/>
        </p:nvSpPr>
        <p:spPr>
          <a:xfrm xmlns:a="http://schemas.openxmlformats.org/drawingml/2006/main">
            <a:off x="781050" y="3286125"/>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paid in 2024</a:t>
            </a:r>
          </a:p>
        </p:txBody>
      </p:sp>
      <p:sp>
        <p:nvSpPr>
          <p:cNvPr id="9" name="">
            <a:extLst xmlns:a="http://schemas.openxmlformats.org/drawingml/2006/main">
              <a:ext uri="{FF2B5EF4-FFF2-40B4-BE49-F238E27FC236}">
                <a16:creationId xmlns:a16="http://schemas.microsoft.com/office/drawing/2014/main" id="{E4DE0266-EEDB-4FB1-9A0E-E6A6875F54CB}"/>
              </a:ext>
            </a:extLst>
          </p:cNvPr>
          <p:cNvSpPr>
            <a:spLocks xmlns:a="http://schemas.openxmlformats.org/drawingml/2006/main" noGrp="1"/>
          </p:cNvSpPr>
          <p:nvPr/>
        </p:nvSpPr>
        <p:spPr>
          <a:xfrm xmlns:a="http://schemas.openxmlformats.org/drawingml/2006/main">
            <a:off x="59436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899EF04-79CE-428D-813C-5AB5F7819458}"/>
              </a:ext>
            </a:extLst>
          </p:cNvPr>
          <p:cNvSpPr>
            <a:spLocks xmlns:a="http://schemas.openxmlformats.org/drawingml/2006/main" noGrp="1"/>
          </p:cNvSpPr>
          <p:nvPr/>
        </p:nvSpPr>
        <p:spPr>
          <a:xfrm xmlns:a="http://schemas.openxmlformats.org/drawingml/2006/main">
            <a:off x="6572250" y="19812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DISTRIBUTED TOKENIZED-STOCK VALUE</a:t>
            </a:r>
          </a:p>
        </p:txBody>
      </p:sp>
      <p:sp>
        <p:nvSpPr>
          <p:cNvPr id="11" name="">
            <a:extLst xmlns:a="http://schemas.openxmlformats.org/drawingml/2006/main">
              <a:ext uri="{FF2B5EF4-FFF2-40B4-BE49-F238E27FC236}">
                <a16:creationId xmlns:a16="http://schemas.microsoft.com/office/drawing/2014/main" id="{8B5BCE87-0C97-476B-8575-356B76F32719}"/>
              </a:ext>
            </a:extLst>
          </p:cNvPr>
          <p:cNvSpPr>
            <a:spLocks xmlns:a="http://schemas.openxmlformats.org/drawingml/2006/main" noGrp="1"/>
          </p:cNvSpPr>
          <p:nvPr/>
        </p:nvSpPr>
        <p:spPr>
          <a:xfrm xmlns:a="http://schemas.openxmlformats.org/drawingml/2006/main">
            <a:off x="6572250" y="2333625"/>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2457F5"/>
                </a:solidFill>
                <a:latin typeface="Helvetica Neue"/>
                <a:ea typeface="Helvetica Neue"/>
                <a:cs typeface="Helvetica Neue"/>
              </a:defRPr>
            </a:pPr>
            <a:r>
              <a:rPr sz="5400" b="1">
                <a:solidFill>
                  <a:srgbClr val="2457F5"/>
                </a:solidFill>
                <a:latin typeface="Helvetica Neue"/>
                <a:ea typeface="Helvetica Neue"/>
                <a:cs typeface="Helvetica Neue"/>
              </a:rPr>
              <a:t>$2.92B</a:t>
            </a:r>
          </a:p>
        </p:txBody>
      </p:sp>
      <p:sp>
        <p:nvSpPr>
          <p:cNvPr id="12" name="">
            <a:extLst xmlns:a="http://schemas.openxmlformats.org/drawingml/2006/main">
              <a:ext uri="{FF2B5EF4-FFF2-40B4-BE49-F238E27FC236}">
                <a16:creationId xmlns:a16="http://schemas.microsoft.com/office/drawing/2014/main" id="{F5A663E9-1386-486A-B219-547EF5B6B1A1}"/>
              </a:ext>
            </a:extLst>
          </p:cNvPr>
          <p:cNvSpPr>
            <a:spLocks xmlns:a="http://schemas.openxmlformats.org/drawingml/2006/main" noGrp="1"/>
          </p:cNvSpPr>
          <p:nvPr/>
        </p:nvSpPr>
        <p:spPr>
          <a:xfrm xmlns:a="http://schemas.openxmlformats.org/drawingml/2006/main">
            <a:off x="6591300" y="32861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observed 16 September 2026</a:t>
            </a:r>
          </a:p>
        </p:txBody>
      </p:sp>
      <p:sp>
        <p:nvSpPr>
          <p:cNvPr id="13" name="">
            <a:extLst xmlns:a="http://schemas.openxmlformats.org/drawingml/2006/main">
              <a:ext uri="{FF2B5EF4-FFF2-40B4-BE49-F238E27FC236}">
                <a16:creationId xmlns:a16="http://schemas.microsoft.com/office/drawing/2014/main" id="{781AE176-1F75-4F98-847D-C6BFA6E804C7}"/>
              </a:ext>
            </a:extLst>
          </p:cNvPr>
          <p:cNvSpPr>
            <a:spLocks xmlns:a="http://schemas.openxmlformats.org/drawingml/2006/main" noGrp="1"/>
          </p:cNvSpPr>
          <p:nvPr/>
        </p:nvSpPr>
        <p:spPr>
          <a:xfrm xmlns:a="http://schemas.openxmlformats.org/drawingml/2006/main">
            <a:off x="762000" y="4371975"/>
            <a:ext cx="10572750" cy="190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15ADD9E-8F9D-44D1-82F9-4AD768B2B154}"/>
              </a:ext>
            </a:extLst>
          </p:cNvPr>
          <p:cNvSpPr>
            <a:spLocks xmlns:a="http://schemas.openxmlformats.org/drawingml/2006/main" noGrp="1"/>
          </p:cNvSpPr>
          <p:nvPr/>
        </p:nvSpPr>
        <p:spPr>
          <a:xfrm xmlns:a="http://schemas.openxmlformats.org/drawingml/2006/main">
            <a:off x="762000" y="46958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a:solidFill>
                  <a:srgbClr val="53606B"/>
                </a:solidFill>
                <a:latin typeface="Helvetica Neue"/>
                <a:ea typeface="Helvetica Neue"/>
                <a:cs typeface="Helvetica Neue"/>
              </a:defRPr>
            </a:pPr>
            <a:r>
              <a:rPr sz="1125" b="1">
                <a:solidFill>
                  <a:srgbClr val="53606B"/>
                </a:solidFill>
                <a:latin typeface="Helvetica Neue"/>
                <a:ea typeface="Helvetica Neue"/>
                <a:cs typeface="Helvetica Neue"/>
              </a:rPr>
              <a:t>Starting market</a:t>
            </a:r>
          </a:p>
        </p:txBody>
      </p:sp>
      <p:sp>
        <p:nvSpPr>
          <p:cNvPr id="15" name="">
            <a:extLst xmlns:a="http://schemas.openxmlformats.org/drawingml/2006/main">
              <a:ext uri="{FF2B5EF4-FFF2-40B4-BE49-F238E27FC236}">
                <a16:creationId xmlns:a16="http://schemas.microsoft.com/office/drawing/2014/main" id="{3E973F2F-035C-4AA6-AF35-7EBA95CE9D35}"/>
              </a:ext>
            </a:extLst>
          </p:cNvPr>
          <p:cNvSpPr>
            <a:spLocks xmlns:a="http://schemas.openxmlformats.org/drawingml/2006/main" noGrp="1"/>
          </p:cNvSpPr>
          <p:nvPr/>
        </p:nvSpPr>
        <p:spPr>
          <a:xfrm xmlns:a="http://schemas.openxmlformats.org/drawingml/2006/main">
            <a:off x="2971800" y="4610100"/>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101820"/>
                </a:solidFill>
                <a:latin typeface="Helvetica Neue"/>
                <a:ea typeface="Helvetica Neue"/>
                <a:cs typeface="Helvetica Neue"/>
              </a:defRPr>
            </a:pPr>
            <a:r>
              <a:rPr sz="2250" b="1">
                <a:solidFill>
                  <a:srgbClr val="101820"/>
                </a:solidFill>
                <a:latin typeface="Helvetica Neue"/>
                <a:ea typeface="Helvetica Neue"/>
                <a:cs typeface="Helvetica Neue"/>
              </a:rPr>
              <a:t>Dividend-paying xStocks on Solana</a:t>
            </a:r>
          </a:p>
        </p:txBody>
      </p:sp>
      <p:sp>
        <p:nvSpPr>
          <p:cNvPr id="16" name="">
            <a:extLst xmlns:a="http://schemas.openxmlformats.org/drawingml/2006/main">
              <a:ext uri="{FF2B5EF4-FFF2-40B4-BE49-F238E27FC236}">
                <a16:creationId xmlns:a16="http://schemas.microsoft.com/office/drawing/2014/main" id="{5614290F-4E29-4DBA-8B10-AC3B32C27E8A}"/>
              </a:ext>
            </a:extLst>
          </p:cNvPr>
          <p:cNvSpPr>
            <a:spLocks xmlns:a="http://schemas.openxmlformats.org/drawingml/2006/main" noGrp="1"/>
          </p:cNvSpPr>
          <p:nvPr/>
        </p:nvSpPr>
        <p:spPr>
          <a:xfrm xmlns:a="http://schemas.openxmlformats.org/drawingml/2006/main">
            <a:off x="2971800" y="5124450"/>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Eligible xStocks are a subset of the broader dashboard measure.</a:t>
            </a:r>
          </a:p>
        </p:txBody>
      </p:sp>
      <p:sp>
        <p:nvSpPr>
          <p:cNvPr id="17" name="">
            <a:extLst xmlns:a="http://schemas.openxmlformats.org/drawingml/2006/main">
              <a:ext uri="{FF2B5EF4-FFF2-40B4-BE49-F238E27FC236}">
                <a16:creationId xmlns:a16="http://schemas.microsoft.com/office/drawing/2014/main" id="{B80BEE5A-2BF5-4B76-8FFE-B16C3C6EEE12}"/>
              </a:ext>
            </a:extLst>
          </p:cNvPr>
          <p:cNvSpPr>
            <a:spLocks xmlns:a="http://schemas.openxmlformats.org/drawingml/2006/main" noGrp="1"/>
          </p:cNvSpPr>
          <p:nvPr/>
        </p:nvSpPr>
        <p:spPr>
          <a:xfrm xmlns:a="http://schemas.openxmlformats.org/drawingml/2006/main">
            <a:off x="762000" y="59531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RWA.xyz includes stocks and ETFs represented natively or synthetically. The measures above are not additive TAM.</a:t>
            </a:r>
          </a:p>
        </p:txBody>
      </p:sp>
    </p:spTree>
    <p:extLst>
      <p:ext uri="{BB962C8B-B14F-4D97-AF65-F5344CB8AC3E}">
        <p14:creationId xmlns:p14="http://schemas.microsoft.com/office/powerpoint/2010/main" val="1301454638"/>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28FA313-F465-45D8-9CCD-4D92AC76303A}"/>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EA27825-3979-416F-A009-983EA5237EEB}"/>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FE2BD0F-9780-4F22-BEA7-4F1B32859661}"/>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1A3231CA-5E68-4C9C-A83D-3180E58C7504}"/>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What Solana changes</a:t>
            </a:r>
          </a:p>
        </p:txBody>
      </p:sp>
      <p:sp>
        <p:nvSpPr>
          <p:cNvPr id="5" name="">
            <a:extLst xmlns:a="http://schemas.openxmlformats.org/drawingml/2006/main">
              <a:ext uri="{FF2B5EF4-FFF2-40B4-BE49-F238E27FC236}">
                <a16:creationId xmlns:a16="http://schemas.microsoft.com/office/drawing/2014/main" id="{5DFCA1D3-AA1F-48E7-B030-F7F0AEB7E377}"/>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62D67909-EF78-4D3D-B044-48888026B269}"/>
              </a:ext>
            </a:extLst>
          </p:cNvPr>
          <p:cNvSpPr>
            <a:spLocks xmlns:a="http://schemas.openxmlformats.org/drawingml/2006/main" noGrp="1"/>
          </p:cNvSpPr>
          <p:nvPr/>
        </p:nvSpPr>
        <p:spPr>
          <a:xfrm xmlns:a="http://schemas.openxmlformats.org/drawingml/2006/main">
            <a:off x="762000" y="19240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CE2A05F1-02DB-4874-83DA-861CF6A4AED7}"/>
              </a:ext>
            </a:extLst>
          </p:cNvPr>
          <p:cNvSpPr>
            <a:spLocks xmlns:a="http://schemas.openxmlformats.org/drawingml/2006/main" noGrp="1"/>
          </p:cNvSpPr>
          <p:nvPr/>
        </p:nvSpPr>
        <p:spPr>
          <a:xfrm xmlns:a="http://schemas.openxmlformats.org/drawingml/2006/main">
            <a:off x="1504950" y="1885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2457F5"/>
                </a:solidFill>
                <a:latin typeface="Helvetica Neue"/>
                <a:ea typeface="Helvetica Neue"/>
                <a:cs typeface="Helvetica Neue"/>
              </a:defRPr>
            </a:pPr>
            <a:r>
              <a:rPr sz="2100" b="1">
                <a:solidFill>
                  <a:srgbClr val="2457F5"/>
                </a:solidFill>
                <a:latin typeface="Helvetica Neue"/>
                <a:ea typeface="Helvetica Neue"/>
                <a:cs typeface="Helvetica Neue"/>
              </a:rPr>
              <a:t>Locked collateral</a:t>
            </a:r>
          </a:p>
        </p:txBody>
      </p:sp>
      <p:sp>
        <p:nvSpPr>
          <p:cNvPr id="8" name="">
            <a:extLst xmlns:a="http://schemas.openxmlformats.org/drawingml/2006/main">
              <a:ext uri="{FF2B5EF4-FFF2-40B4-BE49-F238E27FC236}">
                <a16:creationId xmlns:a16="http://schemas.microsoft.com/office/drawing/2014/main" id="{1D46AF52-CA16-4AA6-8849-E3578D1701A2}"/>
              </a:ext>
            </a:extLst>
          </p:cNvPr>
          <p:cNvSpPr>
            <a:spLocks xmlns:a="http://schemas.openxmlformats.org/drawingml/2006/main" noGrp="1"/>
          </p:cNvSpPr>
          <p:nvPr/>
        </p:nvSpPr>
        <p:spPr>
          <a:xfrm xmlns:a="http://schemas.openxmlformats.org/drawingml/2006/main">
            <a:off x="4838700" y="19240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The vault holds the assets backing both claims.</a:t>
            </a:r>
          </a:p>
        </p:txBody>
      </p:sp>
      <p:sp>
        <p:nvSpPr>
          <p:cNvPr id="9" name="">
            <a:extLst xmlns:a="http://schemas.openxmlformats.org/drawingml/2006/main">
              <a:ext uri="{FF2B5EF4-FFF2-40B4-BE49-F238E27FC236}">
                <a16:creationId xmlns:a16="http://schemas.microsoft.com/office/drawing/2014/main" id="{6B6CB524-017C-4F7F-A1F1-D7D25D17AE75}"/>
              </a:ext>
            </a:extLst>
          </p:cNvPr>
          <p:cNvSpPr>
            <a:spLocks xmlns:a="http://schemas.openxmlformats.org/drawingml/2006/main" noGrp="1"/>
          </p:cNvSpPr>
          <p:nvPr/>
        </p:nvSpPr>
        <p:spPr>
          <a:xfrm xmlns:a="http://schemas.openxmlformats.org/drawingml/2006/main">
            <a:off x="762000" y="26193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1451139-1B69-4321-BB60-009B9DA3D46E}"/>
              </a:ext>
            </a:extLst>
          </p:cNvPr>
          <p:cNvSpPr>
            <a:spLocks xmlns:a="http://schemas.openxmlformats.org/drawingml/2006/main" noGrp="1"/>
          </p:cNvSpPr>
          <p:nvPr/>
        </p:nvSpPr>
        <p:spPr>
          <a:xfrm xmlns:a="http://schemas.openxmlformats.org/drawingml/2006/main">
            <a:off x="762000" y="29908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A4DC7DA8-DD2D-4BCF-A595-D58E3DF435B6}"/>
              </a:ext>
            </a:extLst>
          </p:cNvPr>
          <p:cNvSpPr>
            <a:spLocks xmlns:a="http://schemas.openxmlformats.org/drawingml/2006/main" noGrp="1"/>
          </p:cNvSpPr>
          <p:nvPr/>
        </p:nvSpPr>
        <p:spPr>
          <a:xfrm xmlns:a="http://schemas.openxmlformats.org/drawingml/2006/main">
            <a:off x="1504950" y="29527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Atomic issuance</a:t>
            </a:r>
          </a:p>
        </p:txBody>
      </p:sp>
      <p:sp>
        <p:nvSpPr>
          <p:cNvPr id="12" name="">
            <a:extLst xmlns:a="http://schemas.openxmlformats.org/drawingml/2006/main">
              <a:ext uri="{FF2B5EF4-FFF2-40B4-BE49-F238E27FC236}">
                <a16:creationId xmlns:a16="http://schemas.microsoft.com/office/drawing/2014/main" id="{B1AA173D-A986-4324-84E1-CBB0EEF60350}"/>
              </a:ext>
            </a:extLst>
          </p:cNvPr>
          <p:cNvSpPr>
            <a:spLocks xmlns:a="http://schemas.openxmlformats.org/drawingml/2006/main" noGrp="1"/>
          </p:cNvSpPr>
          <p:nvPr/>
        </p:nvSpPr>
        <p:spPr>
          <a:xfrm xmlns:a="http://schemas.openxmlformats.org/drawingml/2006/main">
            <a:off x="4838700" y="2990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One deposit creates the paired claims together.</a:t>
            </a:r>
          </a:p>
        </p:txBody>
      </p:sp>
      <p:sp>
        <p:nvSpPr>
          <p:cNvPr id="13" name="">
            <a:extLst xmlns:a="http://schemas.openxmlformats.org/drawingml/2006/main">
              <a:ext uri="{FF2B5EF4-FFF2-40B4-BE49-F238E27FC236}">
                <a16:creationId xmlns:a16="http://schemas.microsoft.com/office/drawing/2014/main" id="{2F61B5E3-C642-4456-B9E3-853C9D1F26A9}"/>
              </a:ext>
            </a:extLst>
          </p:cNvPr>
          <p:cNvSpPr>
            <a:spLocks xmlns:a="http://schemas.openxmlformats.org/drawingml/2006/main" noGrp="1"/>
          </p:cNvSpPr>
          <p:nvPr/>
        </p:nvSpPr>
        <p:spPr>
          <a:xfrm xmlns:a="http://schemas.openxmlformats.org/drawingml/2006/main">
            <a:off x="762000" y="36861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36B6A1C-A55E-4C74-96A1-20D3F2088B6B}"/>
              </a:ext>
            </a:extLst>
          </p:cNvPr>
          <p:cNvSpPr>
            <a:spLocks xmlns:a="http://schemas.openxmlformats.org/drawingml/2006/main" noGrp="1"/>
          </p:cNvSpPr>
          <p:nvPr/>
        </p:nvSpPr>
        <p:spPr>
          <a:xfrm xmlns:a="http://schemas.openxmlformats.org/drawingml/2006/main">
            <a:off x="762000" y="40576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29FC5EF3-32D6-4A33-8744-D6BC106F8255}"/>
              </a:ext>
            </a:extLst>
          </p:cNvPr>
          <p:cNvSpPr>
            <a:spLocks xmlns:a="http://schemas.openxmlformats.org/drawingml/2006/main" noGrp="1"/>
          </p:cNvSpPr>
          <p:nvPr/>
        </p:nvSpPr>
        <p:spPr>
          <a:xfrm xmlns:a="http://schemas.openxmlformats.org/drawingml/2006/main">
            <a:off x="1504950" y="4019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C46A00"/>
                </a:solidFill>
                <a:latin typeface="Helvetica Neue"/>
                <a:ea typeface="Helvetica Neue"/>
                <a:cs typeface="Helvetica Neue"/>
              </a:defRPr>
            </a:pPr>
            <a:r>
              <a:rPr sz="2100" b="1">
                <a:solidFill>
                  <a:srgbClr val="C46A00"/>
                </a:solidFill>
                <a:latin typeface="Helvetica Neue"/>
                <a:ea typeface="Helvetica Neue"/>
                <a:cs typeface="Helvetica Neue"/>
              </a:rPr>
              <a:t>Separate ownership</a:t>
            </a:r>
          </a:p>
        </p:txBody>
      </p:sp>
      <p:sp>
        <p:nvSpPr>
          <p:cNvPr id="16" name="">
            <a:extLst xmlns:a="http://schemas.openxmlformats.org/drawingml/2006/main">
              <a:ext uri="{FF2B5EF4-FFF2-40B4-BE49-F238E27FC236}">
                <a16:creationId xmlns:a16="http://schemas.microsoft.com/office/drawing/2014/main" id="{AA280E7E-05BD-403E-BC3E-37CBFEDD1994}"/>
              </a:ext>
            </a:extLst>
          </p:cNvPr>
          <p:cNvSpPr>
            <a:spLocks xmlns:a="http://schemas.openxmlformats.org/drawingml/2006/main" noGrp="1"/>
          </p:cNvSpPr>
          <p:nvPr/>
        </p:nvSpPr>
        <p:spPr>
          <a:xfrm xmlns:a="http://schemas.openxmlformats.org/drawingml/2006/main">
            <a:off x="4838700" y="40576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Each holder can transfer and redeem under the program’s rules.</a:t>
            </a:r>
          </a:p>
        </p:txBody>
      </p:sp>
      <p:sp>
        <p:nvSpPr>
          <p:cNvPr id="17" name="">
            <a:extLst xmlns:a="http://schemas.openxmlformats.org/drawingml/2006/main">
              <a:ext uri="{FF2B5EF4-FFF2-40B4-BE49-F238E27FC236}">
                <a16:creationId xmlns:a16="http://schemas.microsoft.com/office/drawing/2014/main" id="{6E9EC740-6862-4361-8279-3C8DAF1E8A94}"/>
              </a:ext>
            </a:extLst>
          </p:cNvPr>
          <p:cNvSpPr>
            <a:spLocks xmlns:a="http://schemas.openxmlformats.org/drawingml/2006/main" noGrp="1"/>
          </p:cNvSpPr>
          <p:nvPr/>
        </p:nvSpPr>
        <p:spPr>
          <a:xfrm xmlns:a="http://schemas.openxmlformats.org/drawingml/2006/main">
            <a:off x="762000" y="47529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46ADD59-7DBA-4AED-A5D1-A54ABA153863}"/>
              </a:ext>
            </a:extLst>
          </p:cNvPr>
          <p:cNvSpPr>
            <a:spLocks xmlns:a="http://schemas.openxmlformats.org/drawingml/2006/main" noGrp="1"/>
          </p:cNvSpPr>
          <p:nvPr/>
        </p:nvSpPr>
        <p:spPr>
          <a:xfrm xmlns:a="http://schemas.openxmlformats.org/drawingml/2006/main">
            <a:off x="1504950" y="5334000"/>
            <a:ext cx="847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Shared program state replaces manual reconciliation of these claims.</a:t>
            </a:r>
          </a:p>
        </p:txBody>
      </p:sp>
      <p:sp>
        <p:nvSpPr>
          <p:cNvPr id="19" name="">
            <a:extLst xmlns:a="http://schemas.openxmlformats.org/drawingml/2006/main">
              <a:ext uri="{FF2B5EF4-FFF2-40B4-BE49-F238E27FC236}">
                <a16:creationId xmlns:a16="http://schemas.microsoft.com/office/drawing/2014/main" id="{8EEF6874-122C-445B-8B37-459B7664A754}"/>
              </a:ext>
            </a:extLst>
          </p:cNvPr>
          <p:cNvSpPr>
            <a:spLocks xmlns:a="http://schemas.openxmlformats.org/drawingml/2006/main" noGrp="1"/>
          </p:cNvSpPr>
          <p:nvPr/>
        </p:nvSpPr>
        <p:spPr>
          <a:xfrm xmlns:a="http://schemas.openxmlformats.org/drawingml/2006/main">
            <a:off x="762000" y="6000750"/>
            <a:ext cx="10572750" cy="361950"/>
          </a:xfrm>
          <a:prstGeom xmlns:a="http://schemas.openxmlformats.org/drawingml/2006/main" prst="rect">
            <a:avLst/>
          </a:prstGeom>
          <a:solidFill xmlns:a="http://schemas.openxmlformats.org/drawingml/2006/main">
            <a:srgbClr val="EFECE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F8C602A-9D51-4205-A8E9-94ED4ED6A6EC}"/>
              </a:ext>
            </a:extLst>
          </p:cNvPr>
          <p:cNvSpPr>
            <a:spLocks xmlns:a="http://schemas.openxmlformats.org/drawingml/2006/main" noGrp="1"/>
          </p:cNvSpPr>
          <p:nvPr/>
        </p:nvSpPr>
        <p:spPr>
          <a:xfrm xmlns:a="http://schemas.openxmlformats.org/drawingml/2006/main">
            <a:off x="933450" y="6096000"/>
            <a:ext cx="1000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PROPOSED IMPLEMENTATION · Issuer and corporate-action data dependencies remain.</a:t>
            </a:r>
          </a:p>
        </p:txBody>
      </p:sp>
    </p:spTree>
    <p:extLst>
      <p:ext uri="{BB962C8B-B14F-4D97-AF65-F5344CB8AC3E}">
        <p14:creationId xmlns:p14="http://schemas.microsoft.com/office/powerpoint/2010/main" val="100701476"/>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58F51EA-9C2D-4F91-A1EE-3454118459A6}"/>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EBD3D80-C301-4AA4-9349-F9DBDC2F02F1}"/>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9A67765-4940-4327-9FA2-EB30AF6A562E}"/>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83CFCD9C-F63F-4C67-9284-FB4AE18E03E5}"/>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A stock split is not a dividend</a:t>
            </a:r>
          </a:p>
        </p:txBody>
      </p:sp>
      <p:sp>
        <p:nvSpPr>
          <p:cNvPr id="5" name="">
            <a:extLst xmlns:a="http://schemas.openxmlformats.org/drawingml/2006/main">
              <a:ext uri="{FF2B5EF4-FFF2-40B4-BE49-F238E27FC236}">
                <a16:creationId xmlns:a16="http://schemas.microsoft.com/office/drawing/2014/main" id="{50BD672E-3673-4979-BA84-96F4BF2A58F4}"/>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0E66E9CF-91D9-43A7-9265-DD0867DB440C}"/>
              </a:ext>
            </a:extLst>
          </p:cNvPr>
          <p:cNvSpPr>
            <a:spLocks xmlns:a="http://schemas.openxmlformats.org/drawingml/2006/main" noGrp="1"/>
          </p:cNvSpPr>
          <p:nvPr/>
        </p:nvSpPr>
        <p:spPr>
          <a:xfrm xmlns:a="http://schemas.openxmlformats.org/drawingml/2006/main">
            <a:off x="762000" y="1847850"/>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ISSUER EVENT</a:t>
            </a:r>
          </a:p>
        </p:txBody>
      </p:sp>
      <p:sp>
        <p:nvSpPr>
          <p:cNvPr id="7" name="">
            <a:extLst xmlns:a="http://schemas.openxmlformats.org/drawingml/2006/main">
              <a:ext uri="{FF2B5EF4-FFF2-40B4-BE49-F238E27FC236}">
                <a16:creationId xmlns:a16="http://schemas.microsoft.com/office/drawing/2014/main" id="{86321AED-349D-488C-B56E-D673FA98B6ED}"/>
              </a:ext>
            </a:extLst>
          </p:cNvPr>
          <p:cNvSpPr>
            <a:spLocks xmlns:a="http://schemas.openxmlformats.org/drawingml/2006/main" noGrp="1"/>
          </p:cNvSpPr>
          <p:nvPr/>
        </p:nvSpPr>
        <p:spPr>
          <a:xfrm xmlns:a="http://schemas.openxmlformats.org/drawingml/2006/main">
            <a:off x="4333875" y="1847850"/>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DIVIDENDX TREATMENT</a:t>
            </a:r>
          </a:p>
        </p:txBody>
      </p:sp>
      <p:sp>
        <p:nvSpPr>
          <p:cNvPr id="8" name="">
            <a:extLst xmlns:a="http://schemas.openxmlformats.org/drawingml/2006/main">
              <a:ext uri="{FF2B5EF4-FFF2-40B4-BE49-F238E27FC236}">
                <a16:creationId xmlns:a16="http://schemas.microsoft.com/office/drawing/2014/main" id="{51713B4B-3E30-45F2-9B5D-BF36F342FEC0}"/>
              </a:ext>
            </a:extLst>
          </p:cNvPr>
          <p:cNvSpPr>
            <a:spLocks xmlns:a="http://schemas.openxmlformats.org/drawingml/2006/main" noGrp="1"/>
          </p:cNvSpPr>
          <p:nvPr/>
        </p:nvSpPr>
        <p:spPr>
          <a:xfrm xmlns:a="http://schemas.openxmlformats.org/drawingml/2006/main">
            <a:off x="762000" y="2143125"/>
            <a:ext cx="10382250" cy="19050"/>
          </a:xfrm>
          <a:prstGeom xmlns:a="http://schemas.openxmlformats.org/drawingml/2006/main" prst="rect">
            <a:avLst/>
          </a:prstGeom>
          <a:solidFill xmlns:a="http://schemas.openxmlformats.org/drawingml/2006/main">
            <a:srgbClr val="10182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80FE8A1-DBE5-4D3E-813F-FAF5129F0EAB}"/>
              </a:ext>
            </a:extLst>
          </p:cNvPr>
          <p:cNvSpPr>
            <a:spLocks xmlns:a="http://schemas.openxmlformats.org/drawingml/2006/main" noGrp="1"/>
          </p:cNvSpPr>
          <p:nvPr/>
        </p:nvSpPr>
        <p:spPr>
          <a:xfrm xmlns:a="http://schemas.openxmlformats.org/drawingml/2006/main">
            <a:off x="762000" y="24574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KOx cash dividend</a:t>
            </a:r>
          </a:p>
        </p:txBody>
      </p:sp>
      <p:sp>
        <p:nvSpPr>
          <p:cNvPr id="10" name="">
            <a:extLst xmlns:a="http://schemas.openxmlformats.org/drawingml/2006/main">
              <a:ext uri="{FF2B5EF4-FFF2-40B4-BE49-F238E27FC236}">
                <a16:creationId xmlns:a16="http://schemas.microsoft.com/office/drawing/2014/main" id="{7CB3F335-91C6-431E-AC34-DF0E2FF38859}"/>
              </a:ext>
            </a:extLst>
          </p:cNvPr>
          <p:cNvSpPr>
            <a:spLocks xmlns:a="http://schemas.openxmlformats.org/drawingml/2006/main" noGrp="1"/>
          </p:cNvSpPr>
          <p:nvPr/>
        </p:nvSpPr>
        <p:spPr>
          <a:xfrm xmlns:a="http://schemas.openxmlformats.org/drawingml/2006/main">
            <a:off x="4333875" y="2457450"/>
            <a:ext cx="657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7A4000"/>
                </a:solidFill>
                <a:latin typeface="Helvetica Neue"/>
                <a:ea typeface="Helvetica Neue"/>
                <a:cs typeface="Helvetica Neue"/>
              </a:defRPr>
            </a:pPr>
            <a:r>
              <a:rPr sz="1725" b="1">
                <a:solidFill>
                  <a:srgbClr val="7A4000"/>
                </a:solidFill>
                <a:latin typeface="Helvetica Neue"/>
                <a:ea typeface="Helvetica Neue"/>
                <a:cs typeface="Helvetica Neue"/>
              </a:rPr>
              <a:t>Allocate verified dividend-derived KOx to DR</a:t>
            </a:r>
          </a:p>
        </p:txBody>
      </p:sp>
      <p:sp>
        <p:nvSpPr>
          <p:cNvPr id="11" name="">
            <a:extLst xmlns:a="http://schemas.openxmlformats.org/drawingml/2006/main">
              <a:ext uri="{FF2B5EF4-FFF2-40B4-BE49-F238E27FC236}">
                <a16:creationId xmlns:a16="http://schemas.microsoft.com/office/drawing/2014/main" id="{92DE78A7-F05F-46C4-B20A-D2E2E7750516}"/>
              </a:ext>
            </a:extLst>
          </p:cNvPr>
          <p:cNvSpPr>
            <a:spLocks xmlns:a="http://schemas.openxmlformats.org/drawingml/2006/main" noGrp="1"/>
          </p:cNvSpPr>
          <p:nvPr/>
        </p:nvSpPr>
        <p:spPr>
          <a:xfrm xmlns:a="http://schemas.openxmlformats.org/drawingml/2006/main">
            <a:off x="762000" y="28956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0">
                <a:solidFill>
                  <a:srgbClr val="53606B"/>
                </a:solidFill>
                <a:latin typeface="Helvetica Neue"/>
                <a:ea typeface="Helvetica Neue"/>
                <a:cs typeface="Helvetica Neue"/>
              </a:defRPr>
            </a:pPr>
            <a:r>
              <a:rPr sz="1050" b="0">
                <a:solidFill>
                  <a:srgbClr val="53606B"/>
                </a:solidFill>
                <a:latin typeface="Helvetica Neue"/>
                <a:ea typeface="Helvetica Neue"/>
                <a:cs typeface="Helvetica Neue"/>
              </a:rPr>
              <a:t>15 Sep 2026 · event 75c0… v2</a:t>
            </a:r>
          </a:p>
        </p:txBody>
      </p:sp>
      <p:sp>
        <p:nvSpPr>
          <p:cNvPr id="12" name="">
            <a:extLst xmlns:a="http://schemas.openxmlformats.org/drawingml/2006/main">
              <a:ext uri="{FF2B5EF4-FFF2-40B4-BE49-F238E27FC236}">
                <a16:creationId xmlns:a16="http://schemas.microsoft.com/office/drawing/2014/main" id="{698ADED4-5D81-42A4-A02E-5D5A6F3708B7}"/>
              </a:ext>
            </a:extLst>
          </p:cNvPr>
          <p:cNvSpPr>
            <a:spLocks xmlns:a="http://schemas.openxmlformats.org/drawingml/2006/main" noGrp="1"/>
          </p:cNvSpPr>
          <p:nvPr/>
        </p:nvSpPr>
        <p:spPr>
          <a:xfrm xmlns:a="http://schemas.openxmlformats.org/drawingml/2006/main">
            <a:off x="762000" y="3333750"/>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74CCF71-63A0-419B-A84E-952FDE6D8B5C}"/>
              </a:ext>
            </a:extLst>
          </p:cNvPr>
          <p:cNvSpPr>
            <a:spLocks xmlns:a="http://schemas.openxmlformats.org/drawingml/2006/main" noGrp="1"/>
          </p:cNvSpPr>
          <p:nvPr/>
        </p:nvSpPr>
        <p:spPr>
          <a:xfrm xmlns:a="http://schemas.openxmlformats.org/drawingml/2006/main">
            <a:off x="762000" y="37147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HONx reverse split</a:t>
            </a:r>
          </a:p>
        </p:txBody>
      </p:sp>
      <p:sp>
        <p:nvSpPr>
          <p:cNvPr id="14" name="">
            <a:extLst xmlns:a="http://schemas.openxmlformats.org/drawingml/2006/main">
              <a:ext uri="{FF2B5EF4-FFF2-40B4-BE49-F238E27FC236}">
                <a16:creationId xmlns:a16="http://schemas.microsoft.com/office/drawing/2014/main" id="{C423A5BA-B184-4603-A3BC-5C19BB181C01}"/>
              </a:ext>
            </a:extLst>
          </p:cNvPr>
          <p:cNvSpPr>
            <a:spLocks xmlns:a="http://schemas.openxmlformats.org/drawingml/2006/main" noGrp="1"/>
          </p:cNvSpPr>
          <p:nvPr/>
        </p:nvSpPr>
        <p:spPr>
          <a:xfrm xmlns:a="http://schemas.openxmlformats.org/drawingml/2006/main">
            <a:off x="4333875" y="3714750"/>
            <a:ext cx="657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B42318"/>
                </a:solidFill>
                <a:latin typeface="Helvetica Neue"/>
                <a:ea typeface="Helvetica Neue"/>
                <a:cs typeface="Helvetica Neue"/>
              </a:defRPr>
            </a:pPr>
            <a:r>
              <a:rPr sz="1725" b="1">
                <a:solidFill>
                  <a:srgbClr val="B42318"/>
                </a:solidFill>
                <a:latin typeface="Helvetica Neue"/>
                <a:ea typeface="Helvetica Neue"/>
                <a:cs typeface="Helvetica Neue"/>
              </a:rPr>
              <a:t>Reject as a dividend; allocate no dividend yield</a:t>
            </a:r>
          </a:p>
        </p:txBody>
      </p:sp>
      <p:sp>
        <p:nvSpPr>
          <p:cNvPr id="15" name="">
            <a:extLst xmlns:a="http://schemas.openxmlformats.org/drawingml/2006/main">
              <a:ext uri="{FF2B5EF4-FFF2-40B4-BE49-F238E27FC236}">
                <a16:creationId xmlns:a16="http://schemas.microsoft.com/office/drawing/2014/main" id="{F45AE2AC-01F6-44DC-8A67-DD007FA48E3A}"/>
              </a:ext>
            </a:extLst>
          </p:cNvPr>
          <p:cNvSpPr>
            <a:spLocks xmlns:a="http://schemas.openxmlformats.org/drawingml/2006/main" noGrp="1"/>
          </p:cNvSpPr>
          <p:nvPr/>
        </p:nvSpPr>
        <p:spPr>
          <a:xfrm xmlns:a="http://schemas.openxmlformats.org/drawingml/2006/main">
            <a:off x="762000" y="41529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0">
                <a:solidFill>
                  <a:srgbClr val="53606B"/>
                </a:solidFill>
                <a:latin typeface="Helvetica Neue"/>
                <a:ea typeface="Helvetica Neue"/>
                <a:cs typeface="Helvetica Neue"/>
              </a:defRPr>
            </a:pPr>
            <a:r>
              <a:rPr sz="1050" b="0">
                <a:solidFill>
                  <a:srgbClr val="53606B"/>
                </a:solidFill>
                <a:latin typeface="Helvetica Neue"/>
                <a:ea typeface="Helvetica Neue"/>
                <a:cs typeface="Helvetica Neue"/>
              </a:rPr>
              <a:t>29 Jun 2026 · event ccb423… v2</a:t>
            </a:r>
          </a:p>
        </p:txBody>
      </p:sp>
      <p:sp>
        <p:nvSpPr>
          <p:cNvPr id="16" name="">
            <a:extLst xmlns:a="http://schemas.openxmlformats.org/drawingml/2006/main">
              <a:ext uri="{FF2B5EF4-FFF2-40B4-BE49-F238E27FC236}">
                <a16:creationId xmlns:a16="http://schemas.microsoft.com/office/drawing/2014/main" id="{FA88CA21-C9DD-4260-93DD-5B3ED19F4AFB}"/>
              </a:ext>
            </a:extLst>
          </p:cNvPr>
          <p:cNvSpPr>
            <a:spLocks xmlns:a="http://schemas.openxmlformats.org/drawingml/2006/main" noGrp="1"/>
          </p:cNvSpPr>
          <p:nvPr/>
        </p:nvSpPr>
        <p:spPr>
          <a:xfrm xmlns:a="http://schemas.openxmlformats.org/drawingml/2006/main">
            <a:off x="762000" y="4610100"/>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3D056B1-78E7-4B89-808F-357C1E8C8471}"/>
              </a:ext>
            </a:extLst>
          </p:cNvPr>
          <p:cNvSpPr>
            <a:spLocks xmlns:a="http://schemas.openxmlformats.org/drawingml/2006/main" noGrp="1"/>
          </p:cNvSpPr>
          <p:nvPr/>
        </p:nvSpPr>
        <p:spPr>
          <a:xfrm xmlns:a="http://schemas.openxmlformats.org/drawingml/2006/main">
            <a:off x="762000" y="506730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1">
                <a:solidFill>
                  <a:srgbClr val="101820"/>
                </a:solidFill>
                <a:latin typeface="Helvetica Neue"/>
                <a:ea typeface="Helvetica Neue"/>
                <a:cs typeface="Helvetica Neue"/>
              </a:defRPr>
            </a:pPr>
            <a:r>
              <a:rPr sz="1950" b="1">
                <a:solidFill>
                  <a:srgbClr val="101820"/>
                </a:solidFill>
                <a:latin typeface="Helvetica Neue"/>
                <a:ea typeface="Helvetica Neue"/>
                <a:cs typeface="Helvetica Neue"/>
              </a:rPr>
              <a:t>Check the issuer event and the onchain multiplier together.</a:t>
            </a:r>
          </a:p>
        </p:txBody>
      </p:sp>
      <p:sp>
        <p:nvSpPr>
          <p:cNvPr id="18" name="">
            <a:extLst xmlns:a="http://schemas.openxmlformats.org/drawingml/2006/main">
              <a:ext uri="{FF2B5EF4-FFF2-40B4-BE49-F238E27FC236}">
                <a16:creationId xmlns:a16="http://schemas.microsoft.com/office/drawing/2014/main" id="{719D8754-6902-40BD-8254-12A7659F2FD9}"/>
              </a:ext>
            </a:extLst>
          </p:cNvPr>
          <p:cNvSpPr>
            <a:spLocks xmlns:a="http://schemas.openxmlformats.org/drawingml/2006/main" noGrp="1"/>
          </p:cNvSpPr>
          <p:nvPr/>
        </p:nvSpPr>
        <p:spPr>
          <a:xfrm xmlns:a="http://schemas.openxmlformats.org/drawingml/2006/main">
            <a:off x="762000" y="5638800"/>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01820"/>
                </a:solidFill>
                <a:latin typeface="Helvetica Neue"/>
                <a:ea typeface="Helvetica Neue"/>
                <a:cs typeface="Helvetica Neue"/>
              </a:defRPr>
            </a:pPr>
            <a:r>
              <a:rPr b="1">
                <a:solidFill>
                  <a:srgbClr val="1639A6"/>
                </a:solidFill>
                <a:latin typeface="Helvetica Neue"/>
                <a:ea typeface="Helvetica Neue"/>
                <a:cs typeface="Helvetica Neue"/>
              </a:rPr>
              <a:t>Pendle</a:t>
            </a:r>
            <a:r>
              <a:rPr>
                <a:solidFill>
                  <a:srgbClr val="53606B"/>
                </a:solidFill>
                <a:latin typeface="Helvetica Neue"/>
                <a:ea typeface="Helvetica Neue"/>
                <a:cs typeface="Helvetica Neue"/>
              </a:rPr>
              <a:t> provides the yield-splitting model. Equities need corporate-action rules.</a:t>
            </a:r>
          </a:p>
        </p:txBody>
      </p:sp>
    </p:spTree>
    <p:extLst>
      <p:ext uri="{BB962C8B-B14F-4D97-AF65-F5344CB8AC3E}">
        <p14:creationId xmlns:p14="http://schemas.microsoft.com/office/powerpoint/2010/main" val="351317950"/>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D06C182-3151-42FC-9726-A06DA266B17B}"/>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DE42EDE-7EB2-43B2-BC76-C18766538C5D}"/>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379B322-A867-4AEA-A305-D022C60B85F0}"/>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596FB904-9D90-433F-AE75-DE55BAE7DFB5}"/>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A real dividend, already inspectable</a:t>
            </a:r>
          </a:p>
        </p:txBody>
      </p:sp>
      <p:sp>
        <p:nvSpPr>
          <p:cNvPr id="5" name="">
            <a:extLst xmlns:a="http://schemas.openxmlformats.org/drawingml/2006/main">
              <a:ext uri="{FF2B5EF4-FFF2-40B4-BE49-F238E27FC236}">
                <a16:creationId xmlns:a16="http://schemas.microsoft.com/office/drawing/2014/main" id="{2D5EB5A7-6A57-4BFF-9B0D-7C500629BB0E}"/>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08</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3b38bd1cd0344ed"/>
          <a:srcRect xmlns:a="http://schemas.openxmlformats.org/drawingml/2006/main" l="0" t="8194" r="0" b="8194"/>
          <a:stretch xmlns:a="http://schemas.openxmlformats.org/drawingml/2006/main">
            <a:fillRect l="0" t="0" r="0" b="0"/>
          </a:stretch>
        </p:blipFill>
        <p:spPr>
          <a:xfrm xmlns:a="http://schemas.openxmlformats.org/drawingml/2006/main">
            <a:off x="523875" y="1581150"/>
            <a:ext cx="7381875" cy="4714875"/>
          </a:xfrm>
          <a:prstGeom xmlns:a="http://schemas.openxmlformats.org/drawingml/2006/main" prst="roundRect">
            <a:avLst>
              <a:gd name="adj" fmla="val 2828"/>
            </a:avLst>
          </a:prstGeom>
        </p:spPr>
      </p:pic>
      <p:sp>
        <p:nvSpPr>
          <p:cNvPr id="7" name="">
            <a:extLst xmlns:a="http://schemas.openxmlformats.org/drawingml/2006/main">
              <a:ext uri="{FF2B5EF4-FFF2-40B4-BE49-F238E27FC236}">
                <a16:creationId xmlns:a16="http://schemas.microsoft.com/office/drawing/2014/main" id="{8A4750F6-D2C0-4DE5-883F-407D3A062182}"/>
              </a:ext>
            </a:extLst>
          </p:cNvPr>
          <p:cNvSpPr>
            <a:spLocks xmlns:a="http://schemas.openxmlformats.org/drawingml/2006/main" noGrp="1"/>
          </p:cNvSpPr>
          <p:nvPr/>
        </p:nvSpPr>
        <p:spPr>
          <a:xfrm xmlns:a="http://schemas.openxmlformats.org/drawingml/2006/main">
            <a:off x="8334375" y="184785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HISTORICAL SCENARIO</a:t>
            </a:r>
          </a:p>
        </p:txBody>
      </p:sp>
      <p:sp>
        <p:nvSpPr>
          <p:cNvPr id="8" name="">
            <a:extLst xmlns:a="http://schemas.openxmlformats.org/drawingml/2006/main">
              <a:ext uri="{FF2B5EF4-FFF2-40B4-BE49-F238E27FC236}">
                <a16:creationId xmlns:a16="http://schemas.microsoft.com/office/drawing/2014/main" id="{67C8F7EE-501D-4C72-A46C-2321DD8A0128}"/>
              </a:ext>
            </a:extLst>
          </p:cNvPr>
          <p:cNvSpPr>
            <a:spLocks xmlns:a="http://schemas.openxmlformats.org/drawingml/2006/main" noGrp="1"/>
          </p:cNvSpPr>
          <p:nvPr/>
        </p:nvSpPr>
        <p:spPr>
          <a:xfrm xmlns:a="http://schemas.openxmlformats.org/drawingml/2006/main">
            <a:off x="8334375" y="2190750"/>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025" b="1">
                <a:solidFill>
                  <a:srgbClr val="101820"/>
                </a:solidFill>
                <a:latin typeface="Helvetica Neue"/>
                <a:ea typeface="Helvetica Neue"/>
                <a:cs typeface="Helvetica Neue"/>
              </a:defRPr>
            </a:pPr>
            <a:r>
              <a:rPr sz="2025" b="1">
                <a:solidFill>
                  <a:srgbClr val="101820"/>
                </a:solidFill>
                <a:latin typeface="Helvetica Neue"/>
                <a:ea typeface="Helvetica Neue"/>
                <a:cs typeface="Helvetica Neue"/>
              </a:rPr>
              <a:t>100 KOx before the event</a:t>
            </a:r>
          </a:p>
        </p:txBody>
      </p:sp>
      <p:sp>
        <p:nvSpPr>
          <p:cNvPr id="9" name="">
            <a:extLst xmlns:a="http://schemas.openxmlformats.org/drawingml/2006/main">
              <a:ext uri="{FF2B5EF4-FFF2-40B4-BE49-F238E27FC236}">
                <a16:creationId xmlns:a16="http://schemas.microsoft.com/office/drawing/2014/main" id="{2F881EC7-0F2E-4405-A396-9C93AB7CD42A}"/>
              </a:ext>
            </a:extLst>
          </p:cNvPr>
          <p:cNvSpPr>
            <a:spLocks xmlns:a="http://schemas.openxmlformats.org/drawingml/2006/main" noGrp="1"/>
          </p:cNvSpPr>
          <p:nvPr/>
        </p:nvSpPr>
        <p:spPr>
          <a:xfrm xmlns:a="http://schemas.openxmlformats.org/drawingml/2006/main">
            <a:off x="8334375" y="297180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2457F5"/>
                </a:solidFill>
                <a:latin typeface="Helvetica Neue"/>
                <a:ea typeface="Helvetica Neue"/>
                <a:cs typeface="Helvetica Neue"/>
              </a:defRPr>
            </a:pPr>
            <a:r>
              <a:rPr sz="2250" b="1">
                <a:solidFill>
                  <a:srgbClr val="2457F5"/>
                </a:solidFill>
                <a:latin typeface="Helvetica Neue"/>
                <a:ea typeface="Helvetica Neue"/>
                <a:cs typeface="Helvetica Neue"/>
              </a:rPr>
              <a:t>100.0000 KOx</a:t>
            </a:r>
          </a:p>
        </p:txBody>
      </p:sp>
      <p:sp>
        <p:nvSpPr>
          <p:cNvPr id="10" name="">
            <a:extLst xmlns:a="http://schemas.openxmlformats.org/drawingml/2006/main">
              <a:ext uri="{FF2B5EF4-FFF2-40B4-BE49-F238E27FC236}">
                <a16:creationId xmlns:a16="http://schemas.microsoft.com/office/drawing/2014/main" id="{5ED3929F-B1FC-4BDD-AAD3-60B128D95BA4}"/>
              </a:ext>
            </a:extLst>
          </p:cNvPr>
          <p:cNvSpPr>
            <a:spLocks xmlns:a="http://schemas.openxmlformats.org/drawingml/2006/main" noGrp="1"/>
          </p:cNvSpPr>
          <p:nvPr/>
        </p:nvSpPr>
        <p:spPr>
          <a:xfrm xmlns:a="http://schemas.openxmlformats.org/drawingml/2006/main">
            <a:off x="8334375" y="33528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stock exposure</a:t>
            </a:r>
          </a:p>
        </p:txBody>
      </p:sp>
      <p:sp>
        <p:nvSpPr>
          <p:cNvPr id="11" name="">
            <a:extLst xmlns:a="http://schemas.openxmlformats.org/drawingml/2006/main">
              <a:ext uri="{FF2B5EF4-FFF2-40B4-BE49-F238E27FC236}">
                <a16:creationId xmlns:a16="http://schemas.microsoft.com/office/drawing/2014/main" id="{9165B4C1-B8A1-4811-9CDC-3F50BA64689B}"/>
              </a:ext>
            </a:extLst>
          </p:cNvPr>
          <p:cNvSpPr>
            <a:spLocks xmlns:a="http://schemas.openxmlformats.org/drawingml/2006/main" noGrp="1"/>
          </p:cNvSpPr>
          <p:nvPr/>
        </p:nvSpPr>
        <p:spPr>
          <a:xfrm xmlns:a="http://schemas.openxmlformats.org/drawingml/2006/main">
            <a:off x="8334375" y="382905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C46A00"/>
                </a:solidFill>
                <a:latin typeface="Helvetica Neue"/>
                <a:ea typeface="Helvetica Neue"/>
                <a:cs typeface="Helvetica Neue"/>
              </a:defRPr>
            </a:pPr>
            <a:r>
              <a:rPr sz="2250" b="1">
                <a:solidFill>
                  <a:srgbClr val="C46A00"/>
                </a:solidFill>
                <a:latin typeface="Helvetica Neue"/>
                <a:ea typeface="Helvetica Neue"/>
                <a:cs typeface="Helvetica Neue"/>
              </a:rPr>
              <a:t>+ 0.4152 KOx</a:t>
            </a:r>
          </a:p>
        </p:txBody>
      </p:sp>
      <p:sp>
        <p:nvSpPr>
          <p:cNvPr id="12" name="">
            <a:extLst xmlns:a="http://schemas.openxmlformats.org/drawingml/2006/main">
              <a:ext uri="{FF2B5EF4-FFF2-40B4-BE49-F238E27FC236}">
                <a16:creationId xmlns:a16="http://schemas.microsoft.com/office/drawing/2014/main" id="{0B928034-778F-498B-878F-575D27432CFB}"/>
              </a:ext>
            </a:extLst>
          </p:cNvPr>
          <p:cNvSpPr>
            <a:spLocks xmlns:a="http://schemas.openxmlformats.org/drawingml/2006/main" noGrp="1"/>
          </p:cNvSpPr>
          <p:nvPr/>
        </p:nvSpPr>
        <p:spPr>
          <a:xfrm xmlns:a="http://schemas.openxmlformats.org/drawingml/2006/main">
            <a:off x="8334375" y="42100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dividend allocation</a:t>
            </a:r>
          </a:p>
        </p:txBody>
      </p:sp>
      <p:sp>
        <p:nvSpPr>
          <p:cNvPr id="13" name="">
            <a:extLst xmlns:a="http://schemas.openxmlformats.org/drawingml/2006/main">
              <a:ext uri="{FF2B5EF4-FFF2-40B4-BE49-F238E27FC236}">
                <a16:creationId xmlns:a16="http://schemas.microsoft.com/office/drawing/2014/main" id="{D0036B0A-C937-47CC-8289-3586BC32321C}"/>
              </a:ext>
            </a:extLst>
          </p:cNvPr>
          <p:cNvSpPr>
            <a:spLocks xmlns:a="http://schemas.openxmlformats.org/drawingml/2006/main" noGrp="1"/>
          </p:cNvSpPr>
          <p:nvPr/>
        </p:nvSpPr>
        <p:spPr>
          <a:xfrm xmlns:a="http://schemas.openxmlformats.org/drawingml/2006/main">
            <a:off x="8334375" y="4686300"/>
            <a:ext cx="295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A5D7AD0-BEAA-4E35-989F-B01FC55C0BBC}"/>
              </a:ext>
            </a:extLst>
          </p:cNvPr>
          <p:cNvSpPr>
            <a:spLocks xmlns:a="http://schemas.openxmlformats.org/drawingml/2006/main" noGrp="1"/>
          </p:cNvSpPr>
          <p:nvPr/>
        </p:nvSpPr>
        <p:spPr>
          <a:xfrm xmlns:a="http://schemas.openxmlformats.org/drawingml/2006/main">
            <a:off x="8334375" y="49339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1">
                <a:solidFill>
                  <a:srgbClr val="101820"/>
                </a:solidFill>
                <a:latin typeface="Helvetica Neue"/>
                <a:ea typeface="Helvetica Neue"/>
                <a:cs typeface="Helvetica Neue"/>
              </a:defRPr>
            </a:pPr>
            <a:r>
              <a:rPr sz="1275" b="1">
                <a:solidFill>
                  <a:srgbClr val="101820"/>
                </a:solidFill>
                <a:latin typeface="Helvetica Neue"/>
                <a:ea typeface="Helvetica Neue"/>
                <a:cs typeface="Helvetica Neue"/>
              </a:rPr>
              <a:t>KOx issuer adjustment</a:t>
            </a:r>
          </a:p>
        </p:txBody>
      </p:sp>
      <p:sp>
        <p:nvSpPr>
          <p:cNvPr id="15" name="">
            <a:extLst xmlns:a="http://schemas.openxmlformats.org/drawingml/2006/main">
              <a:ext uri="{FF2B5EF4-FFF2-40B4-BE49-F238E27FC236}">
                <a16:creationId xmlns:a16="http://schemas.microsoft.com/office/drawing/2014/main" id="{3342B71F-BEA7-4F4D-B5A4-40DB0D90ABF3}"/>
              </a:ext>
            </a:extLst>
          </p:cNvPr>
          <p:cNvSpPr>
            <a:spLocks xmlns:a="http://schemas.openxmlformats.org/drawingml/2006/main" noGrp="1"/>
          </p:cNvSpPr>
          <p:nvPr/>
        </p:nvSpPr>
        <p:spPr>
          <a:xfrm xmlns:a="http://schemas.openxmlformats.org/drawingml/2006/main">
            <a:off x="8334375" y="5238750"/>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15 September 2026</a:t>
            </a:r>
          </a:p>
        </p:txBody>
      </p:sp>
      <p:sp>
        <p:nvSpPr>
          <p:cNvPr id="16" name="">
            <a:extLst xmlns:a="http://schemas.openxmlformats.org/drawingml/2006/main">
              <a:ext uri="{FF2B5EF4-FFF2-40B4-BE49-F238E27FC236}">
                <a16:creationId xmlns:a16="http://schemas.microsoft.com/office/drawing/2014/main" id="{9CBFA449-AD44-476A-A082-B571F2210CDE}"/>
              </a:ext>
            </a:extLst>
          </p:cNvPr>
          <p:cNvSpPr>
            <a:spLocks xmlns:a="http://schemas.openxmlformats.org/drawingml/2006/main" noGrp="1"/>
          </p:cNvSpPr>
          <p:nvPr/>
        </p:nvSpPr>
        <p:spPr>
          <a:xfrm xmlns:a="http://schemas.openxmlformats.org/drawingml/2006/main">
            <a:off x="8334375" y="5686425"/>
            <a:ext cx="2952750" cy="552450"/>
          </a:xfrm>
          <a:prstGeom xmlns:a="http://schemas.openxmlformats.org/drawingml/2006/main" prst="roundRect">
            <a:avLst>
              <a:gd name="adj" fmla="val 13793"/>
            </a:avLst>
          </a:prstGeom>
          <a:solidFill xmlns:a="http://schemas.openxmlformats.org/drawingml/2006/main">
            <a:srgbClr val="10182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8C884C9-85CB-4992-8D1C-272C8A3DBF41}"/>
              </a:ext>
            </a:extLst>
          </p:cNvPr>
          <p:cNvSpPr>
            <a:spLocks xmlns:a="http://schemas.openxmlformats.org/drawingml/2006/main" noGrp="1"/>
          </p:cNvSpPr>
          <p:nvPr/>
        </p:nvSpPr>
        <p:spPr>
          <a:xfrm xmlns:a="http://schemas.openxmlformats.org/drawingml/2006/main">
            <a:off x="8505825" y="5791200"/>
            <a:ext cx="2647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Working now: historical calculator</a:t>
            </a:r>
          </a:p>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Next: vault execution</a:t>
            </a:r>
          </a:p>
        </p:txBody>
      </p:sp>
    </p:spTree>
    <p:extLst>
      <p:ext uri="{BB962C8B-B14F-4D97-AF65-F5344CB8AC3E}">
        <p14:creationId xmlns:p14="http://schemas.microsoft.com/office/powerpoint/2010/main" val="875210829"/>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F16CB88-24F7-4AEC-AE94-081711C5DDBA}"/>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CA385A4-D6FB-4978-922C-5DAC95394E29}"/>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E9222CB-00F7-48B7-A278-3792AA7E6096}"/>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441CF93D-21F4-4C68-8591-0501E36046F2}"/>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event first</a:t>
            </a:r>
          </a:p>
        </p:txBody>
      </p:sp>
      <p:sp>
        <p:nvSpPr>
          <p:cNvPr id="5" name="">
            <a:extLst xmlns:a="http://schemas.openxmlformats.org/drawingml/2006/main">
              <a:ext uri="{FF2B5EF4-FFF2-40B4-BE49-F238E27FC236}">
                <a16:creationId xmlns:a16="http://schemas.microsoft.com/office/drawing/2014/main" id="{2EC6866B-1F36-4635-90D1-7F74213E7EDE}"/>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A45FFED4-A5ED-4B91-A51D-39D786E35A2E}"/>
              </a:ext>
            </a:extLst>
          </p:cNvPr>
          <p:cNvSpPr>
            <a:spLocks xmlns:a="http://schemas.openxmlformats.org/drawingml/2006/main" noGrp="1"/>
          </p:cNvSpPr>
          <p:nvPr/>
        </p:nvSpPr>
        <p:spPr>
          <a:xfrm xmlns:a="http://schemas.openxmlformats.org/drawingml/2006/main">
            <a:off x="762000" y="184785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HACKATHON TARGET</a:t>
            </a:r>
          </a:p>
        </p:txBody>
      </p:sp>
      <p:sp>
        <p:nvSpPr>
          <p:cNvPr id="7" name="Deposit">
            <a:extLst xmlns:a="http://schemas.openxmlformats.org/drawingml/2006/main">
              <a:ext uri="{FF2B5EF4-FFF2-40B4-BE49-F238E27FC236}">
                <a16:creationId xmlns:a16="http://schemas.microsoft.com/office/drawing/2014/main" id="{D04E02E7-E721-4D4F-A441-510CDDB71D56}"/>
              </a:ext>
            </a:extLst>
          </p:cNvPr>
          <p:cNvSpPr>
            <a:spLocks xmlns:a="http://schemas.openxmlformats.org/drawingml/2006/main" noGrp="1"/>
          </p:cNvSpPr>
          <p:nvPr/>
        </p:nvSpPr>
        <p:spPr>
          <a:xfrm xmlns:a="http://schemas.openxmlformats.org/drawingml/2006/main">
            <a:off x="762000"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1786E183-E1EB-442E-9109-78E28C858D8D}"/>
              </a:ext>
            </a:extLst>
          </p:cNvPr>
          <p:cNvSpPr>
            <a:spLocks xmlns:a="http://schemas.openxmlformats.org/drawingml/2006/main" noGrp="1"/>
          </p:cNvSpPr>
          <p:nvPr/>
        </p:nvSpPr>
        <p:spPr>
          <a:xfrm xmlns:a="http://schemas.openxmlformats.org/drawingml/2006/main">
            <a:off x="914400"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Deposit</a:t>
            </a:r>
          </a:p>
        </p:txBody>
      </p:sp>
      <p:sp>
        <p:nvSpPr>
          <p:cNvPr id="9" name="Split">
            <a:extLst xmlns:a="http://schemas.openxmlformats.org/drawingml/2006/main">
              <a:ext uri="{FF2B5EF4-FFF2-40B4-BE49-F238E27FC236}">
                <a16:creationId xmlns:a16="http://schemas.microsoft.com/office/drawing/2014/main" id="{5DBFC9A5-819E-4C3F-99EB-ED3C97B500E2}"/>
              </a:ext>
            </a:extLst>
          </p:cNvPr>
          <p:cNvSpPr>
            <a:spLocks xmlns:a="http://schemas.openxmlformats.org/drawingml/2006/main" noGrp="1"/>
          </p:cNvSpPr>
          <p:nvPr/>
        </p:nvSpPr>
        <p:spPr>
          <a:xfrm xmlns:a="http://schemas.openxmlformats.org/drawingml/2006/main">
            <a:off x="3476625" y="2419350"/>
            <a:ext cx="1714500" cy="838200"/>
          </a:xfrm>
          <a:prstGeom xmlns:a="http://schemas.openxmlformats.org/drawingml/2006/main" prst="roundRect">
            <a:avLst>
              <a:gd name="adj" fmla="val 13636"/>
            </a:avLst>
          </a:prstGeom>
          <a:solidFill xmlns:a="http://schemas.openxmlformats.org/drawingml/2006/main">
            <a:srgbClr val="EAF0FF"/>
          </a:solidFill>
          <a:ln xmlns:a="http://schemas.openxmlformats.org/drawingml/2006/main" w="9525">
            <a:solidFill>
              <a:srgbClr val="2457F5"/>
            </a:solidFill>
            <a:prstDash val="solid"/>
          </a:ln>
        </p:spPr>
      </p:sp>
      <p:sp>
        <p:nvSpPr>
          <p:cNvPr id="10" name="">
            <a:extLst xmlns:a="http://schemas.openxmlformats.org/drawingml/2006/main">
              <a:ext uri="{FF2B5EF4-FFF2-40B4-BE49-F238E27FC236}">
                <a16:creationId xmlns:a16="http://schemas.microsoft.com/office/drawing/2014/main" id="{96BA9479-5CAA-40B3-9AEC-7D0F4E6E2700}"/>
              </a:ext>
            </a:extLst>
          </p:cNvPr>
          <p:cNvSpPr>
            <a:spLocks xmlns:a="http://schemas.openxmlformats.org/drawingml/2006/main" noGrp="1"/>
          </p:cNvSpPr>
          <p:nvPr/>
        </p:nvSpPr>
        <p:spPr>
          <a:xfrm xmlns:a="http://schemas.openxmlformats.org/drawingml/2006/main">
            <a:off x="362902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2457F5"/>
                </a:solidFill>
                <a:latin typeface="Helvetica Neue"/>
                <a:ea typeface="Helvetica Neue"/>
                <a:cs typeface="Helvetica Neue"/>
              </a:defRPr>
            </a:pPr>
            <a:r>
              <a:rPr sz="1725" b="1">
                <a:solidFill>
                  <a:srgbClr val="2457F5"/>
                </a:solidFill>
                <a:latin typeface="Helvetica Neue"/>
                <a:ea typeface="Helvetica Neue"/>
                <a:cs typeface="Helvetica Neue"/>
              </a:rPr>
              <a:t>Split</a:t>
            </a:r>
          </a:p>
        </p:txBody>
      </p:sp>
      <p:sp>
        <p:nvSpPr>
          <p:cNvPr id="11" name="Sell the dividend claim">
            <a:extLst xmlns:a="http://schemas.openxmlformats.org/drawingml/2006/main">
              <a:ext uri="{FF2B5EF4-FFF2-40B4-BE49-F238E27FC236}">
                <a16:creationId xmlns:a16="http://schemas.microsoft.com/office/drawing/2014/main" id="{0FDC60FC-C416-4996-B30E-2E517B465E1D}"/>
              </a:ext>
            </a:extLst>
          </p:cNvPr>
          <p:cNvSpPr>
            <a:spLocks xmlns:a="http://schemas.openxmlformats.org/drawingml/2006/main" noGrp="1"/>
          </p:cNvSpPr>
          <p:nvPr/>
        </p:nvSpPr>
        <p:spPr>
          <a:xfrm xmlns:a="http://schemas.openxmlformats.org/drawingml/2006/main">
            <a:off x="6191250" y="2419350"/>
            <a:ext cx="2143125" cy="838200"/>
          </a:xfrm>
          <a:prstGeom xmlns:a="http://schemas.openxmlformats.org/drawingml/2006/main" prst="roundRect">
            <a:avLst>
              <a:gd name="adj" fmla="val 13636"/>
            </a:avLst>
          </a:prstGeom>
          <a:solidFill xmlns:a="http://schemas.openxmlformats.org/drawingml/2006/main">
            <a:srgbClr val="F8E8D4"/>
          </a:solidFill>
          <a:ln xmlns:a="http://schemas.openxmlformats.org/drawingml/2006/main" w="9525">
            <a:solidFill>
              <a:srgbClr val="C46A00"/>
            </a:solidFill>
            <a:prstDash val="solid"/>
          </a:ln>
        </p:spPr>
      </p:sp>
      <p:sp>
        <p:nvSpPr>
          <p:cNvPr id="12" name="">
            <a:extLst xmlns:a="http://schemas.openxmlformats.org/drawingml/2006/main">
              <a:ext uri="{FF2B5EF4-FFF2-40B4-BE49-F238E27FC236}">
                <a16:creationId xmlns:a16="http://schemas.microsoft.com/office/drawing/2014/main" id="{0B484DC1-42C7-4E9E-B6E3-40D56137FBCF}"/>
              </a:ext>
            </a:extLst>
          </p:cNvPr>
          <p:cNvSpPr>
            <a:spLocks xmlns:a="http://schemas.openxmlformats.org/drawingml/2006/main" noGrp="1"/>
          </p:cNvSpPr>
          <p:nvPr/>
        </p:nvSpPr>
        <p:spPr>
          <a:xfrm xmlns:a="http://schemas.openxmlformats.org/drawingml/2006/main">
            <a:off x="6343650" y="2609850"/>
            <a:ext cx="1838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a:solidFill>
                  <a:srgbClr val="C46A00"/>
                </a:solidFill>
                <a:latin typeface="Helvetica Neue"/>
                <a:ea typeface="Helvetica Neue"/>
                <a:cs typeface="Helvetica Neue"/>
              </a:defRPr>
            </a:pPr>
            <a:r>
              <a:rPr sz="1575" b="1">
                <a:solidFill>
                  <a:srgbClr val="C46A00"/>
                </a:solidFill>
                <a:latin typeface="Helvetica Neue"/>
                <a:ea typeface="Helvetica Neue"/>
                <a:cs typeface="Helvetica Neue"/>
              </a:rPr>
              <a:t>Sell the dividend claim</a:t>
            </a:r>
          </a:p>
        </p:txBody>
      </p:sp>
      <p:sp>
        <p:nvSpPr>
          <p:cNvPr id="13" name="Redeem separately">
            <a:extLst xmlns:a="http://schemas.openxmlformats.org/drawingml/2006/main">
              <a:ext uri="{FF2B5EF4-FFF2-40B4-BE49-F238E27FC236}">
                <a16:creationId xmlns:a16="http://schemas.microsoft.com/office/drawing/2014/main" id="{B6D3FA9A-02A4-46C9-ADC3-3A2F10C4533F}"/>
              </a:ext>
            </a:extLst>
          </p:cNvPr>
          <p:cNvSpPr>
            <a:spLocks xmlns:a="http://schemas.openxmlformats.org/drawingml/2006/main" noGrp="1"/>
          </p:cNvSpPr>
          <p:nvPr/>
        </p:nvSpPr>
        <p:spPr>
          <a:xfrm xmlns:a="http://schemas.openxmlformats.org/drawingml/2006/main">
            <a:off x="8905875"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14" name="">
            <a:extLst xmlns:a="http://schemas.openxmlformats.org/drawingml/2006/main">
              <a:ext uri="{FF2B5EF4-FFF2-40B4-BE49-F238E27FC236}">
                <a16:creationId xmlns:a16="http://schemas.microsoft.com/office/drawing/2014/main" id="{BEB3FD1A-AB03-41BE-A71E-FF68EB21D066}"/>
              </a:ext>
            </a:extLst>
          </p:cNvPr>
          <p:cNvSpPr>
            <a:spLocks xmlns:a="http://schemas.openxmlformats.org/drawingml/2006/main" noGrp="1"/>
          </p:cNvSpPr>
          <p:nvPr/>
        </p:nvSpPr>
        <p:spPr>
          <a:xfrm xmlns:a="http://schemas.openxmlformats.org/drawingml/2006/main">
            <a:off x="905827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Redeem separately</a:t>
            </a:r>
          </a:p>
        </p:txBody>
      </p:sp>
      <p:cxnSp>
        <p:nvCxnSpPr>
          <p:cNvPr id="39" name=""/>
          <p:cNvCxnSpPr>
            <a:stCxn xmlns:a="http://schemas.openxmlformats.org/drawingml/2006/main" id="7" idx="3"/>
            <a:endCxn xmlns:a="http://schemas.openxmlformats.org/drawingml/2006/main" id="9" idx="1"/>
          </p:cNvCxnSpPr>
          <p:nvPr/>
        </p:nvCxnSpPr>
        <p:spPr>
          <a:xfrm xmlns:a="http://schemas.openxmlformats.org/drawingml/2006/main">
            <a:off x="2476500"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0" name=""/>
          <p:cNvCxnSpPr>
            <a:stCxn xmlns:a="http://schemas.openxmlformats.org/drawingml/2006/main" id="9" idx="3"/>
            <a:endCxn xmlns:a="http://schemas.openxmlformats.org/drawingml/2006/main" id="11" idx="1"/>
          </p:cNvCxnSpPr>
          <p:nvPr/>
        </p:nvCxnSpPr>
        <p:spPr>
          <a:xfrm xmlns:a="http://schemas.openxmlformats.org/drawingml/2006/main">
            <a:off x="5191125"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1" name=""/>
          <p:cNvCxnSpPr>
            <a:stCxn xmlns:a="http://schemas.openxmlformats.org/drawingml/2006/main" id="11" idx="3"/>
            <a:endCxn xmlns:a="http://schemas.openxmlformats.org/drawingml/2006/main" id="13" idx="1"/>
          </p:cNvCxnSpPr>
          <p:nvPr/>
        </p:nvCxnSpPr>
        <p:spPr>
          <a:xfrm xmlns:a="http://schemas.openxmlformats.org/drawingml/2006/main">
            <a:off x="8334375" y="2838450"/>
            <a:ext cx="571500"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sp>
        <p:nvSpPr>
          <p:cNvPr id="18" name="">
            <a:extLst xmlns:a="http://schemas.openxmlformats.org/drawingml/2006/main">
              <a:ext uri="{FF2B5EF4-FFF2-40B4-BE49-F238E27FC236}">
                <a16:creationId xmlns:a16="http://schemas.microsoft.com/office/drawing/2014/main" id="{159B583B-497F-4AD0-B079-89C1B7DF29FA}"/>
              </a:ext>
            </a:extLst>
          </p:cNvPr>
          <p:cNvSpPr>
            <a:spLocks xmlns:a="http://schemas.openxmlformats.org/drawingml/2006/main" noGrp="1"/>
          </p:cNvSpPr>
          <p:nvPr/>
        </p:nvSpPr>
        <p:spPr>
          <a:xfrm xmlns:a="http://schemas.openxmlformats.org/drawingml/2006/main">
            <a:off x="762000" y="3771900"/>
            <a:ext cx="962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1">
                <a:solidFill>
                  <a:srgbClr val="101820"/>
                </a:solidFill>
                <a:latin typeface="Helvetica Neue"/>
                <a:ea typeface="Helvetica Neue"/>
                <a:cs typeface="Helvetica Neue"/>
              </a:defRPr>
            </a:pPr>
            <a:r>
              <a:rPr sz="1950" b="1">
                <a:solidFill>
                  <a:srgbClr val="101820"/>
                </a:solidFill>
                <a:latin typeface="Helvetica Neue"/>
                <a:ea typeface="Helvetica Neue"/>
                <a:cs typeface="Helvetica Neue"/>
              </a:rPr>
              <a:t>Build one complete flow with test assets and a real historical event.</a:t>
            </a:r>
          </a:p>
        </p:txBody>
      </p:sp>
      <p:sp>
        <p:nvSpPr>
          <p:cNvPr id="19" name="">
            <a:extLst xmlns:a="http://schemas.openxmlformats.org/drawingml/2006/main">
              <a:ext uri="{FF2B5EF4-FFF2-40B4-BE49-F238E27FC236}">
                <a16:creationId xmlns:a16="http://schemas.microsoft.com/office/drawing/2014/main" id="{96929790-42D6-484D-B6D8-361D6B6B25A2}"/>
              </a:ext>
            </a:extLst>
          </p:cNvPr>
          <p:cNvSpPr>
            <a:spLocks xmlns:a="http://schemas.openxmlformats.org/drawingml/2006/main" noGrp="1"/>
          </p:cNvSpPr>
          <p:nvPr/>
        </p:nvSpPr>
        <p:spPr>
          <a:xfrm xmlns:a="http://schemas.openxmlformats.org/drawingml/2006/main">
            <a:off x="762000" y="44481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840A2BB-1134-4FC8-836B-9F1B816F7294}"/>
              </a:ext>
            </a:extLst>
          </p:cNvPr>
          <p:cNvSpPr>
            <a:spLocks xmlns:a="http://schemas.openxmlformats.org/drawingml/2006/main" noGrp="1"/>
          </p:cNvSpPr>
          <p:nvPr/>
        </p:nvSpPr>
        <p:spPr>
          <a:xfrm xmlns:a="http://schemas.openxmlformats.org/drawingml/2006/main">
            <a:off x="762000" y="47815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NEXT</a:t>
            </a:r>
          </a:p>
        </p:txBody>
      </p:sp>
      <p:sp>
        <p:nvSpPr>
          <p:cNvPr id="21" name="">
            <a:extLst xmlns:a="http://schemas.openxmlformats.org/drawingml/2006/main">
              <a:ext uri="{FF2B5EF4-FFF2-40B4-BE49-F238E27FC236}">
                <a16:creationId xmlns:a16="http://schemas.microsoft.com/office/drawing/2014/main" id="{58BDD493-43BF-4C42-BD13-AEEB70967A82}"/>
              </a:ext>
            </a:extLst>
          </p:cNvPr>
          <p:cNvSpPr>
            <a:spLocks xmlns:a="http://schemas.openxmlformats.org/drawingml/2006/main" noGrp="1"/>
          </p:cNvSpPr>
          <p:nvPr/>
        </p:nvSpPr>
        <p:spPr>
          <a:xfrm xmlns:a="http://schemas.openxmlformats.org/drawingml/2006/main">
            <a:off x="1981200" y="4705350"/>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025" b="1">
                <a:solidFill>
                  <a:srgbClr val="2457F5"/>
                </a:solidFill>
                <a:latin typeface="Helvetica Neue"/>
                <a:ea typeface="Helvetica Neue"/>
                <a:cs typeface="Helvetica Neue"/>
              </a:defRPr>
            </a:pPr>
            <a:r>
              <a:rPr sz="2025" b="1">
                <a:solidFill>
                  <a:srgbClr val="2457F5"/>
                </a:solidFill>
                <a:latin typeface="Helvetica Neue"/>
                <a:ea typeface="Helvetica Neue"/>
                <a:cs typeface="Helvetica Neue"/>
              </a:rPr>
              <a:t>A future live series</a:t>
            </a:r>
          </a:p>
        </p:txBody>
      </p:sp>
      <p:sp>
        <p:nvSpPr>
          <p:cNvPr id="22" name="">
            <a:extLst xmlns:a="http://schemas.openxmlformats.org/drawingml/2006/main">
              <a:ext uri="{FF2B5EF4-FFF2-40B4-BE49-F238E27FC236}">
                <a16:creationId xmlns:a16="http://schemas.microsoft.com/office/drawing/2014/main" id="{226D0491-09B8-4F4F-BBA9-3433B9440283}"/>
              </a:ext>
            </a:extLst>
          </p:cNvPr>
          <p:cNvSpPr>
            <a:spLocks xmlns:a="http://schemas.openxmlformats.org/drawingml/2006/main" noGrp="1"/>
          </p:cNvSpPr>
          <p:nvPr/>
        </p:nvSpPr>
        <p:spPr>
          <a:xfrm xmlns:a="http://schemas.openxmlformats.org/drawingml/2006/main">
            <a:off x="5572125" y="470535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025" b="1">
                <a:solidFill>
                  <a:srgbClr val="101820"/>
                </a:solidFill>
                <a:latin typeface="Helvetica Neue"/>
                <a:ea typeface="Helvetica Neue"/>
                <a:cs typeface="Helvetica Neue"/>
              </a:defRPr>
            </a:pPr>
            <a:r>
              <a:rPr sz="2025" b="1">
                <a:solidFill>
                  <a:srgbClr val="101820"/>
                </a:solidFill>
                <a:latin typeface="Helvetica Neue"/>
                <a:ea typeface="Helvetica Neue"/>
                <a:cs typeface="Helvetica Neue"/>
              </a:rPr>
              <a:t>then additional stocks and issuers</a:t>
            </a:r>
          </a:p>
        </p:txBody>
      </p:sp>
      <p:sp>
        <p:nvSpPr>
          <p:cNvPr id="23" name="">
            <a:extLst xmlns:a="http://schemas.openxmlformats.org/drawingml/2006/main">
              <a:ext uri="{FF2B5EF4-FFF2-40B4-BE49-F238E27FC236}">
                <a16:creationId xmlns:a16="http://schemas.microsoft.com/office/drawing/2014/main" id="{E618CEC8-3CAD-425E-9A3A-709AD9744F92}"/>
              </a:ext>
            </a:extLst>
          </p:cNvPr>
          <p:cNvSpPr>
            <a:spLocks xmlns:a="http://schemas.openxmlformats.org/drawingml/2006/main" noGrp="1"/>
          </p:cNvSpPr>
          <p:nvPr/>
        </p:nvSpPr>
        <p:spPr>
          <a:xfrm xmlns:a="http://schemas.openxmlformats.org/drawingml/2006/main">
            <a:off x="762000" y="54483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Backpack is a candidate once its corporate-action data is verified.</a:t>
            </a:r>
          </a:p>
        </p:txBody>
      </p:sp>
      <p:sp>
        <p:nvSpPr>
          <p:cNvPr id="24" name="">
            <a:extLst xmlns:a="http://schemas.openxmlformats.org/drawingml/2006/main">
              <a:ext uri="{FF2B5EF4-FFF2-40B4-BE49-F238E27FC236}">
                <a16:creationId xmlns:a16="http://schemas.microsoft.com/office/drawing/2014/main" id="{225ACC40-9BBB-4A04-8DE1-670821B3A83B}"/>
              </a:ext>
            </a:extLst>
          </p:cNvPr>
          <p:cNvSpPr>
            <a:spLocks xmlns:a="http://schemas.openxmlformats.org/drawingml/2006/main" noGrp="1"/>
          </p:cNvSpPr>
          <p:nvPr/>
        </p:nvSpPr>
        <p:spPr>
          <a:xfrm xmlns:a="http://schemas.openxmlformats.org/drawingml/2006/main">
            <a:off x="762000" y="6115050"/>
            <a:ext cx="895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Keep the stock exposure. Sell the dividend rights.</a:t>
            </a:r>
          </a:p>
        </p:txBody>
      </p:sp>
    </p:spTree>
    <p:extLst>
      <p:ext uri="{BB962C8B-B14F-4D97-AF65-F5344CB8AC3E}">
        <p14:creationId xmlns:p14="http://schemas.microsoft.com/office/powerpoint/2010/main" val="1745632656"/>
      </p:ext>
    </p:extLst>
  </p:cSld>
</p:sld>
</file>

<file path=ppt/theme/theme1.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2026-09-16T04:42:20.9790000Z</dcterms:created>
  <dcterms:modified xsi:type="dcterms:W3CDTF">2026-09-16T04:42:20.9790000Z</dcterms:modified>
</coreProperties>
</file>