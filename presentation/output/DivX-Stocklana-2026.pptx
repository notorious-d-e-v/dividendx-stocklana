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bd48526fcdc42d4" /><Relationship Type="http://schemas.openxmlformats.org/officeDocument/2006/relationships/extended-properties" Target="/docProps/app.xml" Id="Rafe9e1dc4104441e" /><Relationship Type="http://schemas.openxmlformats.org/officeDocument/2006/relationships/officeDocument" Target="/ppt/presentation.xml" Id="Rde2baebdd4d54afd" /></Relationships>
</file>

<file path=ppt/presentation.xml><?xml version="1.0" encoding="utf-8"?>
<p:presentation xmlns:p="http://schemas.openxmlformats.org/presentationml/2006/main">
  <p:sldMasterIdLst>
    <p:sldMasterId xmlns:r="http://schemas.openxmlformats.org/officeDocument/2006/relationships" id="2147483648" r:id="Rce5a7016dab0419a"/>
  </p:sldMasterIdLst>
  <p:notesMasterIdLst>
    <p:notesMasterId xmlns:r="http://schemas.openxmlformats.org/officeDocument/2006/relationships" r:id="Rd7603cd292064ed8"/>
  </p:notesMasterIdLst>
  <p:sldIdLst>
    <p:sldId xmlns:r="http://schemas.openxmlformats.org/officeDocument/2006/relationships" id="256" r:id="Rdd5dde7db7d14d97"/>
    <p:sldId xmlns:r="http://schemas.openxmlformats.org/officeDocument/2006/relationships" id="257" r:id="R9108b5df3f5c4435"/>
    <p:sldId xmlns:r="http://schemas.openxmlformats.org/officeDocument/2006/relationships" id="258" r:id="R024d3b33159f4069"/>
    <p:sldId xmlns:r="http://schemas.openxmlformats.org/officeDocument/2006/relationships" id="259" r:id="Rb1b7a284241b4313"/>
    <p:sldId xmlns:r="http://schemas.openxmlformats.org/officeDocument/2006/relationships" id="260" r:id="Rab242021e155491f"/>
    <p:sldId xmlns:r="http://schemas.openxmlformats.org/officeDocument/2006/relationships" id="261" r:id="R5a7598864dd94f2d"/>
    <p:sldId xmlns:r="http://schemas.openxmlformats.org/officeDocument/2006/relationships" id="262" r:id="R8ddcec5423c4451f"/>
    <p:sldId xmlns:r="http://schemas.openxmlformats.org/officeDocument/2006/relationships" id="263" r:id="R8cbcf6a630d24f17"/>
    <p:sldId xmlns:r="http://schemas.openxmlformats.org/officeDocument/2006/relationships" id="264" r:id="Raffa7e28f8b1445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6cbe5ffe5074e52" /><Relationship Type="http://schemas.openxmlformats.org/officeDocument/2006/relationships/slideMaster" Target="/ppt/slideMasters/slideMaster1.xml" Id="Rce5a7016dab0419a" /><Relationship Type="http://schemas.openxmlformats.org/officeDocument/2006/relationships/notesMaster" Target="/ppt/notesMasters/notesMaster1.xml" Id="Rd7603cd292064ed8" /><Relationship Type="http://schemas.openxmlformats.org/officeDocument/2006/relationships/presProps" Target="/ppt/presProps.xml" Id="R88695c461def4c50" /><Relationship Type="http://schemas.openxmlformats.org/officeDocument/2006/relationships/tableStyles" Target="/ppt/tableStyles.xml" Id="R533144a402534eef" /><Relationship Type="http://schemas.openxmlformats.org/officeDocument/2006/relationships/slide" Target="/ppt/slides/slide1.xml" Id="Rdd5dde7db7d14d97" /><Relationship Type="http://schemas.openxmlformats.org/officeDocument/2006/relationships/slide" Target="/ppt/slides/slide2.xml" Id="R9108b5df3f5c4435" /><Relationship Type="http://schemas.openxmlformats.org/officeDocument/2006/relationships/slide" Target="/ppt/slides/slide3.xml" Id="R024d3b33159f4069" /><Relationship Type="http://schemas.openxmlformats.org/officeDocument/2006/relationships/slide" Target="/ppt/slides/slide4.xml" Id="Rb1b7a284241b4313" /><Relationship Type="http://schemas.openxmlformats.org/officeDocument/2006/relationships/slide" Target="/ppt/slides/slide5.xml" Id="Rab242021e155491f" /><Relationship Type="http://schemas.openxmlformats.org/officeDocument/2006/relationships/slide" Target="/ppt/slides/slide6.xml" Id="R5a7598864dd94f2d" /><Relationship Type="http://schemas.openxmlformats.org/officeDocument/2006/relationships/slide" Target="/ppt/slides/slide7.xml" Id="R8ddcec5423c4451f" /><Relationship Type="http://schemas.openxmlformats.org/officeDocument/2006/relationships/slide" Target="/ppt/slides/slide8.xml" Id="R8cbcf6a630d24f17" /><Relationship Type="http://schemas.openxmlformats.org/officeDocument/2006/relationships/slide" Target="/ppt/slides/slide9.xml" Id="Raffa7e28f8b1445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5d540167f214be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DivX">
      <a:dk1>
        <a:srgbClr val="101820"/>
      </a:dk1>
      <a:lt1>
        <a:srgbClr val="FFFEFB"/>
      </a:lt1>
      <a:dk2>
        <a:srgbClr val="53606B"/>
      </a:dk2>
      <a:lt2>
        <a:srgbClr val="F6F3EC"/>
      </a:lt2>
      <a:accent1>
        <a:srgbClr val="2457F5"/>
      </a:accent1>
      <a:accent2>
        <a:srgbClr val="C46A00"/>
      </a:accent2>
      <a:accent3>
        <a:srgbClr val="087F5B"/>
      </a:accent3>
      <a:accent4>
        <a:srgbClr val="B42318"/>
      </a:accent4>
      <a:accent5>
        <a:srgbClr val="6B4EFF"/>
      </a:accent5>
      <a:accent6>
        <a:srgbClr val="53606B"/>
      </a:accent6>
      <a:hlink>
        <a:srgbClr val="2457F5"/>
      </a:hlink>
      <a:folHlink>
        <a:srgbClr val="1639A6"/>
      </a:folHlink>
    </a:clrScheme>
    <a:fontScheme name="Office">
      <a:majorFont>
        <a:latin typeface="Calibri Light"/>
        <a:ea typeface="Calibri Light"/>
        <a:cs typeface="Calibri Light"/>
      </a:majorFont>
      <a:minorFont>
        <a:latin typeface="Calibri"/>
        <a:ea typeface="Calibri"/>
        <a:cs typeface="Calibri"/>
      </a:minorFont>
    </a:fontScheme>
    <a:fmtScheme name="DivX">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d6efc9b6896430c" /><Relationship Type="http://schemas.openxmlformats.org/officeDocument/2006/relationships/notesMaster" Target="/ppt/notesMasters/notesMaster1.xml" Id="R884dde38c615423b" /></Relationships>
</file>

<file path=ppt/notesSlides/_rels/notesSlide2.xml.rels>&#65279;<?xml version="1.0" encoding="utf-8"?><Relationships xmlns="http://schemas.openxmlformats.org/package/2006/relationships"><Relationship Type="http://schemas.openxmlformats.org/officeDocument/2006/relationships/slide" Target="/ppt/slides/slide2.xml" Id="Rf0c941a5409e4e43" /><Relationship Type="http://schemas.openxmlformats.org/officeDocument/2006/relationships/notesMaster" Target="/ppt/notesMasters/notesMaster1.xml" Id="R4a9fec6018b84345" /></Relationships>
</file>

<file path=ppt/notesSlides/_rels/notesSlide3.xml.rels>&#65279;<?xml version="1.0" encoding="utf-8"?><Relationships xmlns="http://schemas.openxmlformats.org/package/2006/relationships"><Relationship Type="http://schemas.openxmlformats.org/officeDocument/2006/relationships/slide" Target="/ppt/slides/slide3.xml" Id="R0e28adec266d48c5" /><Relationship Type="http://schemas.openxmlformats.org/officeDocument/2006/relationships/notesMaster" Target="/ppt/notesMasters/notesMaster1.xml" Id="Raf73a7ac191242aa" /></Relationships>
</file>

<file path=ppt/notesSlides/_rels/notesSlide4.xml.rels>&#65279;<?xml version="1.0" encoding="utf-8"?><Relationships xmlns="http://schemas.openxmlformats.org/package/2006/relationships"><Relationship Type="http://schemas.openxmlformats.org/officeDocument/2006/relationships/slide" Target="/ppt/slides/slide4.xml" Id="R26b9cb06ffb54fe0" /><Relationship Type="http://schemas.openxmlformats.org/officeDocument/2006/relationships/notesMaster" Target="/ppt/notesMasters/notesMaster1.xml" Id="R9a0b448deaf547fc" /></Relationships>
</file>

<file path=ppt/notesSlides/_rels/notesSlide5.xml.rels>&#65279;<?xml version="1.0" encoding="utf-8"?><Relationships xmlns="http://schemas.openxmlformats.org/package/2006/relationships"><Relationship Type="http://schemas.openxmlformats.org/officeDocument/2006/relationships/slide" Target="/ppt/slides/slide5.xml" Id="R47bd3f4eef844dda" /><Relationship Type="http://schemas.openxmlformats.org/officeDocument/2006/relationships/notesMaster" Target="/ppt/notesMasters/notesMaster1.xml" Id="R13d4814ace174fe5" /></Relationships>
</file>

<file path=ppt/notesSlides/_rels/notesSlide6.xml.rels>&#65279;<?xml version="1.0" encoding="utf-8"?><Relationships xmlns="http://schemas.openxmlformats.org/package/2006/relationships"><Relationship Type="http://schemas.openxmlformats.org/officeDocument/2006/relationships/slide" Target="/ppt/slides/slide6.xml" Id="R4dfae18474524d26" /><Relationship Type="http://schemas.openxmlformats.org/officeDocument/2006/relationships/notesMaster" Target="/ppt/notesMasters/notesMaster1.xml" Id="R3a89e98d1a044aaa" /></Relationships>
</file>

<file path=ppt/notesSlides/_rels/notesSlide7.xml.rels>&#65279;<?xml version="1.0" encoding="utf-8"?><Relationships xmlns="http://schemas.openxmlformats.org/package/2006/relationships"><Relationship Type="http://schemas.openxmlformats.org/officeDocument/2006/relationships/slide" Target="/ppt/slides/slide7.xml" Id="Re37058476cdb477f" /><Relationship Type="http://schemas.openxmlformats.org/officeDocument/2006/relationships/notesMaster" Target="/ppt/notesMasters/notesMaster1.xml" Id="Rdd7216a475bb4659" /></Relationships>
</file>

<file path=ppt/notesSlides/_rels/notesSlide8.xml.rels>&#65279;<?xml version="1.0" encoding="utf-8"?><Relationships xmlns="http://schemas.openxmlformats.org/package/2006/relationships"><Relationship Type="http://schemas.openxmlformats.org/officeDocument/2006/relationships/slide" Target="/ppt/slides/slide8.xml" Id="R711c88dc691c4f49" /><Relationship Type="http://schemas.openxmlformats.org/officeDocument/2006/relationships/notesMaster" Target="/ppt/notesMasters/notesMaster1.xml" Id="Ra451735b27ba473d" /></Relationships>
</file>

<file path=ppt/notesSlides/_rels/notesSlide9.xml.rels>&#65279;<?xml version="1.0" encoding="utf-8"?><Relationships xmlns="http://schemas.openxmlformats.org/package/2006/relationships"><Relationship Type="http://schemas.openxmlformats.org/officeDocument/2006/relationships/slide" Target="/ppt/slides/slide9.xml" Id="R7e68fe013d27489b" /><Relationship Type="http://schemas.openxmlformats.org/officeDocument/2006/relationships/notesMaster" Target="/ppt/notesMasters/notesMaster1.xml" Id="R430c94038d4b439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DivX lets you keep the stock exposure and sell the right to a year of dividends. A dividend is a payment a company makes to its shareholders. We built this for Stocklana on Solana. The program and demo work today with test assets.</a:t>
            </a:r>
          </a:p>
          <a:p xmlns:a="http://schemas.openxmlformats.org/drawingml/2006/main">
            <a:r>
              <a:t>Presenter notes: Working annual-claims prototype with synthetic test assets. No mainnet launch, qualified live issuer settlement or partnership claim.</a:t>
            </a:r>
          </a:p>
          <a:p xmlns:a="http://schemas.openxmlformats.org/drawingml/2006/main">
            <a:r>
              <a:t>Sources and evidence: planning/mainnet-readiness-2026-09-20.md | https://hackathons.solana.com/hackathons/stocklana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People already trade dividends separately in traditional finance. Banks use dividend contracts to manage risk from structured products. Investment funds buy exposure to future dividends. DivX brings that choice to people who hold tokenized stocks.</a:t>
            </a:r>
          </a:p>
          <a:p xmlns:a="http://schemas.openxmlformats.org/drawingml/2006/main">
            <a:r>
              <a:t>Presenter notes: The institutions shown are participants in traditional dividend markets, not DivX users. Bank direction varies by book and tenor; hedge funds can buy or sell. Traditional dividend futures and swaps are generally cash-settled. DivX allocates collateral in the deposited stock token, and proceeds require a willing buyer at an agreed price.</a:t>
            </a:r>
          </a:p>
          <a:p xmlns:a="http://schemas.openxmlformats.org/drawingml/2006/main">
            <a:r>
              <a:t>Sources and evidence: Eurex 2025 whitepaper, pp. 31–32: https://www.eurex.com/resource/blob/4418754/f90fd622a278beb08757729864e93925/data/whitepaper-derivatives-forum-frankfurt-2025.pdf | CME, Trading Dividend Uncertainty, 2024: https://www.cmegroup.com/articles/2024/trading-dividend-uncertainty.html | CME dividend-futures primer, 2024: https://www.cmegroup.com/articles/2024/equity-index-dividend-futures-a-primer.html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In this example, deposit 100 stock tokens into a vault. Receive 100 PT for the stock exposure and 100 DR for the year’s dividend rights. The stock tokens stay in the vault. You can keep, transfer or trade each side. The counts describe claims, not a promised dividend amount.</a:t>
            </a:r>
          </a:p>
          <a:p xmlns:a="http://schemas.openxmlformats.org/drawingml/2006/main">
            <a:r>
              <a:t>Presenter notes: Illustrative 100-unit display, not a 50/50 value allocation or guaranteed payout. PT and DR redeem in the deposited token; their dollar values can change. Raw issuance is one raw PT and one raw DR per deposited raw unit; displayed counts depend on series denomination and scaling.</a:t>
            </a:r>
          </a:p>
          <a:p xmlns:a="http://schemas.openxmlformats.org/drawingml/2006/main">
            <a:r>
              <a:t>Sources and evidence: spec/annual-series-accounting.md | design/illustrations/assets/deposit-vault-claims-v1.png | design/illustrations/social/deposit-split-counts-v2.jpg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More than 21 million dividend contracts traded on Eurex in 2024. In crypto, Pendle separates principal from future yield. These markets show that people want to trade income separately from an asset. DivX brings that idea to stock tokens.</a:t>
            </a:r>
          </a:p>
          <a:p xmlns:a="http://schemas.openxmlformats.org/drawingml/2006/main">
            <a:r>
              <a:t>Presenter notes: Historical precedents validate the use case, not demand for DivX or the safety of this implementation. The Eurex figure measures contracts traded, not dollars of liquidity.</a:t>
            </a:r>
          </a:p>
          <a:p xmlns:a="http://schemas.openxmlformats.org/drawingml/2006/main">
            <a:r>
              <a:t>Sources and evidence: https://www.eurex.com/ex-en/find/news-center/news/Eurex-dividend-options-received-CFTC-approval-for-trading-in-the-U.S.--4248358 | https://docs.pendle.finance/pendle-v2/ProtocolMechanics/YieldTokenization/PT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Each stock token and year has its own series. Deposits close when the year starts. DR accumulates qualified dividends with ex-dates in that year. Matching PT and DR can be put back together. Once the year ends and its records are finalized, each side can redeem separately. Accumulated dividend rights do not expire.</a:t>
            </a:r>
          </a:p>
          <a:p xmlns:a="http://schemas.openxmlformats.org/drawingml/2006/main">
            <a:r>
              <a:t>Presenter notes: Qualified official ex-dates determine the annual event set. Maturity stops new accrual eligibility; finalization requires complete, resolved records and may occur later. Cancellations, corrections, unsupported actions and cumulative rounding are tested. Unsupported actions block unsafe finalization. DR transfers include accrued allocation. Reinvested dividends settle in stock tokens, not guaranteed cash. A matching pair cannot erase previously transferred claims.</a:t>
            </a:r>
          </a:p>
          <a:p xmlns:a="http://schemas.openxmlformats.org/drawingml/2006/main">
            <a:r>
              <a:t>Sources and evidence: spec/annual-series-accounting.md | planning/program-review.md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Stock-token trading is already happening on Solana. Galaxy reports that its share reached over 95 percent during the second quarter of 2026. We want to start where the activity is and give that capital more things to do. Fast settlement, fractional positions and auditable records make both tokens useful to other builders.</a:t>
            </a:r>
          </a:p>
          <a:p xmlns:a="http://schemas.openxmlformats.org/drawingml/2006/main">
            <a:r>
              <a:t>Presenter notes: The metric is tokenized-equity trading share reached during Q2 2026. It is not total RWA liquidity, a quarter average, or current market share. Auditability means visible program records, not audit certification or proof of issuer reserves. Asset composition follows the approved why-Solana social illustration while keeping slide text editable.</a:t>
            </a:r>
          </a:p>
          <a:p xmlns:a="http://schemas.openxmlformats.org/drawingml/2006/main">
            <a:r>
              <a:t>Sources and evidence: https://www.galaxy.com/insights/research/solana-q2-2026-report-tokenized-economy-dex-rwa-stablecoins | design/illustrations/social/why-solana-v1.jpg | design/illustrations/assets/stock-and-dividend-composability-v1.png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We have demonstrated a dividend-right market using Raydium with test assets. Next, compatible markets could use Meteora for liquidity and Jupiter for routing and orders. Streamflow could support agreed-price sales. Jupiter Lock and Streamflow could schedule delivery, while Squads could manage a shared treasury. Lending comes later, with reliable prices and enough liquidity.</a:t>
            </a:r>
          </a:p>
          <a:p xmlns:a="http://schemas.openxmlformats.org/drawingml/2006/main">
            <a:r>
              <a:t>Presenter notes: No partnerships, mainnet markets or automatic listings are implied. Test Raydium execution is proved separately on public devnet and captured-program private chains. Other named integrations remain proposed, not implemented. Jupiter routing/orders need eligible venues and liquidity. Rolling products must change annual vintages; a DCA cannot reopen closed issuance. Locking schedules token delivery, not DivX dividend accrual. Treasury support requires client and mint compatibility.</a:t>
            </a:r>
          </a:p>
          <a:p xmlns:a="http://schemas.openxmlformats.org/drawingml/2006/main">
            <a:r>
              <a:t>Sources and evidence: planning/amm-review.md | presentation/divx-article-draft.md | planning/research/defi-demo-sequence.md | https://docs.meteora.ag/ | https://support.jup.ag/ | https://lock.jup.ag/ | https://docs.streamflow.finance/en/articles/11514590-create-an-order | https://docs.squads.so/main/getting-started/treasury-management-overview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The guided tour lets anyone split a stock token, put it back together, see the dividend effect and trade dividend rights with a second wallet. It runs real program transactions in a private sandbox with synthetic assets and accelerated time. The public devnet app uses the real calendar. Our test catalog represents selected stocks from Ondo, Backpack and xStocks.</a:t>
            </a:r>
          </a:p>
          <a:p xmlns:a="http://schemas.openxmlformats.org/drawingml/2006/main">
            <a:r>
              <a:t>Presenter notes: The public devnet series remains on real 2027 calendar time; independent redemption is not available until maturity and finalization. The guided tour executes actual program instructions on an isolated private chain with synthetic balances/events and captured Raydium bytecode. Fifteen synthetic issuer-specific profiles span six companies; these are not real mainnet issuer mints. No selected issuer is qualified for live custody/settlement. Preview screenshot is existing approved product imagery, not fresh transaction proof.</a:t>
            </a:r>
          </a:p>
          <a:p xmlns:a="http://schemas.openxmlformats.org/drawingml/2006/main">
            <a:r>
              <a:t>Sources and evidence: https://divx.payai.network/demos/ | https://divx.payai.network/app/ | https://solscan.io/account/2EpQ2iKz921Ce2rremdnFrqG15DQq3Y2rSXbgixceDQE?cluster=devnet | planning/mainnet-readiness-2026-09-20.md | planning/guided-lazy-entry-review-2026-09-21.md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The annual program, transaction SDK and guided demo are working. Before mainnet, we need complete issuer records, reviewed settlement operations, independent security review and legal and issuer checks. More liquidity, rolling dividend strategies and other networks come later. Try the guided demo at divx.payai.network. No wallet or real funds are needed.</a:t>
            </a:r>
          </a:p>
          <a:p xmlns:a="http://schemas.openxmlformats.org/drawingml/2006/main">
            <a:r>
              <a:t>Presenter notes: Mainnet requires explicit custody admission, complete qualified event feeds, attestor governance, corrections and incident policy, independent security review, monitoring, issuer-term/legal review, and liquidity. Current software is a tested prototype, not a live issuer settlement service. Named issuer families are selected research/test scope, not endorsements.</a:t>
            </a:r>
          </a:p>
          <a:p xmlns:a="http://schemas.openxmlformats.org/drawingml/2006/main">
            <a:r>
              <a:t>Sources and evidence: planning/mainnet-readiness-2026-09-20.md | https://divx.payai.network/ | https://github.com/notorious-d-e-v/dividendx-stocklana | https://hackathons.solana.com/hackathons/stocklana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3bb050b7b09428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95091f989d44031" /><Relationship Type="http://schemas.openxmlformats.org/officeDocument/2006/relationships/slideLayout" Target="/ppt/slideLayouts/slideLayout1.xml" Id="R4efe8309c0df45b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efe8309c0df45b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DivX">
      <a:dk1>
        <a:srgbClr val="101820"/>
      </a:dk1>
      <a:lt1>
        <a:srgbClr val="FFFEFB"/>
      </a:lt1>
      <a:dk2>
        <a:srgbClr val="53606B"/>
      </a:dk2>
      <a:lt2>
        <a:srgbClr val="F6F3EC"/>
      </a:lt2>
      <a:accent1>
        <a:srgbClr val="2457F5"/>
      </a:accent1>
      <a:accent2>
        <a:srgbClr val="C46A00"/>
      </a:accent2>
      <a:accent3>
        <a:srgbClr val="087F5B"/>
      </a:accent3>
      <a:accent4>
        <a:srgbClr val="B42318"/>
      </a:accent4>
      <a:accent5>
        <a:srgbClr val="6B4EFF"/>
      </a:accent5>
      <a:accent6>
        <a:srgbClr val="53606B"/>
      </a:accent6>
      <a:hlink>
        <a:srgbClr val="2457F5"/>
      </a:hlink>
      <a:folHlink>
        <a:srgbClr val="1639A6"/>
      </a:folHlink>
    </a:clrScheme>
    <a:fontScheme name="Office">
      <a:majorFont>
        <a:latin typeface="Calibri Light"/>
        <a:ea typeface="Calibri Light"/>
        <a:cs typeface="Calibri Light"/>
      </a:majorFont>
      <a:minorFont>
        <a:latin typeface="Calibri"/>
        <a:ea typeface="Calibri"/>
        <a:cs typeface="Calibri"/>
      </a:minorFont>
    </a:fontScheme>
    <a:fmtScheme name="DivX">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2181b25a3424cef" /><Relationship Type="http://schemas.openxmlformats.org/officeDocument/2006/relationships/notesSlide" Target="/ppt/notesSlides/notesSlide1.xml" Id="R604d9e2a0dd34bb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d70a11068b34c60" /><Relationship Type="http://schemas.openxmlformats.org/officeDocument/2006/relationships/notesSlide" Target="/ppt/notesSlides/notesSlide2.xml" Id="R04b540e824894ce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3eddafd844c4202" /><Relationship Type="http://schemas.openxmlformats.org/officeDocument/2006/relationships/image" Target="/ppt/media/image.png" Id="R3822230d660c4c64" /><Relationship Type="http://schemas.openxmlformats.org/officeDocument/2006/relationships/notesSlide" Target="/ppt/notesSlides/notesSlide3.xml" Id="R98425a6ed6e24b1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06a659c30714203" /><Relationship Type="http://schemas.openxmlformats.org/officeDocument/2006/relationships/notesSlide" Target="/ppt/notesSlides/notesSlide4.xml" Id="Re7837cb70844467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9083c8406374cd6" /><Relationship Type="http://schemas.openxmlformats.org/officeDocument/2006/relationships/notesSlide" Target="/ppt/notesSlides/notesSlide5.xml" Id="R537597aa5cea415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3b009bd32b9475f" /><Relationship Type="http://schemas.openxmlformats.org/officeDocument/2006/relationships/image" Target="/ppt/media/image2.png" Id="Rd9504d619fae4ca6" /><Relationship Type="http://schemas.openxmlformats.org/officeDocument/2006/relationships/notesSlide" Target="/ppt/notesSlides/notesSlide6.xml" Id="R8f6d9d0e594941f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d0a65b153a74bf7" /><Relationship Type="http://schemas.openxmlformats.org/officeDocument/2006/relationships/notesSlide" Target="/ppt/notesSlides/notesSlide7.xml" Id="R99a609a2063a44f8"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541d43b1923f43a8" /><Relationship Type="http://schemas.openxmlformats.org/officeDocument/2006/relationships/image" Target="/ppt/media/image.jpeg" Id="R3b51eb5c69984651" /><Relationship Type="http://schemas.openxmlformats.org/officeDocument/2006/relationships/notesSlide" Target="/ppt/notesSlides/notesSlide8.xml" Id="R68b70d0831eb4cd7"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88e8063040f041d0" /><Relationship Type="http://schemas.openxmlformats.org/officeDocument/2006/relationships/notesSlide" Target="/ppt/notesSlides/notesSlide9.xml" Id="R7482136ba61d4e32" /></Relationships>
</file>

<file path=ppt/slides/slide1.xml><?xml version="1.0" encoding="utf-8"?>
<p:sld xmlns:p="http://schemas.openxmlformats.org/presentationml/2006/main">
  <p:cSld>
    <p:bg>
      <p:bgPr>
        <a:solidFill xmlns:a="http://schemas.openxmlformats.org/drawingml/2006/main">
          <a:srgbClr val="101820"/>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648D554-4D37-4CB0-8541-AE60561033EE}"/>
              </a:ext>
            </a:extLst>
          </p:cNvPr>
          <p:cNvSpPr>
            <a:spLocks xmlns:a="http://schemas.openxmlformats.org/drawingml/2006/main" noGrp="1"/>
          </p:cNvSpPr>
          <p:nvPr/>
        </p:nvSpPr>
        <p:spPr>
          <a:xfrm xmlns:a="http://schemas.openxmlformats.org/drawingml/2006/main" rot="2700000">
            <a:off x="781050" y="666750"/>
            <a:ext cx="171450" cy="171450"/>
          </a:xfrm>
          <a:prstGeom xmlns:a="http://schemas.openxmlformats.org/drawingml/2006/main" prst="rect">
            <a:avLst/>
          </a:prstGeom>
          <a:solidFill xmlns:a="http://schemas.openxmlformats.org/drawingml/2006/main">
            <a:srgbClr val="7292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9B83D4F-4166-4C98-A6ED-95D407B70684}"/>
              </a:ext>
            </a:extLst>
          </p:cNvPr>
          <p:cNvSpPr>
            <a:spLocks xmlns:a="http://schemas.openxmlformats.org/drawingml/2006/main" noGrp="1"/>
          </p:cNvSpPr>
          <p:nvPr/>
        </p:nvSpPr>
        <p:spPr>
          <a:xfrm xmlns:a="http://schemas.openxmlformats.org/drawingml/2006/main" rot="2700000">
            <a:off x="923925" y="809625"/>
            <a:ext cx="171450" cy="171450"/>
          </a:xfrm>
          <a:prstGeom xmlns:a="http://schemas.openxmlformats.org/drawingml/2006/main" prst="rect">
            <a:avLst/>
          </a:prstGeom>
          <a:solidFill xmlns:a="http://schemas.openxmlformats.org/drawingml/2006/main">
            <a:srgbClr val="FFB65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62645D37-C8E6-46E4-ACC8-0F4E22112756}"/>
              </a:ext>
            </a:extLst>
          </p:cNvPr>
          <p:cNvSpPr>
            <a:spLocks xmlns:a="http://schemas.openxmlformats.org/drawingml/2006/main" noGrp="1"/>
          </p:cNvSpPr>
          <p:nvPr/>
        </p:nvSpPr>
        <p:spPr>
          <a:xfrm xmlns:a="http://schemas.openxmlformats.org/drawingml/2006/main">
            <a:off x="1152525" y="657225"/>
            <a:ext cx="161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DivX</a:t>
            </a:r>
          </a:p>
        </p:txBody>
      </p:sp>
      <p:sp>
        <p:nvSpPr>
          <p:cNvPr id="4" name="">
            <a:extLst xmlns:a="http://schemas.openxmlformats.org/drawingml/2006/main">
              <a:ext uri="{FF2B5EF4-FFF2-40B4-BE49-F238E27FC236}">
                <a16:creationId xmlns:a16="http://schemas.microsoft.com/office/drawing/2014/main" id="{CCBDEDEC-96D4-49DB-B9B8-C8089B3CE28B}"/>
              </a:ext>
            </a:extLst>
          </p:cNvPr>
          <p:cNvSpPr>
            <a:spLocks xmlns:a="http://schemas.openxmlformats.org/drawingml/2006/main" noGrp="1"/>
          </p:cNvSpPr>
          <p:nvPr/>
        </p:nvSpPr>
        <p:spPr>
          <a:xfrm xmlns:a="http://schemas.openxmlformats.org/drawingml/2006/main">
            <a:off x="781050" y="139065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AAB2BA"/>
                </a:solidFill>
                <a:latin typeface="Helvetica Neue"/>
                <a:ea typeface="Helvetica Neue"/>
                <a:cs typeface="Helvetica Neue"/>
              </a:defRPr>
            </a:pPr>
            <a:r>
              <a:rPr sz="900" b="1">
                <a:solidFill>
                  <a:srgbClr val="AAB2BA"/>
                </a:solidFill>
                <a:latin typeface="Helvetica Neue"/>
                <a:ea typeface="Helvetica Neue"/>
                <a:cs typeface="Helvetica Neue"/>
              </a:rPr>
              <a:t>STOCKLANA PROTOTYPE · SEPTEMBER 2026</a:t>
            </a:r>
          </a:p>
        </p:txBody>
      </p:sp>
      <p:sp>
        <p:nvSpPr>
          <p:cNvPr id="5" name="">
            <a:extLst xmlns:a="http://schemas.openxmlformats.org/drawingml/2006/main">
              <a:ext uri="{FF2B5EF4-FFF2-40B4-BE49-F238E27FC236}">
                <a16:creationId xmlns:a16="http://schemas.microsoft.com/office/drawing/2014/main" id="{7FC9C1D1-8AE9-4F26-B410-3F77E183DD61}"/>
              </a:ext>
            </a:extLst>
          </p:cNvPr>
          <p:cNvSpPr>
            <a:spLocks xmlns:a="http://schemas.openxmlformats.org/drawingml/2006/main" noGrp="1"/>
          </p:cNvSpPr>
          <p:nvPr/>
        </p:nvSpPr>
        <p:spPr>
          <a:xfrm xmlns:a="http://schemas.openxmlformats.org/drawingml/2006/main">
            <a:off x="781050" y="2114550"/>
            <a:ext cx="981075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800" b="1">
                <a:solidFill>
                  <a:srgbClr val="FFFFFF"/>
                </a:solidFill>
                <a:latin typeface="Helvetica Neue"/>
                <a:ea typeface="Helvetica Neue"/>
                <a:cs typeface="Helvetica Neue"/>
              </a:defRPr>
            </a:pPr>
            <a:r>
              <a:rPr b="1">
                <a:solidFill>
                  <a:srgbClr val="7292FF"/>
                </a:solidFill>
                <a:latin typeface="Helvetica Neue"/>
                <a:ea typeface="Helvetica Neue"/>
                <a:cs typeface="Helvetica Neue"/>
              </a:rPr>
              <a:t>Keep the stock exposure.</a:t>
            </a:r>
            <a:r>
              <a:rPr b="1">
                <a:solidFill>
                  <a:srgbClr val="FFB657"/>
                </a:solidFill>
                <a:latin typeface="Helvetica Neue"/>
                <a:ea typeface="Helvetica Neue"/>
                <a:cs typeface="Helvetica Neue"/>
              </a:rPr>
              <a:t>
Sell the dividend rights.</a:t>
            </a:r>
          </a:p>
        </p:txBody>
      </p:sp>
      <p:sp>
        <p:nvSpPr>
          <p:cNvPr id="6" name="">
            <a:extLst xmlns:a="http://schemas.openxmlformats.org/drawingml/2006/main">
              <a:ext uri="{FF2B5EF4-FFF2-40B4-BE49-F238E27FC236}">
                <a16:creationId xmlns:a16="http://schemas.microsoft.com/office/drawing/2014/main" id="{E28CF3AC-A541-4B00-8428-32D0F0C5F4B7}"/>
              </a:ext>
            </a:extLst>
          </p:cNvPr>
          <p:cNvSpPr>
            <a:spLocks xmlns:a="http://schemas.openxmlformats.org/drawingml/2006/main" noGrp="1"/>
          </p:cNvSpPr>
          <p:nvPr/>
        </p:nvSpPr>
        <p:spPr>
          <a:xfrm xmlns:a="http://schemas.openxmlformats.org/drawingml/2006/main">
            <a:off x="800100" y="4695825"/>
            <a:ext cx="7429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875" b="0">
                <a:solidFill>
                  <a:srgbClr val="E6E8EA"/>
                </a:solidFill>
                <a:latin typeface="Helvetica Neue"/>
                <a:ea typeface="Helvetica Neue"/>
                <a:cs typeface="Helvetica Neue"/>
              </a:defRPr>
            </a:pPr>
            <a:r>
              <a:rPr sz="1875" b="0">
                <a:solidFill>
                  <a:srgbClr val="E6E8EA"/>
                </a:solidFill>
                <a:latin typeface="Helvetica Neue"/>
                <a:ea typeface="Helvetica Neue"/>
                <a:cs typeface="Helvetica Neue"/>
              </a:rPr>
              <a:t>A dividend market for tokenized stocks on Solana.</a:t>
            </a:r>
          </a:p>
        </p:txBody>
      </p:sp>
      <p:sp>
        <p:nvSpPr>
          <p:cNvPr id="7" name="">
            <a:extLst xmlns:a="http://schemas.openxmlformats.org/drawingml/2006/main">
              <a:ext uri="{FF2B5EF4-FFF2-40B4-BE49-F238E27FC236}">
                <a16:creationId xmlns:a16="http://schemas.microsoft.com/office/drawing/2014/main" id="{D8EEABA3-6C06-4980-8436-D736D12C2FB1}"/>
              </a:ext>
            </a:extLst>
          </p:cNvPr>
          <p:cNvSpPr>
            <a:spLocks xmlns:a="http://schemas.openxmlformats.org/drawingml/2006/main" noGrp="1"/>
          </p:cNvSpPr>
          <p:nvPr/>
        </p:nvSpPr>
        <p:spPr>
          <a:xfrm xmlns:a="http://schemas.openxmlformats.org/drawingml/2006/main">
            <a:off x="800100" y="5857875"/>
            <a:ext cx="10572750" cy="9525"/>
          </a:xfrm>
          <a:prstGeom xmlns:a="http://schemas.openxmlformats.org/drawingml/2006/main" prst="rect">
            <a:avLst/>
          </a:prstGeom>
          <a:solidFill xmlns:a="http://schemas.openxmlformats.org/drawingml/2006/main">
            <a:srgbClr val="303B45"/>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6E503A62-F563-4280-B5AF-D8F9FC4F0B59}"/>
              </a:ext>
            </a:extLst>
          </p:cNvPr>
          <p:cNvSpPr>
            <a:spLocks xmlns:a="http://schemas.openxmlformats.org/drawingml/2006/main" noGrp="1"/>
          </p:cNvSpPr>
          <p:nvPr/>
        </p:nvSpPr>
        <p:spPr>
          <a:xfrm xmlns:a="http://schemas.openxmlformats.org/drawingml/2006/main">
            <a:off x="800100" y="6096000"/>
            <a:ext cx="495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AAB2BA"/>
                </a:solidFill>
                <a:latin typeface="Helvetica Neue"/>
                <a:ea typeface="Helvetica Neue"/>
                <a:cs typeface="Helvetica Neue"/>
              </a:defRPr>
            </a:pPr>
            <a:r>
              <a:rPr sz="900" b="1">
                <a:solidFill>
                  <a:srgbClr val="AAB2BA"/>
                </a:solidFill>
                <a:latin typeface="Helvetica Neue"/>
                <a:ea typeface="Helvetica Neue"/>
                <a:cs typeface="Helvetica Neue"/>
              </a:rPr>
              <a:t>WORKING PROGRAM · PUBLIC DEVNET · GUIDED SANDBOX</a:t>
            </a:r>
          </a:p>
        </p:txBody>
      </p:sp>
    </p:spTree>
    <p:extLst>
      <p:ext uri="{BB962C8B-B14F-4D97-AF65-F5344CB8AC3E}">
        <p14:creationId xmlns:p14="http://schemas.microsoft.com/office/powerpoint/2010/main" val="51863632"/>
      </p:ext>
    </p:extLst>
  </p:cSld>
</p:sld>
</file>

<file path=ppt/slides/slide2.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2C610038-ECC8-446F-BA04-4525F458E1CD}"/>
              </a:ext>
            </a:extLst>
          </p:cNvPr>
          <p:cNvSpPr>
            <a:spLocks xmlns:a="http://schemas.openxmlformats.org/drawingml/2006/main" noGrp="1"/>
          </p:cNvSpPr>
          <p:nvPr/>
        </p:nvSpPr>
        <p:spPr>
          <a:xfrm xmlns:a="http://schemas.openxmlformats.org/drawingml/2006/main" rot="2700000">
            <a:off x="704850" y="514350"/>
            <a:ext cx="123444" cy="123444"/>
          </a:xfrm>
          <a:prstGeom xmlns:a="http://schemas.openxmlformats.org/drawingml/2006/main" prst="rect">
            <a:avLst/>
          </a:prstGeom>
          <a:solidFill xmlns:a="http://schemas.openxmlformats.org/drawingml/2006/main">
            <a:srgbClr val="2457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F98D2FBB-7627-449C-80C2-67C43FDCFB04}"/>
              </a:ext>
            </a:extLst>
          </p:cNvPr>
          <p:cNvSpPr>
            <a:spLocks xmlns:a="http://schemas.openxmlformats.org/drawingml/2006/main" noGrp="1"/>
          </p:cNvSpPr>
          <p:nvPr/>
        </p:nvSpPr>
        <p:spPr>
          <a:xfrm xmlns:a="http://schemas.openxmlformats.org/drawingml/2006/main" rot="2700000">
            <a:off x="807720" y="617220"/>
            <a:ext cx="123444" cy="123444"/>
          </a:xfrm>
          <a:prstGeom xmlns:a="http://schemas.openxmlformats.org/drawingml/2006/main" prst="rect">
            <a:avLst/>
          </a:prstGeom>
          <a:solidFill xmlns:a="http://schemas.openxmlformats.org/drawingml/2006/main">
            <a:srgbClr val="C46A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574F4BF5-ED60-4DAD-AB11-31CB1DB2E076}"/>
              </a:ext>
            </a:extLst>
          </p:cNvPr>
          <p:cNvSpPr>
            <a:spLocks xmlns:a="http://schemas.openxmlformats.org/drawingml/2006/main" noGrp="1"/>
          </p:cNvSpPr>
          <p:nvPr/>
        </p:nvSpPr>
        <p:spPr>
          <a:xfrm xmlns:a="http://schemas.openxmlformats.org/drawingml/2006/main">
            <a:off x="972312" y="507492"/>
            <a:ext cx="116586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80" b="1">
                <a:solidFill>
                  <a:srgbClr val="101820"/>
                </a:solidFill>
                <a:latin typeface="Helvetica Neue"/>
                <a:ea typeface="Helvetica Neue"/>
                <a:cs typeface="Helvetica Neue"/>
              </a:defRPr>
            </a:pPr>
            <a:r>
              <a:rPr sz="1080" b="1">
                <a:solidFill>
                  <a:srgbClr val="101820"/>
                </a:solidFill>
                <a:latin typeface="Helvetica Neue"/>
                <a:ea typeface="Helvetica Neue"/>
                <a:cs typeface="Helvetica Neue"/>
              </a:rPr>
              <a:t>DivX</a:t>
            </a:r>
          </a:p>
        </p:txBody>
      </p:sp>
      <p:sp>
        <p:nvSpPr>
          <p:cNvPr id="4" name="">
            <a:extLst xmlns:a="http://schemas.openxmlformats.org/drawingml/2006/main">
              <a:ext uri="{FF2B5EF4-FFF2-40B4-BE49-F238E27FC236}">
                <a16:creationId xmlns:a16="http://schemas.microsoft.com/office/drawing/2014/main" id="{1428CEE2-8B41-450A-9C12-964581FF1416}"/>
              </a:ext>
            </a:extLst>
          </p:cNvPr>
          <p:cNvSpPr>
            <a:spLocks xmlns:a="http://schemas.openxmlformats.org/drawingml/2006/main" noGrp="1"/>
          </p:cNvSpPr>
          <p:nvPr/>
        </p:nvSpPr>
        <p:spPr>
          <a:xfrm xmlns:a="http://schemas.openxmlformats.org/drawingml/2006/main">
            <a:off x="704850" y="9334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3150" b="1">
                <a:solidFill>
                  <a:srgbClr val="101820"/>
                </a:solidFill>
                <a:latin typeface="Helvetica Neue"/>
                <a:ea typeface="Helvetica Neue"/>
                <a:cs typeface="Helvetica Neue"/>
              </a:defRPr>
            </a:pPr>
            <a:r>
              <a:rPr sz="3150" b="1">
                <a:solidFill>
                  <a:srgbClr val="101820"/>
                </a:solidFill>
                <a:latin typeface="Helvetica Neue"/>
                <a:ea typeface="Helvetica Neue"/>
                <a:cs typeface="Helvetica Neue"/>
              </a:rPr>
              <a:t>Two sides of one trade</a:t>
            </a:r>
          </a:p>
        </p:txBody>
      </p:sp>
      <p:sp>
        <p:nvSpPr>
          <p:cNvPr id="5" name="">
            <a:extLst xmlns:a="http://schemas.openxmlformats.org/drawingml/2006/main">
              <a:ext uri="{FF2B5EF4-FFF2-40B4-BE49-F238E27FC236}">
                <a16:creationId xmlns:a16="http://schemas.microsoft.com/office/drawing/2014/main" id="{383E3009-6236-4C52-976F-CCE6CD67FEAF}"/>
              </a:ext>
            </a:extLst>
          </p:cNvPr>
          <p:cNvSpPr>
            <a:spLocks xmlns:a="http://schemas.openxmlformats.org/drawingml/2006/main" noGrp="1"/>
          </p:cNvSpPr>
          <p:nvPr/>
        </p:nvSpPr>
        <p:spPr>
          <a:xfrm xmlns:a="http://schemas.openxmlformats.org/drawingml/2006/main">
            <a:off x="11144250" y="5524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02</a:t>
            </a:r>
          </a:p>
        </p:txBody>
      </p:sp>
      <p:sp>
        <p:nvSpPr>
          <p:cNvPr id="6" name="">
            <a:extLst xmlns:a="http://schemas.openxmlformats.org/drawingml/2006/main">
              <a:ext uri="{FF2B5EF4-FFF2-40B4-BE49-F238E27FC236}">
                <a16:creationId xmlns:a16="http://schemas.microsoft.com/office/drawing/2014/main" id="{33A13362-4C2C-424A-B95E-F4C2AEBE9D32}"/>
              </a:ext>
            </a:extLst>
          </p:cNvPr>
          <p:cNvSpPr>
            <a:spLocks xmlns:a="http://schemas.openxmlformats.org/drawingml/2006/main" noGrp="1"/>
          </p:cNvSpPr>
          <p:nvPr/>
        </p:nvSpPr>
        <p:spPr>
          <a:xfrm xmlns:a="http://schemas.openxmlformats.org/drawingml/2006/main">
            <a:off x="762000" y="1714500"/>
            <a:ext cx="400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TRADITIONAL DIVIDEND MARKET</a:t>
            </a:r>
          </a:p>
        </p:txBody>
      </p:sp>
      <p:sp>
        <p:nvSpPr>
          <p:cNvPr id="7" name="">
            <a:extLst xmlns:a="http://schemas.openxmlformats.org/drawingml/2006/main">
              <a:ext uri="{FF2B5EF4-FFF2-40B4-BE49-F238E27FC236}">
                <a16:creationId xmlns:a16="http://schemas.microsoft.com/office/drawing/2014/main" id="{98DAB798-FD7C-4FA0-A1E6-720FE06473E7}"/>
              </a:ext>
            </a:extLst>
          </p:cNvPr>
          <p:cNvSpPr>
            <a:spLocks xmlns:a="http://schemas.openxmlformats.org/drawingml/2006/main" noGrp="1"/>
          </p:cNvSpPr>
          <p:nvPr/>
        </p:nvSpPr>
        <p:spPr>
          <a:xfrm xmlns:a="http://schemas.openxmlformats.org/drawingml/2006/main">
            <a:off x="762000" y="2114550"/>
            <a:ext cx="1714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1639A6"/>
                </a:solidFill>
                <a:latin typeface="Helvetica Neue"/>
                <a:ea typeface="Helvetica Neue"/>
                <a:cs typeface="Helvetica Neue"/>
              </a:defRPr>
            </a:pPr>
            <a:r>
              <a:rPr sz="900" b="1">
                <a:solidFill>
                  <a:srgbClr val="1639A6"/>
                </a:solidFill>
                <a:latin typeface="Helvetica Neue"/>
                <a:ea typeface="Helvetica Neue"/>
                <a:cs typeface="Helvetica Neue"/>
              </a:rPr>
              <a:t>SELLERS</a:t>
            </a:r>
          </a:p>
        </p:txBody>
      </p:sp>
      <p:sp>
        <p:nvSpPr>
          <p:cNvPr id="8" name="">
            <a:extLst xmlns:a="http://schemas.openxmlformats.org/drawingml/2006/main">
              <a:ext uri="{FF2B5EF4-FFF2-40B4-BE49-F238E27FC236}">
                <a16:creationId xmlns:a16="http://schemas.microsoft.com/office/drawing/2014/main" id="{22F0604F-8352-4C3D-BA1C-AA2355ECE960}"/>
              </a:ext>
            </a:extLst>
          </p:cNvPr>
          <p:cNvSpPr>
            <a:spLocks xmlns:a="http://schemas.openxmlformats.org/drawingml/2006/main" noGrp="1"/>
          </p:cNvSpPr>
          <p:nvPr/>
        </p:nvSpPr>
        <p:spPr>
          <a:xfrm xmlns:a="http://schemas.openxmlformats.org/drawingml/2006/main">
            <a:off x="762000" y="2362200"/>
            <a:ext cx="4286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100" b="1">
                <a:solidFill>
                  <a:srgbClr val="101820"/>
                </a:solidFill>
                <a:latin typeface="Helvetica Neue"/>
                <a:ea typeface="Helvetica Neue"/>
                <a:cs typeface="Helvetica Neue"/>
              </a:defRPr>
            </a:pPr>
            <a:r>
              <a:rPr sz="2100" b="1">
                <a:solidFill>
                  <a:srgbClr val="101820"/>
                </a:solidFill>
                <a:latin typeface="Helvetica Neue"/>
                <a:ea typeface="Helvetica Neue"/>
                <a:cs typeface="Helvetica Neue"/>
              </a:rPr>
              <a:t>Bank trading desks</a:t>
            </a:r>
          </a:p>
        </p:txBody>
      </p:sp>
      <p:sp>
        <p:nvSpPr>
          <p:cNvPr id="9" name="">
            <a:extLst xmlns:a="http://schemas.openxmlformats.org/drawingml/2006/main">
              <a:ext uri="{FF2B5EF4-FFF2-40B4-BE49-F238E27FC236}">
                <a16:creationId xmlns:a16="http://schemas.microsoft.com/office/drawing/2014/main" id="{1CA4BCFB-6691-476F-98F7-1FC1C4DB2EE9}"/>
              </a:ext>
            </a:extLst>
          </p:cNvPr>
          <p:cNvSpPr>
            <a:spLocks xmlns:a="http://schemas.openxmlformats.org/drawingml/2006/main" noGrp="1"/>
          </p:cNvSpPr>
          <p:nvPr/>
        </p:nvSpPr>
        <p:spPr>
          <a:xfrm xmlns:a="http://schemas.openxmlformats.org/drawingml/2006/main">
            <a:off x="762000" y="2781300"/>
            <a:ext cx="438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350" b="0">
                <a:solidFill>
                  <a:srgbClr val="53606B"/>
                </a:solidFill>
                <a:latin typeface="Helvetica Neue"/>
                <a:ea typeface="Helvetica Neue"/>
                <a:cs typeface="Helvetica Neue"/>
              </a:defRPr>
            </a:pPr>
            <a:r>
              <a:rPr sz="1350" b="0">
                <a:solidFill>
                  <a:srgbClr val="53606B"/>
                </a:solidFill>
                <a:latin typeface="Helvetica Neue"/>
                <a:ea typeface="Helvetica Neue"/>
                <a:cs typeface="Helvetica Neue"/>
              </a:rPr>
              <a:t>Manage dividend risk from structured products.</a:t>
            </a:r>
          </a:p>
        </p:txBody>
      </p:sp>
      <p:sp>
        <p:nvSpPr>
          <p:cNvPr id="10" name="">
            <a:extLst xmlns:a="http://schemas.openxmlformats.org/drawingml/2006/main">
              <a:ext uri="{FF2B5EF4-FFF2-40B4-BE49-F238E27FC236}">
                <a16:creationId xmlns:a16="http://schemas.microsoft.com/office/drawing/2014/main" id="{D1AFD158-0B6B-4270-8C6B-FC31627DD837}"/>
              </a:ext>
            </a:extLst>
          </p:cNvPr>
          <p:cNvSpPr>
            <a:spLocks xmlns:a="http://schemas.openxmlformats.org/drawingml/2006/main" noGrp="1"/>
          </p:cNvSpPr>
          <p:nvPr/>
        </p:nvSpPr>
        <p:spPr>
          <a:xfrm xmlns:a="http://schemas.openxmlformats.org/drawingml/2006/main">
            <a:off x="6705600" y="2114550"/>
            <a:ext cx="1714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7A4000"/>
                </a:solidFill>
                <a:latin typeface="Helvetica Neue"/>
                <a:ea typeface="Helvetica Neue"/>
                <a:cs typeface="Helvetica Neue"/>
              </a:defRPr>
            </a:pPr>
            <a:r>
              <a:rPr sz="900" b="1">
                <a:solidFill>
                  <a:srgbClr val="7A4000"/>
                </a:solidFill>
                <a:latin typeface="Helvetica Neue"/>
                <a:ea typeface="Helvetica Neue"/>
                <a:cs typeface="Helvetica Neue"/>
              </a:rPr>
              <a:t>BUYERS</a:t>
            </a:r>
          </a:p>
        </p:txBody>
      </p:sp>
      <p:sp>
        <p:nvSpPr>
          <p:cNvPr id="11" name="">
            <a:extLst xmlns:a="http://schemas.openxmlformats.org/drawingml/2006/main">
              <a:ext uri="{FF2B5EF4-FFF2-40B4-BE49-F238E27FC236}">
                <a16:creationId xmlns:a16="http://schemas.microsoft.com/office/drawing/2014/main" id="{6E624088-180C-4D6C-AF71-D21D75BF778B}"/>
              </a:ext>
            </a:extLst>
          </p:cNvPr>
          <p:cNvSpPr>
            <a:spLocks xmlns:a="http://schemas.openxmlformats.org/drawingml/2006/main" noGrp="1"/>
          </p:cNvSpPr>
          <p:nvPr/>
        </p:nvSpPr>
        <p:spPr>
          <a:xfrm xmlns:a="http://schemas.openxmlformats.org/drawingml/2006/main">
            <a:off x="6705600" y="2362200"/>
            <a:ext cx="4667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100" b="1">
                <a:solidFill>
                  <a:srgbClr val="101820"/>
                </a:solidFill>
                <a:latin typeface="Helvetica Neue"/>
                <a:ea typeface="Helvetica Neue"/>
                <a:cs typeface="Helvetica Neue"/>
              </a:defRPr>
            </a:pPr>
            <a:r>
              <a:rPr sz="2100" b="1">
                <a:solidFill>
                  <a:srgbClr val="101820"/>
                </a:solidFill>
                <a:latin typeface="Helvetica Neue"/>
                <a:ea typeface="Helvetica Neue"/>
                <a:cs typeface="Helvetica Neue"/>
              </a:rPr>
              <a:t>Asset managers and hedge funds</a:t>
            </a:r>
          </a:p>
        </p:txBody>
      </p:sp>
      <p:sp>
        <p:nvSpPr>
          <p:cNvPr id="12" name="">
            <a:extLst xmlns:a="http://schemas.openxmlformats.org/drawingml/2006/main">
              <a:ext uri="{FF2B5EF4-FFF2-40B4-BE49-F238E27FC236}">
                <a16:creationId xmlns:a16="http://schemas.microsoft.com/office/drawing/2014/main" id="{C3A851A6-A581-490F-8F9E-455510A2A721}"/>
              </a:ext>
            </a:extLst>
          </p:cNvPr>
          <p:cNvSpPr>
            <a:spLocks xmlns:a="http://schemas.openxmlformats.org/drawingml/2006/main" noGrp="1"/>
          </p:cNvSpPr>
          <p:nvPr/>
        </p:nvSpPr>
        <p:spPr>
          <a:xfrm xmlns:a="http://schemas.openxmlformats.org/drawingml/2006/main">
            <a:off x="6705600" y="2781300"/>
            <a:ext cx="4667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50" b="0">
                <a:solidFill>
                  <a:srgbClr val="53606B"/>
                </a:solidFill>
                <a:latin typeface="Helvetica Neue"/>
                <a:ea typeface="Helvetica Neue"/>
                <a:cs typeface="Helvetica Neue"/>
              </a:defRPr>
            </a:pPr>
            <a:r>
              <a:rPr sz="1350" b="0">
                <a:solidFill>
                  <a:srgbClr val="53606B"/>
                </a:solidFill>
                <a:latin typeface="Helvetica Neue"/>
                <a:ea typeface="Helvetica Neue"/>
                <a:cs typeface="Helvetica Neue"/>
              </a:rPr>
              <a:t>Trade expected payouts. Survista is one documented buyer.</a:t>
            </a:r>
          </a:p>
        </p:txBody>
      </p:sp>
      <p:sp>
        <p:nvSpPr>
          <p:cNvPr id="13" name="">
            <a:extLst xmlns:a="http://schemas.openxmlformats.org/drawingml/2006/main">
              <a:ext uri="{FF2B5EF4-FFF2-40B4-BE49-F238E27FC236}">
                <a16:creationId xmlns:a16="http://schemas.microsoft.com/office/drawing/2014/main" id="{77909E8B-348B-48B9-926B-D447183FD7FC}"/>
              </a:ext>
            </a:extLst>
          </p:cNvPr>
          <p:cNvSpPr>
            <a:spLocks xmlns:a="http://schemas.openxmlformats.org/drawingml/2006/main" noGrp="1"/>
          </p:cNvSpPr>
          <p:nvPr/>
        </p:nvSpPr>
        <p:spPr>
          <a:xfrm xmlns:a="http://schemas.openxmlformats.org/drawingml/2006/main">
            <a:off x="762000" y="3371850"/>
            <a:ext cx="1057275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D378AEA0-3CF1-480F-A597-C7DE0D01C41A}"/>
              </a:ext>
            </a:extLst>
          </p:cNvPr>
          <p:cNvSpPr>
            <a:spLocks xmlns:a="http://schemas.openxmlformats.org/drawingml/2006/main" noGrp="1"/>
          </p:cNvSpPr>
          <p:nvPr/>
        </p:nvSpPr>
        <p:spPr>
          <a:xfrm xmlns:a="http://schemas.openxmlformats.org/drawingml/2006/main">
            <a:off x="762000" y="3590925"/>
            <a:ext cx="2286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DIVX FLOW</a:t>
            </a:r>
          </a:p>
        </p:txBody>
      </p:sp>
      <p:sp>
        <p:nvSpPr>
          <p:cNvPr id="15" name="Stock holder">
            <a:extLst xmlns:a="http://schemas.openxmlformats.org/drawingml/2006/main">
              <a:ext uri="{FF2B5EF4-FFF2-40B4-BE49-F238E27FC236}">
                <a16:creationId xmlns:a16="http://schemas.microsoft.com/office/drawing/2014/main" id="{BB4DD0B6-6CDF-4533-A9AD-AEF3664CC8CF}"/>
              </a:ext>
            </a:extLst>
          </p:cNvPr>
          <p:cNvSpPr>
            <a:spLocks xmlns:a="http://schemas.openxmlformats.org/drawingml/2006/main" noGrp="1"/>
          </p:cNvSpPr>
          <p:nvPr/>
        </p:nvSpPr>
        <p:spPr>
          <a:xfrm xmlns:a="http://schemas.openxmlformats.org/drawingml/2006/main">
            <a:off x="857250" y="4324350"/>
            <a:ext cx="1809750" cy="704850"/>
          </a:xfrm>
          <a:prstGeom xmlns:a="http://schemas.openxmlformats.org/drawingml/2006/main" prst="roundRect">
            <a:avLst>
              <a:gd name="adj" fmla="val 16216"/>
            </a:avLst>
          </a:prstGeom>
          <a:solidFill xmlns:a="http://schemas.openxmlformats.org/drawingml/2006/main">
            <a:srgbClr val="FFFEFB"/>
          </a:solidFill>
          <a:ln xmlns:a="http://schemas.openxmlformats.org/drawingml/2006/main" w="9525">
            <a:solidFill>
              <a:srgbClr val="101820"/>
            </a:solidFill>
            <a:prstDash val="solid"/>
          </a:ln>
        </p:spPr>
      </p:sp>
      <p:sp>
        <p:nvSpPr>
          <p:cNvPr id="16" name="">
            <a:extLst xmlns:a="http://schemas.openxmlformats.org/drawingml/2006/main">
              <a:ext uri="{FF2B5EF4-FFF2-40B4-BE49-F238E27FC236}">
                <a16:creationId xmlns:a16="http://schemas.microsoft.com/office/drawing/2014/main" id="{238E9234-167F-4E03-A356-698F969195B9}"/>
              </a:ext>
            </a:extLst>
          </p:cNvPr>
          <p:cNvSpPr>
            <a:spLocks xmlns:a="http://schemas.openxmlformats.org/drawingml/2006/main" noGrp="1"/>
          </p:cNvSpPr>
          <p:nvPr/>
        </p:nvSpPr>
        <p:spPr>
          <a:xfrm xmlns:a="http://schemas.openxmlformats.org/drawingml/2006/main">
            <a:off x="1066800" y="4533900"/>
            <a:ext cx="1390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350" b="1">
                <a:solidFill>
                  <a:srgbClr val="101820"/>
                </a:solidFill>
                <a:latin typeface="Helvetica Neue"/>
                <a:ea typeface="Helvetica Neue"/>
                <a:cs typeface="Helvetica Neue"/>
              </a:defRPr>
            </a:pPr>
            <a:r>
              <a:rPr sz="1350" b="1">
                <a:solidFill>
                  <a:srgbClr val="101820"/>
                </a:solidFill>
                <a:latin typeface="Helvetica Neue"/>
                <a:ea typeface="Helvetica Neue"/>
                <a:cs typeface="Helvetica Neue"/>
              </a:rPr>
              <a:t>STOCK HOLDER</a:t>
            </a:r>
          </a:p>
        </p:txBody>
      </p:sp>
      <p:sp>
        <p:nvSpPr>
          <p:cNvPr id="17" name="Buyer">
            <a:extLst xmlns:a="http://schemas.openxmlformats.org/drawingml/2006/main">
              <a:ext uri="{FF2B5EF4-FFF2-40B4-BE49-F238E27FC236}">
                <a16:creationId xmlns:a16="http://schemas.microsoft.com/office/drawing/2014/main" id="{1341022F-ABFF-4315-BEAE-2B36559B002C}"/>
              </a:ext>
            </a:extLst>
          </p:cNvPr>
          <p:cNvSpPr>
            <a:spLocks xmlns:a="http://schemas.openxmlformats.org/drawingml/2006/main" noGrp="1"/>
          </p:cNvSpPr>
          <p:nvPr/>
        </p:nvSpPr>
        <p:spPr>
          <a:xfrm xmlns:a="http://schemas.openxmlformats.org/drawingml/2006/main">
            <a:off x="9525000" y="4324350"/>
            <a:ext cx="1809750" cy="704850"/>
          </a:xfrm>
          <a:prstGeom xmlns:a="http://schemas.openxmlformats.org/drawingml/2006/main" prst="roundRect">
            <a:avLst>
              <a:gd name="adj" fmla="val 16216"/>
            </a:avLst>
          </a:prstGeom>
          <a:solidFill xmlns:a="http://schemas.openxmlformats.org/drawingml/2006/main">
            <a:srgbClr val="FFFEFB"/>
          </a:solidFill>
          <a:ln xmlns:a="http://schemas.openxmlformats.org/drawingml/2006/main" w="9525">
            <a:solidFill>
              <a:srgbClr val="101820"/>
            </a:solidFill>
            <a:prstDash val="solid"/>
          </a:ln>
        </p:spPr>
      </p:sp>
      <p:sp>
        <p:nvSpPr>
          <p:cNvPr id="18" name="">
            <a:extLst xmlns:a="http://schemas.openxmlformats.org/drawingml/2006/main">
              <a:ext uri="{FF2B5EF4-FFF2-40B4-BE49-F238E27FC236}">
                <a16:creationId xmlns:a16="http://schemas.microsoft.com/office/drawing/2014/main" id="{C57C2C72-2D21-44DA-84DC-D14F243D10F6}"/>
              </a:ext>
            </a:extLst>
          </p:cNvPr>
          <p:cNvSpPr>
            <a:spLocks xmlns:a="http://schemas.openxmlformats.org/drawingml/2006/main" noGrp="1"/>
          </p:cNvSpPr>
          <p:nvPr/>
        </p:nvSpPr>
        <p:spPr>
          <a:xfrm xmlns:a="http://schemas.openxmlformats.org/drawingml/2006/main">
            <a:off x="9734550" y="4533900"/>
            <a:ext cx="1390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350" b="1">
                <a:solidFill>
                  <a:srgbClr val="101820"/>
                </a:solidFill>
                <a:latin typeface="Helvetica Neue"/>
                <a:ea typeface="Helvetica Neue"/>
                <a:cs typeface="Helvetica Neue"/>
              </a:defRPr>
            </a:pPr>
            <a:r>
              <a:rPr sz="1350" b="1">
                <a:solidFill>
                  <a:srgbClr val="101820"/>
                </a:solidFill>
                <a:latin typeface="Helvetica Neue"/>
                <a:ea typeface="Helvetica Neue"/>
                <a:cs typeface="Helvetica Neue"/>
              </a:rPr>
              <a:t>BUYER</a:t>
            </a:r>
          </a:p>
        </p:txBody>
      </p:sp>
      <p:sp>
        <p:nvSpPr>
          <p:cNvPr id="19" name="Dividend right label">
            <a:extLst xmlns:a="http://schemas.openxmlformats.org/drawingml/2006/main">
              <a:ext uri="{FF2B5EF4-FFF2-40B4-BE49-F238E27FC236}">
                <a16:creationId xmlns:a16="http://schemas.microsoft.com/office/drawing/2014/main" id="{977EDBF9-572E-4AEB-B30C-32D96A10931B}"/>
              </a:ext>
            </a:extLst>
          </p:cNvPr>
          <p:cNvSpPr>
            <a:spLocks xmlns:a="http://schemas.openxmlformats.org/drawingml/2006/main" noGrp="1"/>
          </p:cNvSpPr>
          <p:nvPr/>
        </p:nvSpPr>
        <p:spPr>
          <a:xfrm xmlns:a="http://schemas.openxmlformats.org/drawingml/2006/main">
            <a:off x="4667250" y="3876675"/>
            <a:ext cx="2857500" cy="476250"/>
          </a:xfrm>
          <a:prstGeom xmlns:a="http://schemas.openxmlformats.org/drawingml/2006/main" prst="roundRect">
            <a:avLst>
              <a:gd name="adj" fmla="val 24000"/>
            </a:avLst>
          </a:prstGeom>
          <a:solidFill xmlns:a="http://schemas.openxmlformats.org/drawingml/2006/main">
            <a:srgbClr val="F8E8D4"/>
          </a:solidFill>
          <a:ln xmlns:a="http://schemas.openxmlformats.org/drawingml/2006/main" w="9525">
            <a:solidFill>
              <a:srgbClr val="C46A00"/>
            </a:solidFill>
            <a:prstDash val="solid"/>
          </a:ln>
        </p:spPr>
      </p:sp>
      <p:sp>
        <p:nvSpPr>
          <p:cNvPr id="20" name="">
            <a:extLst xmlns:a="http://schemas.openxmlformats.org/drawingml/2006/main">
              <a:ext uri="{FF2B5EF4-FFF2-40B4-BE49-F238E27FC236}">
                <a16:creationId xmlns:a16="http://schemas.microsoft.com/office/drawing/2014/main" id="{5AD953EC-9499-4E29-AE89-60484EB9BC3E}"/>
              </a:ext>
            </a:extLst>
          </p:cNvPr>
          <p:cNvSpPr>
            <a:spLocks xmlns:a="http://schemas.openxmlformats.org/drawingml/2006/main" noGrp="1"/>
          </p:cNvSpPr>
          <p:nvPr/>
        </p:nvSpPr>
        <p:spPr>
          <a:xfrm xmlns:a="http://schemas.openxmlformats.org/drawingml/2006/main">
            <a:off x="5010150" y="4000500"/>
            <a:ext cx="2171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1125" b="1">
                <a:solidFill>
                  <a:srgbClr val="7A4000"/>
                </a:solidFill>
                <a:latin typeface="Helvetica Neue"/>
                <a:ea typeface="Helvetica Neue"/>
                <a:cs typeface="Helvetica Neue"/>
              </a:defRPr>
            </a:pPr>
            <a:r>
              <a:rPr sz="1125" b="1">
                <a:solidFill>
                  <a:srgbClr val="7A4000"/>
                </a:solidFill>
                <a:latin typeface="Helvetica Neue"/>
                <a:ea typeface="Helvetica Neue"/>
                <a:cs typeface="Helvetica Neue"/>
              </a:rPr>
              <a:t>DIVIDEND RIGHT</a:t>
            </a:r>
          </a:p>
        </p:txBody>
      </p:sp>
      <p:sp>
        <p:nvSpPr>
          <p:cNvPr id="21" name="Payment label">
            <a:extLst xmlns:a="http://schemas.openxmlformats.org/drawingml/2006/main">
              <a:ext uri="{FF2B5EF4-FFF2-40B4-BE49-F238E27FC236}">
                <a16:creationId xmlns:a16="http://schemas.microsoft.com/office/drawing/2014/main" id="{E76470D5-0A79-4802-84ED-05029C840E84}"/>
              </a:ext>
            </a:extLst>
          </p:cNvPr>
          <p:cNvSpPr>
            <a:spLocks xmlns:a="http://schemas.openxmlformats.org/drawingml/2006/main" noGrp="1"/>
          </p:cNvSpPr>
          <p:nvPr/>
        </p:nvSpPr>
        <p:spPr>
          <a:xfrm xmlns:a="http://schemas.openxmlformats.org/drawingml/2006/main">
            <a:off x="4667250" y="5010150"/>
            <a:ext cx="2857500" cy="476250"/>
          </a:xfrm>
          <a:prstGeom xmlns:a="http://schemas.openxmlformats.org/drawingml/2006/main" prst="roundRect">
            <a:avLst>
              <a:gd name="adj" fmla="val 24000"/>
            </a:avLst>
          </a:prstGeom>
          <a:solidFill xmlns:a="http://schemas.openxmlformats.org/drawingml/2006/main">
            <a:srgbClr val="EAF0FF"/>
          </a:solidFill>
          <a:ln xmlns:a="http://schemas.openxmlformats.org/drawingml/2006/main" w="9525">
            <a:solidFill>
              <a:srgbClr val="2457F5"/>
            </a:solidFill>
            <a:prstDash val="solid"/>
          </a:ln>
        </p:spPr>
      </p:sp>
      <p:sp>
        <p:nvSpPr>
          <p:cNvPr id="22" name="">
            <a:extLst xmlns:a="http://schemas.openxmlformats.org/drawingml/2006/main">
              <a:ext uri="{FF2B5EF4-FFF2-40B4-BE49-F238E27FC236}">
                <a16:creationId xmlns:a16="http://schemas.microsoft.com/office/drawing/2014/main" id="{4D2CB2F9-0D29-4915-AE1A-C5E10D86194F}"/>
              </a:ext>
            </a:extLst>
          </p:cNvPr>
          <p:cNvSpPr>
            <a:spLocks xmlns:a="http://schemas.openxmlformats.org/drawingml/2006/main" noGrp="1"/>
          </p:cNvSpPr>
          <p:nvPr/>
        </p:nvSpPr>
        <p:spPr>
          <a:xfrm xmlns:a="http://schemas.openxmlformats.org/drawingml/2006/main">
            <a:off x="5010150" y="5133975"/>
            <a:ext cx="2171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1125" b="1">
                <a:solidFill>
                  <a:srgbClr val="1639A6"/>
                </a:solidFill>
                <a:latin typeface="Helvetica Neue"/>
                <a:ea typeface="Helvetica Neue"/>
                <a:cs typeface="Helvetica Neue"/>
              </a:defRPr>
            </a:pPr>
            <a:r>
              <a:rPr sz="1125" b="1">
                <a:solidFill>
                  <a:srgbClr val="1639A6"/>
                </a:solidFill>
                <a:latin typeface="Helvetica Neue"/>
                <a:ea typeface="Helvetica Neue"/>
                <a:cs typeface="Helvetica Neue"/>
              </a:rPr>
              <a:t>PAYMENT</a:t>
            </a:r>
          </a:p>
        </p:txBody>
      </p:sp>
      <p:cxnSp>
        <p:nvCxnSpPr>
          <p:cNvPr id="52" name=""/>
          <p:cNvCxnSpPr>
            <a:stCxn xmlns:a="http://schemas.openxmlformats.org/drawingml/2006/main" id="15" idx="0"/>
            <a:endCxn xmlns:a="http://schemas.openxmlformats.org/drawingml/2006/main" id="19" idx="1"/>
          </p:cNvCxnSpPr>
          <p:nvPr/>
        </p:nvCxnSpPr>
        <p:spPr>
          <a:xfrm xmlns:a="http://schemas.openxmlformats.org/drawingml/2006/main" flipV="1">
            <a:off x="1762125" y="4095750"/>
            <a:ext cx="2905125" cy="228600"/>
          </a:xfrm>
          <a:prstGeom xmlns:a="http://schemas.openxmlformats.org/drawingml/2006/main" prst="bentConnector4">
            <a:avLst/>
          </a:prstGeom>
          <a:ln xmlns:a="http://schemas.openxmlformats.org/drawingml/2006/main" w="19050">
            <a:solidFill>
              <a:srgbClr val="C46A00"/>
            </a:solidFill>
            <a:prstDash val="solid"/>
          </a:ln>
        </p:spPr>
      </p:cxnSp>
      <p:cxnSp>
        <p:nvCxnSpPr>
          <p:cNvPr id="53" name=""/>
          <p:cNvCxnSpPr>
            <a:stCxn xmlns:a="http://schemas.openxmlformats.org/drawingml/2006/main" id="19" idx="3"/>
            <a:endCxn xmlns:a="http://schemas.openxmlformats.org/drawingml/2006/main" id="17" idx="0"/>
          </p:cNvCxnSpPr>
          <p:nvPr/>
        </p:nvCxnSpPr>
        <p:spPr>
          <a:xfrm xmlns:a="http://schemas.openxmlformats.org/drawingml/2006/main">
            <a:off x="7524750" y="4095750"/>
            <a:ext cx="2905125" cy="228600"/>
          </a:xfrm>
          <a:prstGeom xmlns:a="http://schemas.openxmlformats.org/drawingml/2006/main" prst="bentConnector4">
            <a:avLst/>
          </a:prstGeom>
          <a:ln xmlns:a="http://schemas.openxmlformats.org/drawingml/2006/main" w="19050">
            <a:solidFill>
              <a:srgbClr val="C46A00"/>
            </a:solidFill>
            <a:prstDash val="solid"/>
            <a:tailEnd type="triangle" w="sm" len="sm"/>
          </a:ln>
        </p:spPr>
      </p:cxnSp>
      <p:cxnSp>
        <p:nvCxnSpPr>
          <p:cNvPr id="54" name=""/>
          <p:cNvCxnSpPr>
            <a:stCxn xmlns:a="http://schemas.openxmlformats.org/drawingml/2006/main" id="17" idx="2"/>
            <a:endCxn xmlns:a="http://schemas.openxmlformats.org/drawingml/2006/main" id="21" idx="3"/>
          </p:cNvCxnSpPr>
          <p:nvPr/>
        </p:nvCxnSpPr>
        <p:spPr>
          <a:xfrm xmlns:a="http://schemas.openxmlformats.org/drawingml/2006/main" flipH="1">
            <a:off x="7524750" y="5029200"/>
            <a:ext cx="2905125" cy="228600"/>
          </a:xfrm>
          <a:prstGeom xmlns:a="http://schemas.openxmlformats.org/drawingml/2006/main" prst="bentConnector4">
            <a:avLst/>
          </a:prstGeom>
          <a:ln xmlns:a="http://schemas.openxmlformats.org/drawingml/2006/main" w="19050">
            <a:solidFill>
              <a:srgbClr val="2457F5"/>
            </a:solidFill>
            <a:prstDash val="solid"/>
          </a:ln>
        </p:spPr>
      </p:cxnSp>
      <p:cxnSp>
        <p:nvCxnSpPr>
          <p:cNvPr id="55" name=""/>
          <p:cNvCxnSpPr>
            <a:stCxn xmlns:a="http://schemas.openxmlformats.org/drawingml/2006/main" id="21" idx="1"/>
            <a:endCxn xmlns:a="http://schemas.openxmlformats.org/drawingml/2006/main" id="15" idx="2"/>
          </p:cNvCxnSpPr>
          <p:nvPr/>
        </p:nvCxnSpPr>
        <p:spPr>
          <a:xfrm xmlns:a="http://schemas.openxmlformats.org/drawingml/2006/main" flipH="1" flipV="1">
            <a:off x="1762125" y="5029200"/>
            <a:ext cx="2905125" cy="228600"/>
          </a:xfrm>
          <a:prstGeom xmlns:a="http://schemas.openxmlformats.org/drawingml/2006/main" prst="bentConnector4">
            <a:avLst/>
          </a:prstGeom>
          <a:ln xmlns:a="http://schemas.openxmlformats.org/drawingml/2006/main" w="19050">
            <a:solidFill>
              <a:srgbClr val="2457F5"/>
            </a:solidFill>
            <a:prstDash val="solid"/>
            <a:tailEnd type="triangle" w="sm" len="sm"/>
          </a:ln>
        </p:spPr>
      </p:cxnSp>
      <p:sp>
        <p:nvSpPr>
          <p:cNvPr id="27" name="Retained PT">
            <a:extLst xmlns:a="http://schemas.openxmlformats.org/drawingml/2006/main">
              <a:ext uri="{FF2B5EF4-FFF2-40B4-BE49-F238E27FC236}">
                <a16:creationId xmlns:a16="http://schemas.microsoft.com/office/drawing/2014/main" id="{B3DD4E21-199B-4E0C-BAEA-885C35129865}"/>
              </a:ext>
            </a:extLst>
          </p:cNvPr>
          <p:cNvSpPr>
            <a:spLocks xmlns:a="http://schemas.openxmlformats.org/drawingml/2006/main" noGrp="1"/>
          </p:cNvSpPr>
          <p:nvPr/>
        </p:nvSpPr>
        <p:spPr>
          <a:xfrm xmlns:a="http://schemas.openxmlformats.org/drawingml/2006/main">
            <a:off x="857250" y="5438775"/>
            <a:ext cx="1809750" cy="400050"/>
          </a:xfrm>
          <a:prstGeom xmlns:a="http://schemas.openxmlformats.org/drawingml/2006/main" prst="roundRect">
            <a:avLst>
              <a:gd name="adj" fmla="val 19048"/>
            </a:avLst>
          </a:prstGeom>
          <a:solidFill xmlns:a="http://schemas.openxmlformats.org/drawingml/2006/main">
            <a:srgbClr val="EAF0FF"/>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977FCF33-E280-46BB-B8E9-B8609573D850}"/>
              </a:ext>
            </a:extLst>
          </p:cNvPr>
          <p:cNvSpPr>
            <a:spLocks xmlns:a="http://schemas.openxmlformats.org/drawingml/2006/main" noGrp="1"/>
          </p:cNvSpPr>
          <p:nvPr/>
        </p:nvSpPr>
        <p:spPr>
          <a:xfrm xmlns:a="http://schemas.openxmlformats.org/drawingml/2006/main">
            <a:off x="1066800" y="5534025"/>
            <a:ext cx="1390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1125" b="1">
                <a:solidFill>
                  <a:srgbClr val="1639A6"/>
                </a:solidFill>
                <a:latin typeface="Helvetica Neue"/>
                <a:ea typeface="Helvetica Neue"/>
                <a:cs typeface="Helvetica Neue"/>
              </a:defRPr>
            </a:pPr>
            <a:r>
              <a:rPr sz="1125" b="1">
                <a:solidFill>
                  <a:srgbClr val="1639A6"/>
                </a:solidFill>
                <a:latin typeface="Helvetica Neue"/>
                <a:ea typeface="Helvetica Neue"/>
                <a:cs typeface="Helvetica Neue"/>
              </a:rPr>
              <a:t>PT retained</a:t>
            </a:r>
          </a:p>
        </p:txBody>
      </p:sp>
      <p:sp>
        <p:nvSpPr>
          <p:cNvPr id="29" name="">
            <a:extLst xmlns:a="http://schemas.openxmlformats.org/drawingml/2006/main">
              <a:ext uri="{FF2B5EF4-FFF2-40B4-BE49-F238E27FC236}">
                <a16:creationId xmlns:a16="http://schemas.microsoft.com/office/drawing/2014/main" id="{7A0D9763-EB79-4736-9933-DDD28F7F5D1D}"/>
              </a:ext>
            </a:extLst>
          </p:cNvPr>
          <p:cNvSpPr>
            <a:spLocks xmlns:a="http://schemas.openxmlformats.org/drawingml/2006/main" noGrp="1"/>
          </p:cNvSpPr>
          <p:nvPr/>
        </p:nvSpPr>
        <p:spPr>
          <a:xfrm xmlns:a="http://schemas.openxmlformats.org/drawingml/2006/main">
            <a:off x="762000" y="6076950"/>
            <a:ext cx="4476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275" b="0">
                <a:solidFill>
                  <a:srgbClr val="53606B"/>
                </a:solidFill>
                <a:latin typeface="Helvetica Neue"/>
                <a:ea typeface="Helvetica Neue"/>
                <a:cs typeface="Helvetica Neue"/>
              </a:defRPr>
            </a:pPr>
            <a:r>
              <a:rPr sz="1275" b="0">
                <a:solidFill>
                  <a:srgbClr val="53606B"/>
                </a:solidFill>
                <a:latin typeface="Helvetica Neue"/>
                <a:ea typeface="Helvetica Neue"/>
                <a:cs typeface="Helvetica Neue"/>
              </a:rPr>
              <a:t>Stock exposure stays with the holder.</a:t>
            </a:r>
          </a:p>
        </p:txBody>
      </p:sp>
    </p:spTree>
    <p:extLst>
      <p:ext uri="{BB962C8B-B14F-4D97-AF65-F5344CB8AC3E}">
        <p14:creationId xmlns:p14="http://schemas.microsoft.com/office/powerpoint/2010/main" val="965860808"/>
      </p:ext>
    </p:extLst>
  </p:cSld>
</p:sld>
</file>

<file path=ppt/slides/slide3.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2FA69C95-FA0B-4731-BA56-00314D3FD208}"/>
              </a:ext>
            </a:extLst>
          </p:cNvPr>
          <p:cNvSpPr>
            <a:spLocks xmlns:a="http://schemas.openxmlformats.org/drawingml/2006/main" noGrp="1"/>
          </p:cNvSpPr>
          <p:nvPr/>
        </p:nvSpPr>
        <p:spPr>
          <a:xfrm xmlns:a="http://schemas.openxmlformats.org/drawingml/2006/main" rot="2700000">
            <a:off x="704850" y="514350"/>
            <a:ext cx="123444" cy="123444"/>
          </a:xfrm>
          <a:prstGeom xmlns:a="http://schemas.openxmlformats.org/drawingml/2006/main" prst="rect">
            <a:avLst/>
          </a:prstGeom>
          <a:solidFill xmlns:a="http://schemas.openxmlformats.org/drawingml/2006/main">
            <a:srgbClr val="2457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A163455D-70DE-4535-86E1-E4CA7320F45D}"/>
              </a:ext>
            </a:extLst>
          </p:cNvPr>
          <p:cNvSpPr>
            <a:spLocks xmlns:a="http://schemas.openxmlformats.org/drawingml/2006/main" noGrp="1"/>
          </p:cNvSpPr>
          <p:nvPr/>
        </p:nvSpPr>
        <p:spPr>
          <a:xfrm xmlns:a="http://schemas.openxmlformats.org/drawingml/2006/main" rot="2700000">
            <a:off x="807720" y="617220"/>
            <a:ext cx="123444" cy="123444"/>
          </a:xfrm>
          <a:prstGeom xmlns:a="http://schemas.openxmlformats.org/drawingml/2006/main" prst="rect">
            <a:avLst/>
          </a:prstGeom>
          <a:solidFill xmlns:a="http://schemas.openxmlformats.org/drawingml/2006/main">
            <a:srgbClr val="C46A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733B68E9-0D9A-4899-8AEB-269E478F04CC}"/>
              </a:ext>
            </a:extLst>
          </p:cNvPr>
          <p:cNvSpPr>
            <a:spLocks xmlns:a="http://schemas.openxmlformats.org/drawingml/2006/main" noGrp="1"/>
          </p:cNvSpPr>
          <p:nvPr/>
        </p:nvSpPr>
        <p:spPr>
          <a:xfrm xmlns:a="http://schemas.openxmlformats.org/drawingml/2006/main">
            <a:off x="972312" y="507492"/>
            <a:ext cx="116586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80" b="1">
                <a:solidFill>
                  <a:srgbClr val="101820"/>
                </a:solidFill>
                <a:latin typeface="Helvetica Neue"/>
                <a:ea typeface="Helvetica Neue"/>
                <a:cs typeface="Helvetica Neue"/>
              </a:defRPr>
            </a:pPr>
            <a:r>
              <a:rPr sz="1080" b="1">
                <a:solidFill>
                  <a:srgbClr val="101820"/>
                </a:solidFill>
                <a:latin typeface="Helvetica Neue"/>
                <a:ea typeface="Helvetica Neue"/>
                <a:cs typeface="Helvetica Neue"/>
              </a:rPr>
              <a:t>DivX</a:t>
            </a:r>
          </a:p>
        </p:txBody>
      </p:sp>
      <p:sp>
        <p:nvSpPr>
          <p:cNvPr id="4" name="">
            <a:extLst xmlns:a="http://schemas.openxmlformats.org/drawingml/2006/main">
              <a:ext uri="{FF2B5EF4-FFF2-40B4-BE49-F238E27FC236}">
                <a16:creationId xmlns:a16="http://schemas.microsoft.com/office/drawing/2014/main" id="{E621F4F4-66FD-479C-AB0F-A1A7F598D2A9}"/>
              </a:ext>
            </a:extLst>
          </p:cNvPr>
          <p:cNvSpPr>
            <a:spLocks xmlns:a="http://schemas.openxmlformats.org/drawingml/2006/main" noGrp="1"/>
          </p:cNvSpPr>
          <p:nvPr/>
        </p:nvSpPr>
        <p:spPr>
          <a:xfrm xmlns:a="http://schemas.openxmlformats.org/drawingml/2006/main">
            <a:off x="704850" y="9334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3150" b="1">
                <a:solidFill>
                  <a:srgbClr val="101820"/>
                </a:solidFill>
                <a:latin typeface="Helvetica Neue"/>
                <a:ea typeface="Helvetica Neue"/>
                <a:cs typeface="Helvetica Neue"/>
              </a:defRPr>
            </a:pPr>
            <a:r>
              <a:rPr sz="3150" b="1">
                <a:solidFill>
                  <a:srgbClr val="101820"/>
                </a:solidFill>
                <a:latin typeface="Helvetica Neue"/>
                <a:ea typeface="Helvetica Neue"/>
                <a:cs typeface="Helvetica Neue"/>
              </a:rPr>
              <a:t>One deposit, two tokens</a:t>
            </a:r>
          </a:p>
        </p:txBody>
      </p:sp>
      <p:sp>
        <p:nvSpPr>
          <p:cNvPr id="5" name="">
            <a:extLst xmlns:a="http://schemas.openxmlformats.org/drawingml/2006/main">
              <a:ext uri="{FF2B5EF4-FFF2-40B4-BE49-F238E27FC236}">
                <a16:creationId xmlns:a16="http://schemas.microsoft.com/office/drawing/2014/main" id="{9E6C3C71-F821-4D6F-BC63-42892C6EE175}"/>
              </a:ext>
            </a:extLst>
          </p:cNvPr>
          <p:cNvSpPr>
            <a:spLocks xmlns:a="http://schemas.openxmlformats.org/drawingml/2006/main" noGrp="1"/>
          </p:cNvSpPr>
          <p:nvPr/>
        </p:nvSpPr>
        <p:spPr>
          <a:xfrm xmlns:a="http://schemas.openxmlformats.org/drawingml/2006/main">
            <a:off x="11144250" y="5524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03</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3822230d660c4c64"/>
          <a:stretch xmlns:a="http://schemas.openxmlformats.org/drawingml/2006/main"/>
        </p:blipFill>
        <p:spPr>
          <a:xfrm xmlns:a="http://schemas.openxmlformats.org/drawingml/2006/main">
            <a:off x="1088231" y="1905000"/>
            <a:ext cx="6357938" cy="4238625"/>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B1175A14-4EF9-4BBB-96DB-9AD23428A09E}"/>
              </a:ext>
            </a:extLst>
          </p:cNvPr>
          <p:cNvSpPr>
            <a:spLocks xmlns:a="http://schemas.openxmlformats.org/drawingml/2006/main" noGrp="1"/>
          </p:cNvSpPr>
          <p:nvPr/>
        </p:nvSpPr>
        <p:spPr>
          <a:xfrm xmlns:a="http://schemas.openxmlformats.org/drawingml/2006/main">
            <a:off x="762000" y="1695450"/>
            <a:ext cx="685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00" b="1">
                <a:solidFill>
                  <a:srgbClr val="101820"/>
                </a:solidFill>
                <a:latin typeface="Helvetica Neue"/>
                <a:ea typeface="Helvetica Neue"/>
                <a:cs typeface="Helvetica Neue"/>
              </a:defRPr>
            </a:pPr>
            <a:r>
              <a:rPr sz="1800" b="1">
                <a:solidFill>
                  <a:srgbClr val="101820"/>
                </a:solidFill>
                <a:latin typeface="Helvetica Neue"/>
                <a:ea typeface="Helvetica Neue"/>
                <a:cs typeface="Helvetica Neue"/>
              </a:rPr>
              <a:t>Deposit 100 stock tokens</a:t>
            </a:r>
          </a:p>
        </p:txBody>
      </p:sp>
      <p:sp>
        <p:nvSpPr>
          <p:cNvPr id="8" name="">
            <a:extLst xmlns:a="http://schemas.openxmlformats.org/drawingml/2006/main">
              <a:ext uri="{FF2B5EF4-FFF2-40B4-BE49-F238E27FC236}">
                <a16:creationId xmlns:a16="http://schemas.microsoft.com/office/drawing/2014/main" id="{50828CEA-F7E9-4E14-BBFC-BBFC17385A84}"/>
              </a:ext>
            </a:extLst>
          </p:cNvPr>
          <p:cNvSpPr>
            <a:spLocks xmlns:a="http://schemas.openxmlformats.org/drawingml/2006/main" noGrp="1"/>
          </p:cNvSpPr>
          <p:nvPr/>
        </p:nvSpPr>
        <p:spPr>
          <a:xfrm xmlns:a="http://schemas.openxmlformats.org/drawingml/2006/main">
            <a:off x="8286750" y="1981200"/>
            <a:ext cx="304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3600" b="1">
                <a:solidFill>
                  <a:srgbClr val="2457F5"/>
                </a:solidFill>
                <a:latin typeface="Helvetica Neue"/>
                <a:ea typeface="Helvetica Neue"/>
                <a:cs typeface="Helvetica Neue"/>
              </a:defRPr>
            </a:pPr>
            <a:r>
              <a:rPr sz="3600" b="1">
                <a:solidFill>
                  <a:srgbClr val="2457F5"/>
                </a:solidFill>
                <a:latin typeface="Helvetica Neue"/>
                <a:ea typeface="Helvetica Neue"/>
                <a:cs typeface="Helvetica Neue"/>
              </a:rPr>
              <a:t>100 PT</a:t>
            </a:r>
          </a:p>
        </p:txBody>
      </p:sp>
      <p:sp>
        <p:nvSpPr>
          <p:cNvPr id="9" name="">
            <a:extLst xmlns:a="http://schemas.openxmlformats.org/drawingml/2006/main">
              <a:ext uri="{FF2B5EF4-FFF2-40B4-BE49-F238E27FC236}">
                <a16:creationId xmlns:a16="http://schemas.microsoft.com/office/drawing/2014/main" id="{8ED2EB29-D3EE-4EBE-8908-1EA1639E7B7E}"/>
              </a:ext>
            </a:extLst>
          </p:cNvPr>
          <p:cNvSpPr>
            <a:spLocks xmlns:a="http://schemas.openxmlformats.org/drawingml/2006/main" noGrp="1"/>
          </p:cNvSpPr>
          <p:nvPr/>
        </p:nvSpPr>
        <p:spPr>
          <a:xfrm xmlns:a="http://schemas.openxmlformats.org/drawingml/2006/main">
            <a:off x="8305800" y="2647950"/>
            <a:ext cx="3095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75" b="1">
                <a:solidFill>
                  <a:srgbClr val="1639A6"/>
                </a:solidFill>
                <a:latin typeface="Helvetica Neue"/>
                <a:ea typeface="Helvetica Neue"/>
                <a:cs typeface="Helvetica Neue"/>
              </a:defRPr>
            </a:pPr>
            <a:r>
              <a:rPr sz="1875" b="1">
                <a:solidFill>
                  <a:srgbClr val="1639A6"/>
                </a:solidFill>
                <a:latin typeface="Helvetica Neue"/>
                <a:ea typeface="Helvetica Neue"/>
                <a:cs typeface="Helvetica Neue"/>
              </a:rPr>
              <a:t>Stock exposure</a:t>
            </a:r>
          </a:p>
        </p:txBody>
      </p:sp>
      <p:sp>
        <p:nvSpPr>
          <p:cNvPr id="10" name="">
            <a:extLst xmlns:a="http://schemas.openxmlformats.org/drawingml/2006/main">
              <a:ext uri="{FF2B5EF4-FFF2-40B4-BE49-F238E27FC236}">
                <a16:creationId xmlns:a16="http://schemas.microsoft.com/office/drawing/2014/main" id="{4F79757C-97E1-4C9F-9F13-208375B1DD21}"/>
              </a:ext>
            </a:extLst>
          </p:cNvPr>
          <p:cNvSpPr>
            <a:spLocks xmlns:a="http://schemas.openxmlformats.org/drawingml/2006/main" noGrp="1"/>
          </p:cNvSpPr>
          <p:nvPr/>
        </p:nvSpPr>
        <p:spPr>
          <a:xfrm xmlns:a="http://schemas.openxmlformats.org/drawingml/2006/main">
            <a:off x="8286750" y="3638550"/>
            <a:ext cx="304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3600" b="1">
                <a:solidFill>
                  <a:srgbClr val="C46A00"/>
                </a:solidFill>
                <a:latin typeface="Helvetica Neue"/>
                <a:ea typeface="Helvetica Neue"/>
                <a:cs typeface="Helvetica Neue"/>
              </a:defRPr>
            </a:pPr>
            <a:r>
              <a:rPr sz="3600" b="1">
                <a:solidFill>
                  <a:srgbClr val="C46A00"/>
                </a:solidFill>
                <a:latin typeface="Helvetica Neue"/>
                <a:ea typeface="Helvetica Neue"/>
                <a:cs typeface="Helvetica Neue"/>
              </a:rPr>
              <a:t>100 DR</a:t>
            </a:r>
          </a:p>
        </p:txBody>
      </p:sp>
      <p:sp>
        <p:nvSpPr>
          <p:cNvPr id="11" name="">
            <a:extLst xmlns:a="http://schemas.openxmlformats.org/drawingml/2006/main">
              <a:ext uri="{FF2B5EF4-FFF2-40B4-BE49-F238E27FC236}">
                <a16:creationId xmlns:a16="http://schemas.microsoft.com/office/drawing/2014/main" id="{164C1F0E-6968-4F01-8CF5-FAAC1136AEE4}"/>
              </a:ext>
            </a:extLst>
          </p:cNvPr>
          <p:cNvSpPr>
            <a:spLocks xmlns:a="http://schemas.openxmlformats.org/drawingml/2006/main" noGrp="1"/>
          </p:cNvSpPr>
          <p:nvPr/>
        </p:nvSpPr>
        <p:spPr>
          <a:xfrm xmlns:a="http://schemas.openxmlformats.org/drawingml/2006/main">
            <a:off x="8305800" y="4305300"/>
            <a:ext cx="3124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875" b="1">
                <a:solidFill>
                  <a:srgbClr val="7A4000"/>
                </a:solidFill>
                <a:latin typeface="Helvetica Neue"/>
                <a:ea typeface="Helvetica Neue"/>
                <a:cs typeface="Helvetica Neue"/>
              </a:defRPr>
            </a:pPr>
            <a:r>
              <a:rPr sz="1875" b="1">
                <a:solidFill>
                  <a:srgbClr val="7A4000"/>
                </a:solidFill>
                <a:latin typeface="Helvetica Neue"/>
                <a:ea typeface="Helvetica Neue"/>
                <a:cs typeface="Helvetica Neue"/>
              </a:rPr>
              <a:t>The year’s dividend rights</a:t>
            </a:r>
          </a:p>
        </p:txBody>
      </p:sp>
      <p:sp>
        <p:nvSpPr>
          <p:cNvPr id="12" name="">
            <a:extLst xmlns:a="http://schemas.openxmlformats.org/drawingml/2006/main">
              <a:ext uri="{FF2B5EF4-FFF2-40B4-BE49-F238E27FC236}">
                <a16:creationId xmlns:a16="http://schemas.microsoft.com/office/drawing/2014/main" id="{D9E70828-E33B-408D-BD85-AB79712A9A7B}"/>
              </a:ext>
            </a:extLst>
          </p:cNvPr>
          <p:cNvSpPr>
            <a:spLocks xmlns:a="http://schemas.openxmlformats.org/drawingml/2006/main" noGrp="1"/>
          </p:cNvSpPr>
          <p:nvPr/>
        </p:nvSpPr>
        <p:spPr>
          <a:xfrm xmlns:a="http://schemas.openxmlformats.org/drawingml/2006/main">
            <a:off x="762000" y="6200775"/>
            <a:ext cx="704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500" b="0">
                <a:solidFill>
                  <a:srgbClr val="53606B"/>
                </a:solidFill>
                <a:latin typeface="Helvetica Neue"/>
                <a:ea typeface="Helvetica Neue"/>
                <a:cs typeface="Helvetica Neue"/>
              </a:defRPr>
            </a:pPr>
            <a:r>
              <a:rPr sz="1500" b="0">
                <a:solidFill>
                  <a:srgbClr val="53606B"/>
                </a:solidFill>
                <a:latin typeface="Helvetica Neue"/>
                <a:ea typeface="Helvetica Neue"/>
                <a:cs typeface="Helvetica Neue"/>
              </a:rPr>
              <a:t>The stock tokens stay in the vault.</a:t>
            </a:r>
          </a:p>
        </p:txBody>
      </p:sp>
      <p:sp>
        <p:nvSpPr>
          <p:cNvPr id="13" name="">
            <a:extLst xmlns:a="http://schemas.openxmlformats.org/drawingml/2006/main">
              <a:ext uri="{FF2B5EF4-FFF2-40B4-BE49-F238E27FC236}">
                <a16:creationId xmlns:a16="http://schemas.microsoft.com/office/drawing/2014/main" id="{8217BA7B-AEA2-4EA0-9AEF-43A206CCA469}"/>
              </a:ext>
            </a:extLst>
          </p:cNvPr>
          <p:cNvSpPr>
            <a:spLocks xmlns:a="http://schemas.openxmlformats.org/drawingml/2006/main" noGrp="1"/>
          </p:cNvSpPr>
          <p:nvPr/>
        </p:nvSpPr>
        <p:spPr>
          <a:xfrm xmlns:a="http://schemas.openxmlformats.org/drawingml/2006/main">
            <a:off x="8286750" y="5495925"/>
            <a:ext cx="304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725" b="1">
                <a:solidFill>
                  <a:srgbClr val="101820"/>
                </a:solidFill>
                <a:latin typeface="Helvetica Neue"/>
                <a:ea typeface="Helvetica Neue"/>
                <a:cs typeface="Helvetica Neue"/>
              </a:defRPr>
            </a:pPr>
            <a:r>
              <a:rPr sz="1725" b="1">
                <a:solidFill>
                  <a:srgbClr val="101820"/>
                </a:solidFill>
                <a:latin typeface="Helvetica Neue"/>
                <a:ea typeface="Helvetica Neue"/>
                <a:cs typeface="Helvetica Neue"/>
              </a:rPr>
              <a:t>Keep, transfer or trade</a:t>
            </a:r>
          </a:p>
          <a:p xmlns:a="http://schemas.openxmlformats.org/drawingml/2006/main">
            <a:pPr algn="l">
              <a:lnSpc>
                <a:spcPct val="115000"/>
              </a:lnSpc>
              <a:buNone/>
              <a:defRPr sz="1725" b="1">
                <a:solidFill>
                  <a:srgbClr val="101820"/>
                </a:solidFill>
                <a:latin typeface="Helvetica Neue"/>
                <a:ea typeface="Helvetica Neue"/>
                <a:cs typeface="Helvetica Neue"/>
              </a:defRPr>
            </a:pPr>
            <a:r>
              <a:rPr sz="1725" b="1">
                <a:solidFill>
                  <a:srgbClr val="101820"/>
                </a:solidFill>
                <a:latin typeface="Helvetica Neue"/>
                <a:ea typeface="Helvetica Neue"/>
                <a:cs typeface="Helvetica Neue"/>
              </a:rPr>
              <a:t>either side.</a:t>
            </a:r>
          </a:p>
        </p:txBody>
      </p:sp>
    </p:spTree>
    <p:extLst>
      <p:ext uri="{BB962C8B-B14F-4D97-AF65-F5344CB8AC3E}">
        <p14:creationId xmlns:p14="http://schemas.microsoft.com/office/powerpoint/2010/main" val="1308839144"/>
      </p:ext>
    </p:extLst>
  </p:cSld>
</p:sld>
</file>

<file path=ppt/slides/slide4.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AEC33539-81B5-42D0-84D0-B8638B0CC087}"/>
              </a:ext>
            </a:extLst>
          </p:cNvPr>
          <p:cNvSpPr>
            <a:spLocks xmlns:a="http://schemas.openxmlformats.org/drawingml/2006/main" noGrp="1"/>
          </p:cNvSpPr>
          <p:nvPr/>
        </p:nvSpPr>
        <p:spPr>
          <a:xfrm xmlns:a="http://schemas.openxmlformats.org/drawingml/2006/main" rot="2700000">
            <a:off x="704850" y="514350"/>
            <a:ext cx="123444" cy="123444"/>
          </a:xfrm>
          <a:prstGeom xmlns:a="http://schemas.openxmlformats.org/drawingml/2006/main" prst="rect">
            <a:avLst/>
          </a:prstGeom>
          <a:solidFill xmlns:a="http://schemas.openxmlformats.org/drawingml/2006/main">
            <a:srgbClr val="2457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CC7E7525-4251-49AF-B5CE-88CF49FFC5D7}"/>
              </a:ext>
            </a:extLst>
          </p:cNvPr>
          <p:cNvSpPr>
            <a:spLocks xmlns:a="http://schemas.openxmlformats.org/drawingml/2006/main" noGrp="1"/>
          </p:cNvSpPr>
          <p:nvPr/>
        </p:nvSpPr>
        <p:spPr>
          <a:xfrm xmlns:a="http://schemas.openxmlformats.org/drawingml/2006/main" rot="2700000">
            <a:off x="807720" y="617220"/>
            <a:ext cx="123444" cy="123444"/>
          </a:xfrm>
          <a:prstGeom xmlns:a="http://schemas.openxmlformats.org/drawingml/2006/main" prst="rect">
            <a:avLst/>
          </a:prstGeom>
          <a:solidFill xmlns:a="http://schemas.openxmlformats.org/drawingml/2006/main">
            <a:srgbClr val="C46A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A8F2CDB7-16B3-42C9-982C-E5100C13EDAA}"/>
              </a:ext>
            </a:extLst>
          </p:cNvPr>
          <p:cNvSpPr>
            <a:spLocks xmlns:a="http://schemas.openxmlformats.org/drawingml/2006/main" noGrp="1"/>
          </p:cNvSpPr>
          <p:nvPr/>
        </p:nvSpPr>
        <p:spPr>
          <a:xfrm xmlns:a="http://schemas.openxmlformats.org/drawingml/2006/main">
            <a:off x="972312" y="507492"/>
            <a:ext cx="116586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80" b="1">
                <a:solidFill>
                  <a:srgbClr val="101820"/>
                </a:solidFill>
                <a:latin typeface="Helvetica Neue"/>
                <a:ea typeface="Helvetica Neue"/>
                <a:cs typeface="Helvetica Neue"/>
              </a:defRPr>
            </a:pPr>
            <a:r>
              <a:rPr sz="1080" b="1">
                <a:solidFill>
                  <a:srgbClr val="101820"/>
                </a:solidFill>
                <a:latin typeface="Helvetica Neue"/>
                <a:ea typeface="Helvetica Neue"/>
                <a:cs typeface="Helvetica Neue"/>
              </a:rPr>
              <a:t>DivX</a:t>
            </a:r>
          </a:p>
        </p:txBody>
      </p:sp>
      <p:sp>
        <p:nvSpPr>
          <p:cNvPr id="4" name="">
            <a:extLst xmlns:a="http://schemas.openxmlformats.org/drawingml/2006/main">
              <a:ext uri="{FF2B5EF4-FFF2-40B4-BE49-F238E27FC236}">
                <a16:creationId xmlns:a16="http://schemas.microsoft.com/office/drawing/2014/main" id="{A44EB30A-2109-4843-866F-0ACD1512B9B2}"/>
              </a:ext>
            </a:extLst>
          </p:cNvPr>
          <p:cNvSpPr>
            <a:spLocks xmlns:a="http://schemas.openxmlformats.org/drawingml/2006/main" noGrp="1"/>
          </p:cNvSpPr>
          <p:nvPr/>
        </p:nvSpPr>
        <p:spPr>
          <a:xfrm xmlns:a="http://schemas.openxmlformats.org/drawingml/2006/main">
            <a:off x="704850" y="9334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3150" b="1">
                <a:solidFill>
                  <a:srgbClr val="101820"/>
                </a:solidFill>
                <a:latin typeface="Helvetica Neue"/>
                <a:ea typeface="Helvetica Neue"/>
                <a:cs typeface="Helvetica Neue"/>
              </a:defRPr>
            </a:pPr>
            <a:r>
              <a:rPr sz="3150" b="1">
                <a:solidFill>
                  <a:srgbClr val="101820"/>
                </a:solidFill>
                <a:latin typeface="Helvetica Neue"/>
                <a:ea typeface="Helvetica Neue"/>
                <a:cs typeface="Helvetica Neue"/>
              </a:rPr>
              <a:t>Established markets, familiar behavior</a:t>
            </a:r>
          </a:p>
        </p:txBody>
      </p:sp>
      <p:sp>
        <p:nvSpPr>
          <p:cNvPr id="5" name="">
            <a:extLst xmlns:a="http://schemas.openxmlformats.org/drawingml/2006/main">
              <a:ext uri="{FF2B5EF4-FFF2-40B4-BE49-F238E27FC236}">
                <a16:creationId xmlns:a16="http://schemas.microsoft.com/office/drawing/2014/main" id="{5A9E2569-0070-4B08-BFBC-A443D5128C1A}"/>
              </a:ext>
            </a:extLst>
          </p:cNvPr>
          <p:cNvSpPr>
            <a:spLocks xmlns:a="http://schemas.openxmlformats.org/drawingml/2006/main" noGrp="1"/>
          </p:cNvSpPr>
          <p:nvPr/>
        </p:nvSpPr>
        <p:spPr>
          <a:xfrm xmlns:a="http://schemas.openxmlformats.org/drawingml/2006/main">
            <a:off x="11144250" y="5524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04</a:t>
            </a:r>
          </a:p>
        </p:txBody>
      </p:sp>
      <p:sp>
        <p:nvSpPr>
          <p:cNvPr id="6" name="">
            <a:extLst xmlns:a="http://schemas.openxmlformats.org/drawingml/2006/main">
              <a:ext uri="{FF2B5EF4-FFF2-40B4-BE49-F238E27FC236}">
                <a16:creationId xmlns:a16="http://schemas.microsoft.com/office/drawing/2014/main" id="{78814024-ADA8-4A63-8EFC-A9F392982A53}"/>
              </a:ext>
            </a:extLst>
          </p:cNvPr>
          <p:cNvSpPr>
            <a:spLocks xmlns:a="http://schemas.openxmlformats.org/drawingml/2006/main" noGrp="1"/>
          </p:cNvSpPr>
          <p:nvPr/>
        </p:nvSpPr>
        <p:spPr>
          <a:xfrm xmlns:a="http://schemas.openxmlformats.org/drawingml/2006/main">
            <a:off x="762000" y="1943100"/>
            <a:ext cx="447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LISTED DIVIDEND DERIVATIVES</a:t>
            </a:r>
          </a:p>
        </p:txBody>
      </p:sp>
      <p:sp>
        <p:nvSpPr>
          <p:cNvPr id="7" name="">
            <a:extLst xmlns:a="http://schemas.openxmlformats.org/drawingml/2006/main">
              <a:ext uri="{FF2B5EF4-FFF2-40B4-BE49-F238E27FC236}">
                <a16:creationId xmlns:a16="http://schemas.microsoft.com/office/drawing/2014/main" id="{76343216-694D-4E39-A049-6394766D0503}"/>
              </a:ext>
            </a:extLst>
          </p:cNvPr>
          <p:cNvSpPr>
            <a:spLocks xmlns:a="http://schemas.openxmlformats.org/drawingml/2006/main" noGrp="1"/>
          </p:cNvSpPr>
          <p:nvPr/>
        </p:nvSpPr>
        <p:spPr>
          <a:xfrm xmlns:a="http://schemas.openxmlformats.org/drawingml/2006/main">
            <a:off x="762000" y="2247900"/>
            <a:ext cx="4476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5700" b="1">
                <a:solidFill>
                  <a:srgbClr val="101820"/>
                </a:solidFill>
                <a:latin typeface="Helvetica Neue"/>
                <a:ea typeface="Helvetica Neue"/>
                <a:cs typeface="Helvetica Neue"/>
              </a:defRPr>
            </a:pPr>
            <a:r>
              <a:rPr sz="5700" b="1">
                <a:solidFill>
                  <a:srgbClr val="101820"/>
                </a:solidFill>
                <a:latin typeface="Helvetica Neue"/>
                <a:ea typeface="Helvetica Neue"/>
                <a:cs typeface="Helvetica Neue"/>
              </a:rPr>
              <a:t>21M+</a:t>
            </a:r>
          </a:p>
        </p:txBody>
      </p:sp>
      <p:sp>
        <p:nvSpPr>
          <p:cNvPr id="8" name="">
            <a:extLst xmlns:a="http://schemas.openxmlformats.org/drawingml/2006/main">
              <a:ext uri="{FF2B5EF4-FFF2-40B4-BE49-F238E27FC236}">
                <a16:creationId xmlns:a16="http://schemas.microsoft.com/office/drawing/2014/main" id="{014B2D21-D2A7-4EBE-8B39-B0D2817618AB}"/>
              </a:ext>
            </a:extLst>
          </p:cNvPr>
          <p:cNvSpPr>
            <a:spLocks xmlns:a="http://schemas.openxmlformats.org/drawingml/2006/main" noGrp="1"/>
          </p:cNvSpPr>
          <p:nvPr/>
        </p:nvSpPr>
        <p:spPr>
          <a:xfrm xmlns:a="http://schemas.openxmlformats.org/drawingml/2006/main">
            <a:off x="781050" y="3238500"/>
            <a:ext cx="4572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650" b="0">
                <a:solidFill>
                  <a:srgbClr val="53606B"/>
                </a:solidFill>
                <a:latin typeface="Helvetica Neue"/>
                <a:ea typeface="Helvetica Neue"/>
                <a:cs typeface="Helvetica Neue"/>
              </a:defRPr>
            </a:pPr>
            <a:r>
              <a:rPr sz="1650" b="0">
                <a:solidFill>
                  <a:srgbClr val="53606B"/>
                </a:solidFill>
                <a:latin typeface="Helvetica Neue"/>
                <a:ea typeface="Helvetica Neue"/>
                <a:cs typeface="Helvetica Neue"/>
              </a:rPr>
              <a:t>dividend contracts traded on Eurex in 2024</a:t>
            </a:r>
          </a:p>
        </p:txBody>
      </p:sp>
      <p:sp>
        <p:nvSpPr>
          <p:cNvPr id="9" name="">
            <a:extLst xmlns:a="http://schemas.openxmlformats.org/drawingml/2006/main">
              <a:ext uri="{FF2B5EF4-FFF2-40B4-BE49-F238E27FC236}">
                <a16:creationId xmlns:a16="http://schemas.microsoft.com/office/drawing/2014/main" id="{BDD07DB9-62AE-4A70-8287-18B1D729B348}"/>
              </a:ext>
            </a:extLst>
          </p:cNvPr>
          <p:cNvSpPr>
            <a:spLocks xmlns:a="http://schemas.openxmlformats.org/drawingml/2006/main" noGrp="1"/>
          </p:cNvSpPr>
          <p:nvPr/>
        </p:nvSpPr>
        <p:spPr>
          <a:xfrm xmlns:a="http://schemas.openxmlformats.org/drawingml/2006/main">
            <a:off x="6096000" y="1885950"/>
            <a:ext cx="9525" cy="2190750"/>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13656865-C361-470D-B2D2-5C5D2EDEA312}"/>
              </a:ext>
            </a:extLst>
          </p:cNvPr>
          <p:cNvSpPr>
            <a:spLocks xmlns:a="http://schemas.openxmlformats.org/drawingml/2006/main" noGrp="1"/>
          </p:cNvSpPr>
          <p:nvPr/>
        </p:nvSpPr>
        <p:spPr>
          <a:xfrm xmlns:a="http://schemas.openxmlformats.org/drawingml/2006/main">
            <a:off x="6667500" y="1943100"/>
            <a:ext cx="447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ONCHAIN YIELD SEPARATION</a:t>
            </a:r>
          </a:p>
        </p:txBody>
      </p:sp>
      <p:sp>
        <p:nvSpPr>
          <p:cNvPr id="11" name="">
            <a:extLst xmlns:a="http://schemas.openxmlformats.org/drawingml/2006/main">
              <a:ext uri="{FF2B5EF4-FFF2-40B4-BE49-F238E27FC236}">
                <a16:creationId xmlns:a16="http://schemas.microsoft.com/office/drawing/2014/main" id="{86CDD280-A4AC-4402-A3EF-264E02550056}"/>
              </a:ext>
            </a:extLst>
          </p:cNvPr>
          <p:cNvSpPr>
            <a:spLocks xmlns:a="http://schemas.openxmlformats.org/drawingml/2006/main" noGrp="1"/>
          </p:cNvSpPr>
          <p:nvPr/>
        </p:nvSpPr>
        <p:spPr>
          <a:xfrm xmlns:a="http://schemas.openxmlformats.org/drawingml/2006/main">
            <a:off x="6667500" y="2247900"/>
            <a:ext cx="4667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5700" b="1">
                <a:solidFill>
                  <a:srgbClr val="2457F5"/>
                </a:solidFill>
                <a:latin typeface="Helvetica Neue"/>
                <a:ea typeface="Helvetica Neue"/>
                <a:cs typeface="Helvetica Neue"/>
              </a:defRPr>
            </a:pPr>
            <a:r>
              <a:rPr sz="5700" b="1">
                <a:solidFill>
                  <a:srgbClr val="2457F5"/>
                </a:solidFill>
                <a:latin typeface="Helvetica Neue"/>
                <a:ea typeface="Helvetica Neue"/>
                <a:cs typeface="Helvetica Neue"/>
              </a:rPr>
              <a:t>Pendle</a:t>
            </a:r>
          </a:p>
        </p:txBody>
      </p:sp>
      <p:sp>
        <p:nvSpPr>
          <p:cNvPr id="12" name="">
            <a:extLst xmlns:a="http://schemas.openxmlformats.org/drawingml/2006/main">
              <a:ext uri="{FF2B5EF4-FFF2-40B4-BE49-F238E27FC236}">
                <a16:creationId xmlns:a16="http://schemas.microsoft.com/office/drawing/2014/main" id="{BD083552-C4CA-4498-93B5-9CA4ABFC5D6B}"/>
              </a:ext>
            </a:extLst>
          </p:cNvPr>
          <p:cNvSpPr>
            <a:spLocks xmlns:a="http://schemas.openxmlformats.org/drawingml/2006/main" noGrp="1"/>
          </p:cNvSpPr>
          <p:nvPr/>
        </p:nvSpPr>
        <p:spPr>
          <a:xfrm xmlns:a="http://schemas.openxmlformats.org/drawingml/2006/main">
            <a:off x="6686550" y="3238500"/>
            <a:ext cx="447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650" b="0">
                <a:solidFill>
                  <a:srgbClr val="53606B"/>
                </a:solidFill>
                <a:latin typeface="Helvetica Neue"/>
                <a:ea typeface="Helvetica Neue"/>
                <a:cs typeface="Helvetica Neue"/>
              </a:defRPr>
            </a:pPr>
            <a:r>
              <a:rPr sz="1650" b="0">
                <a:solidFill>
                  <a:srgbClr val="53606B"/>
                </a:solidFill>
                <a:latin typeface="Helvetica Neue"/>
                <a:ea typeface="Helvetica Neue"/>
                <a:cs typeface="Helvetica Neue"/>
              </a:rPr>
              <a:t>Separate principal from future yield</a:t>
            </a:r>
          </a:p>
        </p:txBody>
      </p:sp>
      <p:sp>
        <p:nvSpPr>
          <p:cNvPr id="13" name="">
            <a:extLst xmlns:a="http://schemas.openxmlformats.org/drawingml/2006/main">
              <a:ext uri="{FF2B5EF4-FFF2-40B4-BE49-F238E27FC236}">
                <a16:creationId xmlns:a16="http://schemas.microsoft.com/office/drawing/2014/main" id="{FF08C9AD-7FA3-4FE6-90F3-0707FED6EE2D}"/>
              </a:ext>
            </a:extLst>
          </p:cNvPr>
          <p:cNvSpPr>
            <a:spLocks xmlns:a="http://schemas.openxmlformats.org/drawingml/2006/main" noGrp="1"/>
          </p:cNvSpPr>
          <p:nvPr/>
        </p:nvSpPr>
        <p:spPr>
          <a:xfrm xmlns:a="http://schemas.openxmlformats.org/drawingml/2006/main">
            <a:off x="762000" y="4762500"/>
            <a:ext cx="9810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01820"/>
                </a:solidFill>
                <a:latin typeface="Helvetica Neue"/>
                <a:ea typeface="Helvetica Neue"/>
                <a:cs typeface="Helvetica Neue"/>
              </a:defRPr>
            </a:pPr>
            <a:r>
              <a:rPr b="1">
                <a:solidFill>
                  <a:srgbClr val="101820"/>
                </a:solidFill>
                <a:latin typeface="Helvetica Neue"/>
                <a:ea typeface="Helvetica Neue"/>
                <a:cs typeface="Helvetica Neue"/>
              </a:rPr>
              <a:t>Investors already trade dividends separately.</a:t>
            </a:r>
            <a:r>
              <a:rPr b="1">
                <a:solidFill>
                  <a:srgbClr val="101820"/>
                </a:solidFill>
                <a:latin typeface="Helvetica Neue"/>
                <a:ea typeface="Helvetica Neue"/>
                <a:cs typeface="Helvetica Neue"/>
              </a:rPr>
              <a:t>
Crypto users already separate yield.</a:t>
            </a:r>
          </a:p>
        </p:txBody>
      </p:sp>
    </p:spTree>
    <p:extLst>
      <p:ext uri="{BB962C8B-B14F-4D97-AF65-F5344CB8AC3E}">
        <p14:creationId xmlns:p14="http://schemas.microsoft.com/office/powerpoint/2010/main" val="228003059"/>
      </p:ext>
    </p:extLst>
  </p:cSld>
</p:sld>
</file>

<file path=ppt/slides/slide5.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9F65B8BD-E89D-4867-BCA6-AECF6301ABAC}"/>
              </a:ext>
            </a:extLst>
          </p:cNvPr>
          <p:cNvSpPr>
            <a:spLocks xmlns:a="http://schemas.openxmlformats.org/drawingml/2006/main" noGrp="1"/>
          </p:cNvSpPr>
          <p:nvPr/>
        </p:nvSpPr>
        <p:spPr>
          <a:xfrm xmlns:a="http://schemas.openxmlformats.org/drawingml/2006/main" rot="2700000">
            <a:off x="704850" y="514350"/>
            <a:ext cx="123444" cy="123444"/>
          </a:xfrm>
          <a:prstGeom xmlns:a="http://schemas.openxmlformats.org/drawingml/2006/main" prst="rect">
            <a:avLst/>
          </a:prstGeom>
          <a:solidFill xmlns:a="http://schemas.openxmlformats.org/drawingml/2006/main">
            <a:srgbClr val="2457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3F4B903-6C11-4115-816D-C837D7717013}"/>
              </a:ext>
            </a:extLst>
          </p:cNvPr>
          <p:cNvSpPr>
            <a:spLocks xmlns:a="http://schemas.openxmlformats.org/drawingml/2006/main" noGrp="1"/>
          </p:cNvSpPr>
          <p:nvPr/>
        </p:nvSpPr>
        <p:spPr>
          <a:xfrm xmlns:a="http://schemas.openxmlformats.org/drawingml/2006/main" rot="2700000">
            <a:off x="807720" y="617220"/>
            <a:ext cx="123444" cy="123444"/>
          </a:xfrm>
          <a:prstGeom xmlns:a="http://schemas.openxmlformats.org/drawingml/2006/main" prst="rect">
            <a:avLst/>
          </a:prstGeom>
          <a:solidFill xmlns:a="http://schemas.openxmlformats.org/drawingml/2006/main">
            <a:srgbClr val="C46A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13D9A069-D1FE-45B9-A738-49D4231C26D4}"/>
              </a:ext>
            </a:extLst>
          </p:cNvPr>
          <p:cNvSpPr>
            <a:spLocks xmlns:a="http://schemas.openxmlformats.org/drawingml/2006/main" noGrp="1"/>
          </p:cNvSpPr>
          <p:nvPr/>
        </p:nvSpPr>
        <p:spPr>
          <a:xfrm xmlns:a="http://schemas.openxmlformats.org/drawingml/2006/main">
            <a:off x="972312" y="507492"/>
            <a:ext cx="116586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80" b="1">
                <a:solidFill>
                  <a:srgbClr val="101820"/>
                </a:solidFill>
                <a:latin typeface="Helvetica Neue"/>
                <a:ea typeface="Helvetica Neue"/>
                <a:cs typeface="Helvetica Neue"/>
              </a:defRPr>
            </a:pPr>
            <a:r>
              <a:rPr sz="1080" b="1">
                <a:solidFill>
                  <a:srgbClr val="101820"/>
                </a:solidFill>
                <a:latin typeface="Helvetica Neue"/>
                <a:ea typeface="Helvetica Neue"/>
                <a:cs typeface="Helvetica Neue"/>
              </a:rPr>
              <a:t>DivX</a:t>
            </a:r>
          </a:p>
        </p:txBody>
      </p:sp>
      <p:sp>
        <p:nvSpPr>
          <p:cNvPr id="4" name="">
            <a:extLst xmlns:a="http://schemas.openxmlformats.org/drawingml/2006/main">
              <a:ext uri="{FF2B5EF4-FFF2-40B4-BE49-F238E27FC236}">
                <a16:creationId xmlns:a16="http://schemas.microsoft.com/office/drawing/2014/main" id="{3866F237-0512-485E-B16E-4B0AF5B6F37F}"/>
              </a:ext>
            </a:extLst>
          </p:cNvPr>
          <p:cNvSpPr>
            <a:spLocks xmlns:a="http://schemas.openxmlformats.org/drawingml/2006/main" noGrp="1"/>
          </p:cNvSpPr>
          <p:nvPr/>
        </p:nvSpPr>
        <p:spPr>
          <a:xfrm xmlns:a="http://schemas.openxmlformats.org/drawingml/2006/main">
            <a:off x="704850" y="9334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3150" b="1">
                <a:solidFill>
                  <a:srgbClr val="101820"/>
                </a:solidFill>
                <a:latin typeface="Helvetica Neue"/>
                <a:ea typeface="Helvetica Neue"/>
                <a:cs typeface="Helvetica Neue"/>
              </a:defRPr>
            </a:pPr>
            <a:r>
              <a:rPr sz="3150" b="1">
                <a:solidFill>
                  <a:srgbClr val="101820"/>
                </a:solidFill>
                <a:latin typeface="Helvetica Neue"/>
                <a:ea typeface="Helvetica Neue"/>
                <a:cs typeface="Helvetica Neue"/>
              </a:rPr>
              <a:t>One year of dividend rights</a:t>
            </a:r>
          </a:p>
        </p:txBody>
      </p:sp>
      <p:sp>
        <p:nvSpPr>
          <p:cNvPr id="5" name="">
            <a:extLst xmlns:a="http://schemas.openxmlformats.org/drawingml/2006/main">
              <a:ext uri="{FF2B5EF4-FFF2-40B4-BE49-F238E27FC236}">
                <a16:creationId xmlns:a16="http://schemas.microsoft.com/office/drawing/2014/main" id="{600B5CEE-D2E0-4DED-A69B-C41B60A03DDE}"/>
              </a:ext>
            </a:extLst>
          </p:cNvPr>
          <p:cNvSpPr>
            <a:spLocks xmlns:a="http://schemas.openxmlformats.org/drawingml/2006/main" noGrp="1"/>
          </p:cNvSpPr>
          <p:nvPr/>
        </p:nvSpPr>
        <p:spPr>
          <a:xfrm xmlns:a="http://schemas.openxmlformats.org/drawingml/2006/main">
            <a:off x="11144250" y="5524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05</a:t>
            </a:r>
          </a:p>
        </p:txBody>
      </p:sp>
      <p:sp>
        <p:nvSpPr>
          <p:cNvPr id="6" name="">
            <a:extLst xmlns:a="http://schemas.openxmlformats.org/drawingml/2006/main">
              <a:ext uri="{FF2B5EF4-FFF2-40B4-BE49-F238E27FC236}">
                <a16:creationId xmlns:a16="http://schemas.microsoft.com/office/drawing/2014/main" id="{72D4A476-767F-4390-92B7-F3FA5A41E62F}"/>
              </a:ext>
            </a:extLst>
          </p:cNvPr>
          <p:cNvSpPr>
            <a:spLocks xmlns:a="http://schemas.openxmlformats.org/drawingml/2006/main" noGrp="1"/>
          </p:cNvSpPr>
          <p:nvPr/>
        </p:nvSpPr>
        <p:spPr>
          <a:xfrm xmlns:a="http://schemas.openxmlformats.org/drawingml/2006/main">
            <a:off x="762000" y="1809750"/>
            <a:ext cx="809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COCA-COLA EXAMPLE · KOX 2027</a:t>
            </a:r>
          </a:p>
        </p:txBody>
      </p:sp>
      <p:sp>
        <p:nvSpPr>
          <p:cNvPr id="7" name="">
            <a:extLst xmlns:a="http://schemas.openxmlformats.org/drawingml/2006/main">
              <a:ext uri="{FF2B5EF4-FFF2-40B4-BE49-F238E27FC236}">
                <a16:creationId xmlns:a16="http://schemas.microsoft.com/office/drawing/2014/main" id="{2FB4690D-1D68-46AF-A9C1-DD022E1B686F}"/>
              </a:ext>
            </a:extLst>
          </p:cNvPr>
          <p:cNvSpPr>
            <a:spLocks xmlns:a="http://schemas.openxmlformats.org/drawingml/2006/main" noGrp="1"/>
          </p:cNvSpPr>
          <p:nvPr/>
        </p:nvSpPr>
        <p:spPr>
          <a:xfrm xmlns:a="http://schemas.openxmlformats.org/drawingml/2006/main">
            <a:off x="762000" y="2152650"/>
            <a:ext cx="4667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775" b="1">
                <a:solidFill>
                  <a:srgbClr val="2457F5"/>
                </a:solidFill>
                <a:latin typeface="Helvetica Neue"/>
                <a:ea typeface="Helvetica Neue"/>
                <a:cs typeface="Helvetica Neue"/>
              </a:defRPr>
            </a:pPr>
            <a:r>
              <a:rPr sz="2775" b="1">
                <a:solidFill>
                  <a:srgbClr val="2457F5"/>
                </a:solidFill>
                <a:latin typeface="Helvetica Neue"/>
                <a:ea typeface="Helvetica Neue"/>
                <a:cs typeface="Helvetica Neue"/>
              </a:rPr>
              <a:t>PT-KOx-2027</a:t>
            </a:r>
          </a:p>
        </p:txBody>
      </p:sp>
      <p:sp>
        <p:nvSpPr>
          <p:cNvPr id="8" name="">
            <a:extLst xmlns:a="http://schemas.openxmlformats.org/drawingml/2006/main">
              <a:ext uri="{FF2B5EF4-FFF2-40B4-BE49-F238E27FC236}">
                <a16:creationId xmlns:a16="http://schemas.microsoft.com/office/drawing/2014/main" id="{E0D73E20-3E37-482E-8F4A-6BA0219C95A0}"/>
              </a:ext>
            </a:extLst>
          </p:cNvPr>
          <p:cNvSpPr>
            <a:spLocks xmlns:a="http://schemas.openxmlformats.org/drawingml/2006/main" noGrp="1"/>
          </p:cNvSpPr>
          <p:nvPr/>
        </p:nvSpPr>
        <p:spPr>
          <a:xfrm xmlns:a="http://schemas.openxmlformats.org/drawingml/2006/main">
            <a:off x="6667500" y="2152650"/>
            <a:ext cx="4667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775" b="1">
                <a:solidFill>
                  <a:srgbClr val="C46A00"/>
                </a:solidFill>
                <a:latin typeface="Helvetica Neue"/>
                <a:ea typeface="Helvetica Neue"/>
                <a:cs typeface="Helvetica Neue"/>
              </a:defRPr>
            </a:pPr>
            <a:r>
              <a:rPr sz="2775" b="1">
                <a:solidFill>
                  <a:srgbClr val="C46A00"/>
                </a:solidFill>
                <a:latin typeface="Helvetica Neue"/>
                <a:ea typeface="Helvetica Neue"/>
                <a:cs typeface="Helvetica Neue"/>
              </a:rPr>
              <a:t>DR-KOx-2027</a:t>
            </a:r>
          </a:p>
        </p:txBody>
      </p:sp>
      <p:sp>
        <p:nvSpPr>
          <p:cNvPr id="9" name="">
            <a:extLst xmlns:a="http://schemas.openxmlformats.org/drawingml/2006/main">
              <a:ext uri="{FF2B5EF4-FFF2-40B4-BE49-F238E27FC236}">
                <a16:creationId xmlns:a16="http://schemas.microsoft.com/office/drawing/2014/main" id="{A229BD87-093D-4331-BF43-88E31AA2B429}"/>
              </a:ext>
            </a:extLst>
          </p:cNvPr>
          <p:cNvSpPr>
            <a:spLocks xmlns:a="http://schemas.openxmlformats.org/drawingml/2006/main" noGrp="1"/>
          </p:cNvSpPr>
          <p:nvPr/>
        </p:nvSpPr>
        <p:spPr>
          <a:xfrm xmlns:a="http://schemas.openxmlformats.org/drawingml/2006/main">
            <a:off x="762000" y="2981325"/>
            <a:ext cx="1057275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82CB04C6-C192-4067-A53D-BFD60752C371}"/>
              </a:ext>
            </a:extLst>
          </p:cNvPr>
          <p:cNvSpPr>
            <a:spLocks xmlns:a="http://schemas.openxmlformats.org/drawingml/2006/main" noGrp="1"/>
          </p:cNvSpPr>
          <p:nvPr/>
        </p:nvSpPr>
        <p:spPr>
          <a:xfrm xmlns:a="http://schemas.openxmlformats.org/drawingml/2006/main">
            <a:off x="762000" y="3133725"/>
            <a:ext cx="2714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725" b="1">
                <a:solidFill>
                  <a:srgbClr val="101820"/>
                </a:solidFill>
                <a:latin typeface="Helvetica Neue"/>
                <a:ea typeface="Helvetica Neue"/>
                <a:cs typeface="Helvetica Neue"/>
              </a:defRPr>
            </a:pPr>
            <a:r>
              <a:rPr sz="1725" b="1">
                <a:solidFill>
                  <a:srgbClr val="101820"/>
                </a:solidFill>
                <a:latin typeface="Helvetica Neue"/>
                <a:ea typeface="Helvetica Neue"/>
                <a:cs typeface="Helvetica Neue"/>
              </a:rPr>
              <a:t>Before the year</a:t>
            </a:r>
          </a:p>
        </p:txBody>
      </p:sp>
      <p:sp>
        <p:nvSpPr>
          <p:cNvPr id="11" name="">
            <a:extLst xmlns:a="http://schemas.openxmlformats.org/drawingml/2006/main">
              <a:ext uri="{FF2B5EF4-FFF2-40B4-BE49-F238E27FC236}">
                <a16:creationId xmlns:a16="http://schemas.microsoft.com/office/drawing/2014/main" id="{C29DAC3D-E540-4BAB-99DA-90069DE7C738}"/>
              </a:ext>
            </a:extLst>
          </p:cNvPr>
          <p:cNvSpPr>
            <a:spLocks xmlns:a="http://schemas.openxmlformats.org/drawingml/2006/main" noGrp="1"/>
          </p:cNvSpPr>
          <p:nvPr/>
        </p:nvSpPr>
        <p:spPr>
          <a:xfrm xmlns:a="http://schemas.openxmlformats.org/drawingml/2006/main">
            <a:off x="3695700" y="3133725"/>
            <a:ext cx="7620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575" b="0">
                <a:solidFill>
                  <a:srgbClr val="53606B"/>
                </a:solidFill>
                <a:latin typeface="Helvetica Neue"/>
                <a:ea typeface="Helvetica Neue"/>
                <a:cs typeface="Helvetica Neue"/>
              </a:defRPr>
            </a:pPr>
            <a:r>
              <a:rPr sz="1575" b="0">
                <a:solidFill>
                  <a:srgbClr val="53606B"/>
                </a:solidFill>
                <a:latin typeface="Helvetica Neue"/>
                <a:ea typeface="Helvetica Neue"/>
                <a:cs typeface="Helvetica Neue"/>
              </a:rPr>
              <a:t>Deposit and split. New deposits close at the start of 2027.</a:t>
            </a:r>
          </a:p>
        </p:txBody>
      </p:sp>
      <p:sp>
        <p:nvSpPr>
          <p:cNvPr id="12" name="">
            <a:extLst xmlns:a="http://schemas.openxmlformats.org/drawingml/2006/main">
              <a:ext uri="{FF2B5EF4-FFF2-40B4-BE49-F238E27FC236}">
                <a16:creationId xmlns:a16="http://schemas.microsoft.com/office/drawing/2014/main" id="{699E5670-96F1-4AC9-AEB6-FB2B0E099497}"/>
              </a:ext>
            </a:extLst>
          </p:cNvPr>
          <p:cNvSpPr>
            <a:spLocks xmlns:a="http://schemas.openxmlformats.org/drawingml/2006/main" noGrp="1"/>
          </p:cNvSpPr>
          <p:nvPr/>
        </p:nvSpPr>
        <p:spPr>
          <a:xfrm xmlns:a="http://schemas.openxmlformats.org/drawingml/2006/main">
            <a:off x="762000" y="3676650"/>
            <a:ext cx="1057275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9A66A4C3-CBF4-4660-A312-5B13D60D7D16}"/>
              </a:ext>
            </a:extLst>
          </p:cNvPr>
          <p:cNvSpPr>
            <a:spLocks xmlns:a="http://schemas.openxmlformats.org/drawingml/2006/main" noGrp="1"/>
          </p:cNvSpPr>
          <p:nvPr/>
        </p:nvSpPr>
        <p:spPr>
          <a:xfrm xmlns:a="http://schemas.openxmlformats.org/drawingml/2006/main">
            <a:off x="762000" y="3829050"/>
            <a:ext cx="2714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725" b="1">
                <a:solidFill>
                  <a:srgbClr val="101820"/>
                </a:solidFill>
                <a:latin typeface="Helvetica Neue"/>
                <a:ea typeface="Helvetica Neue"/>
                <a:cs typeface="Helvetica Neue"/>
              </a:defRPr>
            </a:pPr>
            <a:r>
              <a:rPr sz="1725" b="1">
                <a:solidFill>
                  <a:srgbClr val="101820"/>
                </a:solidFill>
                <a:latin typeface="Helvetica Neue"/>
                <a:ea typeface="Helvetica Neue"/>
                <a:cs typeface="Helvetica Neue"/>
              </a:rPr>
              <a:t>During the year</a:t>
            </a:r>
          </a:p>
        </p:txBody>
      </p:sp>
      <p:sp>
        <p:nvSpPr>
          <p:cNvPr id="14" name="">
            <a:extLst xmlns:a="http://schemas.openxmlformats.org/drawingml/2006/main">
              <a:ext uri="{FF2B5EF4-FFF2-40B4-BE49-F238E27FC236}">
                <a16:creationId xmlns:a16="http://schemas.microsoft.com/office/drawing/2014/main" id="{C82D9D7D-0AEF-4AC6-934C-6FB38A4ABA05}"/>
              </a:ext>
            </a:extLst>
          </p:cNvPr>
          <p:cNvSpPr>
            <a:spLocks xmlns:a="http://schemas.openxmlformats.org/drawingml/2006/main" noGrp="1"/>
          </p:cNvSpPr>
          <p:nvPr/>
        </p:nvSpPr>
        <p:spPr>
          <a:xfrm xmlns:a="http://schemas.openxmlformats.org/drawingml/2006/main">
            <a:off x="3695700" y="3829050"/>
            <a:ext cx="7620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575" b="0">
                <a:solidFill>
                  <a:srgbClr val="53606B"/>
                </a:solidFill>
                <a:latin typeface="Helvetica Neue"/>
                <a:ea typeface="Helvetica Neue"/>
                <a:cs typeface="Helvetica Neue"/>
              </a:defRPr>
            </a:pPr>
            <a:r>
              <a:rPr sz="1575" b="0">
                <a:solidFill>
                  <a:srgbClr val="53606B"/>
                </a:solidFill>
                <a:latin typeface="Helvetica Neue"/>
                <a:ea typeface="Helvetica Neue"/>
                <a:cs typeface="Helvetica Neue"/>
              </a:rPr>
              <a:t>DR accumulates every qualified dividend for that year.</a:t>
            </a:r>
          </a:p>
        </p:txBody>
      </p:sp>
      <p:sp>
        <p:nvSpPr>
          <p:cNvPr id="15" name="">
            <a:extLst xmlns:a="http://schemas.openxmlformats.org/drawingml/2006/main">
              <a:ext uri="{FF2B5EF4-FFF2-40B4-BE49-F238E27FC236}">
                <a16:creationId xmlns:a16="http://schemas.microsoft.com/office/drawing/2014/main" id="{156592F2-8E68-4E5C-9118-5067606CFA8A}"/>
              </a:ext>
            </a:extLst>
          </p:cNvPr>
          <p:cNvSpPr>
            <a:spLocks xmlns:a="http://schemas.openxmlformats.org/drawingml/2006/main" noGrp="1"/>
          </p:cNvSpPr>
          <p:nvPr/>
        </p:nvSpPr>
        <p:spPr>
          <a:xfrm xmlns:a="http://schemas.openxmlformats.org/drawingml/2006/main">
            <a:off x="762000" y="4371975"/>
            <a:ext cx="1057275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A422F3AD-FBCE-4426-9E19-524B28D3A692}"/>
              </a:ext>
            </a:extLst>
          </p:cNvPr>
          <p:cNvSpPr>
            <a:spLocks xmlns:a="http://schemas.openxmlformats.org/drawingml/2006/main" noGrp="1"/>
          </p:cNvSpPr>
          <p:nvPr/>
        </p:nvSpPr>
        <p:spPr>
          <a:xfrm xmlns:a="http://schemas.openxmlformats.org/drawingml/2006/main">
            <a:off x="762000" y="4524375"/>
            <a:ext cx="2714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725" b="1">
                <a:solidFill>
                  <a:srgbClr val="101820"/>
                </a:solidFill>
                <a:latin typeface="Helvetica Neue"/>
                <a:ea typeface="Helvetica Neue"/>
                <a:cs typeface="Helvetica Neue"/>
              </a:defRPr>
            </a:pPr>
            <a:r>
              <a:rPr sz="1725" b="1">
                <a:solidFill>
                  <a:srgbClr val="101820"/>
                </a:solidFill>
                <a:latin typeface="Helvetica Neue"/>
                <a:ea typeface="Helvetica Neue"/>
                <a:cs typeface="Helvetica Neue"/>
              </a:rPr>
              <a:t>Put them together</a:t>
            </a:r>
          </a:p>
        </p:txBody>
      </p:sp>
      <p:sp>
        <p:nvSpPr>
          <p:cNvPr id="17" name="">
            <a:extLst xmlns:a="http://schemas.openxmlformats.org/drawingml/2006/main">
              <a:ext uri="{FF2B5EF4-FFF2-40B4-BE49-F238E27FC236}">
                <a16:creationId xmlns:a16="http://schemas.microsoft.com/office/drawing/2014/main" id="{4F23A775-337D-4AD3-A194-3EE1DA21C982}"/>
              </a:ext>
            </a:extLst>
          </p:cNvPr>
          <p:cNvSpPr>
            <a:spLocks xmlns:a="http://schemas.openxmlformats.org/drawingml/2006/main" noGrp="1"/>
          </p:cNvSpPr>
          <p:nvPr/>
        </p:nvSpPr>
        <p:spPr>
          <a:xfrm xmlns:a="http://schemas.openxmlformats.org/drawingml/2006/main">
            <a:off x="3695700" y="4524375"/>
            <a:ext cx="7620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575" b="0">
                <a:solidFill>
                  <a:srgbClr val="53606B"/>
                </a:solidFill>
                <a:latin typeface="Helvetica Neue"/>
                <a:ea typeface="Helvetica Neue"/>
                <a:cs typeface="Helvetica Neue"/>
              </a:defRPr>
            </a:pPr>
            <a:r>
              <a:rPr sz="1575" b="0">
                <a:solidFill>
                  <a:srgbClr val="53606B"/>
                </a:solidFill>
                <a:latin typeface="Helvetica Neue"/>
                <a:ea typeface="Helvetica Neue"/>
                <a:cs typeface="Helvetica Neue"/>
              </a:rPr>
              <a:t>Recombine matching PT and DR to recover their backing.</a:t>
            </a:r>
          </a:p>
        </p:txBody>
      </p:sp>
      <p:sp>
        <p:nvSpPr>
          <p:cNvPr id="18" name="">
            <a:extLst xmlns:a="http://schemas.openxmlformats.org/drawingml/2006/main">
              <a:ext uri="{FF2B5EF4-FFF2-40B4-BE49-F238E27FC236}">
                <a16:creationId xmlns:a16="http://schemas.microsoft.com/office/drawing/2014/main" id="{39DDFDF5-9B0C-40D6-8267-1565A282126B}"/>
              </a:ext>
            </a:extLst>
          </p:cNvPr>
          <p:cNvSpPr>
            <a:spLocks xmlns:a="http://schemas.openxmlformats.org/drawingml/2006/main" noGrp="1"/>
          </p:cNvSpPr>
          <p:nvPr/>
        </p:nvSpPr>
        <p:spPr>
          <a:xfrm xmlns:a="http://schemas.openxmlformats.org/drawingml/2006/main">
            <a:off x="762000" y="5067300"/>
            <a:ext cx="1057275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2FC179CA-23F0-4AD7-AD7A-4E52FFBDA69F}"/>
              </a:ext>
            </a:extLst>
          </p:cNvPr>
          <p:cNvSpPr>
            <a:spLocks xmlns:a="http://schemas.openxmlformats.org/drawingml/2006/main" noGrp="1"/>
          </p:cNvSpPr>
          <p:nvPr/>
        </p:nvSpPr>
        <p:spPr>
          <a:xfrm xmlns:a="http://schemas.openxmlformats.org/drawingml/2006/main">
            <a:off x="762000" y="5219700"/>
            <a:ext cx="2714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725" b="1">
                <a:solidFill>
                  <a:srgbClr val="7A4000"/>
                </a:solidFill>
                <a:latin typeface="Helvetica Neue"/>
                <a:ea typeface="Helvetica Neue"/>
                <a:cs typeface="Helvetica Neue"/>
              </a:defRPr>
            </a:pPr>
            <a:r>
              <a:rPr sz="1725" b="1">
                <a:solidFill>
                  <a:srgbClr val="7A4000"/>
                </a:solidFill>
                <a:latin typeface="Helvetica Neue"/>
                <a:ea typeface="Helvetica Neue"/>
                <a:cs typeface="Helvetica Neue"/>
              </a:rPr>
              <a:t>After finalization</a:t>
            </a:r>
          </a:p>
        </p:txBody>
      </p:sp>
      <p:sp>
        <p:nvSpPr>
          <p:cNvPr id="20" name="">
            <a:extLst xmlns:a="http://schemas.openxmlformats.org/drawingml/2006/main">
              <a:ext uri="{FF2B5EF4-FFF2-40B4-BE49-F238E27FC236}">
                <a16:creationId xmlns:a16="http://schemas.microsoft.com/office/drawing/2014/main" id="{9D910161-3AD0-4B23-9C25-A60C50DA86A0}"/>
              </a:ext>
            </a:extLst>
          </p:cNvPr>
          <p:cNvSpPr>
            <a:spLocks xmlns:a="http://schemas.openxmlformats.org/drawingml/2006/main" noGrp="1"/>
          </p:cNvSpPr>
          <p:nvPr/>
        </p:nvSpPr>
        <p:spPr>
          <a:xfrm xmlns:a="http://schemas.openxmlformats.org/drawingml/2006/main">
            <a:off x="3695700" y="5219700"/>
            <a:ext cx="7620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575" b="0">
                <a:solidFill>
                  <a:srgbClr val="53606B"/>
                </a:solidFill>
                <a:latin typeface="Helvetica Neue"/>
                <a:ea typeface="Helvetica Neue"/>
                <a:cs typeface="Helvetica Neue"/>
              </a:defRPr>
            </a:pPr>
            <a:r>
              <a:rPr sz="1575" b="0">
                <a:solidFill>
                  <a:srgbClr val="53606B"/>
                </a:solidFill>
                <a:latin typeface="Helvetica Neue"/>
                <a:ea typeface="Helvetica Neue"/>
                <a:cs typeface="Helvetica Neue"/>
              </a:rPr>
              <a:t>Redeem either side separately. Accrued rights do not expire.</a:t>
            </a:r>
          </a:p>
        </p:txBody>
      </p:sp>
      <p:sp>
        <p:nvSpPr>
          <p:cNvPr id="21" name="">
            <a:extLst xmlns:a="http://schemas.openxmlformats.org/drawingml/2006/main">
              <a:ext uri="{FF2B5EF4-FFF2-40B4-BE49-F238E27FC236}">
                <a16:creationId xmlns:a16="http://schemas.microsoft.com/office/drawing/2014/main" id="{25B2CB95-A8D7-41B5-B218-DAE6B9864429}"/>
              </a:ext>
            </a:extLst>
          </p:cNvPr>
          <p:cNvSpPr>
            <a:spLocks xmlns:a="http://schemas.openxmlformats.org/drawingml/2006/main" noGrp="1"/>
          </p:cNvSpPr>
          <p:nvPr/>
        </p:nvSpPr>
        <p:spPr>
          <a:xfrm xmlns:a="http://schemas.openxmlformats.org/drawingml/2006/main">
            <a:off x="762000" y="6286500"/>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500" b="1">
                <a:solidFill>
                  <a:srgbClr val="101820"/>
                </a:solidFill>
                <a:latin typeface="Helvetica Neue"/>
                <a:ea typeface="Helvetica Neue"/>
                <a:cs typeface="Helvetica Neue"/>
              </a:defRPr>
            </a:pPr>
            <a:r>
              <a:rPr sz="1500" b="1">
                <a:solidFill>
                  <a:srgbClr val="101820"/>
                </a:solidFill>
                <a:latin typeface="Helvetica Neue"/>
                <a:ea typeface="Helvetica Neue"/>
                <a:cs typeface="Helvetica Neue"/>
              </a:rPr>
              <a:t>Separate backing for every issuer, stock token and year.</a:t>
            </a:r>
          </a:p>
        </p:txBody>
      </p:sp>
    </p:spTree>
    <p:extLst>
      <p:ext uri="{BB962C8B-B14F-4D97-AF65-F5344CB8AC3E}">
        <p14:creationId xmlns:p14="http://schemas.microsoft.com/office/powerpoint/2010/main" val="1979531115"/>
      </p:ext>
    </p:extLst>
  </p:cSld>
</p:sld>
</file>

<file path=ppt/slides/slide6.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43E07749-EAAA-4A77-A512-FFADE559EF81}"/>
              </a:ext>
            </a:extLst>
          </p:cNvPr>
          <p:cNvSpPr>
            <a:spLocks xmlns:a="http://schemas.openxmlformats.org/drawingml/2006/main" noGrp="1"/>
          </p:cNvSpPr>
          <p:nvPr/>
        </p:nvSpPr>
        <p:spPr>
          <a:xfrm xmlns:a="http://schemas.openxmlformats.org/drawingml/2006/main" rot="2700000">
            <a:off x="704850" y="514350"/>
            <a:ext cx="123444" cy="123444"/>
          </a:xfrm>
          <a:prstGeom xmlns:a="http://schemas.openxmlformats.org/drawingml/2006/main" prst="rect">
            <a:avLst/>
          </a:prstGeom>
          <a:solidFill xmlns:a="http://schemas.openxmlformats.org/drawingml/2006/main">
            <a:srgbClr val="2457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8A2C69E5-B4E5-46F0-822C-835197E7634C}"/>
              </a:ext>
            </a:extLst>
          </p:cNvPr>
          <p:cNvSpPr>
            <a:spLocks xmlns:a="http://schemas.openxmlformats.org/drawingml/2006/main" noGrp="1"/>
          </p:cNvSpPr>
          <p:nvPr/>
        </p:nvSpPr>
        <p:spPr>
          <a:xfrm xmlns:a="http://schemas.openxmlformats.org/drawingml/2006/main" rot="2700000">
            <a:off x="807720" y="617220"/>
            <a:ext cx="123444" cy="123444"/>
          </a:xfrm>
          <a:prstGeom xmlns:a="http://schemas.openxmlformats.org/drawingml/2006/main" prst="rect">
            <a:avLst/>
          </a:prstGeom>
          <a:solidFill xmlns:a="http://schemas.openxmlformats.org/drawingml/2006/main">
            <a:srgbClr val="C46A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54DD63C6-D531-4E85-9C1C-EB5750C14B41}"/>
              </a:ext>
            </a:extLst>
          </p:cNvPr>
          <p:cNvSpPr>
            <a:spLocks xmlns:a="http://schemas.openxmlformats.org/drawingml/2006/main" noGrp="1"/>
          </p:cNvSpPr>
          <p:nvPr/>
        </p:nvSpPr>
        <p:spPr>
          <a:xfrm xmlns:a="http://schemas.openxmlformats.org/drawingml/2006/main">
            <a:off x="972312" y="507492"/>
            <a:ext cx="116586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80" b="1">
                <a:solidFill>
                  <a:srgbClr val="101820"/>
                </a:solidFill>
                <a:latin typeface="Helvetica Neue"/>
                <a:ea typeface="Helvetica Neue"/>
                <a:cs typeface="Helvetica Neue"/>
              </a:defRPr>
            </a:pPr>
            <a:r>
              <a:rPr sz="1080" b="1">
                <a:solidFill>
                  <a:srgbClr val="101820"/>
                </a:solidFill>
                <a:latin typeface="Helvetica Neue"/>
                <a:ea typeface="Helvetica Neue"/>
                <a:cs typeface="Helvetica Neue"/>
              </a:rPr>
              <a:t>DivX</a:t>
            </a:r>
          </a:p>
        </p:txBody>
      </p:sp>
      <p:sp>
        <p:nvSpPr>
          <p:cNvPr id="4" name="">
            <a:extLst xmlns:a="http://schemas.openxmlformats.org/drawingml/2006/main">
              <a:ext uri="{FF2B5EF4-FFF2-40B4-BE49-F238E27FC236}">
                <a16:creationId xmlns:a16="http://schemas.microsoft.com/office/drawing/2014/main" id="{4638030E-C30A-4A2F-8BCE-3F49E2DB77A7}"/>
              </a:ext>
            </a:extLst>
          </p:cNvPr>
          <p:cNvSpPr>
            <a:spLocks xmlns:a="http://schemas.openxmlformats.org/drawingml/2006/main" noGrp="1"/>
          </p:cNvSpPr>
          <p:nvPr/>
        </p:nvSpPr>
        <p:spPr>
          <a:xfrm xmlns:a="http://schemas.openxmlformats.org/drawingml/2006/main">
            <a:off x="704850" y="9334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3150" b="1">
                <a:solidFill>
                  <a:srgbClr val="101820"/>
                </a:solidFill>
                <a:latin typeface="Helvetica Neue"/>
                <a:ea typeface="Helvetica Neue"/>
                <a:cs typeface="Helvetica Neue"/>
              </a:defRPr>
            </a:pPr>
            <a:r>
              <a:rPr sz="3150" b="1">
                <a:solidFill>
                  <a:srgbClr val="101820"/>
                </a:solidFill>
                <a:latin typeface="Helvetica Neue"/>
                <a:ea typeface="Helvetica Neue"/>
                <a:cs typeface="Helvetica Neue"/>
              </a:rPr>
              <a:t>Why Solana</a:t>
            </a:r>
          </a:p>
        </p:txBody>
      </p:sp>
      <p:sp>
        <p:nvSpPr>
          <p:cNvPr id="5" name="">
            <a:extLst xmlns:a="http://schemas.openxmlformats.org/drawingml/2006/main">
              <a:ext uri="{FF2B5EF4-FFF2-40B4-BE49-F238E27FC236}">
                <a16:creationId xmlns:a16="http://schemas.microsoft.com/office/drawing/2014/main" id="{E2488411-7159-4D82-B5F7-F28DD53D76D4}"/>
              </a:ext>
            </a:extLst>
          </p:cNvPr>
          <p:cNvSpPr>
            <a:spLocks xmlns:a="http://schemas.openxmlformats.org/drawingml/2006/main" noGrp="1"/>
          </p:cNvSpPr>
          <p:nvPr/>
        </p:nvSpPr>
        <p:spPr>
          <a:xfrm xmlns:a="http://schemas.openxmlformats.org/drawingml/2006/main">
            <a:off x="11144250" y="5524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06</a:t>
            </a:r>
          </a:p>
        </p:txBody>
      </p:sp>
      <p:sp>
        <p:nvSpPr>
          <p:cNvPr id="6" name="">
            <a:extLst xmlns:a="http://schemas.openxmlformats.org/drawingml/2006/main">
              <a:ext uri="{FF2B5EF4-FFF2-40B4-BE49-F238E27FC236}">
                <a16:creationId xmlns:a16="http://schemas.microsoft.com/office/drawing/2014/main" id="{09F866E1-C1A1-4ACF-943B-9CF6292DBDA2}"/>
              </a:ext>
            </a:extLst>
          </p:cNvPr>
          <p:cNvSpPr>
            <a:spLocks xmlns:a="http://schemas.openxmlformats.org/drawingml/2006/main" noGrp="1"/>
          </p:cNvSpPr>
          <p:nvPr/>
        </p:nvSpPr>
        <p:spPr>
          <a:xfrm xmlns:a="http://schemas.openxmlformats.org/drawingml/2006/main">
            <a:off x="762000" y="1914525"/>
            <a:ext cx="5191125"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7950" b="1">
                <a:solidFill>
                  <a:srgbClr val="2457F5"/>
                </a:solidFill>
                <a:latin typeface="Helvetica Neue"/>
                <a:ea typeface="Helvetica Neue"/>
                <a:cs typeface="Helvetica Neue"/>
              </a:defRPr>
            </a:pPr>
            <a:r>
              <a:rPr sz="7950" b="1">
                <a:solidFill>
                  <a:srgbClr val="2457F5"/>
                </a:solidFill>
                <a:latin typeface="Helvetica Neue"/>
                <a:ea typeface="Helvetica Neue"/>
                <a:cs typeface="Helvetica Neue"/>
              </a:rPr>
              <a:t>&gt;95%</a:t>
            </a:r>
          </a:p>
        </p:txBody>
      </p:sp>
      <p:sp>
        <p:nvSpPr>
          <p:cNvPr id="7" name="">
            <a:extLst xmlns:a="http://schemas.openxmlformats.org/drawingml/2006/main">
              <a:ext uri="{FF2B5EF4-FFF2-40B4-BE49-F238E27FC236}">
                <a16:creationId xmlns:a16="http://schemas.microsoft.com/office/drawing/2014/main" id="{1F4385B3-8B8F-4F51-8F75-727FA7BA1B4C}"/>
              </a:ext>
            </a:extLst>
          </p:cNvPr>
          <p:cNvSpPr>
            <a:spLocks xmlns:a="http://schemas.openxmlformats.org/drawingml/2006/main" noGrp="1"/>
          </p:cNvSpPr>
          <p:nvPr/>
        </p:nvSpPr>
        <p:spPr>
          <a:xfrm xmlns:a="http://schemas.openxmlformats.org/drawingml/2006/main">
            <a:off x="781050" y="3333750"/>
            <a:ext cx="5000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175" b="1">
                <a:solidFill>
                  <a:srgbClr val="101820"/>
                </a:solidFill>
                <a:latin typeface="Helvetica Neue"/>
                <a:ea typeface="Helvetica Neue"/>
                <a:cs typeface="Helvetica Neue"/>
              </a:defRPr>
            </a:pPr>
            <a:r>
              <a:rPr sz="2175" b="1">
                <a:solidFill>
                  <a:srgbClr val="101820"/>
                </a:solidFill>
                <a:latin typeface="Helvetica Neue"/>
                <a:ea typeface="Helvetica Neue"/>
                <a:cs typeface="Helvetica Neue"/>
              </a:rPr>
              <a:t>of tokenized-equity trading</a:t>
            </a:r>
          </a:p>
        </p:txBody>
      </p:sp>
      <p:sp>
        <p:nvSpPr>
          <p:cNvPr id="8" name="">
            <a:extLst xmlns:a="http://schemas.openxmlformats.org/drawingml/2006/main">
              <a:ext uri="{FF2B5EF4-FFF2-40B4-BE49-F238E27FC236}">
                <a16:creationId xmlns:a16="http://schemas.microsoft.com/office/drawing/2014/main" id="{935B3170-15AD-44A9-A322-CC45FB1BF515}"/>
              </a:ext>
            </a:extLst>
          </p:cNvPr>
          <p:cNvSpPr>
            <a:spLocks xmlns:a="http://schemas.openxmlformats.org/drawingml/2006/main" noGrp="1"/>
          </p:cNvSpPr>
          <p:nvPr/>
        </p:nvSpPr>
        <p:spPr>
          <a:xfrm xmlns:a="http://schemas.openxmlformats.org/drawingml/2006/main">
            <a:off x="781050" y="3848100"/>
            <a:ext cx="4953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875" b="0">
                <a:solidFill>
                  <a:srgbClr val="53606B"/>
                </a:solidFill>
                <a:latin typeface="Helvetica Neue"/>
                <a:ea typeface="Helvetica Neue"/>
                <a:cs typeface="Helvetica Neue"/>
              </a:defRPr>
            </a:pPr>
            <a:r>
              <a:rPr sz="1875" b="0">
                <a:solidFill>
                  <a:srgbClr val="53606B"/>
                </a:solidFill>
                <a:latin typeface="Helvetica Neue"/>
                <a:ea typeface="Helvetica Neue"/>
                <a:cs typeface="Helvetica Neue"/>
              </a:rPr>
              <a:t>Solana reached this share during Q2 2026.</a:t>
            </a:r>
          </a:p>
        </p:txBody>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d9504d619fae4ca6"/>
          <a:stretch xmlns:a="http://schemas.openxmlformats.org/drawingml/2006/main"/>
        </p:blipFill>
        <p:spPr>
          <a:xfrm xmlns:a="http://schemas.openxmlformats.org/drawingml/2006/main">
            <a:off x="6351588" y="1657350"/>
            <a:ext cx="4851400" cy="3638550"/>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E4DD66F7-2C7F-4B23-AF73-83A91187BEE1}"/>
              </a:ext>
            </a:extLst>
          </p:cNvPr>
          <p:cNvSpPr>
            <a:spLocks xmlns:a="http://schemas.openxmlformats.org/drawingml/2006/main" noGrp="1"/>
          </p:cNvSpPr>
          <p:nvPr/>
        </p:nvSpPr>
        <p:spPr>
          <a:xfrm xmlns:a="http://schemas.openxmlformats.org/drawingml/2006/main">
            <a:off x="6353175" y="5286375"/>
            <a:ext cx="4857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75" b="1">
                <a:solidFill>
                  <a:srgbClr val="101820"/>
                </a:solidFill>
                <a:latin typeface="Helvetica Neue"/>
                <a:ea typeface="Helvetica Neue"/>
                <a:cs typeface="Helvetica Neue"/>
              </a:defRPr>
            </a:pPr>
            <a:r>
              <a:rPr sz="1875" b="1">
                <a:solidFill>
                  <a:srgbClr val="101820"/>
                </a:solidFill>
                <a:latin typeface="Helvetica Neue"/>
                <a:ea typeface="Helvetica Neue"/>
                <a:cs typeface="Helvetica Neue"/>
              </a:rPr>
              <a:t>Two assets for Solana builders</a:t>
            </a:r>
          </a:p>
        </p:txBody>
      </p:sp>
      <p:sp>
        <p:nvSpPr>
          <p:cNvPr id="11" name="">
            <a:extLst xmlns:a="http://schemas.openxmlformats.org/drawingml/2006/main">
              <a:ext uri="{FF2B5EF4-FFF2-40B4-BE49-F238E27FC236}">
                <a16:creationId xmlns:a16="http://schemas.microsoft.com/office/drawing/2014/main" id="{650B537C-0C04-4332-89FE-60DDB6858A51}"/>
              </a:ext>
            </a:extLst>
          </p:cNvPr>
          <p:cNvSpPr>
            <a:spLocks xmlns:a="http://schemas.openxmlformats.org/drawingml/2006/main" noGrp="1"/>
          </p:cNvSpPr>
          <p:nvPr/>
        </p:nvSpPr>
        <p:spPr>
          <a:xfrm xmlns:a="http://schemas.openxmlformats.org/drawingml/2006/main">
            <a:off x="762000" y="5838825"/>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950" b="1">
                <a:solidFill>
                  <a:srgbClr val="101820"/>
                </a:solidFill>
                <a:latin typeface="Helvetica Neue"/>
                <a:ea typeface="Helvetica Neue"/>
                <a:cs typeface="Helvetica Neue"/>
              </a:defRPr>
            </a:pPr>
            <a:r>
              <a:rPr sz="1950" b="1">
                <a:solidFill>
                  <a:srgbClr val="101820"/>
                </a:solidFill>
                <a:latin typeface="Helvetica Neue"/>
                <a:ea typeface="Helvetica Neue"/>
                <a:cs typeface="Helvetica Neue"/>
              </a:rPr>
              <a:t>Fast settlement · Fractional positions · Auditable</a:t>
            </a:r>
          </a:p>
        </p:txBody>
      </p:sp>
      <p:sp>
        <p:nvSpPr>
          <p:cNvPr id="12" name="">
            <a:extLst xmlns:a="http://schemas.openxmlformats.org/drawingml/2006/main">
              <a:ext uri="{FF2B5EF4-FFF2-40B4-BE49-F238E27FC236}">
                <a16:creationId xmlns:a16="http://schemas.microsoft.com/office/drawing/2014/main" id="{341767FF-884E-4847-92A7-1A0C852D05F8}"/>
              </a:ext>
            </a:extLst>
          </p:cNvPr>
          <p:cNvSpPr>
            <a:spLocks xmlns:a="http://schemas.openxmlformats.org/drawingml/2006/main" noGrp="1"/>
          </p:cNvSpPr>
          <p:nvPr/>
        </p:nvSpPr>
        <p:spPr>
          <a:xfrm xmlns:a="http://schemas.openxmlformats.org/drawingml/2006/main">
            <a:off x="762000" y="6334125"/>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125" b="0">
                <a:solidFill>
                  <a:srgbClr val="53606B"/>
                </a:solidFill>
                <a:latin typeface="Helvetica Neue"/>
                <a:ea typeface="Helvetica Neue"/>
                <a:cs typeface="Helvetica Neue"/>
              </a:defRPr>
            </a:pPr>
            <a:r>
              <a:rPr sz="1125" b="0">
                <a:solidFill>
                  <a:srgbClr val="53606B"/>
                </a:solidFill>
                <a:latin typeface="Helvetica Neue"/>
                <a:ea typeface="Helvetica Neue"/>
                <a:cs typeface="Helvetica Neue"/>
              </a:rPr>
              <a:t>Galaxy Research · Q2 2026 report · A level reached, not a quarterly average.</a:t>
            </a:r>
          </a:p>
        </p:txBody>
      </p:sp>
    </p:spTree>
    <p:extLst>
      <p:ext uri="{BB962C8B-B14F-4D97-AF65-F5344CB8AC3E}">
        <p14:creationId xmlns:p14="http://schemas.microsoft.com/office/powerpoint/2010/main" val="420682946"/>
      </p:ext>
    </p:extLst>
  </p:cSld>
</p:sld>
</file>

<file path=ppt/slides/slide7.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14A0EE5A-F05A-459F-8532-EF988517B363}"/>
              </a:ext>
            </a:extLst>
          </p:cNvPr>
          <p:cNvSpPr>
            <a:spLocks xmlns:a="http://schemas.openxmlformats.org/drawingml/2006/main" noGrp="1"/>
          </p:cNvSpPr>
          <p:nvPr/>
        </p:nvSpPr>
        <p:spPr>
          <a:xfrm xmlns:a="http://schemas.openxmlformats.org/drawingml/2006/main" rot="2700000">
            <a:off x="704850" y="514350"/>
            <a:ext cx="123444" cy="123444"/>
          </a:xfrm>
          <a:prstGeom xmlns:a="http://schemas.openxmlformats.org/drawingml/2006/main" prst="rect">
            <a:avLst/>
          </a:prstGeom>
          <a:solidFill xmlns:a="http://schemas.openxmlformats.org/drawingml/2006/main">
            <a:srgbClr val="2457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B66EB0C6-898A-48EC-A889-1D74EC719D5E}"/>
              </a:ext>
            </a:extLst>
          </p:cNvPr>
          <p:cNvSpPr>
            <a:spLocks xmlns:a="http://schemas.openxmlformats.org/drawingml/2006/main" noGrp="1"/>
          </p:cNvSpPr>
          <p:nvPr/>
        </p:nvSpPr>
        <p:spPr>
          <a:xfrm xmlns:a="http://schemas.openxmlformats.org/drawingml/2006/main" rot="2700000">
            <a:off x="807720" y="617220"/>
            <a:ext cx="123444" cy="123444"/>
          </a:xfrm>
          <a:prstGeom xmlns:a="http://schemas.openxmlformats.org/drawingml/2006/main" prst="rect">
            <a:avLst/>
          </a:prstGeom>
          <a:solidFill xmlns:a="http://schemas.openxmlformats.org/drawingml/2006/main">
            <a:srgbClr val="C46A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0FC9A7C1-EFC5-4477-8740-966AB0EF4F23}"/>
              </a:ext>
            </a:extLst>
          </p:cNvPr>
          <p:cNvSpPr>
            <a:spLocks xmlns:a="http://schemas.openxmlformats.org/drawingml/2006/main" noGrp="1"/>
          </p:cNvSpPr>
          <p:nvPr/>
        </p:nvSpPr>
        <p:spPr>
          <a:xfrm xmlns:a="http://schemas.openxmlformats.org/drawingml/2006/main">
            <a:off x="972312" y="507492"/>
            <a:ext cx="116586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80" b="1">
                <a:solidFill>
                  <a:srgbClr val="101820"/>
                </a:solidFill>
                <a:latin typeface="Helvetica Neue"/>
                <a:ea typeface="Helvetica Neue"/>
                <a:cs typeface="Helvetica Neue"/>
              </a:defRPr>
            </a:pPr>
            <a:r>
              <a:rPr sz="1080" b="1">
                <a:solidFill>
                  <a:srgbClr val="101820"/>
                </a:solidFill>
                <a:latin typeface="Helvetica Neue"/>
                <a:ea typeface="Helvetica Neue"/>
                <a:cs typeface="Helvetica Neue"/>
              </a:rPr>
              <a:t>DivX</a:t>
            </a:r>
          </a:p>
        </p:txBody>
      </p:sp>
      <p:sp>
        <p:nvSpPr>
          <p:cNvPr id="4" name="">
            <a:extLst xmlns:a="http://schemas.openxmlformats.org/drawingml/2006/main">
              <a:ext uri="{FF2B5EF4-FFF2-40B4-BE49-F238E27FC236}">
                <a16:creationId xmlns:a16="http://schemas.microsoft.com/office/drawing/2014/main" id="{C8B4B588-3D23-427E-835F-1929C78124B7}"/>
              </a:ext>
            </a:extLst>
          </p:cNvPr>
          <p:cNvSpPr>
            <a:spLocks xmlns:a="http://schemas.openxmlformats.org/drawingml/2006/main" noGrp="1"/>
          </p:cNvSpPr>
          <p:nvPr/>
        </p:nvSpPr>
        <p:spPr>
          <a:xfrm xmlns:a="http://schemas.openxmlformats.org/drawingml/2006/main">
            <a:off x="704850" y="9334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3150" b="1">
                <a:solidFill>
                  <a:srgbClr val="101820"/>
                </a:solidFill>
                <a:latin typeface="Helvetica Neue"/>
                <a:ea typeface="Helvetica Neue"/>
                <a:cs typeface="Helvetica Neue"/>
              </a:defRPr>
            </a:pPr>
            <a:r>
              <a:rPr sz="3150" b="1">
                <a:solidFill>
                  <a:srgbClr val="101820"/>
                </a:solidFill>
                <a:latin typeface="Helvetica Neue"/>
                <a:ea typeface="Helvetica Neue"/>
                <a:cs typeface="Helvetica Neue"/>
              </a:rPr>
              <a:t>Both sides are composable</a:t>
            </a:r>
          </a:p>
        </p:txBody>
      </p:sp>
      <p:sp>
        <p:nvSpPr>
          <p:cNvPr id="5" name="">
            <a:extLst xmlns:a="http://schemas.openxmlformats.org/drawingml/2006/main">
              <a:ext uri="{FF2B5EF4-FFF2-40B4-BE49-F238E27FC236}">
                <a16:creationId xmlns:a16="http://schemas.microsoft.com/office/drawing/2014/main" id="{B1879E7C-885F-4A26-9C38-78A8034C97EA}"/>
              </a:ext>
            </a:extLst>
          </p:cNvPr>
          <p:cNvSpPr>
            <a:spLocks xmlns:a="http://schemas.openxmlformats.org/drawingml/2006/main" noGrp="1"/>
          </p:cNvSpPr>
          <p:nvPr/>
        </p:nvSpPr>
        <p:spPr>
          <a:xfrm xmlns:a="http://schemas.openxmlformats.org/drawingml/2006/main">
            <a:off x="11144250" y="5524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07</a:t>
            </a:r>
          </a:p>
        </p:txBody>
      </p:sp>
      <p:sp>
        <p:nvSpPr>
          <p:cNvPr id="6" name="">
            <a:extLst xmlns:a="http://schemas.openxmlformats.org/drawingml/2006/main">
              <a:ext uri="{FF2B5EF4-FFF2-40B4-BE49-F238E27FC236}">
                <a16:creationId xmlns:a16="http://schemas.microsoft.com/office/drawing/2014/main" id="{F2378623-B7F5-4052-978F-906E7A43F996}"/>
              </a:ext>
            </a:extLst>
          </p:cNvPr>
          <p:cNvSpPr>
            <a:spLocks xmlns:a="http://schemas.openxmlformats.org/drawingml/2006/main" noGrp="1"/>
          </p:cNvSpPr>
          <p:nvPr/>
        </p:nvSpPr>
        <p:spPr>
          <a:xfrm xmlns:a="http://schemas.openxmlformats.org/drawingml/2006/main">
            <a:off x="762000" y="1752600"/>
            <a:ext cx="1066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025" b="1">
                <a:solidFill>
                  <a:srgbClr val="101820"/>
                </a:solidFill>
                <a:latin typeface="Helvetica Neue"/>
                <a:ea typeface="Helvetica Neue"/>
                <a:cs typeface="Helvetica Neue"/>
              </a:defRPr>
            </a:pPr>
            <a:r>
              <a:rPr sz="2025" b="1">
                <a:solidFill>
                  <a:srgbClr val="101820"/>
                </a:solidFill>
                <a:latin typeface="Helvetica Neue"/>
                <a:ea typeface="Helvetica Neue"/>
                <a:cs typeface="Helvetica Neue"/>
              </a:rPr>
              <a:t>PT for stock exposure. DR for dividend rights.</a:t>
            </a:r>
          </a:p>
        </p:txBody>
      </p:sp>
      <p:sp>
        <p:nvSpPr>
          <p:cNvPr id="7" name="">
            <a:extLst xmlns:a="http://schemas.openxmlformats.org/drawingml/2006/main">
              <a:ext uri="{FF2B5EF4-FFF2-40B4-BE49-F238E27FC236}">
                <a16:creationId xmlns:a16="http://schemas.microsoft.com/office/drawing/2014/main" id="{170719A4-7156-48EC-A645-6AE58848EB7D}"/>
              </a:ext>
            </a:extLst>
          </p:cNvPr>
          <p:cNvSpPr>
            <a:spLocks xmlns:a="http://schemas.openxmlformats.org/drawingml/2006/main" noGrp="1"/>
          </p:cNvSpPr>
          <p:nvPr/>
        </p:nvSpPr>
        <p:spPr>
          <a:xfrm xmlns:a="http://schemas.openxmlformats.org/drawingml/2006/main">
            <a:off x="762000" y="2505075"/>
            <a:ext cx="442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00" b="1">
                <a:solidFill>
                  <a:srgbClr val="2457F5"/>
                </a:solidFill>
                <a:latin typeface="Helvetica Neue"/>
                <a:ea typeface="Helvetica Neue"/>
                <a:cs typeface="Helvetica Neue"/>
              </a:defRPr>
            </a:pPr>
            <a:r>
              <a:rPr sz="1800" b="1">
                <a:solidFill>
                  <a:srgbClr val="2457F5"/>
                </a:solidFill>
                <a:latin typeface="Helvetica Neue"/>
                <a:ea typeface="Helvetica Neue"/>
                <a:cs typeface="Helvetica Neue"/>
              </a:rPr>
              <a:t>Liquidity markets</a:t>
            </a:r>
          </a:p>
        </p:txBody>
      </p:sp>
      <p:sp>
        <p:nvSpPr>
          <p:cNvPr id="8" name="">
            <a:extLst xmlns:a="http://schemas.openxmlformats.org/drawingml/2006/main">
              <a:ext uri="{FF2B5EF4-FFF2-40B4-BE49-F238E27FC236}">
                <a16:creationId xmlns:a16="http://schemas.microsoft.com/office/drawing/2014/main" id="{4CD6C9B8-056E-451B-AE6E-D4AAD348E365}"/>
              </a:ext>
            </a:extLst>
          </p:cNvPr>
          <p:cNvSpPr>
            <a:spLocks xmlns:a="http://schemas.openxmlformats.org/drawingml/2006/main" noGrp="1"/>
          </p:cNvSpPr>
          <p:nvPr/>
        </p:nvSpPr>
        <p:spPr>
          <a:xfrm xmlns:a="http://schemas.openxmlformats.org/drawingml/2006/main">
            <a:off x="5476875" y="2505075"/>
            <a:ext cx="5810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650" b="0">
                <a:solidFill>
                  <a:srgbClr val="53606B"/>
                </a:solidFill>
                <a:latin typeface="Helvetica Neue"/>
                <a:ea typeface="Helvetica Neue"/>
                <a:cs typeface="Helvetica Neue"/>
              </a:defRPr>
            </a:pPr>
            <a:r>
              <a:rPr sz="1650" b="0">
                <a:solidFill>
                  <a:srgbClr val="53606B"/>
                </a:solidFill>
                <a:latin typeface="Helvetica Neue"/>
                <a:ea typeface="Helvetica Neue"/>
                <a:cs typeface="Helvetica Neue"/>
              </a:rPr>
              <a:t>Raydium tested. Meteora proposed.</a:t>
            </a:r>
          </a:p>
        </p:txBody>
      </p:sp>
      <p:sp>
        <p:nvSpPr>
          <p:cNvPr id="9" name="">
            <a:extLst xmlns:a="http://schemas.openxmlformats.org/drawingml/2006/main">
              <a:ext uri="{FF2B5EF4-FFF2-40B4-BE49-F238E27FC236}">
                <a16:creationId xmlns:a16="http://schemas.microsoft.com/office/drawing/2014/main" id="{3162BD11-A50C-4273-8CE3-8EA59EA4E4FB}"/>
              </a:ext>
            </a:extLst>
          </p:cNvPr>
          <p:cNvSpPr>
            <a:spLocks xmlns:a="http://schemas.openxmlformats.org/drawingml/2006/main" noGrp="1"/>
          </p:cNvSpPr>
          <p:nvPr/>
        </p:nvSpPr>
        <p:spPr>
          <a:xfrm xmlns:a="http://schemas.openxmlformats.org/drawingml/2006/main">
            <a:off x="762000" y="3114675"/>
            <a:ext cx="1057275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48020FE3-2FE6-4967-881E-FBF3BCED213B}"/>
              </a:ext>
            </a:extLst>
          </p:cNvPr>
          <p:cNvSpPr>
            <a:spLocks xmlns:a="http://schemas.openxmlformats.org/drawingml/2006/main" noGrp="1"/>
          </p:cNvSpPr>
          <p:nvPr/>
        </p:nvSpPr>
        <p:spPr>
          <a:xfrm xmlns:a="http://schemas.openxmlformats.org/drawingml/2006/main">
            <a:off x="762000" y="3276600"/>
            <a:ext cx="442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00" b="1">
                <a:solidFill>
                  <a:srgbClr val="101820"/>
                </a:solidFill>
                <a:latin typeface="Helvetica Neue"/>
                <a:ea typeface="Helvetica Neue"/>
                <a:cs typeface="Helvetica Neue"/>
              </a:defRPr>
            </a:pPr>
            <a:r>
              <a:rPr sz="1800" b="1">
                <a:solidFill>
                  <a:srgbClr val="101820"/>
                </a:solidFill>
                <a:latin typeface="Helvetica Neue"/>
                <a:ea typeface="Helvetica Neue"/>
                <a:cs typeface="Helvetica Neue"/>
              </a:rPr>
              <a:t>Routing and orders</a:t>
            </a:r>
          </a:p>
        </p:txBody>
      </p:sp>
      <p:sp>
        <p:nvSpPr>
          <p:cNvPr id="11" name="">
            <a:extLst xmlns:a="http://schemas.openxmlformats.org/drawingml/2006/main">
              <a:ext uri="{FF2B5EF4-FFF2-40B4-BE49-F238E27FC236}">
                <a16:creationId xmlns:a16="http://schemas.microsoft.com/office/drawing/2014/main" id="{E8DAE95F-686A-4D20-8677-C27AC0AB98D1}"/>
              </a:ext>
            </a:extLst>
          </p:cNvPr>
          <p:cNvSpPr>
            <a:spLocks xmlns:a="http://schemas.openxmlformats.org/drawingml/2006/main" noGrp="1"/>
          </p:cNvSpPr>
          <p:nvPr/>
        </p:nvSpPr>
        <p:spPr>
          <a:xfrm xmlns:a="http://schemas.openxmlformats.org/drawingml/2006/main">
            <a:off x="5476875" y="3276600"/>
            <a:ext cx="5810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650" b="0">
                <a:solidFill>
                  <a:srgbClr val="53606B"/>
                </a:solidFill>
                <a:latin typeface="Helvetica Neue"/>
                <a:ea typeface="Helvetica Neue"/>
                <a:cs typeface="Helvetica Neue"/>
              </a:defRPr>
            </a:pPr>
            <a:r>
              <a:rPr sz="1650" b="0">
                <a:solidFill>
                  <a:srgbClr val="53606B"/>
                </a:solidFill>
                <a:latin typeface="Helvetica Neue"/>
                <a:ea typeface="Helvetica Neue"/>
                <a:cs typeface="Helvetica Neue"/>
              </a:rPr>
              <a:t>Jupiter: aggregation, recurring buys and limit orders.</a:t>
            </a:r>
          </a:p>
        </p:txBody>
      </p:sp>
      <p:sp>
        <p:nvSpPr>
          <p:cNvPr id="12" name="">
            <a:extLst xmlns:a="http://schemas.openxmlformats.org/drawingml/2006/main">
              <a:ext uri="{FF2B5EF4-FFF2-40B4-BE49-F238E27FC236}">
                <a16:creationId xmlns:a16="http://schemas.microsoft.com/office/drawing/2014/main" id="{09AE8190-217B-4CB2-912D-58A239B9BE22}"/>
              </a:ext>
            </a:extLst>
          </p:cNvPr>
          <p:cNvSpPr>
            <a:spLocks xmlns:a="http://schemas.openxmlformats.org/drawingml/2006/main" noGrp="1"/>
          </p:cNvSpPr>
          <p:nvPr/>
        </p:nvSpPr>
        <p:spPr>
          <a:xfrm xmlns:a="http://schemas.openxmlformats.org/drawingml/2006/main">
            <a:off x="762000" y="3886200"/>
            <a:ext cx="1057275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680C1C8F-0E17-4040-9D6C-7B874376AEFE}"/>
              </a:ext>
            </a:extLst>
          </p:cNvPr>
          <p:cNvSpPr>
            <a:spLocks xmlns:a="http://schemas.openxmlformats.org/drawingml/2006/main" noGrp="1"/>
          </p:cNvSpPr>
          <p:nvPr/>
        </p:nvSpPr>
        <p:spPr>
          <a:xfrm xmlns:a="http://schemas.openxmlformats.org/drawingml/2006/main">
            <a:off x="762000" y="4048125"/>
            <a:ext cx="442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00" b="1">
                <a:solidFill>
                  <a:srgbClr val="7A4000"/>
                </a:solidFill>
                <a:latin typeface="Helvetica Neue"/>
                <a:ea typeface="Helvetica Neue"/>
                <a:cs typeface="Helvetica Neue"/>
              </a:defRPr>
            </a:pPr>
            <a:r>
              <a:rPr sz="1800" b="1">
                <a:solidFill>
                  <a:srgbClr val="7A4000"/>
                </a:solidFill>
                <a:latin typeface="Helvetica Neue"/>
                <a:ea typeface="Helvetica Neue"/>
                <a:cs typeface="Helvetica Neue"/>
              </a:rPr>
              <a:t>Sales and vesting</a:t>
            </a:r>
          </a:p>
        </p:txBody>
      </p:sp>
      <p:sp>
        <p:nvSpPr>
          <p:cNvPr id="14" name="">
            <a:extLst xmlns:a="http://schemas.openxmlformats.org/drawingml/2006/main">
              <a:ext uri="{FF2B5EF4-FFF2-40B4-BE49-F238E27FC236}">
                <a16:creationId xmlns:a16="http://schemas.microsoft.com/office/drawing/2014/main" id="{81CF10B5-ED77-4E15-9EEB-3E31A48E2EAF}"/>
              </a:ext>
            </a:extLst>
          </p:cNvPr>
          <p:cNvSpPr>
            <a:spLocks xmlns:a="http://schemas.openxmlformats.org/drawingml/2006/main" noGrp="1"/>
          </p:cNvSpPr>
          <p:nvPr/>
        </p:nvSpPr>
        <p:spPr>
          <a:xfrm xmlns:a="http://schemas.openxmlformats.org/drawingml/2006/main">
            <a:off x="5476875" y="4048125"/>
            <a:ext cx="5810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650" b="0">
                <a:solidFill>
                  <a:srgbClr val="53606B"/>
                </a:solidFill>
                <a:latin typeface="Helvetica Neue"/>
                <a:ea typeface="Helvetica Neue"/>
                <a:cs typeface="Helvetica Neue"/>
              </a:defRPr>
            </a:pPr>
            <a:r>
              <a:rPr sz="1650" b="0">
                <a:solidFill>
                  <a:srgbClr val="53606B"/>
                </a:solidFill>
                <a:latin typeface="Helvetica Neue"/>
                <a:ea typeface="Helvetica Neue"/>
                <a:cs typeface="Helvetica Neue"/>
              </a:rPr>
              <a:t>Streamflow escrow and vesting; Jupiter Lock.</a:t>
            </a:r>
          </a:p>
        </p:txBody>
      </p:sp>
      <p:sp>
        <p:nvSpPr>
          <p:cNvPr id="15" name="">
            <a:extLst xmlns:a="http://schemas.openxmlformats.org/drawingml/2006/main">
              <a:ext uri="{FF2B5EF4-FFF2-40B4-BE49-F238E27FC236}">
                <a16:creationId xmlns:a16="http://schemas.microsoft.com/office/drawing/2014/main" id="{D1E23F5F-6D0B-4514-8AFE-287BDD34DE85}"/>
              </a:ext>
            </a:extLst>
          </p:cNvPr>
          <p:cNvSpPr>
            <a:spLocks xmlns:a="http://schemas.openxmlformats.org/drawingml/2006/main" noGrp="1"/>
          </p:cNvSpPr>
          <p:nvPr/>
        </p:nvSpPr>
        <p:spPr>
          <a:xfrm xmlns:a="http://schemas.openxmlformats.org/drawingml/2006/main">
            <a:off x="762000" y="4657725"/>
            <a:ext cx="1057275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A135E9C7-73A1-4C6D-878E-0D11F9B5D593}"/>
              </a:ext>
            </a:extLst>
          </p:cNvPr>
          <p:cNvSpPr>
            <a:spLocks xmlns:a="http://schemas.openxmlformats.org/drawingml/2006/main" noGrp="1"/>
          </p:cNvSpPr>
          <p:nvPr/>
        </p:nvSpPr>
        <p:spPr>
          <a:xfrm xmlns:a="http://schemas.openxmlformats.org/drawingml/2006/main">
            <a:off x="762000" y="4819650"/>
            <a:ext cx="442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00" b="1">
                <a:solidFill>
                  <a:srgbClr val="101820"/>
                </a:solidFill>
                <a:latin typeface="Helvetica Neue"/>
                <a:ea typeface="Helvetica Neue"/>
                <a:cs typeface="Helvetica Neue"/>
              </a:defRPr>
            </a:pPr>
            <a:r>
              <a:rPr sz="1800" b="1">
                <a:solidFill>
                  <a:srgbClr val="101820"/>
                </a:solidFill>
                <a:latin typeface="Helvetica Neue"/>
                <a:ea typeface="Helvetica Neue"/>
                <a:cs typeface="Helvetica Neue"/>
              </a:rPr>
              <a:t>Treasuries and strategies</a:t>
            </a:r>
          </a:p>
        </p:txBody>
      </p:sp>
      <p:sp>
        <p:nvSpPr>
          <p:cNvPr id="17" name="">
            <a:extLst xmlns:a="http://schemas.openxmlformats.org/drawingml/2006/main">
              <a:ext uri="{FF2B5EF4-FFF2-40B4-BE49-F238E27FC236}">
                <a16:creationId xmlns:a16="http://schemas.microsoft.com/office/drawing/2014/main" id="{EDD67867-F181-4EDE-B0FC-A61235DD3AB3}"/>
              </a:ext>
            </a:extLst>
          </p:cNvPr>
          <p:cNvSpPr>
            <a:spLocks xmlns:a="http://schemas.openxmlformats.org/drawingml/2006/main" noGrp="1"/>
          </p:cNvSpPr>
          <p:nvPr/>
        </p:nvSpPr>
        <p:spPr>
          <a:xfrm xmlns:a="http://schemas.openxmlformats.org/drawingml/2006/main">
            <a:off x="5476875" y="4819650"/>
            <a:ext cx="5810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650" b="0">
                <a:solidFill>
                  <a:srgbClr val="53606B"/>
                </a:solidFill>
                <a:latin typeface="Helvetica Neue"/>
                <a:ea typeface="Helvetica Neue"/>
                <a:cs typeface="Helvetica Neue"/>
              </a:defRPr>
            </a:pPr>
            <a:r>
              <a:rPr sz="1650" b="0">
                <a:solidFill>
                  <a:srgbClr val="53606B"/>
                </a:solidFill>
                <a:latin typeface="Helvetica Neue"/>
                <a:ea typeface="Helvetica Neue"/>
                <a:cs typeface="Helvetica Neue"/>
              </a:rPr>
              <a:t>Squads multisig; dividend baskets and rolling strategies.</a:t>
            </a:r>
          </a:p>
        </p:txBody>
      </p:sp>
      <p:sp>
        <p:nvSpPr>
          <p:cNvPr id="18" name="">
            <a:extLst xmlns:a="http://schemas.openxmlformats.org/drawingml/2006/main">
              <a:ext uri="{FF2B5EF4-FFF2-40B4-BE49-F238E27FC236}">
                <a16:creationId xmlns:a16="http://schemas.microsoft.com/office/drawing/2014/main" id="{59F83F8D-483A-488E-95F2-6612B1A92350}"/>
              </a:ext>
            </a:extLst>
          </p:cNvPr>
          <p:cNvSpPr>
            <a:spLocks xmlns:a="http://schemas.openxmlformats.org/drawingml/2006/main" noGrp="1"/>
          </p:cNvSpPr>
          <p:nvPr/>
        </p:nvSpPr>
        <p:spPr>
          <a:xfrm xmlns:a="http://schemas.openxmlformats.org/drawingml/2006/main">
            <a:off x="762000" y="5429250"/>
            <a:ext cx="1057275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8BEA964E-410F-458C-8543-CFB65AAF07EB}"/>
              </a:ext>
            </a:extLst>
          </p:cNvPr>
          <p:cNvSpPr>
            <a:spLocks xmlns:a="http://schemas.openxmlformats.org/drawingml/2006/main" noGrp="1"/>
          </p:cNvSpPr>
          <p:nvPr/>
        </p:nvSpPr>
        <p:spPr>
          <a:xfrm xmlns:a="http://schemas.openxmlformats.org/drawingml/2006/main">
            <a:off x="762000" y="5838825"/>
            <a:ext cx="106680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00" b="1">
                <a:solidFill>
                  <a:srgbClr val="101820"/>
                </a:solidFill>
                <a:latin typeface="Helvetica Neue"/>
                <a:ea typeface="Helvetica Neue"/>
                <a:cs typeface="Helvetica Neue"/>
              </a:defRPr>
            </a:pPr>
            <a:r>
              <a:rPr sz="1800" b="1">
                <a:solidFill>
                  <a:srgbClr val="101820"/>
                </a:solidFill>
                <a:latin typeface="Helvetica Neue"/>
                <a:ea typeface="Helvetica Neue"/>
                <a:cs typeface="Helvetica Neue"/>
              </a:rPr>
              <a:t>Lending later: reliable prices, liquidity and maturity rules first.</a:t>
            </a:r>
          </a:p>
        </p:txBody>
      </p:sp>
      <p:sp>
        <p:nvSpPr>
          <p:cNvPr id="20" name="">
            <a:extLst xmlns:a="http://schemas.openxmlformats.org/drawingml/2006/main">
              <a:ext uri="{FF2B5EF4-FFF2-40B4-BE49-F238E27FC236}">
                <a16:creationId xmlns:a16="http://schemas.microsoft.com/office/drawing/2014/main" id="{54D1E27A-F778-496B-82F4-FE94ED1B129E}"/>
              </a:ext>
            </a:extLst>
          </p:cNvPr>
          <p:cNvSpPr>
            <a:spLocks xmlns:a="http://schemas.openxmlformats.org/drawingml/2006/main" noGrp="1"/>
          </p:cNvSpPr>
          <p:nvPr/>
        </p:nvSpPr>
        <p:spPr>
          <a:xfrm xmlns:a="http://schemas.openxmlformats.org/drawingml/2006/main">
            <a:off x="762000" y="6324600"/>
            <a:ext cx="10668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125" b="0">
                <a:solidFill>
                  <a:srgbClr val="53606B"/>
                </a:solidFill>
                <a:latin typeface="Helvetica Neue"/>
                <a:ea typeface="Helvetica Neue"/>
                <a:cs typeface="Helvetica Neue"/>
              </a:defRPr>
            </a:pPr>
            <a:r>
              <a:rPr sz="1125" b="0">
                <a:solidFill>
                  <a:srgbClr val="53606B"/>
                </a:solidFill>
                <a:latin typeface="Helvetica Neue"/>
                <a:ea typeface="Helvetica Neue"/>
                <a:cs typeface="Helvetica Neue"/>
              </a:rPr>
              <a:t>Beyond Raydium, these are proposed uses, subject to protocol compatibility and market support.</a:t>
            </a:r>
          </a:p>
        </p:txBody>
      </p:sp>
    </p:spTree>
    <p:extLst>
      <p:ext uri="{BB962C8B-B14F-4D97-AF65-F5344CB8AC3E}">
        <p14:creationId xmlns:p14="http://schemas.microsoft.com/office/powerpoint/2010/main" val="1204431957"/>
      </p:ext>
    </p:extLst>
  </p:cSld>
</p:sld>
</file>

<file path=ppt/slides/slide8.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299AD2F1-B3BD-4858-A06E-C3E44E541BE9}"/>
              </a:ext>
            </a:extLst>
          </p:cNvPr>
          <p:cNvSpPr>
            <a:spLocks xmlns:a="http://schemas.openxmlformats.org/drawingml/2006/main" noGrp="1"/>
          </p:cNvSpPr>
          <p:nvPr/>
        </p:nvSpPr>
        <p:spPr>
          <a:xfrm xmlns:a="http://schemas.openxmlformats.org/drawingml/2006/main" rot="2700000">
            <a:off x="704850" y="514350"/>
            <a:ext cx="123444" cy="123444"/>
          </a:xfrm>
          <a:prstGeom xmlns:a="http://schemas.openxmlformats.org/drawingml/2006/main" prst="rect">
            <a:avLst/>
          </a:prstGeom>
          <a:solidFill xmlns:a="http://schemas.openxmlformats.org/drawingml/2006/main">
            <a:srgbClr val="2457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9BB487C5-E00B-41BB-B176-B034F5416A3D}"/>
              </a:ext>
            </a:extLst>
          </p:cNvPr>
          <p:cNvSpPr>
            <a:spLocks xmlns:a="http://schemas.openxmlformats.org/drawingml/2006/main" noGrp="1"/>
          </p:cNvSpPr>
          <p:nvPr/>
        </p:nvSpPr>
        <p:spPr>
          <a:xfrm xmlns:a="http://schemas.openxmlformats.org/drawingml/2006/main" rot="2700000">
            <a:off x="807720" y="617220"/>
            <a:ext cx="123444" cy="123444"/>
          </a:xfrm>
          <a:prstGeom xmlns:a="http://schemas.openxmlformats.org/drawingml/2006/main" prst="rect">
            <a:avLst/>
          </a:prstGeom>
          <a:solidFill xmlns:a="http://schemas.openxmlformats.org/drawingml/2006/main">
            <a:srgbClr val="C46A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68942C3C-3ACF-4898-B7C6-33B53425FFA1}"/>
              </a:ext>
            </a:extLst>
          </p:cNvPr>
          <p:cNvSpPr>
            <a:spLocks xmlns:a="http://schemas.openxmlformats.org/drawingml/2006/main" noGrp="1"/>
          </p:cNvSpPr>
          <p:nvPr/>
        </p:nvSpPr>
        <p:spPr>
          <a:xfrm xmlns:a="http://schemas.openxmlformats.org/drawingml/2006/main">
            <a:off x="972312" y="507492"/>
            <a:ext cx="116586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80" b="1">
                <a:solidFill>
                  <a:srgbClr val="101820"/>
                </a:solidFill>
                <a:latin typeface="Helvetica Neue"/>
                <a:ea typeface="Helvetica Neue"/>
                <a:cs typeface="Helvetica Neue"/>
              </a:defRPr>
            </a:pPr>
            <a:r>
              <a:rPr sz="1080" b="1">
                <a:solidFill>
                  <a:srgbClr val="101820"/>
                </a:solidFill>
                <a:latin typeface="Helvetica Neue"/>
                <a:ea typeface="Helvetica Neue"/>
                <a:cs typeface="Helvetica Neue"/>
              </a:rPr>
              <a:t>DivX</a:t>
            </a:r>
          </a:p>
        </p:txBody>
      </p:sp>
      <p:sp>
        <p:nvSpPr>
          <p:cNvPr id="4" name="">
            <a:extLst xmlns:a="http://schemas.openxmlformats.org/drawingml/2006/main">
              <a:ext uri="{FF2B5EF4-FFF2-40B4-BE49-F238E27FC236}">
                <a16:creationId xmlns:a16="http://schemas.microsoft.com/office/drawing/2014/main" id="{69EEBC91-DE3E-41BF-82E1-DA7A8C4E9C25}"/>
              </a:ext>
            </a:extLst>
          </p:cNvPr>
          <p:cNvSpPr>
            <a:spLocks xmlns:a="http://schemas.openxmlformats.org/drawingml/2006/main" noGrp="1"/>
          </p:cNvSpPr>
          <p:nvPr/>
        </p:nvSpPr>
        <p:spPr>
          <a:xfrm xmlns:a="http://schemas.openxmlformats.org/drawingml/2006/main">
            <a:off x="704850" y="9334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3150" b="1">
                <a:solidFill>
                  <a:srgbClr val="101820"/>
                </a:solidFill>
                <a:latin typeface="Helvetica Neue"/>
                <a:ea typeface="Helvetica Neue"/>
                <a:cs typeface="Helvetica Neue"/>
              </a:defRPr>
            </a:pPr>
            <a:r>
              <a:rPr sz="3150" b="1">
                <a:solidFill>
                  <a:srgbClr val="101820"/>
                </a:solidFill>
                <a:latin typeface="Helvetica Neue"/>
                <a:ea typeface="Helvetica Neue"/>
                <a:cs typeface="Helvetica Neue"/>
              </a:rPr>
              <a:t>A working guided demo</a:t>
            </a:r>
          </a:p>
        </p:txBody>
      </p:sp>
      <p:sp>
        <p:nvSpPr>
          <p:cNvPr id="5" name="">
            <a:extLst xmlns:a="http://schemas.openxmlformats.org/drawingml/2006/main">
              <a:ext uri="{FF2B5EF4-FFF2-40B4-BE49-F238E27FC236}">
                <a16:creationId xmlns:a16="http://schemas.microsoft.com/office/drawing/2014/main" id="{CE81C59F-D324-421E-AD5C-25DE2FB987DF}"/>
              </a:ext>
            </a:extLst>
          </p:cNvPr>
          <p:cNvSpPr>
            <a:spLocks xmlns:a="http://schemas.openxmlformats.org/drawingml/2006/main" noGrp="1"/>
          </p:cNvSpPr>
          <p:nvPr/>
        </p:nvSpPr>
        <p:spPr>
          <a:xfrm xmlns:a="http://schemas.openxmlformats.org/drawingml/2006/main">
            <a:off x="11144250" y="5524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08</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3b51eb5c69984651"/>
          <a:stretch xmlns:a="http://schemas.openxmlformats.org/drawingml/2006/main"/>
        </p:blipFill>
        <p:spPr>
          <a:xfrm xmlns:a="http://schemas.openxmlformats.org/drawingml/2006/main">
            <a:off x="571500" y="2011442"/>
            <a:ext cx="7486650" cy="3930491"/>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A141716E-9959-4E75-A6E5-68D104F18930}"/>
              </a:ext>
            </a:extLst>
          </p:cNvPr>
          <p:cNvSpPr>
            <a:spLocks xmlns:a="http://schemas.openxmlformats.org/drawingml/2006/main" noGrp="1"/>
          </p:cNvSpPr>
          <p:nvPr/>
        </p:nvSpPr>
        <p:spPr>
          <a:xfrm xmlns:a="http://schemas.openxmlformats.org/drawingml/2006/main">
            <a:off x="8467725" y="2114550"/>
            <a:ext cx="2571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1639A6"/>
                </a:solidFill>
                <a:latin typeface="Helvetica Neue"/>
                <a:ea typeface="Helvetica Neue"/>
                <a:cs typeface="Helvetica Neue"/>
              </a:defRPr>
            </a:pPr>
            <a:r>
              <a:rPr sz="900" b="1">
                <a:solidFill>
                  <a:srgbClr val="1639A6"/>
                </a:solidFill>
                <a:latin typeface="Helvetica Neue"/>
                <a:ea typeface="Helvetica Neue"/>
                <a:cs typeface="Helvetica Neue"/>
              </a:rPr>
              <a:t>01</a:t>
            </a:r>
          </a:p>
        </p:txBody>
      </p:sp>
      <p:sp>
        <p:nvSpPr>
          <p:cNvPr id="8" name="">
            <a:extLst xmlns:a="http://schemas.openxmlformats.org/drawingml/2006/main">
              <a:ext uri="{FF2B5EF4-FFF2-40B4-BE49-F238E27FC236}">
                <a16:creationId xmlns:a16="http://schemas.microsoft.com/office/drawing/2014/main" id="{62ED4054-B1AD-4336-B250-0073C69A5F15}"/>
              </a:ext>
            </a:extLst>
          </p:cNvPr>
          <p:cNvSpPr>
            <a:spLocks xmlns:a="http://schemas.openxmlformats.org/drawingml/2006/main" noGrp="1"/>
          </p:cNvSpPr>
          <p:nvPr/>
        </p:nvSpPr>
        <p:spPr>
          <a:xfrm xmlns:a="http://schemas.openxmlformats.org/drawingml/2006/main">
            <a:off x="8467725" y="2390775"/>
            <a:ext cx="29337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950" b="1">
                <a:solidFill>
                  <a:srgbClr val="101820"/>
                </a:solidFill>
                <a:latin typeface="Helvetica Neue"/>
                <a:ea typeface="Helvetica Neue"/>
                <a:cs typeface="Helvetica Neue"/>
              </a:defRPr>
            </a:pPr>
            <a:r>
              <a:rPr sz="1950" b="1">
                <a:solidFill>
                  <a:srgbClr val="101820"/>
                </a:solidFill>
                <a:latin typeface="Helvetica Neue"/>
                <a:ea typeface="Helvetica Neue"/>
                <a:cs typeface="Helvetica Neue"/>
              </a:rPr>
              <a:t>Split and recombine</a:t>
            </a:r>
          </a:p>
        </p:txBody>
      </p:sp>
      <p:sp>
        <p:nvSpPr>
          <p:cNvPr id="9" name="">
            <a:extLst xmlns:a="http://schemas.openxmlformats.org/drawingml/2006/main">
              <a:ext uri="{FF2B5EF4-FFF2-40B4-BE49-F238E27FC236}">
                <a16:creationId xmlns:a16="http://schemas.microsoft.com/office/drawing/2014/main" id="{7225D032-EB91-4BD1-9908-877DE802C532}"/>
              </a:ext>
            </a:extLst>
          </p:cNvPr>
          <p:cNvSpPr>
            <a:spLocks xmlns:a="http://schemas.openxmlformats.org/drawingml/2006/main" noGrp="1"/>
          </p:cNvSpPr>
          <p:nvPr/>
        </p:nvSpPr>
        <p:spPr>
          <a:xfrm xmlns:a="http://schemas.openxmlformats.org/drawingml/2006/main">
            <a:off x="8467725" y="3105150"/>
            <a:ext cx="2571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1639A6"/>
                </a:solidFill>
                <a:latin typeface="Helvetica Neue"/>
                <a:ea typeface="Helvetica Neue"/>
                <a:cs typeface="Helvetica Neue"/>
              </a:defRPr>
            </a:pPr>
            <a:r>
              <a:rPr sz="900" b="1">
                <a:solidFill>
                  <a:srgbClr val="1639A6"/>
                </a:solidFill>
                <a:latin typeface="Helvetica Neue"/>
                <a:ea typeface="Helvetica Neue"/>
                <a:cs typeface="Helvetica Neue"/>
              </a:rPr>
              <a:t>02</a:t>
            </a:r>
          </a:p>
        </p:txBody>
      </p:sp>
      <p:sp>
        <p:nvSpPr>
          <p:cNvPr id="10" name="">
            <a:extLst xmlns:a="http://schemas.openxmlformats.org/drawingml/2006/main">
              <a:ext uri="{FF2B5EF4-FFF2-40B4-BE49-F238E27FC236}">
                <a16:creationId xmlns:a16="http://schemas.microsoft.com/office/drawing/2014/main" id="{3F788298-1535-483A-B712-CC907505DE13}"/>
              </a:ext>
            </a:extLst>
          </p:cNvPr>
          <p:cNvSpPr>
            <a:spLocks xmlns:a="http://schemas.openxmlformats.org/drawingml/2006/main" noGrp="1"/>
          </p:cNvSpPr>
          <p:nvPr/>
        </p:nvSpPr>
        <p:spPr>
          <a:xfrm xmlns:a="http://schemas.openxmlformats.org/drawingml/2006/main">
            <a:off x="8467725" y="3381375"/>
            <a:ext cx="29337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950" b="1">
                <a:solidFill>
                  <a:srgbClr val="101820"/>
                </a:solidFill>
                <a:latin typeface="Helvetica Neue"/>
                <a:ea typeface="Helvetica Neue"/>
                <a:cs typeface="Helvetica Neue"/>
              </a:defRPr>
            </a:pPr>
            <a:r>
              <a:rPr sz="1950" b="1">
                <a:solidFill>
                  <a:srgbClr val="101820"/>
                </a:solidFill>
                <a:latin typeface="Helvetica Neue"/>
                <a:ea typeface="Helvetica Neue"/>
                <a:cs typeface="Helvetica Neue"/>
              </a:rPr>
              <a:t>See dividends build up</a:t>
            </a:r>
          </a:p>
        </p:txBody>
      </p:sp>
      <p:sp>
        <p:nvSpPr>
          <p:cNvPr id="11" name="">
            <a:extLst xmlns:a="http://schemas.openxmlformats.org/drawingml/2006/main">
              <a:ext uri="{FF2B5EF4-FFF2-40B4-BE49-F238E27FC236}">
                <a16:creationId xmlns:a16="http://schemas.microsoft.com/office/drawing/2014/main" id="{474A3BF7-4C24-4116-A7A8-FCFDEFA9BB1E}"/>
              </a:ext>
            </a:extLst>
          </p:cNvPr>
          <p:cNvSpPr>
            <a:spLocks xmlns:a="http://schemas.openxmlformats.org/drawingml/2006/main" noGrp="1"/>
          </p:cNvSpPr>
          <p:nvPr/>
        </p:nvSpPr>
        <p:spPr>
          <a:xfrm xmlns:a="http://schemas.openxmlformats.org/drawingml/2006/main">
            <a:off x="8467725" y="4095750"/>
            <a:ext cx="2571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1639A6"/>
                </a:solidFill>
                <a:latin typeface="Helvetica Neue"/>
                <a:ea typeface="Helvetica Neue"/>
                <a:cs typeface="Helvetica Neue"/>
              </a:defRPr>
            </a:pPr>
            <a:r>
              <a:rPr sz="900" b="1">
                <a:solidFill>
                  <a:srgbClr val="1639A6"/>
                </a:solidFill>
                <a:latin typeface="Helvetica Neue"/>
                <a:ea typeface="Helvetica Neue"/>
                <a:cs typeface="Helvetica Neue"/>
              </a:rPr>
              <a:t>03</a:t>
            </a:r>
          </a:p>
        </p:txBody>
      </p:sp>
      <p:sp>
        <p:nvSpPr>
          <p:cNvPr id="12" name="">
            <a:extLst xmlns:a="http://schemas.openxmlformats.org/drawingml/2006/main">
              <a:ext uri="{FF2B5EF4-FFF2-40B4-BE49-F238E27FC236}">
                <a16:creationId xmlns:a16="http://schemas.microsoft.com/office/drawing/2014/main" id="{A63E160D-8F66-4B02-BDAC-2735C4542A6E}"/>
              </a:ext>
            </a:extLst>
          </p:cNvPr>
          <p:cNvSpPr>
            <a:spLocks xmlns:a="http://schemas.openxmlformats.org/drawingml/2006/main" noGrp="1"/>
          </p:cNvSpPr>
          <p:nvPr/>
        </p:nvSpPr>
        <p:spPr>
          <a:xfrm xmlns:a="http://schemas.openxmlformats.org/drawingml/2006/main">
            <a:off x="8467725" y="4371975"/>
            <a:ext cx="29337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950" b="1">
                <a:solidFill>
                  <a:srgbClr val="101820"/>
                </a:solidFill>
                <a:latin typeface="Helvetica Neue"/>
                <a:ea typeface="Helvetica Neue"/>
                <a:cs typeface="Helvetica Neue"/>
              </a:defRPr>
            </a:pPr>
            <a:r>
              <a:rPr sz="1950" b="1">
                <a:solidFill>
                  <a:srgbClr val="101820"/>
                </a:solidFill>
                <a:latin typeface="Helvetica Neue"/>
                <a:ea typeface="Helvetica Neue"/>
                <a:cs typeface="Helvetica Neue"/>
              </a:rPr>
              <a:t>Trade DR and redeem</a:t>
            </a:r>
          </a:p>
        </p:txBody>
      </p:sp>
      <p:sp>
        <p:nvSpPr>
          <p:cNvPr id="13" name="">
            <a:extLst xmlns:a="http://schemas.openxmlformats.org/drawingml/2006/main">
              <a:ext uri="{FF2B5EF4-FFF2-40B4-BE49-F238E27FC236}">
                <a16:creationId xmlns:a16="http://schemas.microsoft.com/office/drawing/2014/main" id="{9CACFCF5-73B2-48F0-9DF0-1E8AA825AFB4}"/>
              </a:ext>
            </a:extLst>
          </p:cNvPr>
          <p:cNvSpPr>
            <a:spLocks xmlns:a="http://schemas.openxmlformats.org/drawingml/2006/main" noGrp="1"/>
          </p:cNvSpPr>
          <p:nvPr/>
        </p:nvSpPr>
        <p:spPr>
          <a:xfrm xmlns:a="http://schemas.openxmlformats.org/drawingml/2006/main">
            <a:off x="8467725" y="5276850"/>
            <a:ext cx="295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1575" b="0">
                <a:solidFill>
                  <a:srgbClr val="53606B"/>
                </a:solidFill>
                <a:latin typeface="Helvetica Neue"/>
                <a:ea typeface="Helvetica Neue"/>
                <a:cs typeface="Helvetica Neue"/>
              </a:defRPr>
            </a:pPr>
            <a:r>
              <a:rPr sz="1575" b="0">
                <a:solidFill>
                  <a:srgbClr val="53606B"/>
                </a:solidFill>
                <a:latin typeface="Helvetica Neue"/>
                <a:ea typeface="Helvetica Neue"/>
                <a:cs typeface="Helvetica Neue"/>
              </a:rPr>
              <a:t>Selected stock profiles from</a:t>
            </a:r>
          </a:p>
          <a:p xmlns:a="http://schemas.openxmlformats.org/drawingml/2006/main">
            <a:pPr algn="l">
              <a:lnSpc>
                <a:spcPct val="122000"/>
              </a:lnSpc>
              <a:buNone/>
              <a:defRPr sz="1575" b="0">
                <a:solidFill>
                  <a:srgbClr val="53606B"/>
                </a:solidFill>
                <a:latin typeface="Helvetica Neue"/>
                <a:ea typeface="Helvetica Neue"/>
                <a:cs typeface="Helvetica Neue"/>
              </a:defRPr>
            </a:pPr>
            <a:r>
              <a:rPr sz="1575" b="0">
                <a:solidFill>
                  <a:srgbClr val="53606B"/>
                </a:solidFill>
                <a:latin typeface="Helvetica Neue"/>
                <a:ea typeface="Helvetica Neue"/>
                <a:cs typeface="Helvetica Neue"/>
              </a:rPr>
              <a:t>Ondo · Backpack · xStocks</a:t>
            </a:r>
          </a:p>
        </p:txBody>
      </p:sp>
      <p:sp>
        <p:nvSpPr>
          <p:cNvPr id="14" name="">
            <a:extLst xmlns:a="http://schemas.openxmlformats.org/drawingml/2006/main">
              <a:ext uri="{FF2B5EF4-FFF2-40B4-BE49-F238E27FC236}">
                <a16:creationId xmlns:a16="http://schemas.microsoft.com/office/drawing/2014/main" id="{61445DF5-A2B0-42E0-9F48-34B3389BBB8C}"/>
              </a:ext>
            </a:extLst>
          </p:cNvPr>
          <p:cNvSpPr>
            <a:spLocks xmlns:a="http://schemas.openxmlformats.org/drawingml/2006/main" noGrp="1"/>
          </p:cNvSpPr>
          <p:nvPr/>
        </p:nvSpPr>
        <p:spPr>
          <a:xfrm xmlns:a="http://schemas.openxmlformats.org/drawingml/2006/main">
            <a:off x="762000" y="629602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350" b="0">
                <a:solidFill>
                  <a:srgbClr val="53606B"/>
                </a:solidFill>
                <a:latin typeface="Helvetica Neue"/>
                <a:ea typeface="Helvetica Neue"/>
                <a:cs typeface="Helvetica Neue"/>
              </a:defRPr>
            </a:pPr>
            <a:r>
              <a:rPr sz="1350" b="0">
                <a:solidFill>
                  <a:srgbClr val="53606B"/>
                </a:solidFill>
                <a:latin typeface="Helvetica Neue"/>
                <a:ea typeface="Helvetica Neue"/>
                <a:cs typeface="Helvetica Neue"/>
              </a:rPr>
              <a:t>Public devnet: real calendar. Guided sandbox: accelerated year. Both use test assets.</a:t>
            </a:r>
          </a:p>
        </p:txBody>
      </p:sp>
    </p:spTree>
    <p:extLst>
      <p:ext uri="{BB962C8B-B14F-4D97-AF65-F5344CB8AC3E}">
        <p14:creationId xmlns:p14="http://schemas.microsoft.com/office/powerpoint/2010/main" val="704744169"/>
      </p:ext>
    </p:extLst>
  </p:cSld>
</p:sld>
</file>

<file path=ppt/slides/slide9.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26D821BB-B0F2-4D52-8127-87BE1109E61C}"/>
              </a:ext>
            </a:extLst>
          </p:cNvPr>
          <p:cNvSpPr>
            <a:spLocks xmlns:a="http://schemas.openxmlformats.org/drawingml/2006/main" noGrp="1"/>
          </p:cNvSpPr>
          <p:nvPr/>
        </p:nvSpPr>
        <p:spPr>
          <a:xfrm xmlns:a="http://schemas.openxmlformats.org/drawingml/2006/main" rot="2700000">
            <a:off x="704850" y="514350"/>
            <a:ext cx="123444" cy="123444"/>
          </a:xfrm>
          <a:prstGeom xmlns:a="http://schemas.openxmlformats.org/drawingml/2006/main" prst="rect">
            <a:avLst/>
          </a:prstGeom>
          <a:solidFill xmlns:a="http://schemas.openxmlformats.org/drawingml/2006/main">
            <a:srgbClr val="2457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A2CC938E-6991-44F2-AD2B-1B96F54AC5FB}"/>
              </a:ext>
            </a:extLst>
          </p:cNvPr>
          <p:cNvSpPr>
            <a:spLocks xmlns:a="http://schemas.openxmlformats.org/drawingml/2006/main" noGrp="1"/>
          </p:cNvSpPr>
          <p:nvPr/>
        </p:nvSpPr>
        <p:spPr>
          <a:xfrm xmlns:a="http://schemas.openxmlformats.org/drawingml/2006/main" rot="2700000">
            <a:off x="807720" y="617220"/>
            <a:ext cx="123444" cy="123444"/>
          </a:xfrm>
          <a:prstGeom xmlns:a="http://schemas.openxmlformats.org/drawingml/2006/main" prst="rect">
            <a:avLst/>
          </a:prstGeom>
          <a:solidFill xmlns:a="http://schemas.openxmlformats.org/drawingml/2006/main">
            <a:srgbClr val="C46A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82E402EA-7B64-422E-963C-A92B121E684A}"/>
              </a:ext>
            </a:extLst>
          </p:cNvPr>
          <p:cNvSpPr>
            <a:spLocks xmlns:a="http://schemas.openxmlformats.org/drawingml/2006/main" noGrp="1"/>
          </p:cNvSpPr>
          <p:nvPr/>
        </p:nvSpPr>
        <p:spPr>
          <a:xfrm xmlns:a="http://schemas.openxmlformats.org/drawingml/2006/main">
            <a:off x="972312" y="507492"/>
            <a:ext cx="116586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80" b="1">
                <a:solidFill>
                  <a:srgbClr val="101820"/>
                </a:solidFill>
                <a:latin typeface="Helvetica Neue"/>
                <a:ea typeface="Helvetica Neue"/>
                <a:cs typeface="Helvetica Neue"/>
              </a:defRPr>
            </a:pPr>
            <a:r>
              <a:rPr sz="1080" b="1">
                <a:solidFill>
                  <a:srgbClr val="101820"/>
                </a:solidFill>
                <a:latin typeface="Helvetica Neue"/>
                <a:ea typeface="Helvetica Neue"/>
                <a:cs typeface="Helvetica Neue"/>
              </a:rPr>
              <a:t>DivX</a:t>
            </a:r>
          </a:p>
        </p:txBody>
      </p:sp>
      <p:sp>
        <p:nvSpPr>
          <p:cNvPr id="4" name="">
            <a:extLst xmlns:a="http://schemas.openxmlformats.org/drawingml/2006/main">
              <a:ext uri="{FF2B5EF4-FFF2-40B4-BE49-F238E27FC236}">
                <a16:creationId xmlns:a16="http://schemas.microsoft.com/office/drawing/2014/main" id="{34A9C352-69E6-48CE-A683-2EBBD4FE98EF}"/>
              </a:ext>
            </a:extLst>
          </p:cNvPr>
          <p:cNvSpPr>
            <a:spLocks xmlns:a="http://schemas.openxmlformats.org/drawingml/2006/main" noGrp="1"/>
          </p:cNvSpPr>
          <p:nvPr/>
        </p:nvSpPr>
        <p:spPr>
          <a:xfrm xmlns:a="http://schemas.openxmlformats.org/drawingml/2006/main">
            <a:off x="704850" y="9334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3150" b="1">
                <a:solidFill>
                  <a:srgbClr val="101820"/>
                </a:solidFill>
                <a:latin typeface="Helvetica Neue"/>
                <a:ea typeface="Helvetica Neue"/>
                <a:cs typeface="Helvetica Neue"/>
              </a:defRPr>
            </a:pPr>
            <a:r>
              <a:rPr sz="3150" b="1">
                <a:solidFill>
                  <a:srgbClr val="101820"/>
                </a:solidFill>
                <a:latin typeface="Helvetica Neue"/>
                <a:ea typeface="Helvetica Neue"/>
                <a:cs typeface="Helvetica Neue"/>
              </a:rPr>
              <a:t>From prototype to mainnet</a:t>
            </a:r>
          </a:p>
        </p:txBody>
      </p:sp>
      <p:sp>
        <p:nvSpPr>
          <p:cNvPr id="5" name="">
            <a:extLst xmlns:a="http://schemas.openxmlformats.org/drawingml/2006/main">
              <a:ext uri="{FF2B5EF4-FFF2-40B4-BE49-F238E27FC236}">
                <a16:creationId xmlns:a16="http://schemas.microsoft.com/office/drawing/2014/main" id="{229B2765-2433-4E5C-9B65-2E53BC430F23}"/>
              </a:ext>
            </a:extLst>
          </p:cNvPr>
          <p:cNvSpPr>
            <a:spLocks xmlns:a="http://schemas.openxmlformats.org/drawingml/2006/main" noGrp="1"/>
          </p:cNvSpPr>
          <p:nvPr/>
        </p:nvSpPr>
        <p:spPr>
          <a:xfrm xmlns:a="http://schemas.openxmlformats.org/drawingml/2006/main">
            <a:off x="11144250" y="5524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09</a:t>
            </a:r>
          </a:p>
        </p:txBody>
      </p:sp>
      <p:sp>
        <p:nvSpPr>
          <p:cNvPr id="6" name="">
            <a:extLst xmlns:a="http://schemas.openxmlformats.org/drawingml/2006/main">
              <a:ext uri="{FF2B5EF4-FFF2-40B4-BE49-F238E27FC236}">
                <a16:creationId xmlns:a16="http://schemas.microsoft.com/office/drawing/2014/main" id="{A494EADC-814E-4E22-8A84-C85D9363EC03}"/>
              </a:ext>
            </a:extLst>
          </p:cNvPr>
          <p:cNvSpPr>
            <a:spLocks xmlns:a="http://schemas.openxmlformats.org/drawingml/2006/main" noGrp="1"/>
          </p:cNvSpPr>
          <p:nvPr/>
        </p:nvSpPr>
        <p:spPr>
          <a:xfrm xmlns:a="http://schemas.openxmlformats.org/drawingml/2006/main">
            <a:off x="762000" y="1885950"/>
            <a:ext cx="495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1639A6"/>
                </a:solidFill>
                <a:latin typeface="Helvetica Neue"/>
                <a:ea typeface="Helvetica Neue"/>
                <a:cs typeface="Helvetica Neue"/>
              </a:defRPr>
            </a:pPr>
            <a:r>
              <a:rPr sz="900" b="1">
                <a:solidFill>
                  <a:srgbClr val="1639A6"/>
                </a:solidFill>
                <a:latin typeface="Helvetica Neue"/>
                <a:ea typeface="Helvetica Neue"/>
                <a:cs typeface="Helvetica Neue"/>
              </a:rPr>
              <a:t>WORKING TODAY</a:t>
            </a:r>
          </a:p>
        </p:txBody>
      </p:sp>
      <p:sp>
        <p:nvSpPr>
          <p:cNvPr id="7" name="">
            <a:extLst xmlns:a="http://schemas.openxmlformats.org/drawingml/2006/main">
              <a:ext uri="{FF2B5EF4-FFF2-40B4-BE49-F238E27FC236}">
                <a16:creationId xmlns:a16="http://schemas.microsoft.com/office/drawing/2014/main" id="{1FE951A2-3249-41C6-9544-06B85455FED7}"/>
              </a:ext>
            </a:extLst>
          </p:cNvPr>
          <p:cNvSpPr>
            <a:spLocks xmlns:a="http://schemas.openxmlformats.org/drawingml/2006/main" noGrp="1"/>
          </p:cNvSpPr>
          <p:nvPr/>
        </p:nvSpPr>
        <p:spPr>
          <a:xfrm xmlns:a="http://schemas.openxmlformats.org/drawingml/2006/main">
            <a:off x="762000" y="2305050"/>
            <a:ext cx="5143500" cy="1552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8000"/>
              </a:lnSpc>
              <a:buNone/>
              <a:defRPr sz="2175" b="1">
                <a:solidFill>
                  <a:srgbClr val="101820"/>
                </a:solidFill>
                <a:latin typeface="Helvetica Neue"/>
                <a:ea typeface="Helvetica Neue"/>
                <a:cs typeface="Helvetica Neue"/>
              </a:defRPr>
            </a:pPr>
            <a:r>
              <a:rPr sz="2175" b="1">
                <a:solidFill>
                  <a:srgbClr val="101820"/>
                </a:solidFill>
                <a:latin typeface="Helvetica Neue"/>
                <a:ea typeface="Helvetica Neue"/>
                <a:cs typeface="Helvetica Neue"/>
              </a:rPr>
              <a:t>Annual program and SDK</a:t>
            </a:r>
          </a:p>
          <a:p xmlns:a="http://schemas.openxmlformats.org/drawingml/2006/main">
            <a:pPr algn="l">
              <a:lnSpc>
                <a:spcPct val="128000"/>
              </a:lnSpc>
              <a:buNone/>
              <a:defRPr sz="2175" b="1">
                <a:solidFill>
                  <a:srgbClr val="101820"/>
                </a:solidFill>
                <a:latin typeface="Helvetica Neue"/>
                <a:ea typeface="Helvetica Neue"/>
                <a:cs typeface="Helvetica Neue"/>
              </a:defRPr>
            </a:pPr>
            <a:r>
              <a:rPr sz="2175" b="1">
                <a:solidFill>
                  <a:srgbClr val="101820"/>
                </a:solidFill>
                <a:latin typeface="Helvetica Neue"/>
                <a:ea typeface="Helvetica Neue"/>
                <a:cs typeface="Helvetica Neue"/>
              </a:rPr>
              <a:t>Public devnet app</a:t>
            </a:r>
          </a:p>
          <a:p xmlns:a="http://schemas.openxmlformats.org/drawingml/2006/main">
            <a:pPr algn="l">
              <a:lnSpc>
                <a:spcPct val="128000"/>
              </a:lnSpc>
              <a:buNone/>
              <a:defRPr sz="2175" b="1">
                <a:solidFill>
                  <a:srgbClr val="101820"/>
                </a:solidFill>
                <a:latin typeface="Helvetica Neue"/>
                <a:ea typeface="Helvetica Neue"/>
                <a:cs typeface="Helvetica Neue"/>
              </a:defRPr>
            </a:pPr>
            <a:r>
              <a:rPr sz="2175" b="1">
                <a:solidFill>
                  <a:srgbClr val="101820"/>
                </a:solidFill>
                <a:latin typeface="Helvetica Neue"/>
                <a:ea typeface="Helvetica Neue"/>
                <a:cs typeface="Helvetica Neue"/>
              </a:rPr>
              <a:t>Guided split, trade and redemption</a:t>
            </a:r>
          </a:p>
        </p:txBody>
      </p:sp>
      <p:sp>
        <p:nvSpPr>
          <p:cNvPr id="8" name="">
            <a:extLst xmlns:a="http://schemas.openxmlformats.org/drawingml/2006/main">
              <a:ext uri="{FF2B5EF4-FFF2-40B4-BE49-F238E27FC236}">
                <a16:creationId xmlns:a16="http://schemas.microsoft.com/office/drawing/2014/main" id="{2DF49F1E-7BE0-48EC-958A-1FEFEAF897D4}"/>
              </a:ext>
            </a:extLst>
          </p:cNvPr>
          <p:cNvSpPr>
            <a:spLocks xmlns:a="http://schemas.openxmlformats.org/drawingml/2006/main" noGrp="1"/>
          </p:cNvSpPr>
          <p:nvPr/>
        </p:nvSpPr>
        <p:spPr>
          <a:xfrm xmlns:a="http://schemas.openxmlformats.org/drawingml/2006/main">
            <a:off x="6153150" y="1857375"/>
            <a:ext cx="9525" cy="204787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7A23CAA3-CA8B-4C2B-AF34-B36310F9D2DE}"/>
              </a:ext>
            </a:extLst>
          </p:cNvPr>
          <p:cNvSpPr>
            <a:spLocks xmlns:a="http://schemas.openxmlformats.org/drawingml/2006/main" noGrp="1"/>
          </p:cNvSpPr>
          <p:nvPr/>
        </p:nvSpPr>
        <p:spPr>
          <a:xfrm xmlns:a="http://schemas.openxmlformats.org/drawingml/2006/main">
            <a:off x="6667500" y="1885950"/>
            <a:ext cx="466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7A4000"/>
                </a:solidFill>
                <a:latin typeface="Helvetica Neue"/>
                <a:ea typeface="Helvetica Neue"/>
                <a:cs typeface="Helvetica Neue"/>
              </a:defRPr>
            </a:pPr>
            <a:r>
              <a:rPr sz="900" b="1">
                <a:solidFill>
                  <a:srgbClr val="7A4000"/>
                </a:solidFill>
                <a:latin typeface="Helvetica Neue"/>
                <a:ea typeface="Helvetica Neue"/>
                <a:cs typeface="Helvetica Neue"/>
              </a:rPr>
              <a:t>BEFORE REAL ASSETS</a:t>
            </a:r>
          </a:p>
        </p:txBody>
      </p:sp>
      <p:sp>
        <p:nvSpPr>
          <p:cNvPr id="10" name="">
            <a:extLst xmlns:a="http://schemas.openxmlformats.org/drawingml/2006/main">
              <a:ext uri="{FF2B5EF4-FFF2-40B4-BE49-F238E27FC236}">
                <a16:creationId xmlns:a16="http://schemas.microsoft.com/office/drawing/2014/main" id="{24B2F1AB-783B-44BC-9940-263844491F7B}"/>
              </a:ext>
            </a:extLst>
          </p:cNvPr>
          <p:cNvSpPr>
            <a:spLocks xmlns:a="http://schemas.openxmlformats.org/drawingml/2006/main" noGrp="1"/>
          </p:cNvSpPr>
          <p:nvPr/>
        </p:nvSpPr>
        <p:spPr>
          <a:xfrm xmlns:a="http://schemas.openxmlformats.org/drawingml/2006/main">
            <a:off x="6667500" y="2305050"/>
            <a:ext cx="4686300" cy="1552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8000"/>
              </a:lnSpc>
              <a:buNone/>
              <a:defRPr sz="2100" b="1">
                <a:solidFill>
                  <a:srgbClr val="101820"/>
                </a:solidFill>
                <a:latin typeface="Helvetica Neue"/>
                <a:ea typeface="Helvetica Neue"/>
                <a:cs typeface="Helvetica Neue"/>
              </a:defRPr>
            </a:pPr>
            <a:r>
              <a:rPr sz="2100" b="1">
                <a:solidFill>
                  <a:srgbClr val="101820"/>
                </a:solidFill>
                <a:latin typeface="Helvetica Neue"/>
                <a:ea typeface="Helvetica Neue"/>
                <a:cs typeface="Helvetica Neue"/>
              </a:rPr>
              <a:t>Qualified issuer records</a:t>
            </a:r>
          </a:p>
          <a:p xmlns:a="http://schemas.openxmlformats.org/drawingml/2006/main">
            <a:pPr algn="l">
              <a:lnSpc>
                <a:spcPct val="128000"/>
              </a:lnSpc>
              <a:buNone/>
              <a:defRPr sz="2100" b="1">
                <a:solidFill>
                  <a:srgbClr val="101820"/>
                </a:solidFill>
                <a:latin typeface="Helvetica Neue"/>
                <a:ea typeface="Helvetica Neue"/>
                <a:cs typeface="Helvetica Neue"/>
              </a:defRPr>
            </a:pPr>
            <a:r>
              <a:rPr sz="2100" b="1">
                <a:solidFill>
                  <a:srgbClr val="101820"/>
                </a:solidFill>
                <a:latin typeface="Helvetica Neue"/>
                <a:ea typeface="Helvetica Neue"/>
                <a:cs typeface="Helvetica Neue"/>
              </a:rPr>
              <a:t>Verified custody and payouts</a:t>
            </a:r>
          </a:p>
          <a:p xmlns:a="http://schemas.openxmlformats.org/drawingml/2006/main">
            <a:pPr algn="l">
              <a:lnSpc>
                <a:spcPct val="128000"/>
              </a:lnSpc>
              <a:buNone/>
              <a:defRPr sz="2100" b="1">
                <a:solidFill>
                  <a:srgbClr val="101820"/>
                </a:solidFill>
                <a:latin typeface="Helvetica Neue"/>
                <a:ea typeface="Helvetica Neue"/>
                <a:cs typeface="Helvetica Neue"/>
              </a:defRPr>
            </a:pPr>
            <a:r>
              <a:rPr sz="2100" b="1">
                <a:solidFill>
                  <a:srgbClr val="101820"/>
                </a:solidFill>
                <a:latin typeface="Helvetica Neue"/>
                <a:ea typeface="Helvetica Neue"/>
                <a:cs typeface="Helvetica Neue"/>
              </a:rPr>
              <a:t>Security and legal review</a:t>
            </a:r>
          </a:p>
        </p:txBody>
      </p:sp>
      <p:sp>
        <p:nvSpPr>
          <p:cNvPr id="11" name="">
            <a:extLst xmlns:a="http://schemas.openxmlformats.org/drawingml/2006/main">
              <a:ext uri="{FF2B5EF4-FFF2-40B4-BE49-F238E27FC236}">
                <a16:creationId xmlns:a16="http://schemas.microsoft.com/office/drawing/2014/main" id="{62389484-007C-4A8A-AB3E-05EDC4095A05}"/>
              </a:ext>
            </a:extLst>
          </p:cNvPr>
          <p:cNvSpPr>
            <a:spLocks xmlns:a="http://schemas.openxmlformats.org/drawingml/2006/main" noGrp="1"/>
          </p:cNvSpPr>
          <p:nvPr/>
        </p:nvSpPr>
        <p:spPr>
          <a:xfrm xmlns:a="http://schemas.openxmlformats.org/drawingml/2006/main">
            <a:off x="762000" y="4438650"/>
            <a:ext cx="1052512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75" b="0">
                <a:solidFill>
                  <a:srgbClr val="53606B"/>
                </a:solidFill>
                <a:latin typeface="Helvetica Neue"/>
                <a:ea typeface="Helvetica Neue"/>
                <a:cs typeface="Helvetica Neue"/>
              </a:defRPr>
            </a:pPr>
            <a:r>
              <a:rPr sz="1875" b="0">
                <a:solidFill>
                  <a:srgbClr val="53606B"/>
                </a:solidFill>
                <a:latin typeface="Helvetica Neue"/>
                <a:ea typeface="Helvetica Neue"/>
                <a:cs typeface="Helvetica Neue"/>
              </a:rPr>
              <a:t>Then: more liquidity, rolling dividend strategies and other networks.</a:t>
            </a:r>
          </a:p>
        </p:txBody>
      </p:sp>
      <p:sp>
        <p:nvSpPr>
          <p:cNvPr id="12" name="">
            <a:extLst xmlns:a="http://schemas.openxmlformats.org/drawingml/2006/main">
              <a:ext uri="{FF2B5EF4-FFF2-40B4-BE49-F238E27FC236}">
                <a16:creationId xmlns:a16="http://schemas.microsoft.com/office/drawing/2014/main" id="{70F2C8BD-1A6A-4A75-AA33-C4FE8DE9E7B5}"/>
              </a:ext>
            </a:extLst>
          </p:cNvPr>
          <p:cNvSpPr>
            <a:spLocks xmlns:a="http://schemas.openxmlformats.org/drawingml/2006/main" noGrp="1"/>
          </p:cNvSpPr>
          <p:nvPr/>
        </p:nvSpPr>
        <p:spPr>
          <a:xfrm xmlns:a="http://schemas.openxmlformats.org/drawingml/2006/main">
            <a:off x="762000" y="5267325"/>
            <a:ext cx="1057275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59C925B8-1FB6-4F4B-A27F-87443A9D15EE}"/>
              </a:ext>
            </a:extLst>
          </p:cNvPr>
          <p:cNvSpPr>
            <a:spLocks xmlns:a="http://schemas.openxmlformats.org/drawingml/2006/main" noGrp="1"/>
          </p:cNvSpPr>
          <p:nvPr/>
        </p:nvSpPr>
        <p:spPr>
          <a:xfrm xmlns:a="http://schemas.openxmlformats.org/drawingml/2006/main">
            <a:off x="762000" y="5553075"/>
            <a:ext cx="4381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850" b="1">
                <a:solidFill>
                  <a:srgbClr val="101820"/>
                </a:solidFill>
                <a:latin typeface="Helvetica Neue"/>
                <a:ea typeface="Helvetica Neue"/>
                <a:cs typeface="Helvetica Neue"/>
              </a:defRPr>
            </a:pPr>
            <a:r>
              <a:rPr sz="2850" b="1">
                <a:solidFill>
                  <a:srgbClr val="101820"/>
                </a:solidFill>
                <a:latin typeface="Helvetica Neue"/>
                <a:ea typeface="Helvetica Neue"/>
                <a:cs typeface="Helvetica Neue"/>
              </a:rPr>
              <a:t>Try DivX</a:t>
            </a:r>
          </a:p>
        </p:txBody>
      </p:sp>
      <p:sp>
        <p:nvSpPr>
          <p:cNvPr id="14" name="">
            <a:extLst xmlns:a="http://schemas.openxmlformats.org/drawingml/2006/main">
              <a:ext uri="{FF2B5EF4-FFF2-40B4-BE49-F238E27FC236}">
                <a16:creationId xmlns:a16="http://schemas.microsoft.com/office/drawing/2014/main" id="{1552F4E2-D237-4C19-BD6C-0B198D106F19}"/>
              </a:ext>
            </a:extLst>
          </p:cNvPr>
          <p:cNvSpPr>
            <a:spLocks xmlns:a="http://schemas.openxmlformats.org/drawingml/2006/main" noGrp="1"/>
          </p:cNvSpPr>
          <p:nvPr/>
        </p:nvSpPr>
        <p:spPr>
          <a:xfrm xmlns:a="http://schemas.openxmlformats.org/drawingml/2006/main">
            <a:off x="6019800" y="5572125"/>
            <a:ext cx="52863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475" b="1">
                <a:solidFill>
                  <a:srgbClr val="2457F5"/>
                </a:solidFill>
                <a:latin typeface="Helvetica Neue"/>
                <a:ea typeface="Helvetica Neue"/>
                <a:cs typeface="Helvetica Neue"/>
              </a:defRPr>
            </a:pPr>
            <a:r>
              <a:rPr sz="2475" b="1">
                <a:solidFill>
                  <a:srgbClr val="2457F5"/>
                </a:solidFill>
                <a:latin typeface="Helvetica Neue"/>
                <a:ea typeface="Helvetica Neue"/>
                <a:cs typeface="Helvetica Neue"/>
              </a:rPr>
              <a:t>divx.payai.network</a:t>
            </a:r>
          </a:p>
        </p:txBody>
      </p:sp>
      <p:sp>
        <p:nvSpPr>
          <p:cNvPr id="15" name="">
            <a:extLst xmlns:a="http://schemas.openxmlformats.org/drawingml/2006/main">
              <a:ext uri="{FF2B5EF4-FFF2-40B4-BE49-F238E27FC236}">
                <a16:creationId xmlns:a16="http://schemas.microsoft.com/office/drawing/2014/main" id="{E6B0DD01-290D-4CBE-9AA0-FB6B341A14BD}"/>
              </a:ext>
            </a:extLst>
          </p:cNvPr>
          <p:cNvSpPr>
            <a:spLocks xmlns:a="http://schemas.openxmlformats.org/drawingml/2006/main" noGrp="1"/>
          </p:cNvSpPr>
          <p:nvPr/>
        </p:nvSpPr>
        <p:spPr>
          <a:xfrm xmlns:a="http://schemas.openxmlformats.org/drawingml/2006/main">
            <a:off x="762000" y="6267450"/>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350" b="0">
                <a:solidFill>
                  <a:srgbClr val="53606B"/>
                </a:solidFill>
                <a:latin typeface="Helvetica Neue"/>
                <a:ea typeface="Helvetica Neue"/>
                <a:cs typeface="Helvetica Neue"/>
              </a:defRPr>
            </a:pPr>
            <a:r>
              <a:rPr sz="1350" b="0">
                <a:solidFill>
                  <a:srgbClr val="53606B"/>
                </a:solidFill>
                <a:latin typeface="Helvetica Neue"/>
                <a:ea typeface="Helvetica Neue"/>
                <a:cs typeface="Helvetica Neue"/>
              </a:rPr>
              <a:t>Stocklana hackathon · No wallet or real funds needed for the guided demo.</a:t>
            </a:r>
          </a:p>
        </p:txBody>
      </p:sp>
    </p:spTree>
    <p:extLst>
      <p:ext uri="{BB962C8B-B14F-4D97-AF65-F5344CB8AC3E}">
        <p14:creationId xmlns:p14="http://schemas.microsoft.com/office/powerpoint/2010/main" val="964827560"/>
      </p:ext>
    </p:extLst>
  </p:cSld>
</p:sld>
</file>

<file path=ppt/theme/theme1.xml><?xml version="1.0" encoding="utf-8"?>
<a:theme xmlns:a="http://schemas.openxmlformats.org/drawingml/2006/main" name="ChatGPT">
  <a:themeElements>
    <a:clrScheme name="DivX">
      <a:dk1>
        <a:srgbClr val="101820"/>
      </a:dk1>
      <a:lt1>
        <a:srgbClr val="FFFEFB"/>
      </a:lt1>
      <a:dk2>
        <a:srgbClr val="53606B"/>
      </a:dk2>
      <a:lt2>
        <a:srgbClr val="F6F3EC"/>
      </a:lt2>
      <a:accent1>
        <a:srgbClr val="2457F5"/>
      </a:accent1>
      <a:accent2>
        <a:srgbClr val="C46A00"/>
      </a:accent2>
      <a:accent3>
        <a:srgbClr val="087F5B"/>
      </a:accent3>
      <a:accent4>
        <a:srgbClr val="B42318"/>
      </a:accent4>
      <a:accent5>
        <a:srgbClr val="6B4EFF"/>
      </a:accent5>
      <a:accent6>
        <a:srgbClr val="53606B"/>
      </a:accent6>
      <a:hlink>
        <a:srgbClr val="2457F5"/>
      </a:hlink>
      <a:folHlink>
        <a:srgbClr val="1639A6"/>
      </a:folHlink>
    </a:clrScheme>
    <a:fontScheme name="Office">
      <a:majorFont>
        <a:latin typeface="Calibri Light"/>
        <a:ea typeface="Calibri Light"/>
        <a:cs typeface="Calibri Light"/>
      </a:majorFont>
      <a:minorFont>
        <a:latin typeface="Calibri"/>
        <a:ea typeface="Calibri"/>
        <a:cs typeface="Calibri"/>
      </a:minorFont>
    </a:fontScheme>
    <a:fmtScheme name="DivX">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2026-09-25T03:30:27.2970000Z</dcterms:created>
  <dcterms:modified xsi:type="dcterms:W3CDTF">2026-09-25T03:30:27.2970000Z</dcterms:modified>
</coreProperties>
</file>