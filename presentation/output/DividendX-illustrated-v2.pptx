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02ef6da1c74611" /><Relationship Type="http://schemas.openxmlformats.org/officeDocument/2006/relationships/extended-properties" Target="/docProps/app.xml" Id="Rc6f49353d03e444e" /><Relationship Type="http://schemas.openxmlformats.org/officeDocument/2006/relationships/officeDocument" Target="/ppt/presentation.xml" Id="R78755deb2c444bf6" /></Relationships>
</file>

<file path=ppt/presentation.xml><?xml version="1.0" encoding="utf-8"?>
<p:presentation xmlns:p="http://schemas.openxmlformats.org/presentationml/2006/main">
  <p:sldMasterIdLst>
    <p:sldMasterId xmlns:r="http://schemas.openxmlformats.org/officeDocument/2006/relationships" id="2147483648" r:id="R11038b83aab54d58"/>
  </p:sldMasterIdLst>
  <p:notesMasterIdLst>
    <p:notesMasterId xmlns:r="http://schemas.openxmlformats.org/officeDocument/2006/relationships" r:id="R86da6626503c4e10"/>
  </p:notesMasterIdLst>
  <p:sldIdLst>
    <p:sldId xmlns:r="http://schemas.openxmlformats.org/officeDocument/2006/relationships" id="256" r:id="Rc54710eab96a46b7"/>
    <p:sldId xmlns:r="http://schemas.openxmlformats.org/officeDocument/2006/relationships" id="257" r:id="R5b5846b55f654551"/>
    <p:sldId xmlns:r="http://schemas.openxmlformats.org/officeDocument/2006/relationships" id="258" r:id="Rdcab3806ca854f9e"/>
    <p:sldId xmlns:r="http://schemas.openxmlformats.org/officeDocument/2006/relationships" id="259" r:id="R95dd0e96ac924927"/>
    <p:sldId xmlns:r="http://schemas.openxmlformats.org/officeDocument/2006/relationships" id="260" r:id="R91afaef9df70441c"/>
    <p:sldId xmlns:r="http://schemas.openxmlformats.org/officeDocument/2006/relationships" id="261" r:id="Rbecacddf09b64d59"/>
    <p:sldId xmlns:r="http://schemas.openxmlformats.org/officeDocument/2006/relationships" id="262" r:id="Rccd7e330770749cf"/>
    <p:sldId xmlns:r="http://schemas.openxmlformats.org/officeDocument/2006/relationships" id="263" r:id="R4c0d4aa65c744cc4"/>
    <p:sldId xmlns:r="http://schemas.openxmlformats.org/officeDocument/2006/relationships" id="264" r:id="R00b7ee5902f249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1d0acaca4b4ca1" /><Relationship Type="http://schemas.openxmlformats.org/officeDocument/2006/relationships/slideMaster" Target="/ppt/slideMasters/slideMaster1.xml" Id="R11038b83aab54d58" /><Relationship Type="http://schemas.openxmlformats.org/officeDocument/2006/relationships/notesMaster" Target="/ppt/notesMasters/notesMaster1.xml" Id="R86da6626503c4e10" /><Relationship Type="http://schemas.openxmlformats.org/officeDocument/2006/relationships/presProps" Target="/ppt/presProps.xml" Id="R4561e56364304efc" /><Relationship Type="http://schemas.openxmlformats.org/officeDocument/2006/relationships/tableStyles" Target="/ppt/tableStyles.xml" Id="R953874909bdb4720" /><Relationship Type="http://schemas.openxmlformats.org/officeDocument/2006/relationships/slide" Target="/ppt/slides/slide1.xml" Id="Rc54710eab96a46b7" /><Relationship Type="http://schemas.openxmlformats.org/officeDocument/2006/relationships/slide" Target="/ppt/slides/slide2.xml" Id="R5b5846b55f654551" /><Relationship Type="http://schemas.openxmlformats.org/officeDocument/2006/relationships/slide" Target="/ppt/slides/slide3.xml" Id="Rdcab3806ca854f9e" /><Relationship Type="http://schemas.openxmlformats.org/officeDocument/2006/relationships/slide" Target="/ppt/slides/slide4.xml" Id="R95dd0e96ac924927" /><Relationship Type="http://schemas.openxmlformats.org/officeDocument/2006/relationships/slide" Target="/ppt/slides/slide5.xml" Id="R91afaef9df70441c" /><Relationship Type="http://schemas.openxmlformats.org/officeDocument/2006/relationships/slide" Target="/ppt/slides/slide6.xml" Id="Rbecacddf09b64d59" /><Relationship Type="http://schemas.openxmlformats.org/officeDocument/2006/relationships/slide" Target="/ppt/slides/slide7.xml" Id="Rccd7e330770749cf" /><Relationship Type="http://schemas.openxmlformats.org/officeDocument/2006/relationships/slide" Target="/ppt/slides/slide8.xml" Id="R4c0d4aa65c744cc4" /><Relationship Type="http://schemas.openxmlformats.org/officeDocument/2006/relationships/slide" Target="/ppt/slides/slide9.xml" Id="R00b7ee5902f249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64d7be24ed45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00def2fbe14d13" /><Relationship Type="http://schemas.openxmlformats.org/officeDocument/2006/relationships/notesMaster" Target="/ppt/notesMasters/notesMaster1.xml" Id="R744a3ee720a74a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9be08e998b4b44" /><Relationship Type="http://schemas.openxmlformats.org/officeDocument/2006/relationships/notesMaster" Target="/ppt/notesMasters/notesMaster1.xml" Id="R52a4acce2122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b04c5ac46c4a15" /><Relationship Type="http://schemas.openxmlformats.org/officeDocument/2006/relationships/notesMaster" Target="/ppt/notesMasters/notesMaster1.xml" Id="Rda7d531792674b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5a2b4b50d946cc" /><Relationship Type="http://schemas.openxmlformats.org/officeDocument/2006/relationships/notesMaster" Target="/ppt/notesMasters/notesMaster1.xml" Id="R2a8f72ac757849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9be08c8c3f44c6" /><Relationship Type="http://schemas.openxmlformats.org/officeDocument/2006/relationships/notesMaster" Target="/ppt/notesMasters/notesMaster1.xml" Id="R46c4c25a699a44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044d5cbd6d4903" /><Relationship Type="http://schemas.openxmlformats.org/officeDocument/2006/relationships/notesMaster" Target="/ppt/notesMasters/notesMaster1.xml" Id="R92d140997d604e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3c86083fdf44d4" /><Relationship Type="http://schemas.openxmlformats.org/officeDocument/2006/relationships/notesMaster" Target="/ppt/notesMasters/notesMaster1.xml" Id="R59c1236ad17c40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8c1154a637426a" /><Relationship Type="http://schemas.openxmlformats.org/officeDocument/2006/relationships/notesMaster" Target="/ppt/notesMasters/notesMaster1.xml" Id="Rbd238dd5304142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6e350e1a6d401b" /><Relationship Type="http://schemas.openxmlformats.org/officeDocument/2006/relationships/notesMaster" Target="/ppt/notesMasters/notesMaster1.xml" Id="R35eb28f3a5ff49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DividendX brings that established market to people who hold tokenized stocks.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DividendX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PT and DR may be used by compatible Solana applications subject to each eligible series' rules. Backing stays in the series vault while either claim moves or connects to an app. The illustration shows conceptual compatibility, not deployed integrations. Onchain auditability covers held collateral and program records. It does not independently prove issuer reserves, correct issuer data, correct program code, or audit certification.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Approved local illustration and provenance: design/illustrations/assets/stock-and-dividend-composability-v1.png; design/illustrations/assets/manifest.json; design/illustrations/prompts/stock-and-dividend-composability-v1.md |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b50d08259e45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0f8343bb8d4dfe" /><Relationship Type="http://schemas.openxmlformats.org/officeDocument/2006/relationships/slideLayout" Target="/ppt/slideLayouts/slideLayout1.xml" Id="Rff3e637c296c49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e637c296c49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eb0d1089894c0b" /><Relationship Type="http://schemas.openxmlformats.org/officeDocument/2006/relationships/notesSlide" Target="/ppt/notesSlides/notesSlide1.xml" Id="Ra44bebcf53ca49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4fd9b82c4b4eab" /><Relationship Type="http://schemas.openxmlformats.org/officeDocument/2006/relationships/notesSlide" Target="/ppt/notesSlides/notesSlide2.xml" Id="R717d9c3122f44b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b14713e1a24a86" /><Relationship Type="http://schemas.openxmlformats.org/officeDocument/2006/relationships/image" Target="/ppt/media/image.png" Id="Rb79d9049701a4b41" /><Relationship Type="http://schemas.openxmlformats.org/officeDocument/2006/relationships/notesSlide" Target="/ppt/notesSlides/notesSlide3.xml" Id="R19191c14b1a144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b9b3dab4b34947" /><Relationship Type="http://schemas.openxmlformats.org/officeDocument/2006/relationships/notesSlide" Target="/ppt/notesSlides/notesSlide4.xml" Id="R64c92a564e0c46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09aba4b0a64bd2" /><Relationship Type="http://schemas.openxmlformats.org/officeDocument/2006/relationships/notesSlide" Target="/ppt/notesSlides/notesSlide5.xml" Id="R5c28a2f737aa4b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56bf8781624a1e" /><Relationship Type="http://schemas.openxmlformats.org/officeDocument/2006/relationships/notesSlide" Target="/ppt/notesSlides/notesSlide6.xml" Id="Rda7e063382ac4b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be560189c546c2" /><Relationship Type="http://schemas.openxmlformats.org/officeDocument/2006/relationships/image" Target="/ppt/media/image2.png" Id="Rbc4603c59b8f4c35" /><Relationship Type="http://schemas.openxmlformats.org/officeDocument/2006/relationships/notesSlide" Target="/ppt/notesSlides/notesSlide7.xml" Id="R457bcb43392e4e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4d6a5858ab49c9" /><Relationship Type="http://schemas.openxmlformats.org/officeDocument/2006/relationships/image" Target="/ppt/media/image3.png" Id="R38fb270931e6494c" /><Relationship Type="http://schemas.openxmlformats.org/officeDocument/2006/relationships/notesSlide" Target="/ppt/notesSlides/notesSlide8.xml" Id="Rde559a6283bb4e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1ef3b31b99429d" /><Relationship Type="http://schemas.openxmlformats.org/officeDocument/2006/relationships/notesSlide" Target="/ppt/notesSlides/notesSlide9.xml" Id="Rfc3856f83f484839"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7DC28C-6B6B-4A6F-8165-B56AEC774B07}"/>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2698BA-14BE-4258-BC72-5D239C41998C}"/>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DE91DF0-1AB4-4ED5-A6BF-54720FE4A661}"/>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56E32F30-88B6-45B6-AB66-2CE8B90593F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46B82992-6DE2-4987-867A-678956F95C04}"/>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8AEB2C2A-0143-4EE4-86C1-D72B4223CBC6}"/>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0ACDD8F3-FBD8-4CD5-98D3-CA6EF1DF7EF9}"/>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E879F0-C0C1-46E8-ABBE-2A5BF38EA45E}"/>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52597910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59207E7-E5E9-4723-8AB7-C3A62786992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183021-3E25-4610-8B52-82605BBE338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20C9FD-338C-40DB-8D6D-CED59B385A4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77061405-9346-4FA1-B819-FD762EBD29A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CD014F0B-9E26-459F-A41D-73DFFE25B95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1BB44A01-D0B3-4F7D-88CC-2AA4B84D1F38}"/>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CAA14B47-8FDB-413D-AE8D-5DD5A59E59C2}"/>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163BD4DF-0B48-46F5-BF28-FC6BA1C5DFF8}"/>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9F6527FE-4523-43B3-8B8F-E019AB4FE0FA}"/>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E083C641-A8A5-4BC7-98B8-377244975B0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5FCE9B36-E13F-477A-B0F5-2943F42BB83B}"/>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ED5BD418-A643-4097-8C9C-C32152A60840}"/>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32FA05D-CE9D-49A3-879B-F47F6BE503B5}"/>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529509-6C8B-4945-8A3E-DECEE4D3BA98}"/>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C42F8292-3D78-4F11-9192-5E65CBB738A6}"/>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4C86F0F4-ED04-46FB-BA6B-040B750045E9}"/>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27D12E7-F4E9-4D19-AC4D-2DF8B1826713}"/>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196177C0-EBD2-4AC6-9C26-704EAE237067}"/>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123D87E9-68B3-4D46-8ED9-7FD156604113}"/>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B1F2B925-C06B-4DEF-8C7D-7B5CB89E3DF7}"/>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CF273AED-32F2-4E51-ABC2-206E99F7D175}"/>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8D605C7E-076A-48D9-B6A4-AEBE87F433F5}"/>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D0160C7C-ECCB-427A-9889-6106B4DFB7D8}"/>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E2214D-D91E-405D-8FA0-7766D7B0B720}"/>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187B8DFC-D8F7-40A6-9F53-0ED08B77E8E9}"/>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1791854484"/>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2DE541B-0090-4998-BB14-D58569B85C5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6DD1C9-F87D-4A23-A13C-665111A9170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61C88CE-0273-4B8C-AF7E-2D3E944D7F8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0650FF99-3ABA-4242-A808-A82501CABCD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08966ED-E080-47E8-941B-37E6BC07282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79d9049701a4b41"/>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B7A926DA-3239-4A8D-8B52-85ADFD72897E}"/>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9B22CA8D-2014-4C7A-97CC-721CCFAA0CC7}"/>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F992679F-8EE2-418C-A603-A0797DB08328}"/>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0ECC2A5F-F931-4A61-8439-F7CAE9FD5DA2}"/>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DEE53711-58E0-477F-A1AE-A22E21A7567F}"/>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462A2FE6-319F-43C2-94D0-3E202FD0E843}"/>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CB5541B9-17E0-40A2-9AC2-29D70AD04C2A}"/>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08200053-F5F1-4AA8-AF79-49701C927D93}"/>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FA4253A0-D390-409B-BC73-08B2DA0DC115}"/>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B6087BB7-A51D-4EE9-8BE9-523244B4CE50}"/>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38726726-12F8-498A-829C-5234CA7B53F1}"/>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DA58A933-60E2-49DE-8711-ADCB8531CF59}"/>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E136064E-B00E-4D94-81D7-FFDC640F6EA3}"/>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198DE5D8-3D93-4620-A70A-741CFFD7223F}"/>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ECFB3C62-CC24-4813-B8FD-EEEB212E8B35}"/>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4C3E29D0-3D02-4DE1-84F8-3E77729B31B5}"/>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85654162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EFC0C1-673B-43D8-AD1B-D5A8FBC5D7F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410BEC-0B1A-4ECF-BD4B-199F05497BE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D22B6B-72B2-47FD-9D9B-6A848F16ED4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DF221A9F-B6E1-494B-A8F6-0FB7377356D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0B81850D-9385-4BE4-A949-57CDB8B7315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FEA70756-1257-4040-9D04-0038B067AAD5}"/>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9B99F755-1920-48DA-BA5C-B6324EC2400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36340FE6-8D2E-4B66-A6CA-96557E20F2B2}"/>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48163076-8A00-4BF7-9B9F-8D2B46ED71FD}"/>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B5B233-678F-42F2-9FC0-FEB3B38EFC58}"/>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DC2585C-960B-4F18-BB74-B8EF10FAE200}"/>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6DC64F7B-CBD5-4AF0-8076-29DB95C44C86}"/>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07BA500D-51A2-4E8F-A0DD-170EFECE3626}"/>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7BCDC7F8-2339-4FEC-AA3A-EF47ADB03875}"/>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28629134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7F1FE1A-004E-4399-BE8A-71E152015C6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2AE42E-DDC1-4579-9D4C-53331902F5B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134B34-731B-45A8-873E-F596735B6DB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EDF89511-1696-416C-BDC9-A0BD0494AFE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B7827C27-5341-40B6-973D-FAC5DBC2D01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EB33180A-3DE9-47D4-8ACF-1B426A003003}"/>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542C6468-A41F-4FE9-96AA-5EF4710E8979}"/>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A15B30B8-05D5-4D0B-81EF-BF0B2448E6AA}"/>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DFE0CC5A-A54E-459C-B48D-5D13FC9B0B12}"/>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59EDA9-BE46-4F30-BA1D-896D813435FE}"/>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445162A0-18DE-4465-92E9-93D61CE6FEBD}"/>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5B202649-C796-48E4-A5F4-D41E69E7CC5A}"/>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A9378AAA-4E99-47D7-BFCE-6ACDC04F2EEB}"/>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811E7C-3D8A-4211-B8BC-C167A7D0AB6F}"/>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FBCE9D31-9038-4B23-91E8-3B27A5BC902C}"/>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01A25D24-B9EC-4028-B908-8A9F6A23B08F}"/>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9B2FD09A-FBF6-4155-8BD6-DF16C61C1513}"/>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038894911"/>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F79FF6-440C-4A94-9D75-76C91A30062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57C6A9-E351-42E2-921F-2D3132296A4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3A5897-13A0-430A-B5BE-C46399F0BCE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5ACC7F88-44FE-49F1-A205-C8077C020CE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8866D6D9-ABB2-4814-92A0-57247F42012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1E430C71-205F-46CA-9F8F-1855F71D5E1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2392BB4-99CE-4C6F-8ABE-CA506A84B820}"/>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23A3ACA-42AE-40AC-9063-D41934BAAE45}"/>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FFA01BA3-5D1A-4D01-9E21-BA8E59428A60}"/>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865400-C4EC-49E8-BF0D-FAAF158010E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C3EE9F35-C010-466F-891D-239DDBD7F5C6}"/>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D373CF3B-CB5C-41C1-85EE-F47BBF8C74E5}"/>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DA1711EC-DD36-490D-9C33-6069AA4EBEAB}"/>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4BE75C-0429-428C-AD72-F16EC6989C6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A8BBEC55-F904-4C0E-8D81-460948BBCC8B}"/>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6F23DDCB-7503-453E-B31A-520A4B7964E6}"/>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31B72043-8E42-4344-99CE-2DFCA570527D}"/>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7118B7-C985-4C38-BAAA-DCE4B7FE8E71}"/>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408558546"/>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2BCB518-F6DF-476E-AC3E-DA2B8DE3079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E3C356-336D-4C39-B292-629A54FDC39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A38EC7-2B04-49B7-A373-2DB9A5C50E5B}"/>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D9D70493-06FD-4370-9246-463A2A5F9B1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E3F6D7A2-0D90-4DCF-8A17-D20F5745004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c4603c59b8f4c35"/>
          <a:stretch xmlns:a="http://schemas.openxmlformats.org/drawingml/2006/main"/>
        </p:blipFill>
        <p:spPr>
          <a:xfrm xmlns:a="http://schemas.openxmlformats.org/drawingml/2006/main">
            <a:off x="419100" y="1647825"/>
            <a:ext cx="5219700" cy="39147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4C106B-E503-4077-AA31-866CE90AFC14}"/>
              </a:ext>
            </a:extLst>
          </p:cNvPr>
          <p:cNvSpPr>
            <a:spLocks xmlns:a="http://schemas.openxmlformats.org/drawingml/2006/main" noGrp="1"/>
          </p:cNvSpPr>
          <p:nvPr/>
        </p:nvSpPr>
        <p:spPr>
          <a:xfrm xmlns:a="http://schemas.openxmlformats.org/drawingml/2006/main">
            <a:off x="7239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2457F5"/>
                </a:solidFill>
                <a:latin typeface="Helvetica Neue"/>
                <a:ea typeface="Helvetica Neue"/>
                <a:cs typeface="Helvetica Neue"/>
              </a:defRPr>
            </a:pPr>
            <a:r>
              <a:rPr sz="1275" b="1">
                <a:solidFill>
                  <a:srgbClr val="2457F5"/>
                </a:solidFill>
                <a:latin typeface="Helvetica Neue"/>
                <a:ea typeface="Helvetica Neue"/>
                <a:cs typeface="Helvetica Neue"/>
              </a:rPr>
              <a:t>Stock exposure (PT)</a:t>
            </a:r>
          </a:p>
        </p:txBody>
      </p:sp>
      <p:sp>
        <p:nvSpPr>
          <p:cNvPr id="8" name="">
            <a:extLst xmlns:a="http://schemas.openxmlformats.org/drawingml/2006/main">
              <a:ext uri="{FF2B5EF4-FFF2-40B4-BE49-F238E27FC236}">
                <a16:creationId xmlns:a16="http://schemas.microsoft.com/office/drawing/2014/main" id="{18418D30-F4D4-40B9-84DE-C993DF924A76}"/>
              </a:ext>
            </a:extLst>
          </p:cNvPr>
          <p:cNvSpPr>
            <a:spLocks xmlns:a="http://schemas.openxmlformats.org/drawingml/2006/main" noGrp="1"/>
          </p:cNvSpPr>
          <p:nvPr/>
        </p:nvSpPr>
        <p:spPr>
          <a:xfrm xmlns:a="http://schemas.openxmlformats.org/drawingml/2006/main">
            <a:off x="33147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1">
                <a:solidFill>
                  <a:srgbClr val="C46A00"/>
                </a:solidFill>
                <a:latin typeface="Helvetica Neue"/>
                <a:ea typeface="Helvetica Neue"/>
                <a:cs typeface="Helvetica Neue"/>
              </a:defRPr>
            </a:pPr>
            <a:r>
              <a:rPr sz="1275" b="1">
                <a:solidFill>
                  <a:srgbClr val="C46A00"/>
                </a:solidFill>
                <a:latin typeface="Helvetica Neue"/>
                <a:ea typeface="Helvetica Neue"/>
                <a:cs typeface="Helvetica Neue"/>
              </a:rPr>
              <a:t>Dividend rights (DR)</a:t>
            </a:r>
          </a:p>
        </p:txBody>
      </p:sp>
      <p:sp>
        <p:nvSpPr>
          <p:cNvPr id="9" name="">
            <a:extLst xmlns:a="http://schemas.openxmlformats.org/drawingml/2006/main">
              <a:ext uri="{FF2B5EF4-FFF2-40B4-BE49-F238E27FC236}">
                <a16:creationId xmlns:a16="http://schemas.microsoft.com/office/drawing/2014/main" id="{8919879E-DB38-4F1C-A482-3A7D0A2D805B}"/>
              </a:ext>
            </a:extLst>
          </p:cNvPr>
          <p:cNvSpPr>
            <a:spLocks xmlns:a="http://schemas.openxmlformats.org/drawingml/2006/main" noGrp="1"/>
          </p:cNvSpPr>
          <p:nvPr/>
        </p:nvSpPr>
        <p:spPr>
          <a:xfrm xmlns:a="http://schemas.openxmlformats.org/drawingml/2006/main">
            <a:off x="723900" y="5981700"/>
            <a:ext cx="478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Use either claim in compatible wallets and trading apps.</a:t>
            </a:r>
          </a:p>
        </p:txBody>
      </p:sp>
      <p:sp>
        <p:nvSpPr>
          <p:cNvPr id="10" name="">
            <a:extLst xmlns:a="http://schemas.openxmlformats.org/drawingml/2006/main">
              <a:ext uri="{FF2B5EF4-FFF2-40B4-BE49-F238E27FC236}">
                <a16:creationId xmlns:a16="http://schemas.microsoft.com/office/drawing/2014/main" id="{C7855C3D-4D43-4A23-A636-73B332393043}"/>
              </a:ext>
            </a:extLst>
          </p:cNvPr>
          <p:cNvSpPr>
            <a:spLocks xmlns:a="http://schemas.openxmlformats.org/drawingml/2006/main" noGrp="1"/>
          </p:cNvSpPr>
          <p:nvPr/>
        </p:nvSpPr>
        <p:spPr>
          <a:xfrm xmlns:a="http://schemas.openxmlformats.org/drawingml/2006/main">
            <a:off x="5943600" y="1714500"/>
            <a:ext cx="9525" cy="44958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3390E1-0B69-4D96-8FC9-4B243EE895B8}"/>
              </a:ext>
            </a:extLst>
          </p:cNvPr>
          <p:cNvSpPr>
            <a:spLocks xmlns:a="http://schemas.openxmlformats.org/drawingml/2006/main" noGrp="1"/>
          </p:cNvSpPr>
          <p:nvPr/>
        </p:nvSpPr>
        <p:spPr>
          <a:xfrm xmlns:a="http://schemas.openxmlformats.org/drawingml/2006/main">
            <a:off x="6362700" y="177165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FRACTIONAL OWNERSHIP</a:t>
            </a:r>
          </a:p>
        </p:txBody>
      </p:sp>
      <p:sp>
        <p:nvSpPr>
          <p:cNvPr id="12" name="">
            <a:extLst xmlns:a="http://schemas.openxmlformats.org/drawingml/2006/main">
              <a:ext uri="{FF2B5EF4-FFF2-40B4-BE49-F238E27FC236}">
                <a16:creationId xmlns:a16="http://schemas.microsoft.com/office/drawing/2014/main" id="{BFF9A807-A4EE-4A0C-9E3B-249BCC962180}"/>
              </a:ext>
            </a:extLst>
          </p:cNvPr>
          <p:cNvSpPr>
            <a:spLocks xmlns:a="http://schemas.openxmlformats.org/drawingml/2006/main" noGrp="1"/>
          </p:cNvSpPr>
          <p:nvPr/>
        </p:nvSpPr>
        <p:spPr>
          <a:xfrm xmlns:a="http://schemas.openxmlformats.org/drawingml/2006/main">
            <a:off x="6362700" y="20669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Buy or sell part of either claim.</a:t>
            </a:r>
          </a:p>
        </p:txBody>
      </p:sp>
      <p:sp>
        <p:nvSpPr>
          <p:cNvPr id="13" name="">
            <a:extLst xmlns:a="http://schemas.openxmlformats.org/drawingml/2006/main">
              <a:ext uri="{FF2B5EF4-FFF2-40B4-BE49-F238E27FC236}">
                <a16:creationId xmlns:a16="http://schemas.microsoft.com/office/drawing/2014/main" id="{2D8FAC6B-BE60-4CD4-8D3D-366FB836FE3D}"/>
              </a:ext>
            </a:extLst>
          </p:cNvPr>
          <p:cNvSpPr>
            <a:spLocks xmlns:a="http://schemas.openxmlformats.org/drawingml/2006/main" noGrp="1"/>
          </p:cNvSpPr>
          <p:nvPr/>
        </p:nvSpPr>
        <p:spPr>
          <a:xfrm xmlns:a="http://schemas.openxmlformats.org/drawingml/2006/main">
            <a:off x="6362700" y="29337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2457F5"/>
                </a:solidFill>
                <a:latin typeface="Helvetica Neue"/>
                <a:ea typeface="Helvetica Neue"/>
                <a:cs typeface="Helvetica Neue"/>
              </a:defRPr>
            </a:pPr>
            <a:r>
              <a:rPr sz="1200" b="1">
                <a:solidFill>
                  <a:srgbClr val="2457F5"/>
                </a:solidFill>
                <a:latin typeface="Helvetica Neue"/>
                <a:ea typeface="Helvetica Neue"/>
                <a:cs typeface="Helvetica Neue"/>
              </a:rPr>
              <a:t>Stock exposure (PT)</a:t>
            </a:r>
          </a:p>
        </p:txBody>
      </p:sp>
      <p:sp>
        <p:nvSpPr>
          <p:cNvPr id="14" name="PT fraction held">
            <a:extLst xmlns:a="http://schemas.openxmlformats.org/drawingml/2006/main">
              <a:ext uri="{FF2B5EF4-FFF2-40B4-BE49-F238E27FC236}">
                <a16:creationId xmlns:a16="http://schemas.microsoft.com/office/drawing/2014/main" id="{2898439D-B022-4E11-B384-62FDC21E1655}"/>
              </a:ext>
            </a:extLst>
          </p:cNvPr>
          <p:cNvSpPr>
            <a:spLocks xmlns:a="http://schemas.openxmlformats.org/drawingml/2006/main" noGrp="1"/>
          </p:cNvSpPr>
          <p:nvPr/>
        </p:nvSpPr>
        <p:spPr>
          <a:xfrm xmlns:a="http://schemas.openxmlformats.org/drawingml/2006/main">
            <a:off x="8420100" y="2905125"/>
            <a:ext cx="1657350" cy="295275"/>
          </a:xfrm>
          <a:prstGeom xmlns:a="http://schemas.openxmlformats.org/drawingml/2006/main" prst="roundRect">
            <a:avLst>
              <a:gd name="adj" fmla="val 22581"/>
            </a:avLst>
          </a:prstGeom>
          <a:solidFill xmlns:a="http://schemas.openxmlformats.org/drawingml/2006/main">
            <a:srgbClr val="EAF0FF"/>
          </a:solidFill>
          <a:ln xmlns:a="http://schemas.openxmlformats.org/drawingml/2006/main" w="9525">
            <a:solidFill>
              <a:srgbClr val="2457F5"/>
            </a:solidFill>
            <a:prstDash val="solid"/>
          </a:ln>
        </p:spPr>
      </p:sp>
      <p:sp>
        <p:nvSpPr>
          <p:cNvPr id="15" name="PT fraction transferred">
            <a:extLst xmlns:a="http://schemas.openxmlformats.org/drawingml/2006/main">
              <a:ext uri="{FF2B5EF4-FFF2-40B4-BE49-F238E27FC236}">
                <a16:creationId xmlns:a16="http://schemas.microsoft.com/office/drawing/2014/main" id="{FACDE666-5E8E-4405-AD63-A98EEC6F7D30}"/>
              </a:ext>
            </a:extLst>
          </p:cNvPr>
          <p:cNvSpPr>
            <a:spLocks xmlns:a="http://schemas.openxmlformats.org/drawingml/2006/main" noGrp="1"/>
          </p:cNvSpPr>
          <p:nvPr/>
        </p:nvSpPr>
        <p:spPr>
          <a:xfrm xmlns:a="http://schemas.openxmlformats.org/drawingml/2006/main">
            <a:off x="10106025" y="2905125"/>
            <a:ext cx="10096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2457F5"/>
            </a:solidFill>
            <a:prstDash val="solid"/>
          </a:ln>
        </p:spPr>
      </p:sp>
      <p:sp>
        <p:nvSpPr>
          <p:cNvPr id="16" name="">
            <a:extLst xmlns:a="http://schemas.openxmlformats.org/drawingml/2006/main">
              <a:ext uri="{FF2B5EF4-FFF2-40B4-BE49-F238E27FC236}">
                <a16:creationId xmlns:a16="http://schemas.microsoft.com/office/drawing/2014/main" id="{FB931329-4B31-4EAB-9D00-5C17E7C72E42}"/>
              </a:ext>
            </a:extLst>
          </p:cNvPr>
          <p:cNvSpPr>
            <a:spLocks xmlns:a="http://schemas.openxmlformats.org/drawingml/2006/main" noGrp="1"/>
          </p:cNvSpPr>
          <p:nvPr/>
        </p:nvSpPr>
        <p:spPr>
          <a:xfrm xmlns:a="http://schemas.openxmlformats.org/drawingml/2006/main">
            <a:off x="8553450" y="297180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keep</a:t>
            </a:r>
          </a:p>
        </p:txBody>
      </p:sp>
      <p:sp>
        <p:nvSpPr>
          <p:cNvPr id="17" name="">
            <a:extLst xmlns:a="http://schemas.openxmlformats.org/drawingml/2006/main">
              <a:ext uri="{FF2B5EF4-FFF2-40B4-BE49-F238E27FC236}">
                <a16:creationId xmlns:a16="http://schemas.microsoft.com/office/drawing/2014/main" id="{9C26DE87-B84E-4018-ABED-9B248605BAF3}"/>
              </a:ext>
            </a:extLst>
          </p:cNvPr>
          <p:cNvSpPr>
            <a:spLocks xmlns:a="http://schemas.openxmlformats.org/drawingml/2006/main" noGrp="1"/>
          </p:cNvSpPr>
          <p:nvPr/>
        </p:nvSpPr>
        <p:spPr>
          <a:xfrm xmlns:a="http://schemas.openxmlformats.org/drawingml/2006/main">
            <a:off x="10229850" y="29718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a:t>
            </a:r>
          </a:p>
        </p:txBody>
      </p:sp>
      <p:sp>
        <p:nvSpPr>
          <p:cNvPr id="18" name="">
            <a:extLst xmlns:a="http://schemas.openxmlformats.org/drawingml/2006/main">
              <a:ext uri="{FF2B5EF4-FFF2-40B4-BE49-F238E27FC236}">
                <a16:creationId xmlns:a16="http://schemas.microsoft.com/office/drawing/2014/main" id="{45A357AC-8D92-49DF-BF17-BBD96D7BF3DE}"/>
              </a:ext>
            </a:extLst>
          </p:cNvPr>
          <p:cNvSpPr>
            <a:spLocks xmlns:a="http://schemas.openxmlformats.org/drawingml/2006/main" noGrp="1"/>
          </p:cNvSpPr>
          <p:nvPr/>
        </p:nvSpPr>
        <p:spPr>
          <a:xfrm xmlns:a="http://schemas.openxmlformats.org/drawingml/2006/main">
            <a:off x="6362700" y="34194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C46A00"/>
                </a:solidFill>
                <a:latin typeface="Helvetica Neue"/>
                <a:ea typeface="Helvetica Neue"/>
                <a:cs typeface="Helvetica Neue"/>
              </a:defRPr>
            </a:pPr>
            <a:r>
              <a:rPr sz="1200" b="1">
                <a:solidFill>
                  <a:srgbClr val="C46A00"/>
                </a:solidFill>
                <a:latin typeface="Helvetica Neue"/>
                <a:ea typeface="Helvetica Neue"/>
                <a:cs typeface="Helvetica Neue"/>
              </a:rPr>
              <a:t>Dividend rights (DR)</a:t>
            </a:r>
          </a:p>
        </p:txBody>
      </p:sp>
      <p:sp>
        <p:nvSpPr>
          <p:cNvPr id="19" name="DR fraction held">
            <a:extLst xmlns:a="http://schemas.openxmlformats.org/drawingml/2006/main">
              <a:ext uri="{FF2B5EF4-FFF2-40B4-BE49-F238E27FC236}">
                <a16:creationId xmlns:a16="http://schemas.microsoft.com/office/drawing/2014/main" id="{B5DFD611-1271-49EA-B725-55AC4F0ACA66}"/>
              </a:ext>
            </a:extLst>
          </p:cNvPr>
          <p:cNvSpPr>
            <a:spLocks xmlns:a="http://schemas.openxmlformats.org/drawingml/2006/main" noGrp="1"/>
          </p:cNvSpPr>
          <p:nvPr/>
        </p:nvSpPr>
        <p:spPr>
          <a:xfrm xmlns:a="http://schemas.openxmlformats.org/drawingml/2006/main">
            <a:off x="8420100" y="3390900"/>
            <a:ext cx="10477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C46A00"/>
            </a:solidFill>
            <a:prstDash val="solid"/>
          </a:ln>
        </p:spPr>
      </p:sp>
      <p:sp>
        <p:nvSpPr>
          <p:cNvPr id="20" name="DR fraction transferred">
            <a:extLst xmlns:a="http://schemas.openxmlformats.org/drawingml/2006/main">
              <a:ext uri="{FF2B5EF4-FFF2-40B4-BE49-F238E27FC236}">
                <a16:creationId xmlns:a16="http://schemas.microsoft.com/office/drawing/2014/main" id="{A66285F5-B0B6-404E-8448-5692934099AA}"/>
              </a:ext>
            </a:extLst>
          </p:cNvPr>
          <p:cNvSpPr>
            <a:spLocks xmlns:a="http://schemas.openxmlformats.org/drawingml/2006/main" noGrp="1"/>
          </p:cNvSpPr>
          <p:nvPr/>
        </p:nvSpPr>
        <p:spPr>
          <a:xfrm xmlns:a="http://schemas.openxmlformats.org/drawingml/2006/main">
            <a:off x="9496425" y="3390900"/>
            <a:ext cx="1619250" cy="295275"/>
          </a:xfrm>
          <a:prstGeom xmlns:a="http://schemas.openxmlformats.org/drawingml/2006/main" prst="roundRect">
            <a:avLst>
              <a:gd name="adj" fmla="val 22581"/>
            </a:avLst>
          </a:prstGeom>
          <a:solidFill xmlns:a="http://schemas.openxmlformats.org/drawingml/2006/main">
            <a:srgbClr val="F8E8D4"/>
          </a:solidFill>
          <a:ln xmlns:a="http://schemas.openxmlformats.org/drawingml/2006/main" w="9525">
            <a:solidFill>
              <a:srgbClr val="C46A00"/>
            </a:solidFill>
            <a:prstDash val="solid"/>
          </a:ln>
        </p:spPr>
      </p:sp>
      <p:sp>
        <p:nvSpPr>
          <p:cNvPr id="21" name="">
            <a:extLst xmlns:a="http://schemas.openxmlformats.org/drawingml/2006/main">
              <a:ext uri="{FF2B5EF4-FFF2-40B4-BE49-F238E27FC236}">
                <a16:creationId xmlns:a16="http://schemas.microsoft.com/office/drawing/2014/main" id="{DB1D78A8-56EA-416C-8192-40881179B0A1}"/>
              </a:ext>
            </a:extLst>
          </p:cNvPr>
          <p:cNvSpPr>
            <a:spLocks xmlns:a="http://schemas.openxmlformats.org/drawingml/2006/main" noGrp="1"/>
          </p:cNvSpPr>
          <p:nvPr/>
        </p:nvSpPr>
        <p:spPr>
          <a:xfrm xmlns:a="http://schemas.openxmlformats.org/drawingml/2006/main">
            <a:off x="8543925" y="3457575"/>
            <a:ext cx="800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keep</a:t>
            </a:r>
          </a:p>
        </p:txBody>
      </p:sp>
      <p:sp>
        <p:nvSpPr>
          <p:cNvPr id="22" name="">
            <a:extLst xmlns:a="http://schemas.openxmlformats.org/drawingml/2006/main">
              <a:ext uri="{FF2B5EF4-FFF2-40B4-BE49-F238E27FC236}">
                <a16:creationId xmlns:a16="http://schemas.microsoft.com/office/drawing/2014/main" id="{45E54C56-E5CE-482C-95F8-65EC8F5D652C}"/>
              </a:ext>
            </a:extLst>
          </p:cNvPr>
          <p:cNvSpPr>
            <a:spLocks xmlns:a="http://schemas.openxmlformats.org/drawingml/2006/main" noGrp="1"/>
          </p:cNvSpPr>
          <p:nvPr/>
        </p:nvSpPr>
        <p:spPr>
          <a:xfrm xmlns:a="http://schemas.openxmlformats.org/drawingml/2006/main">
            <a:off x="9629775" y="3457575"/>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sell</a:t>
            </a:r>
          </a:p>
        </p:txBody>
      </p:sp>
      <p:sp>
        <p:nvSpPr>
          <p:cNvPr id="23" name="">
            <a:extLst xmlns:a="http://schemas.openxmlformats.org/drawingml/2006/main">
              <a:ext uri="{FF2B5EF4-FFF2-40B4-BE49-F238E27FC236}">
                <a16:creationId xmlns:a16="http://schemas.microsoft.com/office/drawing/2014/main" id="{1DBB640A-2668-41D3-85C4-53DEA9C201EB}"/>
              </a:ext>
            </a:extLst>
          </p:cNvPr>
          <p:cNvSpPr>
            <a:spLocks xmlns:a="http://schemas.openxmlformats.org/drawingml/2006/main" noGrp="1"/>
          </p:cNvSpPr>
          <p:nvPr/>
        </p:nvSpPr>
        <p:spPr>
          <a:xfrm xmlns:a="http://schemas.openxmlformats.org/drawingml/2006/main">
            <a:off x="6362700" y="3819525"/>
            <a:ext cx="4752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0">
                <a:solidFill>
                  <a:srgbClr val="53606B"/>
                </a:solidFill>
                <a:latin typeface="Helvetica Neue"/>
                <a:ea typeface="Helvetica Neue"/>
                <a:cs typeface="Helvetica Neue"/>
              </a:defRPr>
            </a:pPr>
            <a:r>
              <a:rPr sz="975" b="0">
                <a:solidFill>
                  <a:srgbClr val="53606B"/>
                </a:solidFill>
                <a:latin typeface="Helvetica Neue"/>
                <a:ea typeface="Helvetica Neue"/>
                <a:cs typeface="Helvetica Neue"/>
              </a:rPr>
              <a:t>Choose how much to keep or sell.</a:t>
            </a:r>
          </a:p>
        </p:txBody>
      </p:sp>
      <p:sp>
        <p:nvSpPr>
          <p:cNvPr id="24" name="">
            <a:extLst xmlns:a="http://schemas.openxmlformats.org/drawingml/2006/main">
              <a:ext uri="{FF2B5EF4-FFF2-40B4-BE49-F238E27FC236}">
                <a16:creationId xmlns:a16="http://schemas.microsoft.com/office/drawing/2014/main" id="{9CF247B3-1776-43D1-8F7A-4374B8857C82}"/>
              </a:ext>
            </a:extLst>
          </p:cNvPr>
          <p:cNvSpPr>
            <a:spLocks xmlns:a="http://schemas.openxmlformats.org/drawingml/2006/main" noGrp="1"/>
          </p:cNvSpPr>
          <p:nvPr/>
        </p:nvSpPr>
        <p:spPr>
          <a:xfrm xmlns:a="http://schemas.openxmlformats.org/drawingml/2006/main">
            <a:off x="6362700" y="4210050"/>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57C08CB-13C4-42F0-99ED-2D657D138C68}"/>
              </a:ext>
            </a:extLst>
          </p:cNvPr>
          <p:cNvSpPr>
            <a:spLocks xmlns:a="http://schemas.openxmlformats.org/drawingml/2006/main" noGrp="1"/>
          </p:cNvSpPr>
          <p:nvPr/>
        </p:nvSpPr>
        <p:spPr>
          <a:xfrm xmlns:a="http://schemas.openxmlformats.org/drawingml/2006/main">
            <a:off x="6362700" y="441007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26" name="">
            <a:extLst xmlns:a="http://schemas.openxmlformats.org/drawingml/2006/main">
              <a:ext uri="{FF2B5EF4-FFF2-40B4-BE49-F238E27FC236}">
                <a16:creationId xmlns:a16="http://schemas.microsoft.com/office/drawing/2014/main" id="{F5D3F49A-2B12-433C-A796-7F093EB68F54}"/>
              </a:ext>
            </a:extLst>
          </p:cNvPr>
          <p:cNvSpPr>
            <a:spLocks xmlns:a="http://schemas.openxmlformats.org/drawingml/2006/main" noGrp="1"/>
          </p:cNvSpPr>
          <p:nvPr/>
        </p:nvSpPr>
        <p:spPr>
          <a:xfrm xmlns:a="http://schemas.openxmlformats.org/drawingml/2006/main">
            <a:off x="6362700" y="46863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Inspect the onchain record.</a:t>
            </a:r>
          </a:p>
        </p:txBody>
      </p:sp>
      <p:sp>
        <p:nvSpPr>
          <p:cNvPr id="27" name="">
            <a:extLst xmlns:a="http://schemas.openxmlformats.org/drawingml/2006/main">
              <a:ext uri="{FF2B5EF4-FFF2-40B4-BE49-F238E27FC236}">
                <a16:creationId xmlns:a16="http://schemas.microsoft.com/office/drawing/2014/main" id="{C0ACE2DE-2527-44F5-BD8D-5E05B03FDD0B}"/>
              </a:ext>
            </a:extLst>
          </p:cNvPr>
          <p:cNvSpPr>
            <a:spLocks xmlns:a="http://schemas.openxmlformats.org/drawingml/2006/main" noGrp="1"/>
          </p:cNvSpPr>
          <p:nvPr/>
        </p:nvSpPr>
        <p:spPr>
          <a:xfrm xmlns:a="http://schemas.openxmlformats.org/drawingml/2006/main">
            <a:off x="6362700" y="51720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8" name="">
            <a:extLst xmlns:a="http://schemas.openxmlformats.org/drawingml/2006/main">
              <a:ext uri="{FF2B5EF4-FFF2-40B4-BE49-F238E27FC236}">
                <a16:creationId xmlns:a16="http://schemas.microsoft.com/office/drawing/2014/main" id="{27C9316E-EFDD-43FC-A97A-119B0449723C}"/>
              </a:ext>
            </a:extLst>
          </p:cNvPr>
          <p:cNvSpPr>
            <a:spLocks xmlns:a="http://schemas.openxmlformats.org/drawingml/2006/main" noGrp="1"/>
          </p:cNvSpPr>
          <p:nvPr/>
        </p:nvSpPr>
        <p:spPr>
          <a:xfrm xmlns:a="http://schemas.openxmlformats.org/drawingml/2006/main">
            <a:off x="6819900" y="51625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2457F5"/>
                </a:solidFill>
                <a:latin typeface="Helvetica Neue"/>
                <a:ea typeface="Helvetica Neue"/>
                <a:cs typeface="Helvetica Neue"/>
              </a:defRPr>
            </a:pPr>
            <a:r>
              <a:rPr sz="1350" b="1">
                <a:solidFill>
                  <a:srgbClr val="2457F5"/>
                </a:solidFill>
                <a:latin typeface="Helvetica Neue"/>
                <a:ea typeface="Helvetica Neue"/>
                <a:cs typeface="Helvetica Neue"/>
              </a:rPr>
              <a:t>Vault balance</a:t>
            </a:r>
          </a:p>
        </p:txBody>
      </p:sp>
      <p:sp>
        <p:nvSpPr>
          <p:cNvPr id="29" name="">
            <a:extLst xmlns:a="http://schemas.openxmlformats.org/drawingml/2006/main">
              <a:ext uri="{FF2B5EF4-FFF2-40B4-BE49-F238E27FC236}">
                <a16:creationId xmlns:a16="http://schemas.microsoft.com/office/drawing/2014/main" id="{40A205A3-6DFD-4D31-A3A7-98595B1BC52A}"/>
              </a:ext>
            </a:extLst>
          </p:cNvPr>
          <p:cNvSpPr>
            <a:spLocks xmlns:a="http://schemas.openxmlformats.org/drawingml/2006/main" noGrp="1"/>
          </p:cNvSpPr>
          <p:nvPr/>
        </p:nvSpPr>
        <p:spPr>
          <a:xfrm xmlns:a="http://schemas.openxmlformats.org/drawingml/2006/main">
            <a:off x="6362700" y="54387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DCB545B-A6A7-4C8E-B187-9737D62A4B4B}"/>
              </a:ext>
            </a:extLst>
          </p:cNvPr>
          <p:cNvSpPr>
            <a:spLocks xmlns:a="http://schemas.openxmlformats.org/drawingml/2006/main" noGrp="1"/>
          </p:cNvSpPr>
          <p:nvPr/>
        </p:nvSpPr>
        <p:spPr>
          <a:xfrm xmlns:a="http://schemas.openxmlformats.org/drawingml/2006/main">
            <a:off x="6362700" y="55149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31" name="">
            <a:extLst xmlns:a="http://schemas.openxmlformats.org/drawingml/2006/main">
              <a:ext uri="{FF2B5EF4-FFF2-40B4-BE49-F238E27FC236}">
                <a16:creationId xmlns:a16="http://schemas.microsoft.com/office/drawing/2014/main" id="{8B4EBB2E-1CEB-4104-84DC-9EA29511B2F9}"/>
              </a:ext>
            </a:extLst>
          </p:cNvPr>
          <p:cNvSpPr>
            <a:spLocks xmlns:a="http://schemas.openxmlformats.org/drawingml/2006/main" noGrp="1"/>
          </p:cNvSpPr>
          <p:nvPr/>
        </p:nvSpPr>
        <p:spPr>
          <a:xfrm xmlns:a="http://schemas.openxmlformats.org/drawingml/2006/main">
            <a:off x="6819900" y="55054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Claims outstanding</a:t>
            </a:r>
          </a:p>
        </p:txBody>
      </p:sp>
      <p:sp>
        <p:nvSpPr>
          <p:cNvPr id="32" name="">
            <a:extLst xmlns:a="http://schemas.openxmlformats.org/drawingml/2006/main">
              <a:ext uri="{FF2B5EF4-FFF2-40B4-BE49-F238E27FC236}">
                <a16:creationId xmlns:a16="http://schemas.microsoft.com/office/drawing/2014/main" id="{20D465A2-A03C-4432-BD8D-6781E5CD44DB}"/>
              </a:ext>
            </a:extLst>
          </p:cNvPr>
          <p:cNvSpPr>
            <a:spLocks xmlns:a="http://schemas.openxmlformats.org/drawingml/2006/main" noGrp="1"/>
          </p:cNvSpPr>
          <p:nvPr/>
        </p:nvSpPr>
        <p:spPr>
          <a:xfrm xmlns:a="http://schemas.openxmlformats.org/drawingml/2006/main">
            <a:off x="6362700" y="57816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4CAD1C8-D654-4C4B-BAD1-348C1418344B}"/>
              </a:ext>
            </a:extLst>
          </p:cNvPr>
          <p:cNvSpPr>
            <a:spLocks xmlns:a="http://schemas.openxmlformats.org/drawingml/2006/main" noGrp="1"/>
          </p:cNvSpPr>
          <p:nvPr/>
        </p:nvSpPr>
        <p:spPr>
          <a:xfrm xmlns:a="http://schemas.openxmlformats.org/drawingml/2006/main">
            <a:off x="6362700" y="58578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34" name="">
            <a:extLst xmlns:a="http://schemas.openxmlformats.org/drawingml/2006/main">
              <a:ext uri="{FF2B5EF4-FFF2-40B4-BE49-F238E27FC236}">
                <a16:creationId xmlns:a16="http://schemas.microsoft.com/office/drawing/2014/main" id="{EFBD83B7-AE56-41D3-A2C9-DA516803D94A}"/>
              </a:ext>
            </a:extLst>
          </p:cNvPr>
          <p:cNvSpPr>
            <a:spLocks xmlns:a="http://schemas.openxmlformats.org/drawingml/2006/main" noGrp="1"/>
          </p:cNvSpPr>
          <p:nvPr/>
        </p:nvSpPr>
        <p:spPr>
          <a:xfrm xmlns:a="http://schemas.openxmlformats.org/drawingml/2006/main">
            <a:off x="6819900" y="58483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Redemption history</a:t>
            </a:r>
          </a:p>
        </p:txBody>
      </p:sp>
    </p:spTree>
    <p:extLst>
      <p:ext uri="{BB962C8B-B14F-4D97-AF65-F5344CB8AC3E}">
        <p14:creationId xmlns:p14="http://schemas.microsoft.com/office/powerpoint/2010/main" val="1929330861"/>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F96E3A-29A4-4542-8336-3E8B8970E79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631CCD-5CFB-4436-ACC4-8B663774CC2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387B80-5F3D-41BB-9447-7C092638F63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62B330E4-35F3-4A43-8E21-BFC2F94553F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D9E55382-F20D-45A0-B019-900D320B182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8fb270931e6494c"/>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14E05637-F285-4970-B54E-B8BB101990DD}"/>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13E52C99-C51D-45E7-8F6E-422317B2D2A9}"/>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13CB585C-9198-426A-8878-32D52E36E21D}"/>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A262737B-EFE4-482C-AA2C-F3E0AD9BD046}"/>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540B244A-FD8C-4A6F-BE79-9B69E19EF464}"/>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6463FEBB-B5BF-4EA5-BA31-8E87E1DA4B6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3F858E55-6066-4172-A402-64A1FC376E8C}"/>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4DD5E939-C541-489F-8468-B79C352C3BA1}"/>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3EB76E51-8E68-4131-8C53-4F9546EFC1F7}"/>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BD6723-CD44-4301-8AB9-95E097287A64}"/>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01793C75-B89C-44DF-B521-524883CC6623}"/>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2DED62-CDDA-4F6B-8520-7399F8815A76}"/>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74227393"/>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291F632-2B4F-4CC2-93DB-C9FC6D2CE18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C2662C-57AC-459E-95FD-87D77E36844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B9B5D9-68FD-4125-9C3F-7D5ACBE69DA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59B23F4-3013-44EA-BCCE-20AEF2AFA5A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24FF61C9-8B17-42C5-B50F-E30EA11844B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1D5F70DC-7B8F-4D60-AB76-EB8B593FD5AA}"/>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579CF402-7B67-41CA-8C78-E9D74EF78894}"/>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5440A194-CC44-4C25-9A86-4C4F48C8BCCB}"/>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590108B6-A601-4C04-A653-4B10BF4DDEB2}"/>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C660A442-E2C7-4169-A03D-C7B833800EE6}"/>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50B67DFD-B64F-4549-B10E-090216701728}"/>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CAF7B7D8-F5FF-4D64-93B2-E28B63DB9251}"/>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48361628-9D3D-4990-8CA1-1CAED50F061D}"/>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60236C77-197B-442E-A142-4FB05EB2F009}"/>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303E7F8B-7857-442C-9C7F-40EE9EF56E7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321F30C3-5556-4088-A904-31132B38D89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20CD0B-4983-4435-BC98-58A7FC031BEF}"/>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F40AD34B-0369-4DD0-872D-2F775C3AB938}"/>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A8A04424-1F3B-4BD4-ADE6-F9C654C6E36E}"/>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824A421D-82E1-4E01-AA7A-8CBF3BEFE929}"/>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24C9938-2ED2-41D8-8890-DD4982D4FCCF}"/>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75170CF1-2E8F-4A63-918C-1F68A2D62C1A}"/>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E1765228-CBFA-4164-88C5-90A6E71B5A5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6C4486B3-CB43-4415-AC63-EEF26B730A39}"/>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47727E9-420F-4AD0-8690-052FF5A8FDA8}"/>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69D27829-1FEF-4B36-B76D-0548C442A225}"/>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29E076BD-ACD1-45D2-BEB4-672E25E4E383}"/>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7953C092-E91C-4B9F-9C16-8D3532A2220E}"/>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125464950"/>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2026-09-16T09:25:12.0960000Z</dcterms:created>
  <dcterms:modified xsi:type="dcterms:W3CDTF">2026-09-16T09:25:12.0960000Z</dcterms:modified>
</coreProperties>
</file>