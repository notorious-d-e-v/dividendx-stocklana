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57567552c8404b" /><Relationship Type="http://schemas.openxmlformats.org/officeDocument/2006/relationships/extended-properties" Target="/docProps/app.xml" Id="R93548f2d1e014b60" /><Relationship Type="http://schemas.openxmlformats.org/officeDocument/2006/relationships/officeDocument" Target="/ppt/presentation.xml" Id="R2fe2db3325df47c0" /></Relationships>
</file>

<file path=ppt/presentation.xml><?xml version="1.0" encoding="utf-8"?>
<p:presentation xmlns:p="http://schemas.openxmlformats.org/presentationml/2006/main">
  <p:sldMasterIdLst>
    <p:sldMasterId xmlns:r="http://schemas.openxmlformats.org/officeDocument/2006/relationships" id="2147483648" r:id="Rf4b12c0ed2254721"/>
  </p:sldMasterIdLst>
  <p:notesMasterIdLst>
    <p:notesMasterId xmlns:r="http://schemas.openxmlformats.org/officeDocument/2006/relationships" r:id="R5e3023f6bca944ce"/>
  </p:notesMasterIdLst>
  <p:sldIdLst>
    <p:sldId xmlns:r="http://schemas.openxmlformats.org/officeDocument/2006/relationships" id="256" r:id="Rbaf2c452712e4c07"/>
    <p:sldId xmlns:r="http://schemas.openxmlformats.org/officeDocument/2006/relationships" id="257" r:id="Re6df086e2e234e32"/>
    <p:sldId xmlns:r="http://schemas.openxmlformats.org/officeDocument/2006/relationships" id="258" r:id="R457283df28d74cf7"/>
    <p:sldId xmlns:r="http://schemas.openxmlformats.org/officeDocument/2006/relationships" id="259" r:id="Rfe3b31b81eda445c"/>
    <p:sldId xmlns:r="http://schemas.openxmlformats.org/officeDocument/2006/relationships" id="260" r:id="R06f17615d7f14383"/>
    <p:sldId xmlns:r="http://schemas.openxmlformats.org/officeDocument/2006/relationships" id="261" r:id="R330947787cfb4520"/>
    <p:sldId xmlns:r="http://schemas.openxmlformats.org/officeDocument/2006/relationships" id="262" r:id="R2d2a22bf837a44a8"/>
    <p:sldId xmlns:r="http://schemas.openxmlformats.org/officeDocument/2006/relationships" id="263" r:id="R876039cde75942d9"/>
    <p:sldId xmlns:r="http://schemas.openxmlformats.org/officeDocument/2006/relationships" id="264" r:id="R10f91058dd9f43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0ea293ec0243d4" /><Relationship Type="http://schemas.openxmlformats.org/officeDocument/2006/relationships/slideMaster" Target="/ppt/slideMasters/slideMaster1.xml" Id="Rf4b12c0ed2254721" /><Relationship Type="http://schemas.openxmlformats.org/officeDocument/2006/relationships/notesMaster" Target="/ppt/notesMasters/notesMaster1.xml" Id="R5e3023f6bca944ce" /><Relationship Type="http://schemas.openxmlformats.org/officeDocument/2006/relationships/presProps" Target="/ppt/presProps.xml" Id="Rbf7ae9fc1dba4c4c" /><Relationship Type="http://schemas.openxmlformats.org/officeDocument/2006/relationships/tableStyles" Target="/ppt/tableStyles.xml" Id="R5ed91dd3a55c4c2b" /><Relationship Type="http://schemas.openxmlformats.org/officeDocument/2006/relationships/slide" Target="/ppt/slides/slide1.xml" Id="Rbaf2c452712e4c07" /><Relationship Type="http://schemas.openxmlformats.org/officeDocument/2006/relationships/slide" Target="/ppt/slides/slide2.xml" Id="Re6df086e2e234e32" /><Relationship Type="http://schemas.openxmlformats.org/officeDocument/2006/relationships/slide" Target="/ppt/slides/slide3.xml" Id="R457283df28d74cf7" /><Relationship Type="http://schemas.openxmlformats.org/officeDocument/2006/relationships/slide" Target="/ppt/slides/slide4.xml" Id="Rfe3b31b81eda445c" /><Relationship Type="http://schemas.openxmlformats.org/officeDocument/2006/relationships/slide" Target="/ppt/slides/slide5.xml" Id="R06f17615d7f14383" /><Relationship Type="http://schemas.openxmlformats.org/officeDocument/2006/relationships/slide" Target="/ppt/slides/slide6.xml" Id="R330947787cfb4520" /><Relationship Type="http://schemas.openxmlformats.org/officeDocument/2006/relationships/slide" Target="/ppt/slides/slide7.xml" Id="R2d2a22bf837a44a8" /><Relationship Type="http://schemas.openxmlformats.org/officeDocument/2006/relationships/slide" Target="/ppt/slides/slide8.xml" Id="R876039cde75942d9" /><Relationship Type="http://schemas.openxmlformats.org/officeDocument/2006/relationships/slide" Target="/ppt/slides/slide9.xml" Id="R10f91058dd9f43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4682cdd1424d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8404a69af24717" /><Relationship Type="http://schemas.openxmlformats.org/officeDocument/2006/relationships/notesMaster" Target="/ppt/notesMasters/notesMaster1.xml" Id="R065c754762784d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dac3ea3a944e31" /><Relationship Type="http://schemas.openxmlformats.org/officeDocument/2006/relationships/notesMaster" Target="/ppt/notesMasters/notesMaster1.xml" Id="Re4483e34148549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6fd6fc7c3d40a1" /><Relationship Type="http://schemas.openxmlformats.org/officeDocument/2006/relationships/notesMaster" Target="/ppt/notesMasters/notesMaster1.xml" Id="R10cf1692302148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b5f46fbbb54145" /><Relationship Type="http://schemas.openxmlformats.org/officeDocument/2006/relationships/notesMaster" Target="/ppt/notesMasters/notesMaster1.xml" Id="R466eb1dedcd145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68be6296814f99" /><Relationship Type="http://schemas.openxmlformats.org/officeDocument/2006/relationships/notesMaster" Target="/ppt/notesMasters/notesMaster1.xml" Id="R2cc2a850f3374a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ae0526c85e4753" /><Relationship Type="http://schemas.openxmlformats.org/officeDocument/2006/relationships/notesMaster" Target="/ppt/notesMasters/notesMaster1.xml" Id="Rfe1bf9114d484f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d6c7b099024560" /><Relationship Type="http://schemas.openxmlformats.org/officeDocument/2006/relationships/notesMaster" Target="/ppt/notesMasters/notesMaster1.xml" Id="Re5c1ac65f23c45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5e9d7bbda44eae" /><Relationship Type="http://schemas.openxmlformats.org/officeDocument/2006/relationships/notesMaster" Target="/ppt/notesMasters/notesMaster1.xml" Id="R305883db20854e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576ee130d046a2" /><Relationship Type="http://schemas.openxmlformats.org/officeDocument/2006/relationships/notesMaster" Target="/ppt/notesMasters/notesMaster1.xml" Id="R7255ee0e6ac448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a stock holder keep the stock exposure and sell the dividend rights. We are building a shared dividend market for tokenized stocks on Solana, with xStocks, Backpack and Ondo in the initial integration scope.</a:t>
            </a:r>
          </a:p>
          <a:p xmlns:a="http://schemas.openxmlformats.org/drawingml/2006/main">
            <a:r>
              <a:t>Presenter notes: The protocol is not launched. Current software is an approved interface and working historical calculator. Initial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Traditional finance already has both sides: banks sell dividend exposure to manage risk from structured products; asset managers such as Survista buy discounted dividend futures. DivX brings that choice to tokenized-stock holders: keep the stock exposure and sell the dividend rights.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program issues two paired claims: PT for the stock exposure and DR for the dividend-derived share. Each pair is backed by its own stock-token collateral and redeems in that token. Its dollar value can change.</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Eurex handled more than 21 million dividend contracts in 2024. Pendle reported 96.4 million dollars of average daily trading volume that year. Investors already trade dividends separately, and crypto users already separate yield. DivX connects those two ideas.</a:t>
            </a:r>
          </a:p>
          <a:p xmlns:a="http://schemas.openxmlformats.org/drawingml/2006/main">
            <a:r>
              <a:t>Presenter notes: Contracts and dollars are different measures. These figures establish precedents; they do not prove demand for DivX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Global dividends totaled 1.75 trillion dollars in 2024. RWA.xyz reported 2.92 billion dollars of tokenized-stock value on September 16, 2026. Our starting market is dividend-paying stock tokens on Solana, across issuers.</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assets from different issuers use the same vault design. Each issuer's dividend data feeds common allocation rules. One transaction deposits collateral and creates both claims. We enable each stock after verifying its dividend data and transfer requirements, while keeping each issuer's collateral separate.</a:t>
            </a:r>
          </a:p>
          <a:p xmlns:a="http://schemas.openxmlformats.org/drawingml/2006/main">
            <a:r>
              <a:t>Presenter notes: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shares, tokens without dividend rights, transfer-fee products and missing event data are not automatically enabled. xStocks has public event history; Backpack's event ledger remains missing; Ondo's keyed multiplier history still needs classified event joins.</a:t>
            </a:r>
          </a:p>
          <a:p xmlns:a="http://schemas.openxmlformats.org/drawingml/2006/main">
            <a:r>
              <a:t>Sources (accessed/observed 16 September 2026 unless stated): xStocks multipliers: https://docs.xstocks.fi/developers/multipliers | xStocks corporate actions: https://docs.xstocks.fi/apis/openapi/corporate-actions | Backpack MU: https://learn.backpack.exchange/blog/tokenized-micron-mu | Ondo corporate actions: https://docs.ondo.finance/ondo-stocks/corporate-actions | Ondo multiplier history API: https://docs.ondo.finance/api-reference/assets/get-shares-multiplier-history-for-an-asset | Ondo Solana repository: https://github.com/ondoprotocol/global-markets-solana | Galaxy registered shares: https://investor.galaxy.com/ir-resources/tokenized-glxy-shares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claims are divisible, so a holder can sell part of an entitlement and a buyer can take a smaller position. Onchain records let users inspect the vault balance, claims outstanding and redemption history. Other Solana applications can integrate the same claim interface.</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example uses Coca-Cola, ticker KO, represented on Solana as KOx. For 100 share-equivalents, the historical event separates about 8,935 dollars of stock exposure from 37 dollars and 10 cents of reinvested dividends, valued at the event-implied share price. The calculator makes that allocation inspectable today; vault execution comes next.</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across supported Solana stock tokens: deposit, split, sell the dividend, redeem each side separately. We build for xStocks, Backpack and Ondo now. Other networks come later, including Coinbase on Base and Robinhood Chain, with Solana as our home base for dividend liquidity.</a:t>
            </a:r>
          </a:p>
          <a:p xmlns:a="http://schemas.openxmlformats.org/drawingml/2006/main">
            <a:r>
              <a:t>Presenter notes: This is build scope and roadmap, not a claim of completed integration or partnership. Current observation covers real issuer/mint profiles; only KOx has the complete source-verified replay. Each additional asset requires dividend rights, usable event data, custody compatibility and transfer tests. Restricted, no-dividend, discontinued or fee-bearing products may remain ineligible. Coinbase collateral is on Base. The roadmap refers to Robinhood's new wallet-held Stock Tokens on Robinhood Chain, not legacy Classic tokens. Cross-chain custody, settlement and messaging remain future design work.</a:t>
            </a:r>
          </a:p>
          <a:p xmlns:a="http://schemas.openxmlformats.org/drawingml/2006/main">
            <a:r>
              <a:t>Sources (accessed/observed 16 September 2026 unless stated): xStocks: https://xstocks.fi/ | xStocks docs: https://docs.xstocks.fi/docs | Backpack MU: https://learn.backpack.exchange/blog/tokenized-micron-mu | Ondo corporate actions: https://docs.ondo.finance/ondo-stocks/corporate-actions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b5128fc45c4a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a8d78b5a1b4433" /><Relationship Type="http://schemas.openxmlformats.org/officeDocument/2006/relationships/slideLayout" Target="/ppt/slideLayouts/slideLayout1.xml" Id="Rd4f52a86530d4f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f52a86530d4f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c15e2f76004fcd" /><Relationship Type="http://schemas.openxmlformats.org/officeDocument/2006/relationships/notesSlide" Target="/ppt/notesSlides/notesSlide1.xml" Id="Rf1053c51356e44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a3bec76f0dc435a" /><Relationship Type="http://schemas.openxmlformats.org/officeDocument/2006/relationships/notesSlide" Target="/ppt/notesSlides/notesSlide2.xml" Id="Re69b44a39f224c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09a66c6fc445c0" /><Relationship Type="http://schemas.openxmlformats.org/officeDocument/2006/relationships/notesSlide" Target="/ppt/notesSlides/notesSlide3.xml" Id="Rfc1ea6cdb66347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9313118d1644d4" /><Relationship Type="http://schemas.openxmlformats.org/officeDocument/2006/relationships/notesSlide" Target="/ppt/notesSlides/notesSlide4.xml" Id="R6f370c8af56a4c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4a5bfc7ea24538" /><Relationship Type="http://schemas.openxmlformats.org/officeDocument/2006/relationships/notesSlide" Target="/ppt/notesSlides/notesSlide5.xml" Id="R02b6c02cfea24f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7be705e9359452f" /><Relationship Type="http://schemas.openxmlformats.org/officeDocument/2006/relationships/notesSlide" Target="/ppt/notesSlides/notesSlide6.xml" Id="Re0ec16942b0047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65149d84f949dd" /><Relationship Type="http://schemas.openxmlformats.org/officeDocument/2006/relationships/notesSlide" Target="/ppt/notesSlides/notesSlide7.xml" Id="R743908b8cc4744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e1c5c78ec74001" /><Relationship Type="http://schemas.openxmlformats.org/officeDocument/2006/relationships/image" Target="/ppt/media/image.png" Id="Rb9c77a84849b4327" /><Relationship Type="http://schemas.openxmlformats.org/officeDocument/2006/relationships/notesSlide" Target="/ppt/notesSlides/notesSlide8.xml" Id="R02ac78260dbe43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d82dd8f0f7d49c3" /><Relationship Type="http://schemas.openxmlformats.org/officeDocument/2006/relationships/notesSlide" Target="/ppt/notesSlides/notesSlide9.xml" Id="R268e2f50595e44a9"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8A405A-9AD5-4864-8C8C-ECEEEFEFA9E4}"/>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12DECA-A352-4391-AA71-A30D3D4B5CC1}"/>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4C120C6-81C0-480C-92B3-4A82E6D8FD23}"/>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8FC7CD37-2416-4A41-ABDD-4DEA97A21132}"/>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7730A50F-396B-4893-A972-761A629260E7}"/>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559782FD-CE85-4FE9-86C9-86B9495238EA}"/>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E158C775-1FAB-464B-92D6-AF5DD1D0DC14}"/>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5D98B8-9926-429F-B240-EFDD1BE2D12A}"/>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927544533"/>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F552018-18E7-4C8F-B49A-83788A014E2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A26BBF-DB7B-482A-A15A-F06893AEFE6B}"/>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96111AA-3793-4F98-BF76-EBA6FFFE9B1D}"/>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6EC457AD-B5EF-4F1A-A832-C0974F85804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1B632BF8-533B-40CF-ABF4-91F420729FC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D5781F7A-3D90-4B5C-A8FD-FC80CCF9C4FF}"/>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73D85B39-7554-40B9-A8B1-EA0D1C39FCFB}"/>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1E0F49F6-476B-459B-864E-98BB36C7A3E8}"/>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C001B553-6321-4274-A68E-7E5DB4BD38AD}"/>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3CD96626-FC4E-43F1-ADB5-D58C75CCEEC9}"/>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F006F5A4-B1D7-4E09-92FE-C81E53169D88}"/>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FC9AD8FC-0C19-4094-ADDB-63A588B67098}"/>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88FD0E7B-EBB5-4843-B471-6EF3EFD71D33}"/>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0674026-7C79-4A3B-AC0C-D7E250D72AD2}"/>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DIVX FLOW</a:t>
            </a:r>
          </a:p>
        </p:txBody>
      </p:sp>
      <p:sp>
        <p:nvSpPr>
          <p:cNvPr id="15" name="Stock holder">
            <a:extLst xmlns:a="http://schemas.openxmlformats.org/drawingml/2006/main">
              <a:ext uri="{FF2B5EF4-FFF2-40B4-BE49-F238E27FC236}">
                <a16:creationId xmlns:a16="http://schemas.microsoft.com/office/drawing/2014/main" id="{3C2A81A7-67FF-4B82-8E47-1E7DD409C94C}"/>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72DCFB3C-CCB9-404A-82DE-0AF8399D6E8D}"/>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28E6F794-D903-4147-A1B9-59EA2B506DA9}"/>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AA612B91-C63A-4A35-80C7-028FE74C9DDA}"/>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0EB32329-C5AB-410D-BC8B-F2C92F6ED012}"/>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E13AFD48-44A6-4959-967E-B025D1AD7008}"/>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45BA1C8F-7435-464F-86DC-B7CEAD0175D2}"/>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3E376421-A625-4FE1-BD3F-50712BF2BC04}"/>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811C3773-E6B3-4117-96F3-6E0121ADF983}"/>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6AAF3CE-E418-497A-BFB1-D950B729BBC7}"/>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D96382F9-EB06-4858-B7B1-5D3A399BD930}"/>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222543279"/>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238A318-599A-47E6-9B32-F83D6758C71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CA14F3-0C6E-4184-B51B-C710D42569CA}"/>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B6D98FC-4D31-4D35-9B6D-79DFC62377A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BD478AAA-D23A-475D-A47E-5E3C163DF67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D0E39D48-5478-4703-94E7-0311B98AFF3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Stock token">
            <a:extLst xmlns:a="http://schemas.openxmlformats.org/drawingml/2006/main">
              <a:ext uri="{FF2B5EF4-FFF2-40B4-BE49-F238E27FC236}">
                <a16:creationId xmlns:a16="http://schemas.microsoft.com/office/drawing/2014/main" id="{AEFAAE61-1F10-4E84-8C32-0B2E4A4465FD}"/>
              </a:ext>
            </a:extLst>
          </p:cNvPr>
          <p:cNvSpPr>
            <a:spLocks xmlns:a="http://schemas.openxmlformats.org/drawingml/2006/main" noGrp="1"/>
          </p:cNvSpPr>
          <p:nvPr/>
        </p:nvSpPr>
        <p:spPr>
          <a:xfrm xmlns:a="http://schemas.openxmlformats.org/drawingml/2006/main">
            <a:off x="742950" y="2705100"/>
            <a:ext cx="18097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84F4CE1A-1803-4161-B40E-F5C3B1CA5393}"/>
              </a:ext>
            </a:extLst>
          </p:cNvPr>
          <p:cNvSpPr>
            <a:spLocks xmlns:a="http://schemas.openxmlformats.org/drawingml/2006/main" noGrp="1"/>
          </p:cNvSpPr>
          <p:nvPr/>
        </p:nvSpPr>
        <p:spPr>
          <a:xfrm xmlns:a="http://schemas.openxmlformats.org/drawingml/2006/main">
            <a:off x="914400" y="2924175"/>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Stock token</a:t>
            </a:r>
          </a:p>
        </p:txBody>
      </p:sp>
      <p:sp>
        <p:nvSpPr>
          <p:cNvPr id="8" name="Vault">
            <a:extLst xmlns:a="http://schemas.openxmlformats.org/drawingml/2006/main">
              <a:ext uri="{FF2B5EF4-FFF2-40B4-BE49-F238E27FC236}">
                <a16:creationId xmlns:a16="http://schemas.microsoft.com/office/drawing/2014/main" id="{15900CD3-9A15-49A5-8710-03CBE2A0D8E8}"/>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5E12B5A0-3805-430D-80AB-5A880E9381E6}"/>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4565FC58-7EFC-48CD-B6E4-1118CA23547A}"/>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10000189-9C54-467A-9652-7E05EEA8E665}"/>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CB82CAF0-7EFF-47CA-9ECB-D6433E603481}"/>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5768A09D-9F50-4EA9-8FAE-D654BDE5E7E7}"/>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21F66524-AC79-49C7-A0EF-328BB8293C6F}"/>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BEF21FA4-9039-42A5-A218-38B4F4252DFE}"/>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FF9D7B92-42CF-45F5-8D2A-1CBCE8C8C4A5}"/>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089D447E-3627-4A6F-87A2-AC09D5AD0AC3}"/>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9B2A24D0-505B-4BBD-BEAC-46681BE327F9}"/>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552700" y="3181350"/>
            <a:ext cx="11239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308710A3-BA86-49C6-B333-56EC003A474C}"/>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3" name="">
            <a:extLst xmlns:a="http://schemas.openxmlformats.org/drawingml/2006/main">
              <a:ext uri="{FF2B5EF4-FFF2-40B4-BE49-F238E27FC236}">
                <a16:creationId xmlns:a16="http://schemas.microsoft.com/office/drawing/2014/main" id="{128FD55E-1ECB-45E7-8FD8-E2EAFB0EF4CF}"/>
              </a:ext>
            </a:extLst>
          </p:cNvPr>
          <p:cNvSpPr>
            <a:spLocks xmlns:a="http://schemas.openxmlformats.org/drawingml/2006/main" noGrp="1"/>
          </p:cNvSpPr>
          <p:nvPr/>
        </p:nvSpPr>
        <p:spPr>
          <a:xfrm xmlns:a="http://schemas.openxmlformats.org/drawingml/2006/main">
            <a:off x="742950" y="5962650"/>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4" name="">
            <a:extLst xmlns:a="http://schemas.openxmlformats.org/drawingml/2006/main">
              <a:ext uri="{FF2B5EF4-FFF2-40B4-BE49-F238E27FC236}">
                <a16:creationId xmlns:a16="http://schemas.microsoft.com/office/drawing/2014/main" id="{44083690-312D-4AD5-B1DC-4A5D5DBD42F4}"/>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753895846"/>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DCCD6F6-F60C-49DE-A969-C1A7EB283FE0}"/>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072E37-07A5-4BB7-BF47-0FCCA0A24C9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DE6AA5F-02B8-42E0-8F3F-5CB63E229645}"/>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69AB4E03-94F6-4607-951C-511EB7D8806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5734EBA7-912E-4F1C-A83B-F5D3B924024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FAA7612D-F457-4D57-93FB-21E25B0BC084}"/>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3C76C25B-A180-4B5E-9AC0-D4A56B90085A}"/>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9BCCCD6F-874D-4E45-9011-7F5BEC61FDF0}"/>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3A746D28-BA95-490C-817A-04D20BE1D106}"/>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6E2B9B1-3E8B-4169-8ABF-5E81A9A8EC14}"/>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975FE160-B5E7-47AC-8A0C-366BD31F66B9}"/>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0561E436-3C60-4AFC-8E83-BB3B4F01F6D4}"/>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9EA39CA0-E59F-40E0-A2AF-89C033E567A9}"/>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9566170C-8B89-4B3A-84B7-0E15D4C77072}"/>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736322700"/>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CA0C521-5B3B-4F86-9DF2-452D89C8328F}"/>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2E3BFD-07C1-4176-A594-05B520DBC55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7A85F96-12D7-4B42-B45D-526530B3FC7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E77DDEFF-1B6B-41DC-9A36-CE0F753292A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B7DF7E69-4819-4B81-9A24-C4CE8422F9E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76740492-3DD3-4A25-BC92-6861542FDE84}"/>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60C1B71E-8E19-4C97-8094-2706C3A6665A}"/>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1B329A2B-E04E-4CAB-9B39-8206694FAB9A}"/>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AB66C9E9-A15C-4671-9B3A-37E4441091A7}"/>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732121F-2842-48FF-B952-52314CA1C4A9}"/>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0059C112-64B4-4284-B182-F2827E30653B}"/>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E82046B5-C82F-4A67-8067-6C85F19C11A6}"/>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317CA743-01A8-4960-9034-7161E92C85A3}"/>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1950D8E-E985-4455-9C60-380E6D634B33}"/>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B9E90A5D-407D-4BDD-A581-09A9B39851EB}"/>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stock tokens on Solana</a:t>
            </a:r>
          </a:p>
        </p:txBody>
      </p:sp>
      <p:sp>
        <p:nvSpPr>
          <p:cNvPr id="16" name="">
            <a:extLst xmlns:a="http://schemas.openxmlformats.org/drawingml/2006/main">
              <a:ext uri="{FF2B5EF4-FFF2-40B4-BE49-F238E27FC236}">
                <a16:creationId xmlns:a16="http://schemas.microsoft.com/office/drawing/2014/main" id="{CB113163-4F71-454F-BA95-E7C8B394838F}"/>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A3E9FB8F-91C1-4E4A-8949-22E8AD8EAB06}"/>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807700215"/>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E1036B4-04A6-4EC4-AC51-5AC521225123}"/>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DDF7E9-16DA-4EBF-A2EB-8E113234D4E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4225798-8CAA-4017-88C5-9F1A6FF3B9F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251532F4-EF59-4C27-A47E-20DDF21A26C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0C748926-2F40-4529-A0EF-90F6DFDA4AD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BC577D64-07CD-4294-91F5-572FAEB569D9}"/>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7C704F3B-9CCD-4BFD-88E8-5DBC4967C5FE}"/>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01E714A9-17D3-4748-A7C3-07B138F9D21A}"/>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9FD0A0C4-257D-4470-8EA9-6492815D1D61}"/>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9FD48B-7657-46F6-89CA-4F282C4D1BA0}"/>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F1AEB74E-7048-4239-9ED6-C76DF25CB7CF}"/>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1CED74CE-1E1D-4F71-A610-FDAB8713851F}"/>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Deposit collateral and issue both claims together.</a:t>
            </a:r>
          </a:p>
        </p:txBody>
      </p:sp>
      <p:sp>
        <p:nvSpPr>
          <p:cNvPr id="13" name="">
            <a:extLst xmlns:a="http://schemas.openxmlformats.org/drawingml/2006/main">
              <a:ext uri="{FF2B5EF4-FFF2-40B4-BE49-F238E27FC236}">
                <a16:creationId xmlns:a16="http://schemas.microsoft.com/office/drawing/2014/main" id="{1809ADA6-91A9-4AD3-BD11-1C81CA31C854}"/>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E7F0B40-D47A-4101-AE1E-8BED7DBFE03E}"/>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6F5EE60F-6661-4A84-AAB1-1703D84ED694}"/>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C0B28751-0217-488A-8476-5B24C5C6BE7F}"/>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B44F105C-CA9B-4635-81C7-D688D7FBC365}"/>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7FD350A-CCED-486E-BCC1-F729B8357E88}"/>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Each stock needs verified dividend data and transfer compatibility.</a:t>
            </a:r>
          </a:p>
        </p:txBody>
      </p:sp>
    </p:spTree>
    <p:extLst>
      <p:ext uri="{BB962C8B-B14F-4D97-AF65-F5344CB8AC3E}">
        <p14:creationId xmlns:p14="http://schemas.microsoft.com/office/powerpoint/2010/main" val="255290288"/>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436D21A-4B6B-453D-994D-378F433BC42F}"/>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3968AF-A1CC-4935-BF2E-1B3DD942C966}"/>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2DA421E-9051-447E-A545-54FB5BB31DE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84032135-76B5-4877-A847-937AE15FC091}"/>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D99C5E62-CEEE-402F-8940-56B8088C3C2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AF282439-576B-4863-8D3C-09CD52DB7482}"/>
              </a:ext>
            </a:extLst>
          </p:cNvPr>
          <p:cNvSpPr>
            <a:spLocks xmlns:a="http://schemas.openxmlformats.org/drawingml/2006/main" noGrp="1"/>
          </p:cNvSpPr>
          <p:nvPr/>
        </p:nvSpPr>
        <p:spPr>
          <a:xfrm xmlns:a="http://schemas.openxmlformats.org/drawingml/2006/main">
            <a:off x="762000" y="18859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7" name="">
            <a:extLst xmlns:a="http://schemas.openxmlformats.org/drawingml/2006/main">
              <a:ext uri="{FF2B5EF4-FFF2-40B4-BE49-F238E27FC236}">
                <a16:creationId xmlns:a16="http://schemas.microsoft.com/office/drawing/2014/main" id="{46FE562C-D1D8-4F53-859F-799EEE221258}"/>
              </a:ext>
            </a:extLst>
          </p:cNvPr>
          <p:cNvSpPr>
            <a:spLocks xmlns:a="http://schemas.openxmlformats.org/drawingml/2006/main" noGrp="1"/>
          </p:cNvSpPr>
          <p:nvPr/>
        </p:nvSpPr>
        <p:spPr>
          <a:xfrm xmlns:a="http://schemas.openxmlformats.org/drawingml/2006/main">
            <a:off x="762000" y="222885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Buy or sell part of a dividend claim.</a:t>
            </a:r>
          </a:p>
        </p:txBody>
      </p:sp>
      <p:sp>
        <p:nvSpPr>
          <p:cNvPr id="8" name="Dividend claim">
            <a:extLst xmlns:a="http://schemas.openxmlformats.org/drawingml/2006/main">
              <a:ext uri="{FF2B5EF4-FFF2-40B4-BE49-F238E27FC236}">
                <a16:creationId xmlns:a16="http://schemas.microsoft.com/office/drawing/2014/main" id="{2DB1E397-E3C8-4731-AE56-C710AC0E3534}"/>
              </a:ext>
            </a:extLst>
          </p:cNvPr>
          <p:cNvSpPr>
            <a:spLocks xmlns:a="http://schemas.openxmlformats.org/drawingml/2006/main" noGrp="1"/>
          </p:cNvSpPr>
          <p:nvPr/>
        </p:nvSpPr>
        <p:spPr>
          <a:xfrm xmlns:a="http://schemas.openxmlformats.org/drawingml/2006/main">
            <a:off x="762000" y="3276600"/>
            <a:ext cx="4381500" cy="457200"/>
          </a:xfrm>
          <a:prstGeom xmlns:a="http://schemas.openxmlformats.org/drawingml/2006/main" prst="roundRect">
            <a:avLst>
              <a:gd name="adj" fmla="val 20833"/>
            </a:avLst>
          </a:prstGeom>
          <a:solidFill xmlns:a="http://schemas.openxmlformats.org/drawingml/2006/main">
            <a:srgbClr val="F8E8D4"/>
          </a:solidFill>
          <a:ln xmlns:a="http://schemas.openxmlformats.org/drawingml/2006/main" w="9525">
            <a:solidFill>
              <a:srgbClr val="C46A00"/>
            </a:solidFill>
            <a:prstDash val="solid"/>
          </a:ln>
        </p:spPr>
      </p:sp>
      <p:sp>
        <p:nvSpPr>
          <p:cNvPr id="9" name="">
            <a:extLst xmlns:a="http://schemas.openxmlformats.org/drawingml/2006/main">
              <a:ext uri="{FF2B5EF4-FFF2-40B4-BE49-F238E27FC236}">
                <a16:creationId xmlns:a16="http://schemas.microsoft.com/office/drawing/2014/main" id="{DA198D8E-A99E-4710-986A-E3CCD3AE3047}"/>
              </a:ext>
            </a:extLst>
          </p:cNvPr>
          <p:cNvSpPr>
            <a:spLocks xmlns:a="http://schemas.openxmlformats.org/drawingml/2006/main" noGrp="1"/>
          </p:cNvSpPr>
          <p:nvPr/>
        </p:nvSpPr>
        <p:spPr>
          <a:xfrm xmlns:a="http://schemas.openxmlformats.org/drawingml/2006/main">
            <a:off x="933450" y="340995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0" name="Holder part">
            <a:extLst xmlns:a="http://schemas.openxmlformats.org/drawingml/2006/main">
              <a:ext uri="{FF2B5EF4-FFF2-40B4-BE49-F238E27FC236}">
                <a16:creationId xmlns:a16="http://schemas.microsoft.com/office/drawing/2014/main" id="{7D5FD681-45C0-42D3-8973-E83305C7A0E9}"/>
              </a:ext>
            </a:extLst>
          </p:cNvPr>
          <p:cNvSpPr>
            <a:spLocks xmlns:a="http://schemas.openxmlformats.org/drawingml/2006/main" noGrp="1"/>
          </p:cNvSpPr>
          <p:nvPr/>
        </p:nvSpPr>
        <p:spPr>
          <a:xfrm xmlns:a="http://schemas.openxmlformats.org/drawingml/2006/main">
            <a:off x="762000" y="4019550"/>
            <a:ext cx="1476375" cy="628650"/>
          </a:xfrm>
          <a:prstGeom xmlns:a="http://schemas.openxmlformats.org/drawingml/2006/main" prst="roundRect">
            <a:avLst>
              <a:gd name="adj" fmla="val 15152"/>
            </a:avLst>
          </a:prstGeom>
          <a:solidFill xmlns:a="http://schemas.openxmlformats.org/drawingml/2006/main">
            <a:srgbClr val="FFFEFB"/>
          </a:solidFill>
          <a:ln xmlns:a="http://schemas.openxmlformats.org/drawingml/2006/main" w="9525">
            <a:solidFill>
              <a:srgbClr val="C46A00"/>
            </a:solidFill>
            <a:prstDash val="solid"/>
          </a:ln>
        </p:spPr>
      </p:sp>
      <p:sp>
        <p:nvSpPr>
          <p:cNvPr id="11" name="">
            <a:extLst xmlns:a="http://schemas.openxmlformats.org/drawingml/2006/main">
              <a:ext uri="{FF2B5EF4-FFF2-40B4-BE49-F238E27FC236}">
                <a16:creationId xmlns:a16="http://schemas.microsoft.com/office/drawing/2014/main" id="{6B5429C9-BE79-4D26-8B13-2ACCDC5426E6}"/>
              </a:ext>
            </a:extLst>
          </p:cNvPr>
          <p:cNvSpPr>
            <a:spLocks xmlns:a="http://schemas.openxmlformats.org/drawingml/2006/main" noGrp="1"/>
          </p:cNvSpPr>
          <p:nvPr/>
        </p:nvSpPr>
        <p:spPr>
          <a:xfrm xmlns:a="http://schemas.openxmlformats.org/drawingml/2006/main">
            <a:off x="914400" y="4210050"/>
            <a:ext cx="1171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holder keeps</a:t>
            </a:r>
          </a:p>
        </p:txBody>
      </p:sp>
      <p:sp>
        <p:nvSpPr>
          <p:cNvPr id="12" name="Buyer part">
            <a:extLst xmlns:a="http://schemas.openxmlformats.org/drawingml/2006/main">
              <a:ext uri="{FF2B5EF4-FFF2-40B4-BE49-F238E27FC236}">
                <a16:creationId xmlns:a16="http://schemas.microsoft.com/office/drawing/2014/main" id="{FFEE3D75-C1A8-4B95-ACD5-ABF685C8BFC6}"/>
              </a:ext>
            </a:extLst>
          </p:cNvPr>
          <p:cNvSpPr>
            <a:spLocks xmlns:a="http://schemas.openxmlformats.org/drawingml/2006/main" noGrp="1"/>
          </p:cNvSpPr>
          <p:nvPr/>
        </p:nvSpPr>
        <p:spPr>
          <a:xfrm xmlns:a="http://schemas.openxmlformats.org/drawingml/2006/main">
            <a:off x="2505075" y="4019550"/>
            <a:ext cx="2638425" cy="628650"/>
          </a:xfrm>
          <a:prstGeom xmlns:a="http://schemas.openxmlformats.org/drawingml/2006/main" prst="roundRect">
            <a:avLst>
              <a:gd name="adj" fmla="val 15152"/>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0CF87897-9A88-4678-86C2-BA35A41139F6}"/>
              </a:ext>
            </a:extLst>
          </p:cNvPr>
          <p:cNvSpPr>
            <a:spLocks xmlns:a="http://schemas.openxmlformats.org/drawingml/2006/main" noGrp="1"/>
          </p:cNvSpPr>
          <p:nvPr/>
        </p:nvSpPr>
        <p:spPr>
          <a:xfrm xmlns:a="http://schemas.openxmlformats.org/drawingml/2006/main">
            <a:off x="2676525" y="4210050"/>
            <a:ext cx="2295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buyer takes part</a:t>
            </a:r>
          </a:p>
        </p:txBody>
      </p:sp>
      <p:cxnSp>
        <p:nvCxnSpPr>
          <p:cNvPr id="42" name=""/>
          <p:cNvCxnSpPr>
            <a:stCxn xmlns:a="http://schemas.openxmlformats.org/drawingml/2006/main" id="8" idx="2"/>
            <a:endCxn xmlns:a="http://schemas.openxmlformats.org/drawingml/2006/main" id="10" idx="0"/>
          </p:cNvCxnSpPr>
          <p:nvPr/>
        </p:nvCxnSpPr>
        <p:spPr>
          <a:xfrm xmlns:a="http://schemas.openxmlformats.org/drawingml/2006/main" flipH="1">
            <a:off x="1500188" y="3733800"/>
            <a:ext cx="1452563"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3" name=""/>
          <p:cNvCxnSpPr>
            <a:stCxn xmlns:a="http://schemas.openxmlformats.org/drawingml/2006/main" id="8" idx="2"/>
            <a:endCxn xmlns:a="http://schemas.openxmlformats.org/drawingml/2006/main" id="12" idx="0"/>
          </p:cNvCxnSpPr>
          <p:nvPr/>
        </p:nvCxnSpPr>
        <p:spPr>
          <a:xfrm xmlns:a="http://schemas.openxmlformats.org/drawingml/2006/main">
            <a:off x="2952750" y="3733800"/>
            <a:ext cx="871538"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6" name="">
            <a:extLst xmlns:a="http://schemas.openxmlformats.org/drawingml/2006/main">
              <a:ext uri="{FF2B5EF4-FFF2-40B4-BE49-F238E27FC236}">
                <a16:creationId xmlns:a16="http://schemas.microsoft.com/office/drawing/2014/main" id="{E50D5D49-D152-4285-8D59-6DA3BEFCBA51}"/>
              </a:ext>
            </a:extLst>
          </p:cNvPr>
          <p:cNvSpPr>
            <a:spLocks xmlns:a="http://schemas.openxmlformats.org/drawingml/2006/main" noGrp="1"/>
          </p:cNvSpPr>
          <p:nvPr/>
        </p:nvSpPr>
        <p:spPr>
          <a:xfrm xmlns:a="http://schemas.openxmlformats.org/drawingml/2006/main">
            <a:off x="59436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37DB446-DA06-4785-ADAD-CA4A04AD474A}"/>
              </a:ext>
            </a:extLst>
          </p:cNvPr>
          <p:cNvSpPr>
            <a:spLocks xmlns:a="http://schemas.openxmlformats.org/drawingml/2006/main" noGrp="1"/>
          </p:cNvSpPr>
          <p:nvPr/>
        </p:nvSpPr>
        <p:spPr>
          <a:xfrm xmlns:a="http://schemas.openxmlformats.org/drawingml/2006/main">
            <a:off x="6572250" y="188595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8" name="">
            <a:extLst xmlns:a="http://schemas.openxmlformats.org/drawingml/2006/main">
              <a:ext uri="{FF2B5EF4-FFF2-40B4-BE49-F238E27FC236}">
                <a16:creationId xmlns:a16="http://schemas.microsoft.com/office/drawing/2014/main" id="{D9194488-8C68-4556-A943-3F8955275F63}"/>
              </a:ext>
            </a:extLst>
          </p:cNvPr>
          <p:cNvSpPr>
            <a:spLocks xmlns:a="http://schemas.openxmlformats.org/drawingml/2006/main" noGrp="1"/>
          </p:cNvSpPr>
          <p:nvPr/>
        </p:nvSpPr>
        <p:spPr>
          <a:xfrm xmlns:a="http://schemas.openxmlformats.org/drawingml/2006/main">
            <a:off x="6572250" y="22288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Inspect the onchain record.</a:t>
            </a:r>
          </a:p>
        </p:txBody>
      </p:sp>
      <p:sp>
        <p:nvSpPr>
          <p:cNvPr id="19" name="">
            <a:extLst xmlns:a="http://schemas.openxmlformats.org/drawingml/2006/main">
              <a:ext uri="{FF2B5EF4-FFF2-40B4-BE49-F238E27FC236}">
                <a16:creationId xmlns:a16="http://schemas.microsoft.com/office/drawing/2014/main" id="{6E6BBDDA-3331-4829-8AE6-54BD31C12235}"/>
              </a:ext>
            </a:extLst>
          </p:cNvPr>
          <p:cNvSpPr>
            <a:spLocks xmlns:a="http://schemas.openxmlformats.org/drawingml/2006/main" noGrp="1"/>
          </p:cNvSpPr>
          <p:nvPr/>
        </p:nvSpPr>
        <p:spPr>
          <a:xfrm xmlns:a="http://schemas.openxmlformats.org/drawingml/2006/main">
            <a:off x="6572250" y="31623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5AB439E0-F469-4388-B0EF-9868D011F1F8}"/>
              </a:ext>
            </a:extLst>
          </p:cNvPr>
          <p:cNvSpPr>
            <a:spLocks xmlns:a="http://schemas.openxmlformats.org/drawingml/2006/main" noGrp="1"/>
          </p:cNvSpPr>
          <p:nvPr/>
        </p:nvSpPr>
        <p:spPr>
          <a:xfrm xmlns:a="http://schemas.openxmlformats.org/drawingml/2006/main">
            <a:off x="7200900" y="3143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2457F5"/>
                </a:solidFill>
                <a:latin typeface="Helvetica Neue"/>
                <a:ea typeface="Helvetica Neue"/>
                <a:cs typeface="Helvetica Neue"/>
              </a:defRPr>
            </a:pPr>
            <a:r>
              <a:rPr sz="1650" b="1">
                <a:solidFill>
                  <a:srgbClr val="2457F5"/>
                </a:solidFill>
                <a:latin typeface="Helvetica Neue"/>
                <a:ea typeface="Helvetica Neue"/>
                <a:cs typeface="Helvetica Neue"/>
              </a:rPr>
              <a:t>Vault balance</a:t>
            </a:r>
          </a:p>
        </p:txBody>
      </p:sp>
      <p:sp>
        <p:nvSpPr>
          <p:cNvPr id="21" name="">
            <a:extLst xmlns:a="http://schemas.openxmlformats.org/drawingml/2006/main">
              <a:ext uri="{FF2B5EF4-FFF2-40B4-BE49-F238E27FC236}">
                <a16:creationId xmlns:a16="http://schemas.microsoft.com/office/drawing/2014/main" id="{D509B623-B347-47F4-BF2E-F8E7ACF21F0D}"/>
              </a:ext>
            </a:extLst>
          </p:cNvPr>
          <p:cNvSpPr>
            <a:spLocks xmlns:a="http://schemas.openxmlformats.org/drawingml/2006/main" noGrp="1"/>
          </p:cNvSpPr>
          <p:nvPr/>
        </p:nvSpPr>
        <p:spPr>
          <a:xfrm xmlns:a="http://schemas.openxmlformats.org/drawingml/2006/main">
            <a:off x="6572250" y="35623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B4CF78F-99E5-4613-A137-818510F49531}"/>
              </a:ext>
            </a:extLst>
          </p:cNvPr>
          <p:cNvSpPr>
            <a:spLocks xmlns:a="http://schemas.openxmlformats.org/drawingml/2006/main" noGrp="1"/>
          </p:cNvSpPr>
          <p:nvPr/>
        </p:nvSpPr>
        <p:spPr>
          <a:xfrm xmlns:a="http://schemas.openxmlformats.org/drawingml/2006/main">
            <a:off x="6572250" y="3848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C7F7438D-A7CC-4CE0-B3D8-BDB4C8DD7616}"/>
              </a:ext>
            </a:extLst>
          </p:cNvPr>
          <p:cNvSpPr>
            <a:spLocks xmlns:a="http://schemas.openxmlformats.org/drawingml/2006/main" noGrp="1"/>
          </p:cNvSpPr>
          <p:nvPr/>
        </p:nvSpPr>
        <p:spPr>
          <a:xfrm xmlns:a="http://schemas.openxmlformats.org/drawingml/2006/main">
            <a:off x="7200900" y="38290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Claims outstanding</a:t>
            </a:r>
          </a:p>
        </p:txBody>
      </p:sp>
      <p:sp>
        <p:nvSpPr>
          <p:cNvPr id="24" name="">
            <a:extLst xmlns:a="http://schemas.openxmlformats.org/drawingml/2006/main">
              <a:ext uri="{FF2B5EF4-FFF2-40B4-BE49-F238E27FC236}">
                <a16:creationId xmlns:a16="http://schemas.microsoft.com/office/drawing/2014/main" id="{6115D280-8835-4120-B7E5-57855220562E}"/>
              </a:ext>
            </a:extLst>
          </p:cNvPr>
          <p:cNvSpPr>
            <a:spLocks xmlns:a="http://schemas.openxmlformats.org/drawingml/2006/main" noGrp="1"/>
          </p:cNvSpPr>
          <p:nvPr/>
        </p:nvSpPr>
        <p:spPr>
          <a:xfrm xmlns:a="http://schemas.openxmlformats.org/drawingml/2006/main">
            <a:off x="6572250" y="42481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AF7904F-89DA-4AA0-B9E8-D0F2A5572DC9}"/>
              </a:ext>
            </a:extLst>
          </p:cNvPr>
          <p:cNvSpPr>
            <a:spLocks xmlns:a="http://schemas.openxmlformats.org/drawingml/2006/main" noGrp="1"/>
          </p:cNvSpPr>
          <p:nvPr/>
        </p:nvSpPr>
        <p:spPr>
          <a:xfrm xmlns:a="http://schemas.openxmlformats.org/drawingml/2006/main">
            <a:off x="6572250" y="4533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8D1F8E47-7606-4214-99E0-DAD6E41B4072}"/>
              </a:ext>
            </a:extLst>
          </p:cNvPr>
          <p:cNvSpPr>
            <a:spLocks xmlns:a="http://schemas.openxmlformats.org/drawingml/2006/main" noGrp="1"/>
          </p:cNvSpPr>
          <p:nvPr/>
        </p:nvSpPr>
        <p:spPr>
          <a:xfrm xmlns:a="http://schemas.openxmlformats.org/drawingml/2006/main">
            <a:off x="7200900" y="45148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Redemption history</a:t>
            </a:r>
          </a:p>
        </p:txBody>
      </p:sp>
      <p:sp>
        <p:nvSpPr>
          <p:cNvPr id="27" name="">
            <a:extLst xmlns:a="http://schemas.openxmlformats.org/drawingml/2006/main">
              <a:ext uri="{FF2B5EF4-FFF2-40B4-BE49-F238E27FC236}">
                <a16:creationId xmlns:a16="http://schemas.microsoft.com/office/drawing/2014/main" id="{55B0E405-C46B-4A36-B225-A3190A398C6A}"/>
              </a:ext>
            </a:extLst>
          </p:cNvPr>
          <p:cNvSpPr>
            <a:spLocks xmlns:a="http://schemas.openxmlformats.org/drawingml/2006/main" noGrp="1"/>
          </p:cNvSpPr>
          <p:nvPr/>
        </p:nvSpPr>
        <p:spPr>
          <a:xfrm xmlns:a="http://schemas.openxmlformats.org/drawingml/2006/main">
            <a:off x="6572250" y="49339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183E588-BEEA-43FB-A79D-2018CCF2E97B}"/>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1635344572"/>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3E0D970-6856-4230-B6E5-51F35CE02E11}"/>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5B52F36-1F89-4948-9044-263E200356A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E2BA8E3-8DED-4FA7-864B-6BAF179DCFD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3FE80FE0-5D64-452D-B829-0043C656A129}"/>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C7516B66-9BF3-4FFB-B335-DF8DF98CA3D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9c77a84849b4327"/>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8BBC277E-BEE0-4E94-980C-A24BC7C0752F}"/>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F8BC72E5-00D8-4E83-AFEC-8A8F2A1942A9}"/>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D8E435D9-D747-4929-9D9F-B879519A6821}"/>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9C9E12CC-FF1D-49AC-84DB-70198B40A2EF}"/>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1ED83838-3C2E-4B3D-8BEC-80B751BFE585}"/>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F182F78E-EFB2-4390-BA42-45008B3D7D61}"/>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1DDAD688-49BC-4CF8-B80D-103ECFA8CD8F}"/>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5ADAAAB6-70CE-43DC-A011-B8E0A6467B82}"/>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E721A6AF-E6A9-4BF4-A70B-1543014782F3}"/>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A7E8800-E845-49F0-851D-680ACAF21883}"/>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FB1DA2EB-9C7F-496C-A2AA-B4ACB87FC4E6}"/>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30C25D1-CEFA-400A-A719-02F22F58BCA8}"/>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418653933"/>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7779FC7-3D77-4909-87A6-5BA0D89EAFB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7B1206-9860-470E-A3F3-F8F14B28E98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3B29D47-E891-4AED-9A23-3BB35693038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25C8688E-DB96-4DFA-BD07-5CC168DB702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B50CF0EF-D4BF-4C75-A6EA-4238BD348B10}"/>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9EB8AAFB-4493-48A8-BC8B-5FCB01A46333}"/>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CC6964FE-4962-4CD8-8FAD-963669DC40ED}"/>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602F415B-2E8D-4000-A1A5-D849933D6804}"/>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3A793FC0-E2C1-4F26-8448-CBB6A420F38D}"/>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142CDAA9-7143-476F-89D3-2C188FA1B9B1}"/>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5C5D9FFD-7769-4416-932D-E77C17BD9E9E}"/>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973682CA-C20C-4A96-B6F7-B60DDF305DFF}"/>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1FBF72F8-2048-45E0-86FE-C9AE7EBCF6CC}"/>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B31298AE-D0A5-4989-8F32-41C2DA0052D7}"/>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639E0323-810F-4321-A23D-D867E660445C}"/>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96DE35AA-9410-4945-94CC-368BBB4B5EBC}"/>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CB9E596-E6B1-4284-9EE0-C88DED329001}"/>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61734F95-4B4E-4D4D-91C5-0FD958F267B6}"/>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D2308DB1-9BB9-405A-BE08-95F8B9F51FD3}"/>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66697BFD-C76A-49E8-A40E-B5E0E2DB299A}"/>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2EE0495-455C-4E57-8A16-E12F76B53281}"/>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12197561-1D58-4A94-978D-9E66A77099E9}"/>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More eligible Solana stocks</a:t>
            </a:r>
          </a:p>
        </p:txBody>
      </p:sp>
      <p:sp>
        <p:nvSpPr>
          <p:cNvPr id="26" name="">
            <a:extLst xmlns:a="http://schemas.openxmlformats.org/drawingml/2006/main">
              <a:ext uri="{FF2B5EF4-FFF2-40B4-BE49-F238E27FC236}">
                <a16:creationId xmlns:a16="http://schemas.microsoft.com/office/drawing/2014/main" id="{E98B6204-553F-4AA6-A99D-54F796872846}"/>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Additional assets after dividend and custody checks</a:t>
            </a:r>
          </a:p>
        </p:txBody>
      </p:sp>
      <p:sp>
        <p:nvSpPr>
          <p:cNvPr id="27" name="">
            <a:extLst xmlns:a="http://schemas.openxmlformats.org/drawingml/2006/main">
              <a:ext uri="{FF2B5EF4-FFF2-40B4-BE49-F238E27FC236}">
                <a16:creationId xmlns:a16="http://schemas.microsoft.com/office/drawing/2014/main" id="{EDCD1889-E7D9-442C-B502-087AD569C537}"/>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22DE4CC-FB5F-4622-A557-7124DD342776}"/>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D41E82F5-3720-4649-844F-D4D5821EC889}"/>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0DEFF13C-6B64-42B0-9E0A-01C23D9C5ECB}"/>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F8230A83-6546-4104-91E8-D6878F3BEDB6}"/>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743830187"/>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2026-09-16T05:57:26.1160000Z</dcterms:created>
  <dcterms:modified xsi:type="dcterms:W3CDTF">2026-09-16T05:57:26.1160000Z</dcterms:modified>
</coreProperties>
</file>