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3529143d6cc494f" /><Relationship Type="http://schemas.openxmlformats.org/officeDocument/2006/relationships/extended-properties" Target="/docProps/app.xml" Id="R235ccf08196a41c3" /><Relationship Type="http://schemas.openxmlformats.org/officeDocument/2006/relationships/officeDocument" Target="/ppt/presentation.xml" Id="R253128f8da164d05" /></Relationships>
</file>

<file path=ppt/presentation.xml><?xml version="1.0" encoding="utf-8"?>
<p:presentation xmlns:p="http://schemas.openxmlformats.org/presentationml/2006/main">
  <p:sldMasterIdLst>
    <p:sldMasterId xmlns:r="http://schemas.openxmlformats.org/officeDocument/2006/relationships" id="2147483648" r:id="R76acb51b5df948e6"/>
  </p:sldMasterIdLst>
  <p:notesMasterIdLst>
    <p:notesMasterId xmlns:r="http://schemas.openxmlformats.org/officeDocument/2006/relationships" r:id="Rf0ab2dc1824f41b0"/>
  </p:notesMasterIdLst>
  <p:sldIdLst>
    <p:sldId xmlns:r="http://schemas.openxmlformats.org/officeDocument/2006/relationships" id="256" r:id="Ra3e8e03c40e640aa"/>
    <p:sldId xmlns:r="http://schemas.openxmlformats.org/officeDocument/2006/relationships" id="257" r:id="R160a8d04165b4937"/>
    <p:sldId xmlns:r="http://schemas.openxmlformats.org/officeDocument/2006/relationships" id="258" r:id="R8ccd207b6a6c4717"/>
    <p:sldId xmlns:r="http://schemas.openxmlformats.org/officeDocument/2006/relationships" id="259" r:id="Rbd97c777310647a2"/>
    <p:sldId xmlns:r="http://schemas.openxmlformats.org/officeDocument/2006/relationships" id="260" r:id="Rf9da3b96103548e6"/>
    <p:sldId xmlns:r="http://schemas.openxmlformats.org/officeDocument/2006/relationships" id="261" r:id="R82481924388c4bfa"/>
    <p:sldId xmlns:r="http://schemas.openxmlformats.org/officeDocument/2006/relationships" id="262" r:id="R26db44d292f54d3b"/>
    <p:sldId xmlns:r="http://schemas.openxmlformats.org/officeDocument/2006/relationships" id="263" r:id="R6f5685898e8f4a08"/>
    <p:sldId xmlns:r="http://schemas.openxmlformats.org/officeDocument/2006/relationships" id="264" r:id="R86bf90b1ad5145e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a575a41070446af" /><Relationship Type="http://schemas.openxmlformats.org/officeDocument/2006/relationships/slideMaster" Target="/ppt/slideMasters/slideMaster1.xml" Id="R76acb51b5df948e6" /><Relationship Type="http://schemas.openxmlformats.org/officeDocument/2006/relationships/notesMaster" Target="/ppt/notesMasters/notesMaster1.xml" Id="Rf0ab2dc1824f41b0" /><Relationship Type="http://schemas.openxmlformats.org/officeDocument/2006/relationships/presProps" Target="/ppt/presProps.xml" Id="R25210d61987149fe" /><Relationship Type="http://schemas.openxmlformats.org/officeDocument/2006/relationships/tableStyles" Target="/ppt/tableStyles.xml" Id="R8ee37f60a20f407b" /><Relationship Type="http://schemas.openxmlformats.org/officeDocument/2006/relationships/slide" Target="/ppt/slides/slide1.xml" Id="Ra3e8e03c40e640aa" /><Relationship Type="http://schemas.openxmlformats.org/officeDocument/2006/relationships/slide" Target="/ppt/slides/slide2.xml" Id="R160a8d04165b4937" /><Relationship Type="http://schemas.openxmlformats.org/officeDocument/2006/relationships/slide" Target="/ppt/slides/slide3.xml" Id="R8ccd207b6a6c4717" /><Relationship Type="http://schemas.openxmlformats.org/officeDocument/2006/relationships/slide" Target="/ppt/slides/slide4.xml" Id="Rbd97c777310647a2" /><Relationship Type="http://schemas.openxmlformats.org/officeDocument/2006/relationships/slide" Target="/ppt/slides/slide5.xml" Id="Rf9da3b96103548e6" /><Relationship Type="http://schemas.openxmlformats.org/officeDocument/2006/relationships/slide" Target="/ppt/slides/slide6.xml" Id="R82481924388c4bfa" /><Relationship Type="http://schemas.openxmlformats.org/officeDocument/2006/relationships/slide" Target="/ppt/slides/slide7.xml" Id="R26db44d292f54d3b" /><Relationship Type="http://schemas.openxmlformats.org/officeDocument/2006/relationships/slide" Target="/ppt/slides/slide8.xml" Id="R6f5685898e8f4a08" /><Relationship Type="http://schemas.openxmlformats.org/officeDocument/2006/relationships/slide" Target="/ppt/slides/slide9.xml" Id="R86bf90b1ad5145e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43bee59ce464c6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ccef197259c452a" /><Relationship Type="http://schemas.openxmlformats.org/officeDocument/2006/relationships/notesMaster" Target="/ppt/notesMasters/notesMaster1.xml" Id="R1755203ee8f14f55" /></Relationships>
</file>

<file path=ppt/notesSlides/_rels/notesSlide2.xml.rels>&#65279;<?xml version="1.0" encoding="utf-8"?><Relationships xmlns="http://schemas.openxmlformats.org/package/2006/relationships"><Relationship Type="http://schemas.openxmlformats.org/officeDocument/2006/relationships/slide" Target="/ppt/slides/slide2.xml" Id="Rf6b5bb9052404ab5" /><Relationship Type="http://schemas.openxmlformats.org/officeDocument/2006/relationships/notesMaster" Target="/ppt/notesMasters/notesMaster1.xml" Id="R87c405917b2647f7" /></Relationships>
</file>

<file path=ppt/notesSlides/_rels/notesSlide3.xml.rels>&#65279;<?xml version="1.0" encoding="utf-8"?><Relationships xmlns="http://schemas.openxmlformats.org/package/2006/relationships"><Relationship Type="http://schemas.openxmlformats.org/officeDocument/2006/relationships/slide" Target="/ppt/slides/slide3.xml" Id="R60d1a8ead6654f0a" /><Relationship Type="http://schemas.openxmlformats.org/officeDocument/2006/relationships/notesMaster" Target="/ppt/notesMasters/notesMaster1.xml" Id="Rf5796fff94aa442b" /></Relationships>
</file>

<file path=ppt/notesSlides/_rels/notesSlide4.xml.rels>&#65279;<?xml version="1.0" encoding="utf-8"?><Relationships xmlns="http://schemas.openxmlformats.org/package/2006/relationships"><Relationship Type="http://schemas.openxmlformats.org/officeDocument/2006/relationships/slide" Target="/ppt/slides/slide4.xml" Id="Rab3c17b70fa44326" /><Relationship Type="http://schemas.openxmlformats.org/officeDocument/2006/relationships/notesMaster" Target="/ppt/notesMasters/notesMaster1.xml" Id="Re9e716e57e834903" /></Relationships>
</file>

<file path=ppt/notesSlides/_rels/notesSlide5.xml.rels>&#65279;<?xml version="1.0" encoding="utf-8"?><Relationships xmlns="http://schemas.openxmlformats.org/package/2006/relationships"><Relationship Type="http://schemas.openxmlformats.org/officeDocument/2006/relationships/slide" Target="/ppt/slides/slide5.xml" Id="R55a46be38be84814" /><Relationship Type="http://schemas.openxmlformats.org/officeDocument/2006/relationships/notesMaster" Target="/ppt/notesMasters/notesMaster1.xml" Id="R40441cb1ad334da8" /></Relationships>
</file>

<file path=ppt/notesSlides/_rels/notesSlide6.xml.rels>&#65279;<?xml version="1.0" encoding="utf-8"?><Relationships xmlns="http://schemas.openxmlformats.org/package/2006/relationships"><Relationship Type="http://schemas.openxmlformats.org/officeDocument/2006/relationships/slide" Target="/ppt/slides/slide6.xml" Id="R510882ceb6f4483a" /><Relationship Type="http://schemas.openxmlformats.org/officeDocument/2006/relationships/notesMaster" Target="/ppt/notesMasters/notesMaster1.xml" Id="R5fc99e51423941d6" /></Relationships>
</file>

<file path=ppt/notesSlides/_rels/notesSlide7.xml.rels>&#65279;<?xml version="1.0" encoding="utf-8"?><Relationships xmlns="http://schemas.openxmlformats.org/package/2006/relationships"><Relationship Type="http://schemas.openxmlformats.org/officeDocument/2006/relationships/slide" Target="/ppt/slides/slide7.xml" Id="Rfd3ee084391c4f84" /><Relationship Type="http://schemas.openxmlformats.org/officeDocument/2006/relationships/notesMaster" Target="/ppt/notesMasters/notesMaster1.xml" Id="Ra1ee0af9409c4af6" /></Relationships>
</file>

<file path=ppt/notesSlides/_rels/notesSlide8.xml.rels>&#65279;<?xml version="1.0" encoding="utf-8"?><Relationships xmlns="http://schemas.openxmlformats.org/package/2006/relationships"><Relationship Type="http://schemas.openxmlformats.org/officeDocument/2006/relationships/slide" Target="/ppt/slides/slide8.xml" Id="R78c4ffb6af714ecf" /><Relationship Type="http://schemas.openxmlformats.org/officeDocument/2006/relationships/notesMaster" Target="/ppt/notesMasters/notesMaster1.xml" Id="Rdd19ba1c5dca4e01" /></Relationships>
</file>

<file path=ppt/notesSlides/_rels/notesSlide9.xml.rels>&#65279;<?xml version="1.0" encoding="utf-8"?><Relationships xmlns="http://schemas.openxmlformats.org/package/2006/relationships"><Relationship Type="http://schemas.openxmlformats.org/officeDocument/2006/relationships/slide" Target="/ppt/slides/slide9.xml" Id="Rf82cfec2515b41fe" /><Relationship Type="http://schemas.openxmlformats.org/officeDocument/2006/relationships/notesMaster" Target="/ppt/notesMasters/notesMaster1.xml" Id="R731e7812e5184d0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DivX is a Solana vault we are building to separate one tokenized stock position into stock exposure and the right to its next dividend-derived xStock units.</a:t>
            </a:r>
          </a:p>
          <a:p xmlns:a="http://schemas.openxmlformats.org/drawingml/2006/main">
            <a:r>
              <a:t>Presenter notes: The protocol is not launched. Current software is an approved interface and working historical calculator.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Traditional finance already has both sides: banks sell dividend exposure to manage risk from structured products; asset managers such as Survista buy discounted dividend futures. DivX brings the same choice to xStock holders: keep the stock exposure and sell the dividend rights.</a:t>
            </a:r>
          </a:p>
          <a:p xmlns:a="http://schemas.openxmlformats.org/drawingml/2006/main">
            <a:r>
              <a:t>Presenter notes: The institutions shown are participants in traditional dividend markets, not DivX users. Bank direction varies by book and tenor; hedge funds can buy or sell. Traditional dividend futures and swaps are generally cash-settled. DivX allocates collateral in xStock units, and proceeds require a willing buyer at an agreed price.</a:t>
            </a:r>
          </a:p>
          <a:p xmlns:a="http://schemas.openxmlformats.org/drawingml/2006/main">
            <a:r>
              <a:t>Sources (accessed/observed 16 September 2026 unless stated): Eurex 2025 whitepaper, pp. 31–32: https://www.eurex.com/resource/blob/4418754/f90fd622a278beb08757729864e93925/data/whitepaper-derivatives-forum-frankfurt-2025.pdf | CME, Trading Dividend Uncertainty, 2024: https://www.cmegroup.com/articles/2024/trading-dividend-uncertainty.html | CME dividend-futures primer, 2024: https://www.cmegroup.com/articles/2024/equity-index-dividend-futures-a-primer.html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One deposit enters a locked vault. The program issues two paired claims: PT for the stock exposure and DR for the dividend-derived share. Both claims are backed by the same xStock collateral and redeem in xStock units whose dollar value can change.</a:t>
            </a:r>
          </a:p>
          <a:p xmlns:a="http://schemas.openxmlformats.org/drawingml/2006/main">
            <a:r>
              <a:t>Presenter notes: This present-tense language explains the product mechanics, not deployed execution. The diagram is schematic. Deposit must precede the supported event. Claim receipt units differ from raw redemption allocations.</a:t>
            </a:r>
          </a:p>
          <a:p xmlns:a="http://schemas.openxmlformats.org/drawingml/2006/main">
            <a:r>
              <a:t>Sources (accessed/observed 16 September 2026 unless stated): https://docs.xstocks.fi/developers/multipliers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Eurex handled more than 21 million dividend contracts in 2024. Pendle reported 96.4 million dollars of average daily trading volume that year. Investors already trade dividends separately, and crypto users already separate yield. DivX connects those two ideas.</a:t>
            </a:r>
          </a:p>
          <a:p xmlns:a="http://schemas.openxmlformats.org/drawingml/2006/main">
            <a:r>
              <a:t>Presenter notes: Contracts and dollars are different measures. These figures establish precedents; they do not prove demand for DivX or forecast future volume.</a:t>
            </a:r>
          </a:p>
          <a:p xmlns:a="http://schemas.openxmlformats.org/drawingml/2006/main">
            <a:r>
              <a:t>Sources (accessed/observed 16 September 2026 unless stated): Eurex release, published 6 January 2025: https://www.eurex.com/ex-en/find/news-center/news/Eurex-dividend-options-received-CFTC-approval-for-trading-in-the-U.S.--4248358 | Pendle team review, published 4 February 2025: https://medium.com/pendle/pendle-2025-zenith-cf1a91e6e23f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Global dividends totaled 1.75 trillion dollars in 2024. RWA.xyz reported 2.92 billion dollars of tokenized-stock value on September 16, 2026. We start with dividend-paying xStocks on Solana, then expand to more familiar companies and additional issuers.</a:t>
            </a:r>
          </a:p>
          <a:p xmlns:a="http://schemas.openxmlformats.org/drawingml/2006/main">
            <a:r>
              <a:t>Presenter notes: The RWA.xyz total includes stocks, ETFs, native instruments, and synthetic representations. Eligible DivX collateral is only a subset. The two measures are not additive TAM and do not support a growth estimate.</a:t>
            </a:r>
          </a:p>
          <a:p xmlns:a="http://schemas.openxmlformats.org/drawingml/2006/main">
            <a:r>
              <a:t>Sources (accessed/observed 16 September 2026 unless stated): Janus Henderson, published 2025: https://www.janushenderson.com/en-dk/advisor/press-releases/global-dividends-jumped-to-a-record-1-75-trillion-in-2024/ | RWA.xyz Stocks dashboard, observed 16 September 2026: https://app.rwa.xyz/stocks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Solana brings collateral and both claims into one shared system. The deposit and paired claims are created together in one transaction. Each owner can transfer and redeem their claim under the same program rules, reducing the separate records and reconciliation needed between counterparties.</a:t>
            </a:r>
          </a:p>
          <a:p xmlns:a="http://schemas.openxmlformats.org/drawingml/2006/main">
            <a:r>
              <a:t>Presenter notes: This describes the intended product mechanics, not a deployed program. Issuer controls, event-data trust, operating rules, access restrictions, and actual market liquidity remain dependencies.</a:t>
            </a:r>
          </a:p>
          <a:p xmlns:a="http://schemas.openxmlformats.org/drawingml/2006/main">
            <a:r>
              <a:t>Sources (accessed/observed 16 September 2026 unless stated): Solana transactions: https://solana.com/docs/core/transactions | Solana token extensions: https://solana.com/docs/tokens/extensions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Dividend claims are divisible, so a holder can sell part of an entitlement and a buyer can take a smaller position. Onchain records let users inspect the vault balance, claims outstanding and redemption history. The same token standards also make the claims available for other Solana applications to integrate.</a:t>
            </a:r>
          </a:p>
          <a:p xmlns:a="http://schemas.openxmlformats.org/drawingml/2006/main">
            <a:r>
              <a:t>Presenter notes: Onchain token accounts expose program state; they do not independently prove offchain custody reserves, correct issuer data, or correct program code. Corporate-action handling remains technical Q&amp;A: the verified KOx dividend is accepted, while the exact HONx reverse split and later spinoff are unsupported dividend events.</a:t>
            </a:r>
          </a:p>
          <a:p xmlns:a="http://schemas.openxmlformats.org/drawingml/2006/main">
            <a:r>
              <a:t>Sources (accessed/observed 16 September 2026 unless stated): Solana tokens: https://solana.com/docs/tokens | Solana accounts: https://solana.com/docs/core/accounts | Solana transactions: https://solana.com/docs/core/transactions | Token supply RPC: https://solana.com/docs/rpc/http/gettokensupply | KOx history: https://api.xstocks.fi/api/v2/public/corporate-actions/history?page=1&amp;pageSize=100&amp;symbol=KOx&amp;sortBy=createdTimeUtc&amp;sortOrder=asc | HONx history: https://api.xstocks.fi/api/v2/public/corporate-actions/history?page=1&amp;pageSize=100&amp;symbol=HONx&amp;sortBy=createdTimeUtc&amp;sortOrder=asc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Our example uses Coca-Cola, ticker KO, represented on Solana as KOx. For 100 share-equivalents, the historical event separates about 8,935 dollars of stock exposure from 37 dollars and 10 cents of reinvested dividends, valued at the event-implied share price. The calculator makes that allocation inspectable today; vault execution comes next.</a:t>
            </a:r>
          </a:p>
          <a:p xmlns:a="http://schemas.openxmlformats.org/drawingml/2006/main">
            <a:r>
              <a:t>Presenter notes: Valuation basis: P = $0.371 / (1.0225601246249238 / 1.0183317967386898 - 1) = $89.349999989, approximately $89.35/share. The $37.10 is the event's net reinvestment reference value, not cash paid by DivX, a DR sale price, or a guaranteed payout. Both claims redeem in xStock units and their dollar value changes. Screenshot is a historical scenario, not a wallet position or proof that a vault captured the event. Exact raw Q=9,819,982,084; PT=9,779,376,057; DR=40,606,027; decimals=8; event 75c0c70e-1ae4-4ccd-ace6-d8990e1e8f9e v2. Coca-Cola company payment date is 1 October 2026; issuer adjustment is 15 September.</a:t>
            </a:r>
          </a:p>
          <a:p xmlns:a="http://schemas.openxmlformats.org/drawingml/2006/main">
            <a:r>
              <a:t>Sources (accessed/observed 16 September 2026 unless stated): KOx history: https://api.xstocks.fi/api/v2/public/corporate-actions/history?page=1&amp;pageSize=100&amp;symbol=KOx&amp;sortBy=createdTimeUtc&amp;sortOrder=asc | xStocks multiplier mechanics: https://docs.xstocks.fi/developers/multipliers | Coca-Cola announcement, published 15 July 2026: https://investors.coca-colacompany.com/news-events/press-releases/detail/1165/board-of-directors-of-the-coca-cola-company-elects-new-officer-and-declares-regular-quarterly-dividend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The hackathon target is one complete flow: deposit, split, sell the dividend, redeem each side separately. Next come Apple, Microsoft and NVIDIA xStocks, then Backpack and Ondo. The longer-term vision reaches Coinbase and Robinhood assets on other networks, with Solana as our home base for dividend liquidity.</a:t>
            </a:r>
          </a:p>
          <a:p xmlns:a="http://schemas.openxmlformats.org/drawingml/2006/main">
            <a:r>
              <a:t>Presenter notes: The hackathon execution uses test assets and the verified historical KOx event. Every roadmap item is future work, not a partnership or integration claim. xStocks AAPLx, MSFTx and NVDAx exist; exact Solana mints and event feeds still require approval. Selected Backpack and Ondo products have Solana representations. Coinbase products are on Base. Only Robinhood's new wallet-held Stock Tokens on Robinhood Chain are in scope, not legacy Classic tokens. Cross-chain custody, settlement and messaging remain future design work.</a:t>
            </a:r>
          </a:p>
          <a:p xmlns:a="http://schemas.openxmlformats.org/drawingml/2006/main">
            <a:r>
              <a:t>Sources (accessed/observed 16 September 2026 unless stated): xStocks: https://xstocks.fi/ | xStocks docs: https://docs.xstocks.fi/docs | Backpack MU: https://learn.backpack.exchange/blog/tokenized-micron-mu | Ondo Stocks: https://ondo.finance/ondo-stocks | Coinbase Tokenized Stocks: https://www.coinbase.com/tokenize | Robinhood Stock Tokens: https://robinhood.com/rhj/stocktokens/ | Robinhood Chain: https://robinhood.com/us/en/support/articles/robinhood-chain-testnet/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f8a8d653529474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f525cd8c6854dd1" /><Relationship Type="http://schemas.openxmlformats.org/officeDocument/2006/relationships/slideLayout" Target="/ppt/slideLayouts/slideLayout1.xml" Id="R61a9232368ec45d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1a9232368ec45d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beed5ab74484a87" /><Relationship Type="http://schemas.openxmlformats.org/officeDocument/2006/relationships/notesSlide" Target="/ppt/notesSlides/notesSlide1.xml" Id="R020849382f794d2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6e8744bb5474314" /><Relationship Type="http://schemas.openxmlformats.org/officeDocument/2006/relationships/notesSlide" Target="/ppt/notesSlides/notesSlide2.xml" Id="R3cc8a24be77d4dd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76292df1b82416d" /><Relationship Type="http://schemas.openxmlformats.org/officeDocument/2006/relationships/notesSlide" Target="/ppt/notesSlides/notesSlide3.xml" Id="R550f9a7a0fd342a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b62f4bdc425400f" /><Relationship Type="http://schemas.openxmlformats.org/officeDocument/2006/relationships/notesSlide" Target="/ppt/notesSlides/notesSlide4.xml" Id="R446d9446ee00473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511569e83ca4cd8" /><Relationship Type="http://schemas.openxmlformats.org/officeDocument/2006/relationships/notesSlide" Target="/ppt/notesSlides/notesSlide5.xml" Id="R064c1f976711442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e175e2f8b1c420d" /><Relationship Type="http://schemas.openxmlformats.org/officeDocument/2006/relationships/notesSlide" Target="/ppt/notesSlides/notesSlide6.xml" Id="R3105fd3e8ec74d9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38b9735fbda4c4b" /><Relationship Type="http://schemas.openxmlformats.org/officeDocument/2006/relationships/notesSlide" Target="/ppt/notesSlides/notesSlide7.xml" Id="Ra86e6abf6be6459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5f0c29c02954a4e" /><Relationship Type="http://schemas.openxmlformats.org/officeDocument/2006/relationships/image" Target="/ppt/media/image.png" Id="Rb9ca86e08b764646" /><Relationship Type="http://schemas.openxmlformats.org/officeDocument/2006/relationships/notesSlide" Target="/ppt/notesSlides/notesSlide8.xml" Id="R76ae084e850f4d7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fb3cdeb23d347b8" /><Relationship Type="http://schemas.openxmlformats.org/officeDocument/2006/relationships/notesSlide" Target="/ppt/notesSlides/notesSlide9.xml" Id="R79ec6f6776cf4d08" /></Relationships>
</file>

<file path=ppt/slides/slide1.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2E3A5C0-58E6-4C09-B67F-5CC61BE5DC1E}"/>
              </a:ext>
            </a:extLst>
          </p:cNvPr>
          <p:cNvSpPr>
            <a:spLocks xmlns:a="http://schemas.openxmlformats.org/drawingml/2006/main" noGrp="1"/>
          </p:cNvSpPr>
          <p:nvPr/>
        </p:nvSpPr>
        <p:spPr>
          <a:xfrm xmlns:a="http://schemas.openxmlformats.org/drawingml/2006/main" rot="2700000">
            <a:off x="781050" y="666750"/>
            <a:ext cx="171450" cy="171450"/>
          </a:xfrm>
          <a:prstGeom xmlns:a="http://schemas.openxmlformats.org/drawingml/2006/main" prst="rect">
            <a:avLst/>
          </a:prstGeom>
          <a:solidFill xmlns:a="http://schemas.openxmlformats.org/drawingml/2006/main">
            <a:srgbClr val="729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38BA2FF-4639-44CD-9CAA-EE8C0F2A1E5F}"/>
              </a:ext>
            </a:extLst>
          </p:cNvPr>
          <p:cNvSpPr>
            <a:spLocks xmlns:a="http://schemas.openxmlformats.org/drawingml/2006/main" noGrp="1"/>
          </p:cNvSpPr>
          <p:nvPr/>
        </p:nvSpPr>
        <p:spPr>
          <a:xfrm xmlns:a="http://schemas.openxmlformats.org/drawingml/2006/main" rot="2700000">
            <a:off x="923925" y="809625"/>
            <a:ext cx="171450" cy="171450"/>
          </a:xfrm>
          <a:prstGeom xmlns:a="http://schemas.openxmlformats.org/drawingml/2006/main" prst="rect">
            <a:avLst/>
          </a:prstGeom>
          <a:solidFill xmlns:a="http://schemas.openxmlformats.org/drawingml/2006/main">
            <a:srgbClr val="FFB657"/>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A6DB9F5C-AD13-44F3-BE52-5FB0655ED18E}"/>
              </a:ext>
            </a:extLst>
          </p:cNvPr>
          <p:cNvSpPr>
            <a:spLocks xmlns:a="http://schemas.openxmlformats.org/drawingml/2006/main" noGrp="1"/>
          </p:cNvSpPr>
          <p:nvPr/>
        </p:nvSpPr>
        <p:spPr>
          <a:xfrm xmlns:a="http://schemas.openxmlformats.org/drawingml/2006/main">
            <a:off x="1152525" y="657225"/>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4F569CCC-E3AB-4FE0-80AA-6C60A36F7660}"/>
              </a:ext>
            </a:extLst>
          </p:cNvPr>
          <p:cNvSpPr>
            <a:spLocks xmlns:a="http://schemas.openxmlformats.org/drawingml/2006/main" noGrp="1"/>
          </p:cNvSpPr>
          <p:nvPr/>
        </p:nvSpPr>
        <p:spPr>
          <a:xfrm xmlns:a="http://schemas.openxmlformats.org/drawingml/2006/main">
            <a:off x="781050" y="13906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STOCKLANA PROTOTYPE · SEPTEMBER 2026</a:t>
            </a:r>
          </a:p>
        </p:txBody>
      </p:sp>
      <p:sp>
        <p:nvSpPr>
          <p:cNvPr id="5" name="">
            <a:extLst xmlns:a="http://schemas.openxmlformats.org/drawingml/2006/main">
              <a:ext uri="{FF2B5EF4-FFF2-40B4-BE49-F238E27FC236}">
                <a16:creationId xmlns:a16="http://schemas.microsoft.com/office/drawing/2014/main" id="{CDC049C8-07B4-4B9F-A398-6A214947C2BF}"/>
              </a:ext>
            </a:extLst>
          </p:cNvPr>
          <p:cNvSpPr>
            <a:spLocks xmlns:a="http://schemas.openxmlformats.org/drawingml/2006/main" noGrp="1"/>
          </p:cNvSpPr>
          <p:nvPr/>
        </p:nvSpPr>
        <p:spPr>
          <a:xfrm xmlns:a="http://schemas.openxmlformats.org/drawingml/2006/main">
            <a:off x="781050" y="2114550"/>
            <a:ext cx="9810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800" b="1">
                <a:solidFill>
                  <a:srgbClr val="FFFFFF"/>
                </a:solidFill>
                <a:latin typeface="Helvetica Neue"/>
                <a:ea typeface="Helvetica Neue"/>
                <a:cs typeface="Helvetica Neue"/>
              </a:defRPr>
            </a:pPr>
            <a:r>
              <a:rPr b="1">
                <a:solidFill>
                  <a:srgbClr val="7292FF"/>
                </a:solidFill>
                <a:latin typeface="Helvetica Neue"/>
                <a:ea typeface="Helvetica Neue"/>
                <a:cs typeface="Helvetica Neue"/>
              </a:rPr>
              <a:t>Keep the stock exposure.</a:t>
            </a:r>
            <a:r>
              <a:rPr b="1">
                <a:solidFill>
                  <a:srgbClr val="FFB657"/>
                </a:solidFill>
                <a:latin typeface="Helvetica Neue"/>
                <a:ea typeface="Helvetica Neue"/>
                <a:cs typeface="Helvetica Neue"/>
              </a:rPr>
              <a:t>
Sell the dividend rights.</a:t>
            </a:r>
          </a:p>
        </p:txBody>
      </p:sp>
      <p:sp>
        <p:nvSpPr>
          <p:cNvPr id="6" name="">
            <a:extLst xmlns:a="http://schemas.openxmlformats.org/drawingml/2006/main">
              <a:ext uri="{FF2B5EF4-FFF2-40B4-BE49-F238E27FC236}">
                <a16:creationId xmlns:a16="http://schemas.microsoft.com/office/drawing/2014/main" id="{0EE9328D-739F-43CF-B2ED-3A2B44868CF8}"/>
              </a:ext>
            </a:extLst>
          </p:cNvPr>
          <p:cNvSpPr>
            <a:spLocks xmlns:a="http://schemas.openxmlformats.org/drawingml/2006/main" noGrp="1"/>
          </p:cNvSpPr>
          <p:nvPr/>
        </p:nvSpPr>
        <p:spPr>
          <a:xfrm xmlns:a="http://schemas.openxmlformats.org/drawingml/2006/main">
            <a:off x="800100" y="4695825"/>
            <a:ext cx="685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0">
                <a:solidFill>
                  <a:srgbClr val="E6E8EA"/>
                </a:solidFill>
                <a:latin typeface="Helvetica Neue"/>
                <a:ea typeface="Helvetica Neue"/>
                <a:cs typeface="Helvetica Neue"/>
              </a:defRPr>
            </a:pPr>
            <a:r>
              <a:rPr sz="1875" b="0">
                <a:solidFill>
                  <a:srgbClr val="E6E8EA"/>
                </a:solidFill>
                <a:latin typeface="Helvetica Neue"/>
                <a:ea typeface="Helvetica Neue"/>
                <a:cs typeface="Helvetica Neue"/>
              </a:rPr>
              <a:t>A Solana vault for tokenized-stock dividends.</a:t>
            </a:r>
          </a:p>
        </p:txBody>
      </p:sp>
      <p:sp>
        <p:nvSpPr>
          <p:cNvPr id="7" name="">
            <a:extLst xmlns:a="http://schemas.openxmlformats.org/drawingml/2006/main">
              <a:ext uri="{FF2B5EF4-FFF2-40B4-BE49-F238E27FC236}">
                <a16:creationId xmlns:a16="http://schemas.microsoft.com/office/drawing/2014/main" id="{1A6623CF-59CC-4F4A-A8BB-F2D6F8CF5054}"/>
              </a:ext>
            </a:extLst>
          </p:cNvPr>
          <p:cNvSpPr>
            <a:spLocks xmlns:a="http://schemas.openxmlformats.org/drawingml/2006/main" noGrp="1"/>
          </p:cNvSpPr>
          <p:nvPr/>
        </p:nvSpPr>
        <p:spPr>
          <a:xfrm xmlns:a="http://schemas.openxmlformats.org/drawingml/2006/main">
            <a:off x="800100" y="5857875"/>
            <a:ext cx="10572750" cy="9525"/>
          </a:xfrm>
          <a:prstGeom xmlns:a="http://schemas.openxmlformats.org/drawingml/2006/main" prst="rect">
            <a:avLst/>
          </a:prstGeom>
          <a:solidFill xmlns:a="http://schemas.openxmlformats.org/drawingml/2006/main">
            <a:srgbClr val="303B4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D16B190-D73A-48D1-8768-A4A450F4D725}"/>
              </a:ext>
            </a:extLst>
          </p:cNvPr>
          <p:cNvSpPr>
            <a:spLocks xmlns:a="http://schemas.openxmlformats.org/drawingml/2006/main" noGrp="1"/>
          </p:cNvSpPr>
          <p:nvPr/>
        </p:nvSpPr>
        <p:spPr>
          <a:xfrm xmlns:a="http://schemas.openxmlformats.org/drawingml/2006/main">
            <a:off x="800100" y="60960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CONCEPT + WORKING HISTORICAL CALCULATOR</a:t>
            </a:r>
          </a:p>
        </p:txBody>
      </p:sp>
    </p:spTree>
    <p:extLst>
      <p:ext uri="{BB962C8B-B14F-4D97-AF65-F5344CB8AC3E}">
        <p14:creationId xmlns:p14="http://schemas.microsoft.com/office/powerpoint/2010/main" val="1130895196"/>
      </p:ext>
    </p:extLst>
  </p:cSld>
</p:sld>
</file>

<file path=ppt/slides/slide2.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FCF2F5FB-6988-46AF-BC89-4797D009CE4E}"/>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6ECAC64-0303-4C4E-ADF4-AF30352D0BC2}"/>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D3C0604-4F17-4606-B0FC-650C77C8DBDA}"/>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4C6C26D4-686A-4A21-BFD8-386F50222265}"/>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Two sides of one trade</a:t>
            </a:r>
          </a:p>
        </p:txBody>
      </p:sp>
      <p:sp>
        <p:nvSpPr>
          <p:cNvPr id="5" name="">
            <a:extLst xmlns:a="http://schemas.openxmlformats.org/drawingml/2006/main">
              <a:ext uri="{FF2B5EF4-FFF2-40B4-BE49-F238E27FC236}">
                <a16:creationId xmlns:a16="http://schemas.microsoft.com/office/drawing/2014/main" id="{B9E3F3A0-31F6-4F06-AAA6-5552A29F6EE9}"/>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02</a:t>
            </a:r>
          </a:p>
        </p:txBody>
      </p:sp>
      <p:sp>
        <p:nvSpPr>
          <p:cNvPr id="6" name="">
            <a:extLst xmlns:a="http://schemas.openxmlformats.org/drawingml/2006/main">
              <a:ext uri="{FF2B5EF4-FFF2-40B4-BE49-F238E27FC236}">
                <a16:creationId xmlns:a16="http://schemas.microsoft.com/office/drawing/2014/main" id="{4D5BA338-F58C-45FC-A39C-8D4D4DC6FE6C}"/>
              </a:ext>
            </a:extLst>
          </p:cNvPr>
          <p:cNvSpPr>
            <a:spLocks xmlns:a="http://schemas.openxmlformats.org/drawingml/2006/main" noGrp="1"/>
          </p:cNvSpPr>
          <p:nvPr/>
        </p:nvSpPr>
        <p:spPr>
          <a:xfrm xmlns:a="http://schemas.openxmlformats.org/drawingml/2006/main">
            <a:off x="762000" y="1714500"/>
            <a:ext cx="4000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TRADITIONAL DIVIDEND MARKET</a:t>
            </a:r>
          </a:p>
        </p:txBody>
      </p:sp>
      <p:sp>
        <p:nvSpPr>
          <p:cNvPr id="7" name="">
            <a:extLst xmlns:a="http://schemas.openxmlformats.org/drawingml/2006/main">
              <a:ext uri="{FF2B5EF4-FFF2-40B4-BE49-F238E27FC236}">
                <a16:creationId xmlns:a16="http://schemas.microsoft.com/office/drawing/2014/main" id="{ACE26286-5573-4092-B710-860116F91DA3}"/>
              </a:ext>
            </a:extLst>
          </p:cNvPr>
          <p:cNvSpPr>
            <a:spLocks xmlns:a="http://schemas.openxmlformats.org/drawingml/2006/main" noGrp="1"/>
          </p:cNvSpPr>
          <p:nvPr/>
        </p:nvSpPr>
        <p:spPr>
          <a:xfrm xmlns:a="http://schemas.openxmlformats.org/drawingml/2006/main">
            <a:off x="762000" y="2114550"/>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SELLERS</a:t>
            </a:r>
          </a:p>
        </p:txBody>
      </p:sp>
      <p:sp>
        <p:nvSpPr>
          <p:cNvPr id="8" name="">
            <a:extLst xmlns:a="http://schemas.openxmlformats.org/drawingml/2006/main">
              <a:ext uri="{FF2B5EF4-FFF2-40B4-BE49-F238E27FC236}">
                <a16:creationId xmlns:a16="http://schemas.microsoft.com/office/drawing/2014/main" id="{92E51F23-6FEB-490B-9BD2-4CB4292C0FAA}"/>
              </a:ext>
            </a:extLst>
          </p:cNvPr>
          <p:cNvSpPr>
            <a:spLocks xmlns:a="http://schemas.openxmlformats.org/drawingml/2006/main" noGrp="1"/>
          </p:cNvSpPr>
          <p:nvPr/>
        </p:nvSpPr>
        <p:spPr>
          <a:xfrm xmlns:a="http://schemas.openxmlformats.org/drawingml/2006/main">
            <a:off x="762000" y="2362200"/>
            <a:ext cx="428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Bank trading desks</a:t>
            </a:r>
          </a:p>
        </p:txBody>
      </p:sp>
      <p:sp>
        <p:nvSpPr>
          <p:cNvPr id="9" name="">
            <a:extLst xmlns:a="http://schemas.openxmlformats.org/drawingml/2006/main">
              <a:ext uri="{FF2B5EF4-FFF2-40B4-BE49-F238E27FC236}">
                <a16:creationId xmlns:a16="http://schemas.microsoft.com/office/drawing/2014/main" id="{7CC7D5B1-BE6B-4CFA-9556-F2EC5E113E6C}"/>
              </a:ext>
            </a:extLst>
          </p:cNvPr>
          <p:cNvSpPr>
            <a:spLocks xmlns:a="http://schemas.openxmlformats.org/drawingml/2006/main" noGrp="1"/>
          </p:cNvSpPr>
          <p:nvPr/>
        </p:nvSpPr>
        <p:spPr>
          <a:xfrm xmlns:a="http://schemas.openxmlformats.org/drawingml/2006/main">
            <a:off x="762000" y="278130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Manage dividend risk from structured products.</a:t>
            </a:r>
          </a:p>
        </p:txBody>
      </p:sp>
      <p:sp>
        <p:nvSpPr>
          <p:cNvPr id="10" name="">
            <a:extLst xmlns:a="http://schemas.openxmlformats.org/drawingml/2006/main">
              <a:ext uri="{FF2B5EF4-FFF2-40B4-BE49-F238E27FC236}">
                <a16:creationId xmlns:a16="http://schemas.microsoft.com/office/drawing/2014/main" id="{6656D016-B365-43AF-8C80-4F86984B7081}"/>
              </a:ext>
            </a:extLst>
          </p:cNvPr>
          <p:cNvSpPr>
            <a:spLocks xmlns:a="http://schemas.openxmlformats.org/drawingml/2006/main" noGrp="1"/>
          </p:cNvSpPr>
          <p:nvPr/>
        </p:nvSpPr>
        <p:spPr>
          <a:xfrm xmlns:a="http://schemas.openxmlformats.org/drawingml/2006/main">
            <a:off x="6705600" y="2114550"/>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BUYERS</a:t>
            </a:r>
          </a:p>
        </p:txBody>
      </p:sp>
      <p:sp>
        <p:nvSpPr>
          <p:cNvPr id="11" name="">
            <a:extLst xmlns:a="http://schemas.openxmlformats.org/drawingml/2006/main">
              <a:ext uri="{FF2B5EF4-FFF2-40B4-BE49-F238E27FC236}">
                <a16:creationId xmlns:a16="http://schemas.microsoft.com/office/drawing/2014/main" id="{8C2538E3-D5FC-4A9B-B5C6-C8272FEF04CE}"/>
              </a:ext>
            </a:extLst>
          </p:cNvPr>
          <p:cNvSpPr>
            <a:spLocks xmlns:a="http://schemas.openxmlformats.org/drawingml/2006/main" noGrp="1"/>
          </p:cNvSpPr>
          <p:nvPr/>
        </p:nvSpPr>
        <p:spPr>
          <a:xfrm xmlns:a="http://schemas.openxmlformats.org/drawingml/2006/main">
            <a:off x="6705600" y="2362200"/>
            <a:ext cx="4667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Asset managers and hedge funds</a:t>
            </a:r>
          </a:p>
        </p:txBody>
      </p:sp>
      <p:sp>
        <p:nvSpPr>
          <p:cNvPr id="12" name="">
            <a:extLst xmlns:a="http://schemas.openxmlformats.org/drawingml/2006/main">
              <a:ext uri="{FF2B5EF4-FFF2-40B4-BE49-F238E27FC236}">
                <a16:creationId xmlns:a16="http://schemas.microsoft.com/office/drawing/2014/main" id="{F9D02F36-80AA-44F3-A08A-15D20850E809}"/>
              </a:ext>
            </a:extLst>
          </p:cNvPr>
          <p:cNvSpPr>
            <a:spLocks xmlns:a="http://schemas.openxmlformats.org/drawingml/2006/main" noGrp="1"/>
          </p:cNvSpPr>
          <p:nvPr/>
        </p:nvSpPr>
        <p:spPr>
          <a:xfrm xmlns:a="http://schemas.openxmlformats.org/drawingml/2006/main">
            <a:off x="6705600" y="2781300"/>
            <a:ext cx="466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Trade expected payouts. Survista is one documented buyer.</a:t>
            </a:r>
          </a:p>
        </p:txBody>
      </p:sp>
      <p:sp>
        <p:nvSpPr>
          <p:cNvPr id="13" name="">
            <a:extLst xmlns:a="http://schemas.openxmlformats.org/drawingml/2006/main">
              <a:ext uri="{FF2B5EF4-FFF2-40B4-BE49-F238E27FC236}">
                <a16:creationId xmlns:a16="http://schemas.microsoft.com/office/drawing/2014/main" id="{B15746C8-F4FF-4E1B-98B6-DF559A61D894}"/>
              </a:ext>
            </a:extLst>
          </p:cNvPr>
          <p:cNvSpPr>
            <a:spLocks xmlns:a="http://schemas.openxmlformats.org/drawingml/2006/main" noGrp="1"/>
          </p:cNvSpPr>
          <p:nvPr/>
        </p:nvSpPr>
        <p:spPr>
          <a:xfrm xmlns:a="http://schemas.openxmlformats.org/drawingml/2006/main">
            <a:off x="762000" y="3371850"/>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963442E-3699-4DB2-9552-F6A37F1F8E2D}"/>
              </a:ext>
            </a:extLst>
          </p:cNvPr>
          <p:cNvSpPr>
            <a:spLocks xmlns:a="http://schemas.openxmlformats.org/drawingml/2006/main" noGrp="1"/>
          </p:cNvSpPr>
          <p:nvPr/>
        </p:nvSpPr>
        <p:spPr>
          <a:xfrm xmlns:a="http://schemas.openxmlformats.org/drawingml/2006/main">
            <a:off x="762000" y="3590925"/>
            <a:ext cx="228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DIVIDENDX FLOW</a:t>
            </a:r>
          </a:p>
        </p:txBody>
      </p:sp>
      <p:sp>
        <p:nvSpPr>
          <p:cNvPr id="15" name="Stock holder">
            <a:extLst xmlns:a="http://schemas.openxmlformats.org/drawingml/2006/main">
              <a:ext uri="{FF2B5EF4-FFF2-40B4-BE49-F238E27FC236}">
                <a16:creationId xmlns:a16="http://schemas.microsoft.com/office/drawing/2014/main" id="{FFD40279-393C-404A-AF4F-A8B17804956F}"/>
              </a:ext>
            </a:extLst>
          </p:cNvPr>
          <p:cNvSpPr>
            <a:spLocks xmlns:a="http://schemas.openxmlformats.org/drawingml/2006/main" noGrp="1"/>
          </p:cNvSpPr>
          <p:nvPr/>
        </p:nvSpPr>
        <p:spPr>
          <a:xfrm xmlns:a="http://schemas.openxmlformats.org/drawingml/2006/main">
            <a:off x="857250" y="4324350"/>
            <a:ext cx="1809750" cy="704850"/>
          </a:xfrm>
          <a:prstGeom xmlns:a="http://schemas.openxmlformats.org/drawingml/2006/main" prst="roundRect">
            <a:avLst>
              <a:gd name="adj" fmla="val 16216"/>
            </a:avLst>
          </a:prstGeom>
          <a:solidFill xmlns:a="http://schemas.openxmlformats.org/drawingml/2006/main">
            <a:srgbClr val="FFFEFB"/>
          </a:solidFill>
          <a:ln xmlns:a="http://schemas.openxmlformats.org/drawingml/2006/main" w="9525">
            <a:solidFill>
              <a:srgbClr val="101820"/>
            </a:solidFill>
            <a:prstDash val="solid"/>
          </a:ln>
        </p:spPr>
      </p:sp>
      <p:sp>
        <p:nvSpPr>
          <p:cNvPr id="16" name="">
            <a:extLst xmlns:a="http://schemas.openxmlformats.org/drawingml/2006/main">
              <a:ext uri="{FF2B5EF4-FFF2-40B4-BE49-F238E27FC236}">
                <a16:creationId xmlns:a16="http://schemas.microsoft.com/office/drawing/2014/main" id="{C1052BD9-6BBE-48A7-98F0-25F91D658A21}"/>
              </a:ext>
            </a:extLst>
          </p:cNvPr>
          <p:cNvSpPr>
            <a:spLocks xmlns:a="http://schemas.openxmlformats.org/drawingml/2006/main" noGrp="1"/>
          </p:cNvSpPr>
          <p:nvPr/>
        </p:nvSpPr>
        <p:spPr>
          <a:xfrm xmlns:a="http://schemas.openxmlformats.org/drawingml/2006/main">
            <a:off x="1066800" y="4533900"/>
            <a:ext cx="139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STOCK HOLDER</a:t>
            </a:r>
          </a:p>
        </p:txBody>
      </p:sp>
      <p:sp>
        <p:nvSpPr>
          <p:cNvPr id="17" name="Buyer">
            <a:extLst xmlns:a="http://schemas.openxmlformats.org/drawingml/2006/main">
              <a:ext uri="{FF2B5EF4-FFF2-40B4-BE49-F238E27FC236}">
                <a16:creationId xmlns:a16="http://schemas.microsoft.com/office/drawing/2014/main" id="{E6047C0E-01AE-470B-B5A8-B415720DCE8D}"/>
              </a:ext>
            </a:extLst>
          </p:cNvPr>
          <p:cNvSpPr>
            <a:spLocks xmlns:a="http://schemas.openxmlformats.org/drawingml/2006/main" noGrp="1"/>
          </p:cNvSpPr>
          <p:nvPr/>
        </p:nvSpPr>
        <p:spPr>
          <a:xfrm xmlns:a="http://schemas.openxmlformats.org/drawingml/2006/main">
            <a:off x="9525000" y="4324350"/>
            <a:ext cx="1809750" cy="704850"/>
          </a:xfrm>
          <a:prstGeom xmlns:a="http://schemas.openxmlformats.org/drawingml/2006/main" prst="roundRect">
            <a:avLst>
              <a:gd name="adj" fmla="val 16216"/>
            </a:avLst>
          </a:prstGeom>
          <a:solidFill xmlns:a="http://schemas.openxmlformats.org/drawingml/2006/main">
            <a:srgbClr val="FFFEFB"/>
          </a:solidFill>
          <a:ln xmlns:a="http://schemas.openxmlformats.org/drawingml/2006/main" w="9525">
            <a:solidFill>
              <a:srgbClr val="101820"/>
            </a:solidFill>
            <a:prstDash val="solid"/>
          </a:ln>
        </p:spPr>
      </p:sp>
      <p:sp>
        <p:nvSpPr>
          <p:cNvPr id="18" name="">
            <a:extLst xmlns:a="http://schemas.openxmlformats.org/drawingml/2006/main">
              <a:ext uri="{FF2B5EF4-FFF2-40B4-BE49-F238E27FC236}">
                <a16:creationId xmlns:a16="http://schemas.microsoft.com/office/drawing/2014/main" id="{EFA478CE-2DDA-4D67-8EC0-BE978F4576F6}"/>
              </a:ext>
            </a:extLst>
          </p:cNvPr>
          <p:cNvSpPr>
            <a:spLocks xmlns:a="http://schemas.openxmlformats.org/drawingml/2006/main" noGrp="1"/>
          </p:cNvSpPr>
          <p:nvPr/>
        </p:nvSpPr>
        <p:spPr>
          <a:xfrm xmlns:a="http://schemas.openxmlformats.org/drawingml/2006/main">
            <a:off x="9734550" y="4533900"/>
            <a:ext cx="139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BUYER</a:t>
            </a:r>
          </a:p>
        </p:txBody>
      </p:sp>
      <p:sp>
        <p:nvSpPr>
          <p:cNvPr id="19" name="Dividend right label">
            <a:extLst xmlns:a="http://schemas.openxmlformats.org/drawingml/2006/main">
              <a:ext uri="{FF2B5EF4-FFF2-40B4-BE49-F238E27FC236}">
                <a16:creationId xmlns:a16="http://schemas.microsoft.com/office/drawing/2014/main" id="{3E96A67D-EE94-4A59-88ED-4A0E8B268934}"/>
              </a:ext>
            </a:extLst>
          </p:cNvPr>
          <p:cNvSpPr>
            <a:spLocks xmlns:a="http://schemas.openxmlformats.org/drawingml/2006/main" noGrp="1"/>
          </p:cNvSpPr>
          <p:nvPr/>
        </p:nvSpPr>
        <p:spPr>
          <a:xfrm xmlns:a="http://schemas.openxmlformats.org/drawingml/2006/main">
            <a:off x="4667250" y="3876675"/>
            <a:ext cx="2857500" cy="476250"/>
          </a:xfrm>
          <a:prstGeom xmlns:a="http://schemas.openxmlformats.org/drawingml/2006/main" prst="roundRect">
            <a:avLst>
              <a:gd name="adj" fmla="val 24000"/>
            </a:avLst>
          </a:prstGeom>
          <a:solidFill xmlns:a="http://schemas.openxmlformats.org/drawingml/2006/main">
            <a:srgbClr val="F8E8D4"/>
          </a:solidFill>
          <a:ln xmlns:a="http://schemas.openxmlformats.org/drawingml/2006/main" w="9525">
            <a:solidFill>
              <a:srgbClr val="C46A00"/>
            </a:solidFill>
            <a:prstDash val="solid"/>
          </a:ln>
        </p:spPr>
      </p:sp>
      <p:sp>
        <p:nvSpPr>
          <p:cNvPr id="20" name="">
            <a:extLst xmlns:a="http://schemas.openxmlformats.org/drawingml/2006/main">
              <a:ext uri="{FF2B5EF4-FFF2-40B4-BE49-F238E27FC236}">
                <a16:creationId xmlns:a16="http://schemas.microsoft.com/office/drawing/2014/main" id="{438E9FF2-24E8-47D0-BF59-19A7CADE16DD}"/>
              </a:ext>
            </a:extLst>
          </p:cNvPr>
          <p:cNvSpPr>
            <a:spLocks xmlns:a="http://schemas.openxmlformats.org/drawingml/2006/main" noGrp="1"/>
          </p:cNvSpPr>
          <p:nvPr/>
        </p:nvSpPr>
        <p:spPr>
          <a:xfrm xmlns:a="http://schemas.openxmlformats.org/drawingml/2006/main">
            <a:off x="5010150" y="4000500"/>
            <a:ext cx="2171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7A4000"/>
                </a:solidFill>
                <a:latin typeface="Helvetica Neue"/>
                <a:ea typeface="Helvetica Neue"/>
                <a:cs typeface="Helvetica Neue"/>
              </a:defRPr>
            </a:pPr>
            <a:r>
              <a:rPr sz="1125" b="1">
                <a:solidFill>
                  <a:srgbClr val="7A4000"/>
                </a:solidFill>
                <a:latin typeface="Helvetica Neue"/>
                <a:ea typeface="Helvetica Neue"/>
                <a:cs typeface="Helvetica Neue"/>
              </a:rPr>
              <a:t>DIVIDEND RIGHT</a:t>
            </a:r>
          </a:p>
        </p:txBody>
      </p:sp>
      <p:sp>
        <p:nvSpPr>
          <p:cNvPr id="21" name="Payment label">
            <a:extLst xmlns:a="http://schemas.openxmlformats.org/drawingml/2006/main">
              <a:ext uri="{FF2B5EF4-FFF2-40B4-BE49-F238E27FC236}">
                <a16:creationId xmlns:a16="http://schemas.microsoft.com/office/drawing/2014/main" id="{12B7F59B-FB6F-41A6-9295-44719D442474}"/>
              </a:ext>
            </a:extLst>
          </p:cNvPr>
          <p:cNvSpPr>
            <a:spLocks xmlns:a="http://schemas.openxmlformats.org/drawingml/2006/main" noGrp="1"/>
          </p:cNvSpPr>
          <p:nvPr/>
        </p:nvSpPr>
        <p:spPr>
          <a:xfrm xmlns:a="http://schemas.openxmlformats.org/drawingml/2006/main">
            <a:off x="4667250" y="5010150"/>
            <a:ext cx="2857500" cy="476250"/>
          </a:xfrm>
          <a:prstGeom xmlns:a="http://schemas.openxmlformats.org/drawingml/2006/main" prst="roundRect">
            <a:avLst>
              <a:gd name="adj" fmla="val 24000"/>
            </a:avLst>
          </a:prstGeom>
          <a:solidFill xmlns:a="http://schemas.openxmlformats.org/drawingml/2006/main">
            <a:srgbClr val="EAF0FF"/>
          </a:solidFill>
          <a:ln xmlns:a="http://schemas.openxmlformats.org/drawingml/2006/main" w="9525">
            <a:solidFill>
              <a:srgbClr val="2457F5"/>
            </a:solidFill>
            <a:prstDash val="solid"/>
          </a:ln>
        </p:spPr>
      </p:sp>
      <p:sp>
        <p:nvSpPr>
          <p:cNvPr id="22" name="">
            <a:extLst xmlns:a="http://schemas.openxmlformats.org/drawingml/2006/main">
              <a:ext uri="{FF2B5EF4-FFF2-40B4-BE49-F238E27FC236}">
                <a16:creationId xmlns:a16="http://schemas.microsoft.com/office/drawing/2014/main" id="{741FCB19-921A-4DEC-AAB4-2380780FCDAA}"/>
              </a:ext>
            </a:extLst>
          </p:cNvPr>
          <p:cNvSpPr>
            <a:spLocks xmlns:a="http://schemas.openxmlformats.org/drawingml/2006/main" noGrp="1"/>
          </p:cNvSpPr>
          <p:nvPr/>
        </p:nvSpPr>
        <p:spPr>
          <a:xfrm xmlns:a="http://schemas.openxmlformats.org/drawingml/2006/main">
            <a:off x="5010150" y="5133975"/>
            <a:ext cx="2171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1639A6"/>
                </a:solidFill>
                <a:latin typeface="Helvetica Neue"/>
                <a:ea typeface="Helvetica Neue"/>
                <a:cs typeface="Helvetica Neue"/>
              </a:defRPr>
            </a:pPr>
            <a:r>
              <a:rPr sz="1125" b="1">
                <a:solidFill>
                  <a:srgbClr val="1639A6"/>
                </a:solidFill>
                <a:latin typeface="Helvetica Neue"/>
                <a:ea typeface="Helvetica Neue"/>
                <a:cs typeface="Helvetica Neue"/>
              </a:rPr>
              <a:t>PAYMENT</a:t>
            </a:r>
          </a:p>
        </p:txBody>
      </p:sp>
      <p:cxnSp>
        <p:nvCxnSpPr>
          <p:cNvPr id="52" name=""/>
          <p:cNvCxnSpPr>
            <a:stCxn xmlns:a="http://schemas.openxmlformats.org/drawingml/2006/main" id="15" idx="0"/>
            <a:endCxn xmlns:a="http://schemas.openxmlformats.org/drawingml/2006/main" id="19" idx="1"/>
          </p:cNvCxnSpPr>
          <p:nvPr/>
        </p:nvCxnSpPr>
        <p:spPr>
          <a:xfrm xmlns:a="http://schemas.openxmlformats.org/drawingml/2006/main" flipV="1">
            <a:off x="1762125" y="4095750"/>
            <a:ext cx="2905125" cy="228600"/>
          </a:xfrm>
          <a:prstGeom xmlns:a="http://schemas.openxmlformats.org/drawingml/2006/main" prst="bentConnector4">
            <a:avLst/>
          </a:prstGeom>
          <a:ln xmlns:a="http://schemas.openxmlformats.org/drawingml/2006/main" w="19050">
            <a:solidFill>
              <a:srgbClr val="C46A00"/>
            </a:solidFill>
            <a:prstDash val="solid"/>
          </a:ln>
        </p:spPr>
      </p:cxnSp>
      <p:cxnSp>
        <p:nvCxnSpPr>
          <p:cNvPr id="53" name=""/>
          <p:cNvCxnSpPr>
            <a:stCxn xmlns:a="http://schemas.openxmlformats.org/drawingml/2006/main" id="19" idx="3"/>
            <a:endCxn xmlns:a="http://schemas.openxmlformats.org/drawingml/2006/main" id="17" idx="0"/>
          </p:cNvCxnSpPr>
          <p:nvPr/>
        </p:nvCxnSpPr>
        <p:spPr>
          <a:xfrm xmlns:a="http://schemas.openxmlformats.org/drawingml/2006/main">
            <a:off x="7524750" y="4095750"/>
            <a:ext cx="2905125" cy="228600"/>
          </a:xfrm>
          <a:prstGeom xmlns:a="http://schemas.openxmlformats.org/drawingml/2006/main" prst="bentConnector4">
            <a:avLst/>
          </a:prstGeom>
          <a:ln xmlns:a="http://schemas.openxmlformats.org/drawingml/2006/main" w="19050">
            <a:solidFill>
              <a:srgbClr val="C46A00"/>
            </a:solidFill>
            <a:prstDash val="solid"/>
            <a:tailEnd type="triangle" w="sm" len="sm"/>
          </a:ln>
        </p:spPr>
      </p:cxnSp>
      <p:cxnSp>
        <p:nvCxnSpPr>
          <p:cNvPr id="54" name=""/>
          <p:cNvCxnSpPr>
            <a:stCxn xmlns:a="http://schemas.openxmlformats.org/drawingml/2006/main" id="17" idx="2"/>
            <a:endCxn xmlns:a="http://schemas.openxmlformats.org/drawingml/2006/main" id="21" idx="3"/>
          </p:cNvCxnSpPr>
          <p:nvPr/>
        </p:nvCxnSpPr>
        <p:spPr>
          <a:xfrm xmlns:a="http://schemas.openxmlformats.org/drawingml/2006/main" flipH="1">
            <a:off x="7524750" y="5029200"/>
            <a:ext cx="2905125" cy="228600"/>
          </a:xfrm>
          <a:prstGeom xmlns:a="http://schemas.openxmlformats.org/drawingml/2006/main" prst="bentConnector4">
            <a:avLst/>
          </a:prstGeom>
          <a:ln xmlns:a="http://schemas.openxmlformats.org/drawingml/2006/main" w="19050">
            <a:solidFill>
              <a:srgbClr val="2457F5"/>
            </a:solidFill>
            <a:prstDash val="solid"/>
          </a:ln>
        </p:spPr>
      </p:cxnSp>
      <p:cxnSp>
        <p:nvCxnSpPr>
          <p:cNvPr id="55" name=""/>
          <p:cNvCxnSpPr>
            <a:stCxn xmlns:a="http://schemas.openxmlformats.org/drawingml/2006/main" id="21" idx="1"/>
            <a:endCxn xmlns:a="http://schemas.openxmlformats.org/drawingml/2006/main" id="15" idx="2"/>
          </p:cNvCxnSpPr>
          <p:nvPr/>
        </p:nvCxnSpPr>
        <p:spPr>
          <a:xfrm xmlns:a="http://schemas.openxmlformats.org/drawingml/2006/main" flipH="1" flipV="1">
            <a:off x="1762125" y="5029200"/>
            <a:ext cx="2905125" cy="228600"/>
          </a:xfrm>
          <a:prstGeom xmlns:a="http://schemas.openxmlformats.org/drawingml/2006/main" prst="bentConnector4">
            <a:avLst/>
          </a:prstGeom>
          <a:ln xmlns:a="http://schemas.openxmlformats.org/drawingml/2006/main" w="19050">
            <a:solidFill>
              <a:srgbClr val="2457F5"/>
            </a:solidFill>
            <a:prstDash val="solid"/>
            <a:tailEnd type="triangle" w="sm" len="sm"/>
          </a:ln>
        </p:spPr>
      </p:cxnSp>
      <p:sp>
        <p:nvSpPr>
          <p:cNvPr id="27" name="Retained PT">
            <a:extLst xmlns:a="http://schemas.openxmlformats.org/drawingml/2006/main">
              <a:ext uri="{FF2B5EF4-FFF2-40B4-BE49-F238E27FC236}">
                <a16:creationId xmlns:a16="http://schemas.microsoft.com/office/drawing/2014/main" id="{0344E94A-F09B-444D-9B18-E30FF6B2DB9A}"/>
              </a:ext>
            </a:extLst>
          </p:cNvPr>
          <p:cNvSpPr>
            <a:spLocks xmlns:a="http://schemas.openxmlformats.org/drawingml/2006/main" noGrp="1"/>
          </p:cNvSpPr>
          <p:nvPr/>
        </p:nvSpPr>
        <p:spPr>
          <a:xfrm xmlns:a="http://schemas.openxmlformats.org/drawingml/2006/main">
            <a:off x="857250" y="5438775"/>
            <a:ext cx="1809750" cy="400050"/>
          </a:xfrm>
          <a:prstGeom xmlns:a="http://schemas.openxmlformats.org/drawingml/2006/main" prst="roundRect">
            <a:avLst>
              <a:gd name="adj" fmla="val 19048"/>
            </a:avLst>
          </a:prstGeom>
          <a:solidFill xmlns:a="http://schemas.openxmlformats.org/drawingml/2006/main">
            <a:srgbClr val="EAF0F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F278D980-AE2D-41FF-881A-CA38ABB84634}"/>
              </a:ext>
            </a:extLst>
          </p:cNvPr>
          <p:cNvSpPr>
            <a:spLocks xmlns:a="http://schemas.openxmlformats.org/drawingml/2006/main" noGrp="1"/>
          </p:cNvSpPr>
          <p:nvPr/>
        </p:nvSpPr>
        <p:spPr>
          <a:xfrm xmlns:a="http://schemas.openxmlformats.org/drawingml/2006/main">
            <a:off x="1066800" y="5534025"/>
            <a:ext cx="1390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1639A6"/>
                </a:solidFill>
                <a:latin typeface="Helvetica Neue"/>
                <a:ea typeface="Helvetica Neue"/>
                <a:cs typeface="Helvetica Neue"/>
              </a:defRPr>
            </a:pPr>
            <a:r>
              <a:rPr sz="1125" b="1">
                <a:solidFill>
                  <a:srgbClr val="1639A6"/>
                </a:solidFill>
                <a:latin typeface="Helvetica Neue"/>
                <a:ea typeface="Helvetica Neue"/>
                <a:cs typeface="Helvetica Neue"/>
              </a:rPr>
              <a:t>PT retained</a:t>
            </a:r>
          </a:p>
        </p:txBody>
      </p:sp>
      <p:sp>
        <p:nvSpPr>
          <p:cNvPr id="29" name="">
            <a:extLst xmlns:a="http://schemas.openxmlformats.org/drawingml/2006/main">
              <a:ext uri="{FF2B5EF4-FFF2-40B4-BE49-F238E27FC236}">
                <a16:creationId xmlns:a16="http://schemas.microsoft.com/office/drawing/2014/main" id="{62918914-6C66-4532-A4FD-BC56DB048130}"/>
              </a:ext>
            </a:extLst>
          </p:cNvPr>
          <p:cNvSpPr>
            <a:spLocks xmlns:a="http://schemas.openxmlformats.org/drawingml/2006/main" noGrp="1"/>
          </p:cNvSpPr>
          <p:nvPr/>
        </p:nvSpPr>
        <p:spPr>
          <a:xfrm xmlns:a="http://schemas.openxmlformats.org/drawingml/2006/main">
            <a:off x="762000" y="6076950"/>
            <a:ext cx="4476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0">
                <a:solidFill>
                  <a:srgbClr val="53606B"/>
                </a:solidFill>
                <a:latin typeface="Helvetica Neue"/>
                <a:ea typeface="Helvetica Neue"/>
                <a:cs typeface="Helvetica Neue"/>
              </a:defRPr>
            </a:pPr>
            <a:r>
              <a:rPr sz="1275" b="0">
                <a:solidFill>
                  <a:srgbClr val="53606B"/>
                </a:solidFill>
                <a:latin typeface="Helvetica Neue"/>
                <a:ea typeface="Helvetica Neue"/>
                <a:cs typeface="Helvetica Neue"/>
              </a:rPr>
              <a:t>Stock exposure stays with the holder.</a:t>
            </a:r>
          </a:p>
        </p:txBody>
      </p:sp>
    </p:spTree>
    <p:extLst>
      <p:ext uri="{BB962C8B-B14F-4D97-AF65-F5344CB8AC3E}">
        <p14:creationId xmlns:p14="http://schemas.microsoft.com/office/powerpoint/2010/main" val="567212040"/>
      </p:ext>
    </p:extLst>
  </p:cSld>
</p:sld>
</file>

<file path=ppt/slides/slide3.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1BDA6A25-FB20-4F3E-8665-376866CD8A8B}"/>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E3217F6-6DDA-432E-9665-AEA21133263F}"/>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32057FDD-5D14-4561-92DB-653722E0CFB6}"/>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FD0E6B68-4245-44FD-9BD3-05579DDA00B1}"/>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deposit, two claims</a:t>
            </a:r>
          </a:p>
        </p:txBody>
      </p:sp>
      <p:sp>
        <p:nvSpPr>
          <p:cNvPr id="5" name="">
            <a:extLst xmlns:a="http://schemas.openxmlformats.org/drawingml/2006/main">
              <a:ext uri="{FF2B5EF4-FFF2-40B4-BE49-F238E27FC236}">
                <a16:creationId xmlns:a16="http://schemas.microsoft.com/office/drawing/2014/main" id="{431562E4-457A-4532-8D90-E6A1DCF29D54}"/>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03</a:t>
            </a:r>
          </a:p>
        </p:txBody>
      </p:sp>
      <p:sp>
        <p:nvSpPr>
          <p:cNvPr id="6" name="xStock">
            <a:extLst xmlns:a="http://schemas.openxmlformats.org/drawingml/2006/main">
              <a:ext uri="{FF2B5EF4-FFF2-40B4-BE49-F238E27FC236}">
                <a16:creationId xmlns:a16="http://schemas.microsoft.com/office/drawing/2014/main" id="{258D44F4-D345-48D7-AB0B-4C81C75B7346}"/>
              </a:ext>
            </a:extLst>
          </p:cNvPr>
          <p:cNvSpPr>
            <a:spLocks xmlns:a="http://schemas.openxmlformats.org/drawingml/2006/main" noGrp="1"/>
          </p:cNvSpPr>
          <p:nvPr/>
        </p:nvSpPr>
        <p:spPr>
          <a:xfrm xmlns:a="http://schemas.openxmlformats.org/drawingml/2006/main">
            <a:off x="742950" y="2705100"/>
            <a:ext cx="1619250" cy="952500"/>
          </a:xfrm>
          <a:prstGeom xmlns:a="http://schemas.openxmlformats.org/drawingml/2006/main" prst="roundRect">
            <a:avLst>
              <a:gd name="adj" fmla="val 14000"/>
            </a:avLst>
          </a:prstGeom>
          <a:solidFill xmlns:a="http://schemas.openxmlformats.org/drawingml/2006/main">
            <a:srgbClr val="101820"/>
          </a:solidFill>
          <a:ln xmlns:a="http://schemas.openxmlformats.org/drawingml/2006/main" w="9525">
            <a:solidFill>
              <a:srgbClr val="101820"/>
            </a:solidFill>
            <a:prstDash val="solid"/>
          </a:ln>
        </p:spPr>
      </p:sp>
      <p:sp>
        <p:nvSpPr>
          <p:cNvPr id="7" name="">
            <a:extLst xmlns:a="http://schemas.openxmlformats.org/drawingml/2006/main">
              <a:ext uri="{FF2B5EF4-FFF2-40B4-BE49-F238E27FC236}">
                <a16:creationId xmlns:a16="http://schemas.microsoft.com/office/drawing/2014/main" id="{8BBAB7FE-6527-471C-82BD-61CA58FEB634}"/>
              </a:ext>
            </a:extLst>
          </p:cNvPr>
          <p:cNvSpPr>
            <a:spLocks xmlns:a="http://schemas.openxmlformats.org/drawingml/2006/main" noGrp="1"/>
          </p:cNvSpPr>
          <p:nvPr/>
        </p:nvSpPr>
        <p:spPr>
          <a:xfrm xmlns:a="http://schemas.openxmlformats.org/drawingml/2006/main">
            <a:off x="981075" y="2914650"/>
            <a:ext cx="1143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2400" b="1">
                <a:solidFill>
                  <a:srgbClr val="FFFFFF"/>
                </a:solidFill>
                <a:latin typeface="Helvetica Neue"/>
                <a:ea typeface="Helvetica Neue"/>
                <a:cs typeface="Helvetica Neue"/>
              </a:defRPr>
            </a:pPr>
            <a:r>
              <a:rPr sz="2400" b="1">
                <a:solidFill>
                  <a:srgbClr val="FFFFFF"/>
                </a:solidFill>
                <a:latin typeface="Helvetica Neue"/>
                <a:ea typeface="Helvetica Neue"/>
                <a:cs typeface="Helvetica Neue"/>
              </a:rPr>
              <a:t>xStock</a:t>
            </a:r>
          </a:p>
        </p:txBody>
      </p:sp>
      <p:sp>
        <p:nvSpPr>
          <p:cNvPr id="8" name="Vault">
            <a:extLst xmlns:a="http://schemas.openxmlformats.org/drawingml/2006/main">
              <a:ext uri="{FF2B5EF4-FFF2-40B4-BE49-F238E27FC236}">
                <a16:creationId xmlns:a16="http://schemas.microsoft.com/office/drawing/2014/main" id="{F9CA674D-482D-4083-8E2D-85AA725E9DDC}"/>
              </a:ext>
            </a:extLst>
          </p:cNvPr>
          <p:cNvSpPr>
            <a:spLocks xmlns:a="http://schemas.openxmlformats.org/drawingml/2006/main" noGrp="1"/>
          </p:cNvSpPr>
          <p:nvPr/>
        </p:nvSpPr>
        <p:spPr>
          <a:xfrm xmlns:a="http://schemas.openxmlformats.org/drawingml/2006/main">
            <a:off x="3676650" y="2533650"/>
            <a:ext cx="2095500" cy="1295400"/>
          </a:xfrm>
          <a:prstGeom xmlns:a="http://schemas.openxmlformats.org/drawingml/2006/main" prst="roundRect">
            <a:avLst>
              <a:gd name="adj" fmla="val 11765"/>
            </a:avLst>
          </a:prstGeom>
          <a:solidFill xmlns:a="http://schemas.openxmlformats.org/drawingml/2006/main">
            <a:srgbClr val="FFFEFB"/>
          </a:solidFill>
          <a:ln xmlns:a="http://schemas.openxmlformats.org/drawingml/2006/main" w="9525">
            <a:solidFill>
              <a:srgbClr val="D7D2C8"/>
            </a:solidFill>
            <a:prstDash val="solid"/>
          </a:ln>
        </p:spPr>
      </p:sp>
      <p:sp>
        <p:nvSpPr>
          <p:cNvPr id="9" name="">
            <a:extLst xmlns:a="http://schemas.openxmlformats.org/drawingml/2006/main">
              <a:ext uri="{FF2B5EF4-FFF2-40B4-BE49-F238E27FC236}">
                <a16:creationId xmlns:a16="http://schemas.microsoft.com/office/drawing/2014/main" id="{6F46A6C9-4DF5-4FA6-BF9D-61566B272885}"/>
              </a:ext>
            </a:extLst>
          </p:cNvPr>
          <p:cNvSpPr>
            <a:spLocks xmlns:a="http://schemas.openxmlformats.org/drawingml/2006/main" noGrp="1"/>
          </p:cNvSpPr>
          <p:nvPr/>
        </p:nvSpPr>
        <p:spPr>
          <a:xfrm xmlns:a="http://schemas.openxmlformats.org/drawingml/2006/main">
            <a:off x="4038600" y="2724150"/>
            <a:ext cx="1352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LOCKED</a:t>
            </a:r>
          </a:p>
        </p:txBody>
      </p:sp>
      <p:sp>
        <p:nvSpPr>
          <p:cNvPr id="10" name="">
            <a:extLst xmlns:a="http://schemas.openxmlformats.org/drawingml/2006/main">
              <a:ext uri="{FF2B5EF4-FFF2-40B4-BE49-F238E27FC236}">
                <a16:creationId xmlns:a16="http://schemas.microsoft.com/office/drawing/2014/main" id="{A376B670-B01A-45E2-AE4E-78C0C3CFA3FE}"/>
              </a:ext>
            </a:extLst>
          </p:cNvPr>
          <p:cNvSpPr>
            <a:spLocks xmlns:a="http://schemas.openxmlformats.org/drawingml/2006/main" noGrp="1"/>
          </p:cNvSpPr>
          <p:nvPr/>
        </p:nvSpPr>
        <p:spPr>
          <a:xfrm xmlns:a="http://schemas.openxmlformats.org/drawingml/2006/main">
            <a:off x="4038600" y="3038475"/>
            <a:ext cx="135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2325" b="1">
                <a:solidFill>
                  <a:srgbClr val="101820"/>
                </a:solidFill>
                <a:latin typeface="Helvetica Neue"/>
                <a:ea typeface="Helvetica Neue"/>
                <a:cs typeface="Helvetica Neue"/>
              </a:defRPr>
            </a:pPr>
            <a:r>
              <a:rPr sz="2325" b="1">
                <a:solidFill>
                  <a:srgbClr val="101820"/>
                </a:solidFill>
                <a:latin typeface="Helvetica Neue"/>
                <a:ea typeface="Helvetica Neue"/>
                <a:cs typeface="Helvetica Neue"/>
              </a:rPr>
              <a:t>VAULT</a:t>
            </a:r>
          </a:p>
        </p:txBody>
      </p:sp>
      <p:sp>
        <p:nvSpPr>
          <p:cNvPr id="11" name="Stock exposure PT">
            <a:extLst xmlns:a="http://schemas.openxmlformats.org/drawingml/2006/main">
              <a:ext uri="{FF2B5EF4-FFF2-40B4-BE49-F238E27FC236}">
                <a16:creationId xmlns:a16="http://schemas.microsoft.com/office/drawing/2014/main" id="{B3269545-BA6A-466A-B68C-207F8F7A5506}"/>
              </a:ext>
            </a:extLst>
          </p:cNvPr>
          <p:cNvSpPr>
            <a:spLocks xmlns:a="http://schemas.openxmlformats.org/drawingml/2006/main" noGrp="1"/>
          </p:cNvSpPr>
          <p:nvPr/>
        </p:nvSpPr>
        <p:spPr>
          <a:xfrm xmlns:a="http://schemas.openxmlformats.org/drawingml/2006/main">
            <a:off x="7477125" y="1714500"/>
            <a:ext cx="3714750" cy="1428750"/>
          </a:xfrm>
          <a:prstGeom xmlns:a="http://schemas.openxmlformats.org/drawingml/2006/main" prst="roundRect">
            <a:avLst>
              <a:gd name="adj" fmla="val 9333"/>
            </a:avLst>
          </a:prstGeom>
          <a:solidFill xmlns:a="http://schemas.openxmlformats.org/drawingml/2006/main">
            <a:srgbClr val="EAF0FF"/>
          </a:solidFill>
          <a:ln xmlns:a="http://schemas.openxmlformats.org/drawingml/2006/main" w="9525">
            <a:solidFill>
              <a:srgbClr val="2457F5"/>
            </a:solidFill>
            <a:prstDash val="solid"/>
          </a:ln>
        </p:spPr>
      </p:sp>
      <p:sp>
        <p:nvSpPr>
          <p:cNvPr id="12" name="">
            <a:extLst xmlns:a="http://schemas.openxmlformats.org/drawingml/2006/main">
              <a:ext uri="{FF2B5EF4-FFF2-40B4-BE49-F238E27FC236}">
                <a16:creationId xmlns:a16="http://schemas.microsoft.com/office/drawing/2014/main" id="{6B05DF28-67CE-4D2B-8E57-E9867F6CB683}"/>
              </a:ext>
            </a:extLst>
          </p:cNvPr>
          <p:cNvSpPr>
            <a:spLocks xmlns:a="http://schemas.openxmlformats.org/drawingml/2006/main" noGrp="1"/>
          </p:cNvSpPr>
          <p:nvPr/>
        </p:nvSpPr>
        <p:spPr>
          <a:xfrm xmlns:a="http://schemas.openxmlformats.org/drawingml/2006/main">
            <a:off x="7753350" y="1924050"/>
            <a:ext cx="762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PT</a:t>
            </a:r>
          </a:p>
        </p:txBody>
      </p:sp>
      <p:sp>
        <p:nvSpPr>
          <p:cNvPr id="13" name="">
            <a:extLst xmlns:a="http://schemas.openxmlformats.org/drawingml/2006/main">
              <a:ext uri="{FF2B5EF4-FFF2-40B4-BE49-F238E27FC236}">
                <a16:creationId xmlns:a16="http://schemas.microsoft.com/office/drawing/2014/main" id="{52073FB6-BE3E-4E18-8ED2-A77C1CC051D6}"/>
              </a:ext>
            </a:extLst>
          </p:cNvPr>
          <p:cNvSpPr>
            <a:spLocks xmlns:a="http://schemas.openxmlformats.org/drawingml/2006/main" noGrp="1"/>
          </p:cNvSpPr>
          <p:nvPr/>
        </p:nvSpPr>
        <p:spPr>
          <a:xfrm xmlns:a="http://schemas.openxmlformats.org/drawingml/2006/main">
            <a:off x="7753350" y="2228850"/>
            <a:ext cx="304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639A6"/>
                </a:solidFill>
                <a:latin typeface="Helvetica Neue"/>
                <a:ea typeface="Helvetica Neue"/>
                <a:cs typeface="Helvetica Neue"/>
              </a:defRPr>
            </a:pPr>
            <a:r>
              <a:rPr sz="2100" b="1">
                <a:solidFill>
                  <a:srgbClr val="1639A6"/>
                </a:solidFill>
                <a:latin typeface="Helvetica Neue"/>
                <a:ea typeface="Helvetica Neue"/>
                <a:cs typeface="Helvetica Neue"/>
              </a:rPr>
              <a:t>Stock exposure</a:t>
            </a:r>
          </a:p>
        </p:txBody>
      </p:sp>
      <p:sp>
        <p:nvSpPr>
          <p:cNvPr id="14" name="">
            <a:extLst xmlns:a="http://schemas.openxmlformats.org/drawingml/2006/main">
              <a:ext uri="{FF2B5EF4-FFF2-40B4-BE49-F238E27FC236}">
                <a16:creationId xmlns:a16="http://schemas.microsoft.com/office/drawing/2014/main" id="{B9208D66-71A5-4186-81F0-A7E16A3D3669}"/>
              </a:ext>
            </a:extLst>
          </p:cNvPr>
          <p:cNvSpPr>
            <a:spLocks xmlns:a="http://schemas.openxmlformats.org/drawingml/2006/main" noGrp="1"/>
          </p:cNvSpPr>
          <p:nvPr/>
        </p:nvSpPr>
        <p:spPr>
          <a:xfrm xmlns:a="http://schemas.openxmlformats.org/drawingml/2006/main">
            <a:off x="7753350" y="2647950"/>
            <a:ext cx="3095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Collateral remaining after this event’s dividend allocation.</a:t>
            </a:r>
          </a:p>
        </p:txBody>
      </p:sp>
      <p:sp>
        <p:nvSpPr>
          <p:cNvPr id="15" name="Dividend rights DR">
            <a:extLst xmlns:a="http://schemas.openxmlformats.org/drawingml/2006/main">
              <a:ext uri="{FF2B5EF4-FFF2-40B4-BE49-F238E27FC236}">
                <a16:creationId xmlns:a16="http://schemas.microsoft.com/office/drawing/2014/main" id="{5609668C-5221-4E73-8D8A-52AEA955C914}"/>
              </a:ext>
            </a:extLst>
          </p:cNvPr>
          <p:cNvSpPr>
            <a:spLocks xmlns:a="http://schemas.openxmlformats.org/drawingml/2006/main" noGrp="1"/>
          </p:cNvSpPr>
          <p:nvPr/>
        </p:nvSpPr>
        <p:spPr>
          <a:xfrm xmlns:a="http://schemas.openxmlformats.org/drawingml/2006/main">
            <a:off x="7477125" y="3562350"/>
            <a:ext cx="3714750" cy="1428750"/>
          </a:xfrm>
          <a:prstGeom xmlns:a="http://schemas.openxmlformats.org/drawingml/2006/main" prst="roundRect">
            <a:avLst>
              <a:gd name="adj" fmla="val 9333"/>
            </a:avLst>
          </a:prstGeom>
          <a:solidFill xmlns:a="http://schemas.openxmlformats.org/drawingml/2006/main">
            <a:srgbClr val="F8E8D4"/>
          </a:solidFill>
          <a:ln xmlns:a="http://schemas.openxmlformats.org/drawingml/2006/main" w="9525">
            <a:solidFill>
              <a:srgbClr val="C46A00"/>
            </a:solidFill>
            <a:prstDash val="solid"/>
          </a:ln>
        </p:spPr>
      </p:sp>
      <p:sp>
        <p:nvSpPr>
          <p:cNvPr id="16" name="">
            <a:extLst xmlns:a="http://schemas.openxmlformats.org/drawingml/2006/main">
              <a:ext uri="{FF2B5EF4-FFF2-40B4-BE49-F238E27FC236}">
                <a16:creationId xmlns:a16="http://schemas.microsoft.com/office/drawing/2014/main" id="{85518A96-29FA-4793-BCB7-CCDE81316C1E}"/>
              </a:ext>
            </a:extLst>
          </p:cNvPr>
          <p:cNvSpPr>
            <a:spLocks xmlns:a="http://schemas.openxmlformats.org/drawingml/2006/main" noGrp="1"/>
          </p:cNvSpPr>
          <p:nvPr/>
        </p:nvSpPr>
        <p:spPr>
          <a:xfrm xmlns:a="http://schemas.openxmlformats.org/drawingml/2006/main">
            <a:off x="7753350" y="3771900"/>
            <a:ext cx="762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DR</a:t>
            </a:r>
          </a:p>
        </p:txBody>
      </p:sp>
      <p:sp>
        <p:nvSpPr>
          <p:cNvPr id="17" name="">
            <a:extLst xmlns:a="http://schemas.openxmlformats.org/drawingml/2006/main">
              <a:ext uri="{FF2B5EF4-FFF2-40B4-BE49-F238E27FC236}">
                <a16:creationId xmlns:a16="http://schemas.microsoft.com/office/drawing/2014/main" id="{4097F1B0-D54D-4A06-B2BC-49B991DD8DB6}"/>
              </a:ext>
            </a:extLst>
          </p:cNvPr>
          <p:cNvSpPr>
            <a:spLocks xmlns:a="http://schemas.openxmlformats.org/drawingml/2006/main" noGrp="1"/>
          </p:cNvSpPr>
          <p:nvPr/>
        </p:nvSpPr>
        <p:spPr>
          <a:xfrm xmlns:a="http://schemas.openxmlformats.org/drawingml/2006/main">
            <a:off x="7753350" y="4076700"/>
            <a:ext cx="304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7A4000"/>
                </a:solidFill>
                <a:latin typeface="Helvetica Neue"/>
                <a:ea typeface="Helvetica Neue"/>
                <a:cs typeface="Helvetica Neue"/>
              </a:defRPr>
            </a:pPr>
            <a:r>
              <a:rPr sz="2100" b="1">
                <a:solidFill>
                  <a:srgbClr val="7A4000"/>
                </a:solidFill>
                <a:latin typeface="Helvetica Neue"/>
                <a:ea typeface="Helvetica Neue"/>
                <a:cs typeface="Helvetica Neue"/>
              </a:rPr>
              <a:t>Dividend rights</a:t>
            </a:r>
          </a:p>
        </p:txBody>
      </p:sp>
      <p:sp>
        <p:nvSpPr>
          <p:cNvPr id="18" name="">
            <a:extLst xmlns:a="http://schemas.openxmlformats.org/drawingml/2006/main">
              <a:ext uri="{FF2B5EF4-FFF2-40B4-BE49-F238E27FC236}">
                <a16:creationId xmlns:a16="http://schemas.microsoft.com/office/drawing/2014/main" id="{895E77A3-C640-4696-BCC0-2D9DC3BFE1BE}"/>
              </a:ext>
            </a:extLst>
          </p:cNvPr>
          <p:cNvSpPr>
            <a:spLocks xmlns:a="http://schemas.openxmlformats.org/drawingml/2006/main" noGrp="1"/>
          </p:cNvSpPr>
          <p:nvPr/>
        </p:nvSpPr>
        <p:spPr>
          <a:xfrm xmlns:a="http://schemas.openxmlformats.org/drawingml/2006/main">
            <a:off x="7753350" y="4495800"/>
            <a:ext cx="3095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This event’s dividend-derived share of the collateral.</a:t>
            </a:r>
          </a:p>
        </p:txBody>
      </p:sp>
      <p:cxnSp>
        <p:nvCxnSpPr>
          <p:cNvPr id="43" name=""/>
          <p:cNvCxnSpPr>
            <a:stCxn xmlns:a="http://schemas.openxmlformats.org/drawingml/2006/main" id="6" idx="3"/>
            <a:endCxn xmlns:a="http://schemas.openxmlformats.org/drawingml/2006/main" id="8" idx="1"/>
          </p:cNvCxnSpPr>
          <p:nvPr/>
        </p:nvCxnSpPr>
        <p:spPr>
          <a:xfrm xmlns:a="http://schemas.openxmlformats.org/drawingml/2006/main">
            <a:off x="2362200" y="3181350"/>
            <a:ext cx="1314450" cy="0"/>
          </a:xfrm>
          <a:prstGeom xmlns:a="http://schemas.openxmlformats.org/drawingml/2006/main" prst="straightConnector1">
            <a:avLst/>
          </a:prstGeom>
          <a:ln xmlns:a="http://schemas.openxmlformats.org/drawingml/2006/main" w="19050">
            <a:solidFill>
              <a:srgbClr val="101820"/>
            </a:solidFill>
            <a:prstDash val="solid"/>
            <a:tailEnd type="triangle" w="sm" len="sm"/>
          </a:ln>
        </p:spPr>
      </p:cxnSp>
      <p:cxnSp>
        <p:nvCxnSpPr>
          <p:cNvPr id="44" name=""/>
          <p:cNvCxnSpPr>
            <a:stCxn xmlns:a="http://schemas.openxmlformats.org/drawingml/2006/main" id="8" idx="3"/>
            <a:endCxn xmlns:a="http://schemas.openxmlformats.org/drawingml/2006/main" id="11" idx="1"/>
          </p:cNvCxnSpPr>
          <p:nvPr/>
        </p:nvCxnSpPr>
        <p:spPr>
          <a:xfrm xmlns:a="http://schemas.openxmlformats.org/drawingml/2006/main" flipV="1">
            <a:off x="5772150" y="2428875"/>
            <a:ext cx="1704975" cy="752475"/>
          </a:xfrm>
          <a:prstGeom xmlns:a="http://schemas.openxmlformats.org/drawingml/2006/main" prst="straightConnector1">
            <a:avLst/>
          </a:prstGeom>
          <a:ln xmlns:a="http://schemas.openxmlformats.org/drawingml/2006/main" w="19050">
            <a:solidFill>
              <a:srgbClr val="2457F5"/>
            </a:solidFill>
            <a:prstDash val="solid"/>
            <a:tailEnd type="triangle" w="sm" len="sm"/>
          </a:ln>
        </p:spPr>
      </p:cxnSp>
      <p:cxnSp>
        <p:nvCxnSpPr>
          <p:cNvPr id="45" name=""/>
          <p:cNvCxnSpPr>
            <a:stCxn xmlns:a="http://schemas.openxmlformats.org/drawingml/2006/main" id="8" idx="3"/>
            <a:endCxn xmlns:a="http://schemas.openxmlformats.org/drawingml/2006/main" id="15" idx="1"/>
          </p:cNvCxnSpPr>
          <p:nvPr/>
        </p:nvCxnSpPr>
        <p:spPr>
          <a:xfrm xmlns:a="http://schemas.openxmlformats.org/drawingml/2006/main">
            <a:off x="5772150" y="3181350"/>
            <a:ext cx="1704975" cy="1095375"/>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sp>
        <p:nvSpPr>
          <p:cNvPr id="22" name="">
            <a:extLst xmlns:a="http://schemas.openxmlformats.org/drawingml/2006/main">
              <a:ext uri="{FF2B5EF4-FFF2-40B4-BE49-F238E27FC236}">
                <a16:creationId xmlns:a16="http://schemas.microsoft.com/office/drawing/2014/main" id="{A74F685A-FE26-47B4-A435-E3A0CFE80EAF}"/>
              </a:ext>
            </a:extLst>
          </p:cNvPr>
          <p:cNvSpPr>
            <a:spLocks xmlns:a="http://schemas.openxmlformats.org/drawingml/2006/main" noGrp="1"/>
          </p:cNvSpPr>
          <p:nvPr/>
        </p:nvSpPr>
        <p:spPr>
          <a:xfrm xmlns:a="http://schemas.openxmlformats.org/drawingml/2006/main">
            <a:off x="742950" y="5505450"/>
            <a:ext cx="7334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Both claims are backed by the same locked xStock balance.</a:t>
            </a:r>
          </a:p>
        </p:txBody>
      </p:sp>
      <p:sp>
        <p:nvSpPr>
          <p:cNvPr id="23" name="">
            <a:extLst xmlns:a="http://schemas.openxmlformats.org/drawingml/2006/main">
              <a:ext uri="{FF2B5EF4-FFF2-40B4-BE49-F238E27FC236}">
                <a16:creationId xmlns:a16="http://schemas.microsoft.com/office/drawing/2014/main" id="{D152ACA6-4981-4B3A-8726-27FAFCE9490E}"/>
              </a:ext>
            </a:extLst>
          </p:cNvPr>
          <p:cNvSpPr>
            <a:spLocks xmlns:a="http://schemas.openxmlformats.org/drawingml/2006/main" noGrp="1"/>
          </p:cNvSpPr>
          <p:nvPr/>
        </p:nvSpPr>
        <p:spPr>
          <a:xfrm xmlns:a="http://schemas.openxmlformats.org/drawingml/2006/main">
            <a:off x="742950" y="5962650"/>
            <a:ext cx="733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0">
                <a:solidFill>
                  <a:srgbClr val="53606B"/>
                </a:solidFill>
                <a:latin typeface="Helvetica Neue"/>
                <a:ea typeface="Helvetica Neue"/>
                <a:cs typeface="Helvetica Neue"/>
              </a:defRPr>
            </a:pPr>
            <a:r>
              <a:rPr sz="1275" b="0">
                <a:solidFill>
                  <a:srgbClr val="53606B"/>
                </a:solidFill>
                <a:latin typeface="Helvetica Neue"/>
                <a:ea typeface="Helvetica Neue"/>
                <a:cs typeface="Helvetica Neue"/>
              </a:rPr>
              <a:t>Redeems in xStock units; dollar value can change.</a:t>
            </a:r>
          </a:p>
        </p:txBody>
      </p:sp>
      <p:sp>
        <p:nvSpPr>
          <p:cNvPr id="24" name="">
            <a:extLst xmlns:a="http://schemas.openxmlformats.org/drawingml/2006/main">
              <a:ext uri="{FF2B5EF4-FFF2-40B4-BE49-F238E27FC236}">
                <a16:creationId xmlns:a16="http://schemas.microsoft.com/office/drawing/2014/main" id="{C1EA4C08-7B2D-4A2B-9F4C-72B7F4534256}"/>
              </a:ext>
            </a:extLst>
          </p:cNvPr>
          <p:cNvSpPr>
            <a:spLocks xmlns:a="http://schemas.openxmlformats.org/drawingml/2006/main" noGrp="1"/>
          </p:cNvSpPr>
          <p:nvPr/>
        </p:nvSpPr>
        <p:spPr>
          <a:xfrm xmlns:a="http://schemas.openxmlformats.org/drawingml/2006/main">
            <a:off x="8801100" y="6048375"/>
            <a:ext cx="266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SCHEMATIC, NOT A 50/50 ALLOCATION</a:t>
            </a:r>
          </a:p>
        </p:txBody>
      </p:sp>
    </p:spTree>
    <p:extLst>
      <p:ext uri="{BB962C8B-B14F-4D97-AF65-F5344CB8AC3E}">
        <p14:creationId xmlns:p14="http://schemas.microsoft.com/office/powerpoint/2010/main" val="1767241239"/>
      </p:ext>
    </p:extLst>
  </p:cSld>
</p:sld>
</file>

<file path=ppt/slides/slide4.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C90979A-7350-4A22-AF32-39E571DC432E}"/>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29D7BD0-14CA-452D-AAD4-274BD62E2308}"/>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DDE1CE7-A139-4246-B438-271A8AD71D22}"/>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1980E468-46BE-4AE0-9513-A995ACDB4718}"/>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Established markets, familiar behavior</a:t>
            </a:r>
          </a:p>
        </p:txBody>
      </p:sp>
      <p:sp>
        <p:nvSpPr>
          <p:cNvPr id="5" name="">
            <a:extLst xmlns:a="http://schemas.openxmlformats.org/drawingml/2006/main">
              <a:ext uri="{FF2B5EF4-FFF2-40B4-BE49-F238E27FC236}">
                <a16:creationId xmlns:a16="http://schemas.microsoft.com/office/drawing/2014/main" id="{B1D43F62-DA3E-425B-8DD5-306E1CEDCA5B}"/>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04</a:t>
            </a:r>
          </a:p>
        </p:txBody>
      </p:sp>
      <p:sp>
        <p:nvSpPr>
          <p:cNvPr id="6" name="">
            <a:extLst xmlns:a="http://schemas.openxmlformats.org/drawingml/2006/main">
              <a:ext uri="{FF2B5EF4-FFF2-40B4-BE49-F238E27FC236}">
                <a16:creationId xmlns:a16="http://schemas.microsoft.com/office/drawing/2014/main" id="{BC3F20A0-0F87-4B96-94BB-8A3A3217011E}"/>
              </a:ext>
            </a:extLst>
          </p:cNvPr>
          <p:cNvSpPr>
            <a:spLocks xmlns:a="http://schemas.openxmlformats.org/drawingml/2006/main" noGrp="1"/>
          </p:cNvSpPr>
          <p:nvPr/>
        </p:nvSpPr>
        <p:spPr>
          <a:xfrm xmlns:a="http://schemas.openxmlformats.org/drawingml/2006/main">
            <a:off x="7620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LISTED DIVIDEND DERIVATIVES</a:t>
            </a:r>
          </a:p>
        </p:txBody>
      </p:sp>
      <p:sp>
        <p:nvSpPr>
          <p:cNvPr id="7" name="">
            <a:extLst xmlns:a="http://schemas.openxmlformats.org/drawingml/2006/main">
              <a:ext uri="{FF2B5EF4-FFF2-40B4-BE49-F238E27FC236}">
                <a16:creationId xmlns:a16="http://schemas.microsoft.com/office/drawing/2014/main" id="{F07D310D-9BB3-4BF2-99CB-CEC744F99053}"/>
              </a:ext>
            </a:extLst>
          </p:cNvPr>
          <p:cNvSpPr>
            <a:spLocks xmlns:a="http://schemas.openxmlformats.org/drawingml/2006/main" noGrp="1"/>
          </p:cNvSpPr>
          <p:nvPr/>
        </p:nvSpPr>
        <p:spPr>
          <a:xfrm xmlns:a="http://schemas.openxmlformats.org/drawingml/2006/main">
            <a:off x="762000" y="2247900"/>
            <a:ext cx="4476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101820"/>
                </a:solidFill>
                <a:latin typeface="Helvetica Neue"/>
                <a:ea typeface="Helvetica Neue"/>
                <a:cs typeface="Helvetica Neue"/>
              </a:defRPr>
            </a:pPr>
            <a:r>
              <a:rPr sz="5700" b="1">
                <a:solidFill>
                  <a:srgbClr val="101820"/>
                </a:solidFill>
                <a:latin typeface="Helvetica Neue"/>
                <a:ea typeface="Helvetica Neue"/>
                <a:cs typeface="Helvetica Neue"/>
              </a:rPr>
              <a:t>21M+</a:t>
            </a:r>
          </a:p>
        </p:txBody>
      </p:sp>
      <p:sp>
        <p:nvSpPr>
          <p:cNvPr id="8" name="">
            <a:extLst xmlns:a="http://schemas.openxmlformats.org/drawingml/2006/main">
              <a:ext uri="{FF2B5EF4-FFF2-40B4-BE49-F238E27FC236}">
                <a16:creationId xmlns:a16="http://schemas.microsoft.com/office/drawing/2014/main" id="{3CC27D4E-C6AC-45A1-B4A8-6EDED2B2BFAA}"/>
              </a:ext>
            </a:extLst>
          </p:cNvPr>
          <p:cNvSpPr>
            <a:spLocks xmlns:a="http://schemas.openxmlformats.org/drawingml/2006/main" noGrp="1"/>
          </p:cNvSpPr>
          <p:nvPr/>
        </p:nvSpPr>
        <p:spPr>
          <a:xfrm xmlns:a="http://schemas.openxmlformats.org/drawingml/2006/main">
            <a:off x="781050" y="3238500"/>
            <a:ext cx="4572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dividend contracts traded on Eurex in 2024</a:t>
            </a:r>
          </a:p>
        </p:txBody>
      </p:sp>
      <p:sp>
        <p:nvSpPr>
          <p:cNvPr id="9" name="">
            <a:extLst xmlns:a="http://schemas.openxmlformats.org/drawingml/2006/main">
              <a:ext uri="{FF2B5EF4-FFF2-40B4-BE49-F238E27FC236}">
                <a16:creationId xmlns:a16="http://schemas.microsoft.com/office/drawing/2014/main" id="{97C82D39-D0FC-46FF-B112-93CA75CF7035}"/>
              </a:ext>
            </a:extLst>
          </p:cNvPr>
          <p:cNvSpPr>
            <a:spLocks xmlns:a="http://schemas.openxmlformats.org/drawingml/2006/main" noGrp="1"/>
          </p:cNvSpPr>
          <p:nvPr/>
        </p:nvSpPr>
        <p:spPr>
          <a:xfrm xmlns:a="http://schemas.openxmlformats.org/drawingml/2006/main">
            <a:off x="6096000" y="1885950"/>
            <a:ext cx="9525" cy="21907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BE546B5-20FF-4610-A577-9272DA1BCBE6}"/>
              </a:ext>
            </a:extLst>
          </p:cNvPr>
          <p:cNvSpPr>
            <a:spLocks xmlns:a="http://schemas.openxmlformats.org/drawingml/2006/main" noGrp="1"/>
          </p:cNvSpPr>
          <p:nvPr/>
        </p:nvSpPr>
        <p:spPr>
          <a:xfrm xmlns:a="http://schemas.openxmlformats.org/drawingml/2006/main">
            <a:off x="66675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ONCHAIN YIELD SEPARATION</a:t>
            </a:r>
          </a:p>
        </p:txBody>
      </p:sp>
      <p:sp>
        <p:nvSpPr>
          <p:cNvPr id="11" name="">
            <a:extLst xmlns:a="http://schemas.openxmlformats.org/drawingml/2006/main">
              <a:ext uri="{FF2B5EF4-FFF2-40B4-BE49-F238E27FC236}">
                <a16:creationId xmlns:a16="http://schemas.microsoft.com/office/drawing/2014/main" id="{BB67C3AF-FA64-4087-A962-ED6114991EF5}"/>
              </a:ext>
            </a:extLst>
          </p:cNvPr>
          <p:cNvSpPr>
            <a:spLocks xmlns:a="http://schemas.openxmlformats.org/drawingml/2006/main" noGrp="1"/>
          </p:cNvSpPr>
          <p:nvPr/>
        </p:nvSpPr>
        <p:spPr>
          <a:xfrm xmlns:a="http://schemas.openxmlformats.org/drawingml/2006/main">
            <a:off x="6667500" y="2247900"/>
            <a:ext cx="466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2457F5"/>
                </a:solidFill>
                <a:latin typeface="Helvetica Neue"/>
                <a:ea typeface="Helvetica Neue"/>
                <a:cs typeface="Helvetica Neue"/>
              </a:defRPr>
            </a:pPr>
            <a:r>
              <a:rPr sz="5700" b="1">
                <a:solidFill>
                  <a:srgbClr val="2457F5"/>
                </a:solidFill>
                <a:latin typeface="Helvetica Neue"/>
                <a:ea typeface="Helvetica Neue"/>
                <a:cs typeface="Helvetica Neue"/>
              </a:rPr>
              <a:t>$96.4M</a:t>
            </a:r>
          </a:p>
        </p:txBody>
      </p:sp>
      <p:sp>
        <p:nvSpPr>
          <p:cNvPr id="12" name="">
            <a:extLst xmlns:a="http://schemas.openxmlformats.org/drawingml/2006/main">
              <a:ext uri="{FF2B5EF4-FFF2-40B4-BE49-F238E27FC236}">
                <a16:creationId xmlns:a16="http://schemas.microsoft.com/office/drawing/2014/main" id="{A7B0A287-C050-4A2C-9D0F-8C6938F2A8B9}"/>
              </a:ext>
            </a:extLst>
          </p:cNvPr>
          <p:cNvSpPr>
            <a:spLocks xmlns:a="http://schemas.openxmlformats.org/drawingml/2006/main" noGrp="1"/>
          </p:cNvSpPr>
          <p:nvPr/>
        </p:nvSpPr>
        <p:spPr>
          <a:xfrm xmlns:a="http://schemas.openxmlformats.org/drawingml/2006/main">
            <a:off x="6686550" y="3238500"/>
            <a:ext cx="4476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average daily trading volume in 2024, reported by Pendle</a:t>
            </a:r>
          </a:p>
        </p:txBody>
      </p:sp>
      <p:sp>
        <p:nvSpPr>
          <p:cNvPr id="13" name="">
            <a:extLst xmlns:a="http://schemas.openxmlformats.org/drawingml/2006/main">
              <a:ext uri="{FF2B5EF4-FFF2-40B4-BE49-F238E27FC236}">
                <a16:creationId xmlns:a16="http://schemas.microsoft.com/office/drawing/2014/main" id="{A57073FA-7475-426E-B7C0-0C6D4D99FC50}"/>
              </a:ext>
            </a:extLst>
          </p:cNvPr>
          <p:cNvSpPr>
            <a:spLocks xmlns:a="http://schemas.openxmlformats.org/drawingml/2006/main" noGrp="1"/>
          </p:cNvSpPr>
          <p:nvPr/>
        </p:nvSpPr>
        <p:spPr>
          <a:xfrm xmlns:a="http://schemas.openxmlformats.org/drawingml/2006/main">
            <a:off x="762000" y="4762500"/>
            <a:ext cx="981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01820"/>
                </a:solidFill>
                <a:latin typeface="Helvetica Neue"/>
                <a:ea typeface="Helvetica Neue"/>
                <a:cs typeface="Helvetica Neue"/>
              </a:defRPr>
            </a:pPr>
            <a:r>
              <a:rPr b="1">
                <a:solidFill>
                  <a:srgbClr val="101820"/>
                </a:solidFill>
                <a:latin typeface="Helvetica Neue"/>
                <a:ea typeface="Helvetica Neue"/>
                <a:cs typeface="Helvetica Neue"/>
              </a:rPr>
              <a:t>Investors already trade dividends separately.</a:t>
            </a:r>
            <a:r>
              <a:rPr b="1">
                <a:solidFill>
                  <a:srgbClr val="101820"/>
                </a:solidFill>
                <a:latin typeface="Helvetica Neue"/>
                <a:ea typeface="Helvetica Neue"/>
                <a:cs typeface="Helvetica Neue"/>
              </a:rPr>
              <a:t>
Crypto users already separate yield.</a:t>
            </a:r>
          </a:p>
        </p:txBody>
      </p:sp>
      <p:sp>
        <p:nvSpPr>
          <p:cNvPr id="14" name="">
            <a:extLst xmlns:a="http://schemas.openxmlformats.org/drawingml/2006/main">
              <a:ext uri="{FF2B5EF4-FFF2-40B4-BE49-F238E27FC236}">
                <a16:creationId xmlns:a16="http://schemas.microsoft.com/office/drawing/2014/main" id="{16FA5AD1-98E6-4FD9-9D69-7421D0CE4802}"/>
              </a:ext>
            </a:extLst>
          </p:cNvPr>
          <p:cNvSpPr>
            <a:spLocks xmlns:a="http://schemas.openxmlformats.org/drawingml/2006/main" noGrp="1"/>
          </p:cNvSpPr>
          <p:nvPr/>
        </p:nvSpPr>
        <p:spPr>
          <a:xfrm xmlns:a="http://schemas.openxmlformats.org/drawingml/2006/main">
            <a:off x="762000" y="596265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0">
                <a:solidFill>
                  <a:srgbClr val="53606B"/>
                </a:solidFill>
                <a:latin typeface="Helvetica Neue"/>
                <a:ea typeface="Helvetica Neue"/>
                <a:cs typeface="Helvetica Neue"/>
              </a:defRPr>
            </a:pPr>
            <a:r>
              <a:rPr sz="1200" b="0">
                <a:solidFill>
                  <a:srgbClr val="53606B"/>
                </a:solidFill>
                <a:latin typeface="Helvetica Neue"/>
                <a:ea typeface="Helvetica Neue"/>
                <a:cs typeface="Helvetica Neue"/>
              </a:rPr>
              <a:t>Established markets for trading dividends and separating yield.</a:t>
            </a:r>
          </a:p>
        </p:txBody>
      </p:sp>
    </p:spTree>
    <p:extLst>
      <p:ext uri="{BB962C8B-B14F-4D97-AF65-F5344CB8AC3E}">
        <p14:creationId xmlns:p14="http://schemas.microsoft.com/office/powerpoint/2010/main" val="1326621710"/>
      </p:ext>
    </p:extLst>
  </p:cSld>
</p:sld>
</file>

<file path=ppt/slides/slide5.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3A0FB764-59F9-416E-B76B-A76ED15B9842}"/>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E297A75-BF94-4C80-B777-B3C5FCF631DC}"/>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329D019B-E825-461E-9E9D-48C111A0796C}"/>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F202B8FF-B348-4576-B0EE-01EF0FC54692}"/>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Tokenized stocks bring the collateral onchain</a:t>
            </a:r>
          </a:p>
        </p:txBody>
      </p:sp>
      <p:sp>
        <p:nvSpPr>
          <p:cNvPr id="5" name="">
            <a:extLst xmlns:a="http://schemas.openxmlformats.org/drawingml/2006/main">
              <a:ext uri="{FF2B5EF4-FFF2-40B4-BE49-F238E27FC236}">
                <a16:creationId xmlns:a16="http://schemas.microsoft.com/office/drawing/2014/main" id="{8A73E425-A8F5-4B8C-B2F6-1407E1F55810}"/>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05</a:t>
            </a:r>
          </a:p>
        </p:txBody>
      </p:sp>
      <p:sp>
        <p:nvSpPr>
          <p:cNvPr id="6" name="">
            <a:extLst xmlns:a="http://schemas.openxmlformats.org/drawingml/2006/main">
              <a:ext uri="{FF2B5EF4-FFF2-40B4-BE49-F238E27FC236}">
                <a16:creationId xmlns:a16="http://schemas.microsoft.com/office/drawing/2014/main" id="{47D599AF-0CAE-4233-AD06-428001314F22}"/>
              </a:ext>
            </a:extLst>
          </p:cNvPr>
          <p:cNvSpPr>
            <a:spLocks xmlns:a="http://schemas.openxmlformats.org/drawingml/2006/main" noGrp="1"/>
          </p:cNvSpPr>
          <p:nvPr/>
        </p:nvSpPr>
        <p:spPr>
          <a:xfrm xmlns:a="http://schemas.openxmlformats.org/drawingml/2006/main">
            <a:off x="762000" y="1981200"/>
            <a:ext cx="438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ANNUAL GLOBAL DIVIDENDS</a:t>
            </a:r>
          </a:p>
        </p:txBody>
      </p:sp>
      <p:sp>
        <p:nvSpPr>
          <p:cNvPr id="7" name="">
            <a:extLst xmlns:a="http://schemas.openxmlformats.org/drawingml/2006/main">
              <a:ext uri="{FF2B5EF4-FFF2-40B4-BE49-F238E27FC236}">
                <a16:creationId xmlns:a16="http://schemas.microsoft.com/office/drawing/2014/main" id="{72AE73A2-2A25-4E6F-B8A8-AF06E74FECEE}"/>
              </a:ext>
            </a:extLst>
          </p:cNvPr>
          <p:cNvSpPr>
            <a:spLocks xmlns:a="http://schemas.openxmlformats.org/drawingml/2006/main" noGrp="1"/>
          </p:cNvSpPr>
          <p:nvPr/>
        </p:nvSpPr>
        <p:spPr>
          <a:xfrm xmlns:a="http://schemas.openxmlformats.org/drawingml/2006/main">
            <a:off x="762000" y="2333625"/>
            <a:ext cx="4381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400" b="1">
                <a:solidFill>
                  <a:srgbClr val="C46A00"/>
                </a:solidFill>
                <a:latin typeface="Helvetica Neue"/>
                <a:ea typeface="Helvetica Neue"/>
                <a:cs typeface="Helvetica Neue"/>
              </a:defRPr>
            </a:pPr>
            <a:r>
              <a:rPr sz="5400" b="1">
                <a:solidFill>
                  <a:srgbClr val="C46A00"/>
                </a:solidFill>
                <a:latin typeface="Helvetica Neue"/>
                <a:ea typeface="Helvetica Neue"/>
                <a:cs typeface="Helvetica Neue"/>
              </a:rPr>
              <a:t>$1.75T</a:t>
            </a:r>
          </a:p>
        </p:txBody>
      </p:sp>
      <p:sp>
        <p:nvSpPr>
          <p:cNvPr id="8" name="">
            <a:extLst xmlns:a="http://schemas.openxmlformats.org/drawingml/2006/main">
              <a:ext uri="{FF2B5EF4-FFF2-40B4-BE49-F238E27FC236}">
                <a16:creationId xmlns:a16="http://schemas.microsoft.com/office/drawing/2014/main" id="{81A7284B-F2B1-46A6-9C42-D3BA6DFBBB73}"/>
              </a:ext>
            </a:extLst>
          </p:cNvPr>
          <p:cNvSpPr>
            <a:spLocks xmlns:a="http://schemas.openxmlformats.org/drawingml/2006/main" noGrp="1"/>
          </p:cNvSpPr>
          <p:nvPr/>
        </p:nvSpPr>
        <p:spPr>
          <a:xfrm xmlns:a="http://schemas.openxmlformats.org/drawingml/2006/main">
            <a:off x="781050" y="3286125"/>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paid in 2024</a:t>
            </a:r>
          </a:p>
        </p:txBody>
      </p:sp>
      <p:sp>
        <p:nvSpPr>
          <p:cNvPr id="9" name="">
            <a:extLst xmlns:a="http://schemas.openxmlformats.org/drawingml/2006/main">
              <a:ext uri="{FF2B5EF4-FFF2-40B4-BE49-F238E27FC236}">
                <a16:creationId xmlns:a16="http://schemas.microsoft.com/office/drawing/2014/main" id="{722CE631-8F6C-412F-97FD-610EE54CD552}"/>
              </a:ext>
            </a:extLst>
          </p:cNvPr>
          <p:cNvSpPr>
            <a:spLocks xmlns:a="http://schemas.openxmlformats.org/drawingml/2006/main" noGrp="1"/>
          </p:cNvSpPr>
          <p:nvPr/>
        </p:nvSpPr>
        <p:spPr>
          <a:xfrm xmlns:a="http://schemas.openxmlformats.org/drawingml/2006/main">
            <a:off x="5943600" y="1885950"/>
            <a:ext cx="9525" cy="21907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6503020-2AD2-455E-A235-F329BCC36489}"/>
              </a:ext>
            </a:extLst>
          </p:cNvPr>
          <p:cNvSpPr>
            <a:spLocks xmlns:a="http://schemas.openxmlformats.org/drawingml/2006/main" noGrp="1"/>
          </p:cNvSpPr>
          <p:nvPr/>
        </p:nvSpPr>
        <p:spPr>
          <a:xfrm xmlns:a="http://schemas.openxmlformats.org/drawingml/2006/main">
            <a:off x="6572250" y="198120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DISTRIBUTED TOKENIZED-STOCK VALUE</a:t>
            </a:r>
          </a:p>
        </p:txBody>
      </p:sp>
      <p:sp>
        <p:nvSpPr>
          <p:cNvPr id="11" name="">
            <a:extLst xmlns:a="http://schemas.openxmlformats.org/drawingml/2006/main">
              <a:ext uri="{FF2B5EF4-FFF2-40B4-BE49-F238E27FC236}">
                <a16:creationId xmlns:a16="http://schemas.microsoft.com/office/drawing/2014/main" id="{29DCE6F9-638E-478F-BC5A-54F3A0FB216F}"/>
              </a:ext>
            </a:extLst>
          </p:cNvPr>
          <p:cNvSpPr>
            <a:spLocks xmlns:a="http://schemas.openxmlformats.org/drawingml/2006/main" noGrp="1"/>
          </p:cNvSpPr>
          <p:nvPr/>
        </p:nvSpPr>
        <p:spPr>
          <a:xfrm xmlns:a="http://schemas.openxmlformats.org/drawingml/2006/main">
            <a:off x="6572250" y="2333625"/>
            <a:ext cx="4762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400" b="1">
                <a:solidFill>
                  <a:srgbClr val="2457F5"/>
                </a:solidFill>
                <a:latin typeface="Helvetica Neue"/>
                <a:ea typeface="Helvetica Neue"/>
                <a:cs typeface="Helvetica Neue"/>
              </a:defRPr>
            </a:pPr>
            <a:r>
              <a:rPr sz="5400" b="1">
                <a:solidFill>
                  <a:srgbClr val="2457F5"/>
                </a:solidFill>
                <a:latin typeface="Helvetica Neue"/>
                <a:ea typeface="Helvetica Neue"/>
                <a:cs typeface="Helvetica Neue"/>
              </a:rPr>
              <a:t>$2.92B</a:t>
            </a:r>
          </a:p>
        </p:txBody>
      </p:sp>
      <p:sp>
        <p:nvSpPr>
          <p:cNvPr id="12" name="">
            <a:extLst xmlns:a="http://schemas.openxmlformats.org/drawingml/2006/main">
              <a:ext uri="{FF2B5EF4-FFF2-40B4-BE49-F238E27FC236}">
                <a16:creationId xmlns:a16="http://schemas.microsoft.com/office/drawing/2014/main" id="{3D350A20-588F-44B4-A53F-B0677AA7D700}"/>
              </a:ext>
            </a:extLst>
          </p:cNvPr>
          <p:cNvSpPr>
            <a:spLocks xmlns:a="http://schemas.openxmlformats.org/drawingml/2006/main" noGrp="1"/>
          </p:cNvSpPr>
          <p:nvPr/>
        </p:nvSpPr>
        <p:spPr>
          <a:xfrm xmlns:a="http://schemas.openxmlformats.org/drawingml/2006/main">
            <a:off x="6591300" y="3286125"/>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observed 16 September 2026</a:t>
            </a:r>
          </a:p>
        </p:txBody>
      </p:sp>
      <p:sp>
        <p:nvSpPr>
          <p:cNvPr id="13" name="">
            <a:extLst xmlns:a="http://schemas.openxmlformats.org/drawingml/2006/main">
              <a:ext uri="{FF2B5EF4-FFF2-40B4-BE49-F238E27FC236}">
                <a16:creationId xmlns:a16="http://schemas.microsoft.com/office/drawing/2014/main" id="{4226F416-0E16-4F09-ADBA-DBB7866D730E}"/>
              </a:ext>
            </a:extLst>
          </p:cNvPr>
          <p:cNvSpPr>
            <a:spLocks xmlns:a="http://schemas.openxmlformats.org/drawingml/2006/main" noGrp="1"/>
          </p:cNvSpPr>
          <p:nvPr/>
        </p:nvSpPr>
        <p:spPr>
          <a:xfrm xmlns:a="http://schemas.openxmlformats.org/drawingml/2006/main">
            <a:off x="762000" y="4371975"/>
            <a:ext cx="10572750" cy="190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20B3C9F-F900-4CD2-8EEA-BEDA9A2C6562}"/>
              </a:ext>
            </a:extLst>
          </p:cNvPr>
          <p:cNvSpPr>
            <a:spLocks xmlns:a="http://schemas.openxmlformats.org/drawingml/2006/main" noGrp="1"/>
          </p:cNvSpPr>
          <p:nvPr/>
        </p:nvSpPr>
        <p:spPr>
          <a:xfrm xmlns:a="http://schemas.openxmlformats.org/drawingml/2006/main">
            <a:off x="762000" y="4695825"/>
            <a:ext cx="2190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a:solidFill>
                  <a:srgbClr val="53606B"/>
                </a:solidFill>
                <a:latin typeface="Helvetica Neue"/>
                <a:ea typeface="Helvetica Neue"/>
                <a:cs typeface="Helvetica Neue"/>
              </a:defRPr>
            </a:pPr>
            <a:r>
              <a:rPr sz="1125" b="1">
                <a:solidFill>
                  <a:srgbClr val="53606B"/>
                </a:solidFill>
                <a:latin typeface="Helvetica Neue"/>
                <a:ea typeface="Helvetica Neue"/>
                <a:cs typeface="Helvetica Neue"/>
              </a:rPr>
              <a:t>Starting market</a:t>
            </a:r>
          </a:p>
        </p:txBody>
      </p:sp>
      <p:sp>
        <p:nvSpPr>
          <p:cNvPr id="15" name="">
            <a:extLst xmlns:a="http://schemas.openxmlformats.org/drawingml/2006/main">
              <a:ext uri="{FF2B5EF4-FFF2-40B4-BE49-F238E27FC236}">
                <a16:creationId xmlns:a16="http://schemas.microsoft.com/office/drawing/2014/main" id="{A6AE9C36-577D-4692-B871-3E190813A59D}"/>
              </a:ext>
            </a:extLst>
          </p:cNvPr>
          <p:cNvSpPr>
            <a:spLocks xmlns:a="http://schemas.openxmlformats.org/drawingml/2006/main" noGrp="1"/>
          </p:cNvSpPr>
          <p:nvPr/>
        </p:nvSpPr>
        <p:spPr>
          <a:xfrm xmlns:a="http://schemas.openxmlformats.org/drawingml/2006/main">
            <a:off x="2971800" y="4610100"/>
            <a:ext cx="619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1">
                <a:solidFill>
                  <a:srgbClr val="101820"/>
                </a:solidFill>
                <a:latin typeface="Helvetica Neue"/>
                <a:ea typeface="Helvetica Neue"/>
                <a:cs typeface="Helvetica Neue"/>
              </a:defRPr>
            </a:pPr>
            <a:r>
              <a:rPr sz="2250" b="1">
                <a:solidFill>
                  <a:srgbClr val="101820"/>
                </a:solidFill>
                <a:latin typeface="Helvetica Neue"/>
                <a:ea typeface="Helvetica Neue"/>
                <a:cs typeface="Helvetica Neue"/>
              </a:rPr>
              <a:t>Dividend-paying xStocks on Solana</a:t>
            </a:r>
          </a:p>
        </p:txBody>
      </p:sp>
      <p:sp>
        <p:nvSpPr>
          <p:cNvPr id="16" name="">
            <a:extLst xmlns:a="http://schemas.openxmlformats.org/drawingml/2006/main">
              <a:ext uri="{FF2B5EF4-FFF2-40B4-BE49-F238E27FC236}">
                <a16:creationId xmlns:a16="http://schemas.microsoft.com/office/drawing/2014/main" id="{FD7CCF55-2FD5-4465-8CEB-4A30199142F3}"/>
              </a:ext>
            </a:extLst>
          </p:cNvPr>
          <p:cNvSpPr>
            <a:spLocks xmlns:a="http://schemas.openxmlformats.org/drawingml/2006/main" noGrp="1"/>
          </p:cNvSpPr>
          <p:nvPr/>
        </p:nvSpPr>
        <p:spPr>
          <a:xfrm xmlns:a="http://schemas.openxmlformats.org/drawingml/2006/main">
            <a:off x="2971800" y="5124450"/>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1">
                <a:solidFill>
                  <a:srgbClr val="1639A6"/>
                </a:solidFill>
                <a:latin typeface="Helvetica Neue"/>
                <a:ea typeface="Helvetica Neue"/>
                <a:cs typeface="Helvetica Neue"/>
              </a:defRPr>
            </a:pPr>
            <a:r>
              <a:rPr sz="1350" b="1">
                <a:solidFill>
                  <a:srgbClr val="1639A6"/>
                </a:solidFill>
                <a:latin typeface="Helvetica Neue"/>
                <a:ea typeface="Helvetica Neue"/>
                <a:cs typeface="Helvetica Neue"/>
              </a:rPr>
              <a:t>Coca-Cola first. More dividend-paying stocks next.</a:t>
            </a:r>
          </a:p>
        </p:txBody>
      </p:sp>
      <p:sp>
        <p:nvSpPr>
          <p:cNvPr id="17" name="">
            <a:extLst xmlns:a="http://schemas.openxmlformats.org/drawingml/2006/main">
              <a:ext uri="{FF2B5EF4-FFF2-40B4-BE49-F238E27FC236}">
                <a16:creationId xmlns:a16="http://schemas.microsoft.com/office/drawing/2014/main" id="{36ACFFA0-FB68-424F-BBF4-0590F5F89CE9}"/>
              </a:ext>
            </a:extLst>
          </p:cNvPr>
          <p:cNvSpPr>
            <a:spLocks xmlns:a="http://schemas.openxmlformats.org/drawingml/2006/main" noGrp="1"/>
          </p:cNvSpPr>
          <p:nvPr/>
        </p:nvSpPr>
        <p:spPr>
          <a:xfrm xmlns:a="http://schemas.openxmlformats.org/drawingml/2006/main">
            <a:off x="762000" y="5953125"/>
            <a:ext cx="1038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RWA.xyz includes stocks and ETFs represented natively or synthetically.</a:t>
            </a:r>
          </a:p>
        </p:txBody>
      </p:sp>
    </p:spTree>
    <p:extLst>
      <p:ext uri="{BB962C8B-B14F-4D97-AF65-F5344CB8AC3E}">
        <p14:creationId xmlns:p14="http://schemas.microsoft.com/office/powerpoint/2010/main" val="1335400915"/>
      </p:ext>
    </p:extLst>
  </p:cSld>
</p:sld>
</file>

<file path=ppt/slides/slide6.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56AA35E-F4A0-4D0B-BA0D-659B8659EE40}"/>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A1D4BCA-F8CF-4580-AE6F-40CEB3BBB9A2}"/>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847D9A52-106E-4442-8223-7A8B6C95B25E}"/>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9947C19F-6252-417C-ABBE-EF6392B78854}"/>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What Solana changes</a:t>
            </a:r>
          </a:p>
        </p:txBody>
      </p:sp>
      <p:sp>
        <p:nvSpPr>
          <p:cNvPr id="5" name="">
            <a:extLst xmlns:a="http://schemas.openxmlformats.org/drawingml/2006/main">
              <a:ext uri="{FF2B5EF4-FFF2-40B4-BE49-F238E27FC236}">
                <a16:creationId xmlns:a16="http://schemas.microsoft.com/office/drawing/2014/main" id="{C384D27B-610C-49B9-A6D3-B17FB59190FC}"/>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06</a:t>
            </a:r>
          </a:p>
        </p:txBody>
      </p:sp>
      <p:sp>
        <p:nvSpPr>
          <p:cNvPr id="6" name="">
            <a:extLst xmlns:a="http://schemas.openxmlformats.org/drawingml/2006/main">
              <a:ext uri="{FF2B5EF4-FFF2-40B4-BE49-F238E27FC236}">
                <a16:creationId xmlns:a16="http://schemas.microsoft.com/office/drawing/2014/main" id="{DE2198D6-F592-4AB8-81E9-25B5B5D3899E}"/>
              </a:ext>
            </a:extLst>
          </p:cNvPr>
          <p:cNvSpPr>
            <a:spLocks xmlns:a="http://schemas.openxmlformats.org/drawingml/2006/main" noGrp="1"/>
          </p:cNvSpPr>
          <p:nvPr/>
        </p:nvSpPr>
        <p:spPr>
          <a:xfrm xmlns:a="http://schemas.openxmlformats.org/drawingml/2006/main">
            <a:off x="762000" y="19240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01</a:t>
            </a:r>
          </a:p>
        </p:txBody>
      </p:sp>
      <p:sp>
        <p:nvSpPr>
          <p:cNvPr id="7" name="">
            <a:extLst xmlns:a="http://schemas.openxmlformats.org/drawingml/2006/main">
              <a:ext uri="{FF2B5EF4-FFF2-40B4-BE49-F238E27FC236}">
                <a16:creationId xmlns:a16="http://schemas.microsoft.com/office/drawing/2014/main" id="{3279CD69-F7DA-4536-A584-D6FBB4E12E48}"/>
              </a:ext>
            </a:extLst>
          </p:cNvPr>
          <p:cNvSpPr>
            <a:spLocks xmlns:a="http://schemas.openxmlformats.org/drawingml/2006/main" noGrp="1"/>
          </p:cNvSpPr>
          <p:nvPr/>
        </p:nvSpPr>
        <p:spPr>
          <a:xfrm xmlns:a="http://schemas.openxmlformats.org/drawingml/2006/main">
            <a:off x="1504950" y="18859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2457F5"/>
                </a:solidFill>
                <a:latin typeface="Helvetica Neue"/>
                <a:ea typeface="Helvetica Neue"/>
                <a:cs typeface="Helvetica Neue"/>
              </a:defRPr>
            </a:pPr>
            <a:r>
              <a:rPr sz="2100" b="1">
                <a:solidFill>
                  <a:srgbClr val="2457F5"/>
                </a:solidFill>
                <a:latin typeface="Helvetica Neue"/>
                <a:ea typeface="Helvetica Neue"/>
                <a:cs typeface="Helvetica Neue"/>
              </a:rPr>
              <a:t>Locked collateral</a:t>
            </a:r>
          </a:p>
        </p:txBody>
      </p:sp>
      <p:sp>
        <p:nvSpPr>
          <p:cNvPr id="8" name="">
            <a:extLst xmlns:a="http://schemas.openxmlformats.org/drawingml/2006/main">
              <a:ext uri="{FF2B5EF4-FFF2-40B4-BE49-F238E27FC236}">
                <a16:creationId xmlns:a16="http://schemas.microsoft.com/office/drawing/2014/main" id="{9D2BE18C-659D-40C6-83F4-FA9F0C49D438}"/>
              </a:ext>
            </a:extLst>
          </p:cNvPr>
          <p:cNvSpPr>
            <a:spLocks xmlns:a="http://schemas.openxmlformats.org/drawingml/2006/main" noGrp="1"/>
          </p:cNvSpPr>
          <p:nvPr/>
        </p:nvSpPr>
        <p:spPr>
          <a:xfrm xmlns:a="http://schemas.openxmlformats.org/drawingml/2006/main">
            <a:off x="4838700" y="19240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The vault holds the assets backing both claims.</a:t>
            </a:r>
          </a:p>
        </p:txBody>
      </p:sp>
      <p:sp>
        <p:nvSpPr>
          <p:cNvPr id="9" name="">
            <a:extLst xmlns:a="http://schemas.openxmlformats.org/drawingml/2006/main">
              <a:ext uri="{FF2B5EF4-FFF2-40B4-BE49-F238E27FC236}">
                <a16:creationId xmlns:a16="http://schemas.microsoft.com/office/drawing/2014/main" id="{AA9F87EC-80ED-42EA-9739-70FE62E8BF8D}"/>
              </a:ext>
            </a:extLst>
          </p:cNvPr>
          <p:cNvSpPr>
            <a:spLocks xmlns:a="http://schemas.openxmlformats.org/drawingml/2006/main" noGrp="1"/>
          </p:cNvSpPr>
          <p:nvPr/>
        </p:nvSpPr>
        <p:spPr>
          <a:xfrm xmlns:a="http://schemas.openxmlformats.org/drawingml/2006/main">
            <a:off x="762000" y="26193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FDC32DA-4C55-40CE-840C-C082AFA694E6}"/>
              </a:ext>
            </a:extLst>
          </p:cNvPr>
          <p:cNvSpPr>
            <a:spLocks xmlns:a="http://schemas.openxmlformats.org/drawingml/2006/main" noGrp="1"/>
          </p:cNvSpPr>
          <p:nvPr/>
        </p:nvSpPr>
        <p:spPr>
          <a:xfrm xmlns:a="http://schemas.openxmlformats.org/drawingml/2006/main">
            <a:off x="762000" y="29908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02</a:t>
            </a:r>
          </a:p>
        </p:txBody>
      </p:sp>
      <p:sp>
        <p:nvSpPr>
          <p:cNvPr id="11" name="">
            <a:extLst xmlns:a="http://schemas.openxmlformats.org/drawingml/2006/main">
              <a:ext uri="{FF2B5EF4-FFF2-40B4-BE49-F238E27FC236}">
                <a16:creationId xmlns:a16="http://schemas.microsoft.com/office/drawing/2014/main" id="{93A8624F-7E9A-48BA-8437-E42D8D698307}"/>
              </a:ext>
            </a:extLst>
          </p:cNvPr>
          <p:cNvSpPr>
            <a:spLocks xmlns:a="http://schemas.openxmlformats.org/drawingml/2006/main" noGrp="1"/>
          </p:cNvSpPr>
          <p:nvPr/>
        </p:nvSpPr>
        <p:spPr>
          <a:xfrm xmlns:a="http://schemas.openxmlformats.org/drawingml/2006/main">
            <a:off x="1504950" y="29527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Atomic issuance</a:t>
            </a:r>
          </a:p>
        </p:txBody>
      </p:sp>
      <p:sp>
        <p:nvSpPr>
          <p:cNvPr id="12" name="">
            <a:extLst xmlns:a="http://schemas.openxmlformats.org/drawingml/2006/main">
              <a:ext uri="{FF2B5EF4-FFF2-40B4-BE49-F238E27FC236}">
                <a16:creationId xmlns:a16="http://schemas.microsoft.com/office/drawing/2014/main" id="{D99E444F-ABFB-4380-AA1B-B39510F4515A}"/>
              </a:ext>
            </a:extLst>
          </p:cNvPr>
          <p:cNvSpPr>
            <a:spLocks xmlns:a="http://schemas.openxmlformats.org/drawingml/2006/main" noGrp="1"/>
          </p:cNvSpPr>
          <p:nvPr/>
        </p:nvSpPr>
        <p:spPr>
          <a:xfrm xmlns:a="http://schemas.openxmlformats.org/drawingml/2006/main">
            <a:off x="4838700" y="29908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One deposit creates the paired claims together.</a:t>
            </a:r>
          </a:p>
        </p:txBody>
      </p:sp>
      <p:sp>
        <p:nvSpPr>
          <p:cNvPr id="13" name="">
            <a:extLst xmlns:a="http://schemas.openxmlformats.org/drawingml/2006/main">
              <a:ext uri="{FF2B5EF4-FFF2-40B4-BE49-F238E27FC236}">
                <a16:creationId xmlns:a16="http://schemas.microsoft.com/office/drawing/2014/main" id="{E14528C7-5FA2-4D80-B8FC-1DB429BAD6F2}"/>
              </a:ext>
            </a:extLst>
          </p:cNvPr>
          <p:cNvSpPr>
            <a:spLocks xmlns:a="http://schemas.openxmlformats.org/drawingml/2006/main" noGrp="1"/>
          </p:cNvSpPr>
          <p:nvPr/>
        </p:nvSpPr>
        <p:spPr>
          <a:xfrm xmlns:a="http://schemas.openxmlformats.org/drawingml/2006/main">
            <a:off x="762000" y="36861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75FB729-C9D1-4C9E-AB1F-B05DD8CDD049}"/>
              </a:ext>
            </a:extLst>
          </p:cNvPr>
          <p:cNvSpPr>
            <a:spLocks xmlns:a="http://schemas.openxmlformats.org/drawingml/2006/main" noGrp="1"/>
          </p:cNvSpPr>
          <p:nvPr/>
        </p:nvSpPr>
        <p:spPr>
          <a:xfrm xmlns:a="http://schemas.openxmlformats.org/drawingml/2006/main">
            <a:off x="762000" y="40576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03</a:t>
            </a:r>
          </a:p>
        </p:txBody>
      </p:sp>
      <p:sp>
        <p:nvSpPr>
          <p:cNvPr id="15" name="">
            <a:extLst xmlns:a="http://schemas.openxmlformats.org/drawingml/2006/main">
              <a:ext uri="{FF2B5EF4-FFF2-40B4-BE49-F238E27FC236}">
                <a16:creationId xmlns:a16="http://schemas.microsoft.com/office/drawing/2014/main" id="{915C6C4B-073C-44F3-BF0D-E14EC65B48D7}"/>
              </a:ext>
            </a:extLst>
          </p:cNvPr>
          <p:cNvSpPr>
            <a:spLocks xmlns:a="http://schemas.openxmlformats.org/drawingml/2006/main" noGrp="1"/>
          </p:cNvSpPr>
          <p:nvPr/>
        </p:nvSpPr>
        <p:spPr>
          <a:xfrm xmlns:a="http://schemas.openxmlformats.org/drawingml/2006/main">
            <a:off x="1504950" y="40195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C46A00"/>
                </a:solidFill>
                <a:latin typeface="Helvetica Neue"/>
                <a:ea typeface="Helvetica Neue"/>
                <a:cs typeface="Helvetica Neue"/>
              </a:defRPr>
            </a:pPr>
            <a:r>
              <a:rPr sz="2100" b="1">
                <a:solidFill>
                  <a:srgbClr val="C46A00"/>
                </a:solidFill>
                <a:latin typeface="Helvetica Neue"/>
                <a:ea typeface="Helvetica Neue"/>
                <a:cs typeface="Helvetica Neue"/>
              </a:rPr>
              <a:t>Separate ownership</a:t>
            </a:r>
          </a:p>
        </p:txBody>
      </p:sp>
      <p:sp>
        <p:nvSpPr>
          <p:cNvPr id="16" name="">
            <a:extLst xmlns:a="http://schemas.openxmlformats.org/drawingml/2006/main">
              <a:ext uri="{FF2B5EF4-FFF2-40B4-BE49-F238E27FC236}">
                <a16:creationId xmlns:a16="http://schemas.microsoft.com/office/drawing/2014/main" id="{5908D4DD-E056-4D9B-AFE0-93B9BE671106}"/>
              </a:ext>
            </a:extLst>
          </p:cNvPr>
          <p:cNvSpPr>
            <a:spLocks xmlns:a="http://schemas.openxmlformats.org/drawingml/2006/main" noGrp="1"/>
          </p:cNvSpPr>
          <p:nvPr/>
        </p:nvSpPr>
        <p:spPr>
          <a:xfrm xmlns:a="http://schemas.openxmlformats.org/drawingml/2006/main">
            <a:off x="4838700" y="40576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Each holder can transfer and redeem under the program’s rules.</a:t>
            </a:r>
          </a:p>
        </p:txBody>
      </p:sp>
      <p:sp>
        <p:nvSpPr>
          <p:cNvPr id="17" name="">
            <a:extLst xmlns:a="http://schemas.openxmlformats.org/drawingml/2006/main">
              <a:ext uri="{FF2B5EF4-FFF2-40B4-BE49-F238E27FC236}">
                <a16:creationId xmlns:a16="http://schemas.microsoft.com/office/drawing/2014/main" id="{308A933D-7712-4F8D-BFF2-B8F6F54E34B3}"/>
              </a:ext>
            </a:extLst>
          </p:cNvPr>
          <p:cNvSpPr>
            <a:spLocks xmlns:a="http://schemas.openxmlformats.org/drawingml/2006/main" noGrp="1"/>
          </p:cNvSpPr>
          <p:nvPr/>
        </p:nvSpPr>
        <p:spPr>
          <a:xfrm xmlns:a="http://schemas.openxmlformats.org/drawingml/2006/main">
            <a:off x="762000" y="47529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9C1151CA-B9AE-4D46-8676-330ADA8DF9B4}"/>
              </a:ext>
            </a:extLst>
          </p:cNvPr>
          <p:cNvSpPr>
            <a:spLocks xmlns:a="http://schemas.openxmlformats.org/drawingml/2006/main" noGrp="1"/>
          </p:cNvSpPr>
          <p:nvPr/>
        </p:nvSpPr>
        <p:spPr>
          <a:xfrm xmlns:a="http://schemas.openxmlformats.org/drawingml/2006/main">
            <a:off x="1504950" y="5334000"/>
            <a:ext cx="847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a:solidFill>
                  <a:srgbClr val="101820"/>
                </a:solidFill>
                <a:latin typeface="Helvetica Neue"/>
                <a:ea typeface="Helvetica Neue"/>
                <a:cs typeface="Helvetica Neue"/>
              </a:defRPr>
            </a:pPr>
            <a:r>
              <a:rPr sz="1950" b="1">
                <a:solidFill>
                  <a:srgbClr val="101820"/>
                </a:solidFill>
                <a:latin typeface="Helvetica Neue"/>
                <a:ea typeface="Helvetica Neue"/>
                <a:cs typeface="Helvetica Neue"/>
              </a:rPr>
              <a:t>One program coordinates both claims.</a:t>
            </a:r>
          </a:p>
        </p:txBody>
      </p:sp>
    </p:spTree>
    <p:extLst>
      <p:ext uri="{BB962C8B-B14F-4D97-AF65-F5344CB8AC3E}">
        <p14:creationId xmlns:p14="http://schemas.microsoft.com/office/powerpoint/2010/main" val="1285266071"/>
      </p:ext>
    </p:extLst>
  </p:cSld>
</p:sld>
</file>

<file path=ppt/slides/slide7.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44F41632-C431-464A-B8C4-40E928520040}"/>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E0071C0-B60F-48C5-823C-E7025E7CA115}"/>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F34E330-A319-4133-B226-9EDAB34AB696}"/>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BB4C5152-53C0-4DBB-9273-E565AFE914DF}"/>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Fractional ownership and auditability</a:t>
            </a:r>
          </a:p>
        </p:txBody>
      </p:sp>
      <p:sp>
        <p:nvSpPr>
          <p:cNvPr id="5" name="">
            <a:extLst xmlns:a="http://schemas.openxmlformats.org/drawingml/2006/main">
              <a:ext uri="{FF2B5EF4-FFF2-40B4-BE49-F238E27FC236}">
                <a16:creationId xmlns:a16="http://schemas.microsoft.com/office/drawing/2014/main" id="{F4C0E423-0B54-45C1-8B7E-377A09D5A8D2}"/>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07</a:t>
            </a:r>
          </a:p>
        </p:txBody>
      </p:sp>
      <p:sp>
        <p:nvSpPr>
          <p:cNvPr id="6" name="">
            <a:extLst xmlns:a="http://schemas.openxmlformats.org/drawingml/2006/main">
              <a:ext uri="{FF2B5EF4-FFF2-40B4-BE49-F238E27FC236}">
                <a16:creationId xmlns:a16="http://schemas.microsoft.com/office/drawing/2014/main" id="{CD6DC8DD-9757-4F4E-B90A-89A6C5DF246C}"/>
              </a:ext>
            </a:extLst>
          </p:cNvPr>
          <p:cNvSpPr>
            <a:spLocks xmlns:a="http://schemas.openxmlformats.org/drawingml/2006/main" noGrp="1"/>
          </p:cNvSpPr>
          <p:nvPr/>
        </p:nvSpPr>
        <p:spPr>
          <a:xfrm xmlns:a="http://schemas.openxmlformats.org/drawingml/2006/main">
            <a:off x="762000" y="188595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FRACTIONAL OWNERSHIP</a:t>
            </a:r>
          </a:p>
        </p:txBody>
      </p:sp>
      <p:sp>
        <p:nvSpPr>
          <p:cNvPr id="7" name="">
            <a:extLst xmlns:a="http://schemas.openxmlformats.org/drawingml/2006/main">
              <a:ext uri="{FF2B5EF4-FFF2-40B4-BE49-F238E27FC236}">
                <a16:creationId xmlns:a16="http://schemas.microsoft.com/office/drawing/2014/main" id="{5056EB4F-316D-4B20-9EF6-B06471A56703}"/>
              </a:ext>
            </a:extLst>
          </p:cNvPr>
          <p:cNvSpPr>
            <a:spLocks xmlns:a="http://schemas.openxmlformats.org/drawingml/2006/main" noGrp="1"/>
          </p:cNvSpPr>
          <p:nvPr/>
        </p:nvSpPr>
        <p:spPr>
          <a:xfrm xmlns:a="http://schemas.openxmlformats.org/drawingml/2006/main">
            <a:off x="762000" y="2228850"/>
            <a:ext cx="4572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325" b="1">
                <a:solidFill>
                  <a:srgbClr val="101820"/>
                </a:solidFill>
                <a:latin typeface="Helvetica Neue"/>
                <a:ea typeface="Helvetica Neue"/>
                <a:cs typeface="Helvetica Neue"/>
              </a:defRPr>
            </a:pPr>
            <a:r>
              <a:rPr sz="2325" b="1">
                <a:solidFill>
                  <a:srgbClr val="101820"/>
                </a:solidFill>
                <a:latin typeface="Helvetica Neue"/>
                <a:ea typeface="Helvetica Neue"/>
                <a:cs typeface="Helvetica Neue"/>
              </a:rPr>
              <a:t>Buy or sell part of a dividend claim.</a:t>
            </a:r>
          </a:p>
        </p:txBody>
      </p:sp>
      <p:sp>
        <p:nvSpPr>
          <p:cNvPr id="8" name="Dividend claim">
            <a:extLst xmlns:a="http://schemas.openxmlformats.org/drawingml/2006/main">
              <a:ext uri="{FF2B5EF4-FFF2-40B4-BE49-F238E27FC236}">
                <a16:creationId xmlns:a16="http://schemas.microsoft.com/office/drawing/2014/main" id="{55619A0F-1E26-4A5D-BD92-B60CCE728148}"/>
              </a:ext>
            </a:extLst>
          </p:cNvPr>
          <p:cNvSpPr>
            <a:spLocks xmlns:a="http://schemas.openxmlformats.org/drawingml/2006/main" noGrp="1"/>
          </p:cNvSpPr>
          <p:nvPr/>
        </p:nvSpPr>
        <p:spPr>
          <a:xfrm xmlns:a="http://schemas.openxmlformats.org/drawingml/2006/main">
            <a:off x="762000" y="3276600"/>
            <a:ext cx="4381500" cy="457200"/>
          </a:xfrm>
          <a:prstGeom xmlns:a="http://schemas.openxmlformats.org/drawingml/2006/main" prst="roundRect">
            <a:avLst>
              <a:gd name="adj" fmla="val 20833"/>
            </a:avLst>
          </a:prstGeom>
          <a:solidFill xmlns:a="http://schemas.openxmlformats.org/drawingml/2006/main">
            <a:srgbClr val="F8E8D4"/>
          </a:solidFill>
          <a:ln xmlns:a="http://schemas.openxmlformats.org/drawingml/2006/main" w="9525">
            <a:solidFill>
              <a:srgbClr val="C46A00"/>
            </a:solidFill>
            <a:prstDash val="solid"/>
          </a:ln>
        </p:spPr>
      </p:sp>
      <p:sp>
        <p:nvSpPr>
          <p:cNvPr id="9" name="">
            <a:extLst xmlns:a="http://schemas.openxmlformats.org/drawingml/2006/main">
              <a:ext uri="{FF2B5EF4-FFF2-40B4-BE49-F238E27FC236}">
                <a16:creationId xmlns:a16="http://schemas.microsoft.com/office/drawing/2014/main" id="{DC5EF20C-501D-4844-A772-9367C61F4E9B}"/>
              </a:ext>
            </a:extLst>
          </p:cNvPr>
          <p:cNvSpPr>
            <a:spLocks xmlns:a="http://schemas.openxmlformats.org/drawingml/2006/main" noGrp="1"/>
          </p:cNvSpPr>
          <p:nvPr/>
        </p:nvSpPr>
        <p:spPr>
          <a:xfrm xmlns:a="http://schemas.openxmlformats.org/drawingml/2006/main">
            <a:off x="933450" y="3409950"/>
            <a:ext cx="4038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050" b="1">
                <a:solidFill>
                  <a:srgbClr val="7A4000"/>
                </a:solidFill>
                <a:latin typeface="Helvetica Neue"/>
                <a:ea typeface="Helvetica Neue"/>
                <a:cs typeface="Helvetica Neue"/>
              </a:defRPr>
            </a:pPr>
            <a:r>
              <a:rPr sz="1050" b="1">
                <a:solidFill>
                  <a:srgbClr val="7A4000"/>
                </a:solidFill>
                <a:latin typeface="Helvetica Neue"/>
                <a:ea typeface="Helvetica Neue"/>
                <a:cs typeface="Helvetica Neue"/>
              </a:rPr>
              <a:t>DIVIDEND CLAIM</a:t>
            </a:r>
          </a:p>
        </p:txBody>
      </p:sp>
      <p:sp>
        <p:nvSpPr>
          <p:cNvPr id="10" name="Holder part">
            <a:extLst xmlns:a="http://schemas.openxmlformats.org/drawingml/2006/main">
              <a:ext uri="{FF2B5EF4-FFF2-40B4-BE49-F238E27FC236}">
                <a16:creationId xmlns:a16="http://schemas.microsoft.com/office/drawing/2014/main" id="{8361423E-EA5B-4C22-A2CE-EA4333F14C11}"/>
              </a:ext>
            </a:extLst>
          </p:cNvPr>
          <p:cNvSpPr>
            <a:spLocks xmlns:a="http://schemas.openxmlformats.org/drawingml/2006/main" noGrp="1"/>
          </p:cNvSpPr>
          <p:nvPr/>
        </p:nvSpPr>
        <p:spPr>
          <a:xfrm xmlns:a="http://schemas.openxmlformats.org/drawingml/2006/main">
            <a:off x="762000" y="4019550"/>
            <a:ext cx="1476375" cy="628650"/>
          </a:xfrm>
          <a:prstGeom xmlns:a="http://schemas.openxmlformats.org/drawingml/2006/main" prst="roundRect">
            <a:avLst>
              <a:gd name="adj" fmla="val 15152"/>
            </a:avLst>
          </a:prstGeom>
          <a:solidFill xmlns:a="http://schemas.openxmlformats.org/drawingml/2006/main">
            <a:srgbClr val="FFFEFB"/>
          </a:solidFill>
          <a:ln xmlns:a="http://schemas.openxmlformats.org/drawingml/2006/main" w="9525">
            <a:solidFill>
              <a:srgbClr val="C46A00"/>
            </a:solidFill>
            <a:prstDash val="solid"/>
          </a:ln>
        </p:spPr>
      </p:sp>
      <p:sp>
        <p:nvSpPr>
          <p:cNvPr id="11" name="">
            <a:extLst xmlns:a="http://schemas.openxmlformats.org/drawingml/2006/main">
              <a:ext uri="{FF2B5EF4-FFF2-40B4-BE49-F238E27FC236}">
                <a16:creationId xmlns:a16="http://schemas.microsoft.com/office/drawing/2014/main" id="{A8F7367D-90AA-4C5B-8682-D74C392A52DE}"/>
              </a:ext>
            </a:extLst>
          </p:cNvPr>
          <p:cNvSpPr>
            <a:spLocks xmlns:a="http://schemas.openxmlformats.org/drawingml/2006/main" noGrp="1"/>
          </p:cNvSpPr>
          <p:nvPr/>
        </p:nvSpPr>
        <p:spPr>
          <a:xfrm xmlns:a="http://schemas.openxmlformats.org/drawingml/2006/main">
            <a:off x="914400" y="4210050"/>
            <a:ext cx="11715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200" b="1">
                <a:solidFill>
                  <a:srgbClr val="7A4000"/>
                </a:solidFill>
                <a:latin typeface="Helvetica Neue"/>
                <a:ea typeface="Helvetica Neue"/>
                <a:cs typeface="Helvetica Neue"/>
              </a:defRPr>
            </a:pPr>
            <a:r>
              <a:rPr sz="1200" b="1">
                <a:solidFill>
                  <a:srgbClr val="7A4000"/>
                </a:solidFill>
                <a:latin typeface="Helvetica Neue"/>
                <a:ea typeface="Helvetica Neue"/>
                <a:cs typeface="Helvetica Neue"/>
              </a:rPr>
              <a:t>holder keeps</a:t>
            </a:r>
          </a:p>
        </p:txBody>
      </p:sp>
      <p:sp>
        <p:nvSpPr>
          <p:cNvPr id="12" name="Buyer part">
            <a:extLst xmlns:a="http://schemas.openxmlformats.org/drawingml/2006/main">
              <a:ext uri="{FF2B5EF4-FFF2-40B4-BE49-F238E27FC236}">
                <a16:creationId xmlns:a16="http://schemas.microsoft.com/office/drawing/2014/main" id="{E8C0E0F7-7D3C-4001-9034-51A1413DC629}"/>
              </a:ext>
            </a:extLst>
          </p:cNvPr>
          <p:cNvSpPr>
            <a:spLocks xmlns:a="http://schemas.openxmlformats.org/drawingml/2006/main" noGrp="1"/>
          </p:cNvSpPr>
          <p:nvPr/>
        </p:nvSpPr>
        <p:spPr>
          <a:xfrm xmlns:a="http://schemas.openxmlformats.org/drawingml/2006/main">
            <a:off x="2505075" y="4019550"/>
            <a:ext cx="2638425" cy="628650"/>
          </a:xfrm>
          <a:prstGeom xmlns:a="http://schemas.openxmlformats.org/drawingml/2006/main" prst="roundRect">
            <a:avLst>
              <a:gd name="adj" fmla="val 15152"/>
            </a:avLst>
          </a:prstGeom>
          <a:solidFill xmlns:a="http://schemas.openxmlformats.org/drawingml/2006/main">
            <a:srgbClr val="F8E8D4"/>
          </a:solidFill>
          <a:ln xmlns:a="http://schemas.openxmlformats.org/drawingml/2006/main" w="9525">
            <a:solidFill>
              <a:srgbClr val="C46A00"/>
            </a:solidFill>
            <a:prstDash val="solid"/>
          </a:ln>
        </p:spPr>
      </p:sp>
      <p:sp>
        <p:nvSpPr>
          <p:cNvPr id="13" name="">
            <a:extLst xmlns:a="http://schemas.openxmlformats.org/drawingml/2006/main">
              <a:ext uri="{FF2B5EF4-FFF2-40B4-BE49-F238E27FC236}">
                <a16:creationId xmlns:a16="http://schemas.microsoft.com/office/drawing/2014/main" id="{BFCEF281-2578-46DC-82BE-1918AB74DC16}"/>
              </a:ext>
            </a:extLst>
          </p:cNvPr>
          <p:cNvSpPr>
            <a:spLocks xmlns:a="http://schemas.openxmlformats.org/drawingml/2006/main" noGrp="1"/>
          </p:cNvSpPr>
          <p:nvPr/>
        </p:nvSpPr>
        <p:spPr>
          <a:xfrm xmlns:a="http://schemas.openxmlformats.org/drawingml/2006/main">
            <a:off x="2676525" y="4210050"/>
            <a:ext cx="22955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200" b="1">
                <a:solidFill>
                  <a:srgbClr val="7A4000"/>
                </a:solidFill>
                <a:latin typeface="Helvetica Neue"/>
                <a:ea typeface="Helvetica Neue"/>
                <a:cs typeface="Helvetica Neue"/>
              </a:defRPr>
            </a:pPr>
            <a:r>
              <a:rPr sz="1200" b="1">
                <a:solidFill>
                  <a:srgbClr val="7A4000"/>
                </a:solidFill>
                <a:latin typeface="Helvetica Neue"/>
                <a:ea typeface="Helvetica Neue"/>
                <a:cs typeface="Helvetica Neue"/>
              </a:rPr>
              <a:t>buyer takes part</a:t>
            </a:r>
          </a:p>
        </p:txBody>
      </p:sp>
      <p:cxnSp>
        <p:nvCxnSpPr>
          <p:cNvPr id="42" name=""/>
          <p:cNvCxnSpPr>
            <a:stCxn xmlns:a="http://schemas.openxmlformats.org/drawingml/2006/main" id="8" idx="2"/>
            <a:endCxn xmlns:a="http://schemas.openxmlformats.org/drawingml/2006/main" id="10" idx="0"/>
          </p:cNvCxnSpPr>
          <p:nvPr/>
        </p:nvCxnSpPr>
        <p:spPr>
          <a:xfrm xmlns:a="http://schemas.openxmlformats.org/drawingml/2006/main" flipH="1">
            <a:off x="1500188" y="3733800"/>
            <a:ext cx="1452563" cy="285750"/>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cxnSp>
        <p:nvCxnSpPr>
          <p:cNvPr id="43" name=""/>
          <p:cNvCxnSpPr>
            <a:stCxn xmlns:a="http://schemas.openxmlformats.org/drawingml/2006/main" id="8" idx="2"/>
            <a:endCxn xmlns:a="http://schemas.openxmlformats.org/drawingml/2006/main" id="12" idx="0"/>
          </p:cNvCxnSpPr>
          <p:nvPr/>
        </p:nvCxnSpPr>
        <p:spPr>
          <a:xfrm xmlns:a="http://schemas.openxmlformats.org/drawingml/2006/main">
            <a:off x="2952750" y="3733800"/>
            <a:ext cx="871538" cy="285750"/>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sp>
        <p:nvSpPr>
          <p:cNvPr id="16" name="">
            <a:extLst xmlns:a="http://schemas.openxmlformats.org/drawingml/2006/main">
              <a:ext uri="{FF2B5EF4-FFF2-40B4-BE49-F238E27FC236}">
                <a16:creationId xmlns:a16="http://schemas.microsoft.com/office/drawing/2014/main" id="{F618D85D-767C-4090-A685-4203AB68A0E8}"/>
              </a:ext>
            </a:extLst>
          </p:cNvPr>
          <p:cNvSpPr>
            <a:spLocks xmlns:a="http://schemas.openxmlformats.org/drawingml/2006/main" noGrp="1"/>
          </p:cNvSpPr>
          <p:nvPr/>
        </p:nvSpPr>
        <p:spPr>
          <a:xfrm xmlns:a="http://schemas.openxmlformats.org/drawingml/2006/main">
            <a:off x="5943600" y="1809750"/>
            <a:ext cx="9525" cy="339090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53D5954-71A1-491E-B938-396CAC930450}"/>
              </a:ext>
            </a:extLst>
          </p:cNvPr>
          <p:cNvSpPr>
            <a:spLocks xmlns:a="http://schemas.openxmlformats.org/drawingml/2006/main" noGrp="1"/>
          </p:cNvSpPr>
          <p:nvPr/>
        </p:nvSpPr>
        <p:spPr>
          <a:xfrm xmlns:a="http://schemas.openxmlformats.org/drawingml/2006/main">
            <a:off x="6572250" y="1885950"/>
            <a:ext cx="438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AUDITABILITY</a:t>
            </a:r>
          </a:p>
        </p:txBody>
      </p:sp>
      <p:sp>
        <p:nvSpPr>
          <p:cNvPr id="18" name="">
            <a:extLst xmlns:a="http://schemas.openxmlformats.org/drawingml/2006/main">
              <a:ext uri="{FF2B5EF4-FFF2-40B4-BE49-F238E27FC236}">
                <a16:creationId xmlns:a16="http://schemas.microsoft.com/office/drawing/2014/main" id="{2F0FB013-301C-4962-B531-550562C978AB}"/>
              </a:ext>
            </a:extLst>
          </p:cNvPr>
          <p:cNvSpPr>
            <a:spLocks xmlns:a="http://schemas.openxmlformats.org/drawingml/2006/main" noGrp="1"/>
          </p:cNvSpPr>
          <p:nvPr/>
        </p:nvSpPr>
        <p:spPr>
          <a:xfrm xmlns:a="http://schemas.openxmlformats.org/drawingml/2006/main">
            <a:off x="6572250" y="2228850"/>
            <a:ext cx="457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1">
                <a:solidFill>
                  <a:srgbClr val="101820"/>
                </a:solidFill>
                <a:latin typeface="Helvetica Neue"/>
                <a:ea typeface="Helvetica Neue"/>
                <a:cs typeface="Helvetica Neue"/>
              </a:defRPr>
            </a:pPr>
            <a:r>
              <a:rPr sz="2325" b="1">
                <a:solidFill>
                  <a:srgbClr val="101820"/>
                </a:solidFill>
                <a:latin typeface="Helvetica Neue"/>
                <a:ea typeface="Helvetica Neue"/>
                <a:cs typeface="Helvetica Neue"/>
              </a:rPr>
              <a:t>Inspect the onchain record.</a:t>
            </a:r>
          </a:p>
        </p:txBody>
      </p:sp>
      <p:sp>
        <p:nvSpPr>
          <p:cNvPr id="19" name="">
            <a:extLst xmlns:a="http://schemas.openxmlformats.org/drawingml/2006/main">
              <a:ext uri="{FF2B5EF4-FFF2-40B4-BE49-F238E27FC236}">
                <a16:creationId xmlns:a16="http://schemas.microsoft.com/office/drawing/2014/main" id="{7682F5D7-D946-45B8-89F0-EFB5DBF865DA}"/>
              </a:ext>
            </a:extLst>
          </p:cNvPr>
          <p:cNvSpPr>
            <a:spLocks xmlns:a="http://schemas.openxmlformats.org/drawingml/2006/main" noGrp="1"/>
          </p:cNvSpPr>
          <p:nvPr/>
        </p:nvSpPr>
        <p:spPr>
          <a:xfrm xmlns:a="http://schemas.openxmlformats.org/drawingml/2006/main">
            <a:off x="6572250" y="316230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01</a:t>
            </a:r>
          </a:p>
        </p:txBody>
      </p:sp>
      <p:sp>
        <p:nvSpPr>
          <p:cNvPr id="20" name="">
            <a:extLst xmlns:a="http://schemas.openxmlformats.org/drawingml/2006/main">
              <a:ext uri="{FF2B5EF4-FFF2-40B4-BE49-F238E27FC236}">
                <a16:creationId xmlns:a16="http://schemas.microsoft.com/office/drawing/2014/main" id="{11D29CBB-6B1F-411B-AF08-7CF54EA40EC7}"/>
              </a:ext>
            </a:extLst>
          </p:cNvPr>
          <p:cNvSpPr>
            <a:spLocks xmlns:a="http://schemas.openxmlformats.org/drawingml/2006/main" noGrp="1"/>
          </p:cNvSpPr>
          <p:nvPr/>
        </p:nvSpPr>
        <p:spPr>
          <a:xfrm xmlns:a="http://schemas.openxmlformats.org/drawingml/2006/main">
            <a:off x="7200900" y="3143250"/>
            <a:ext cx="3619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a:solidFill>
                  <a:srgbClr val="2457F5"/>
                </a:solidFill>
                <a:latin typeface="Helvetica Neue"/>
                <a:ea typeface="Helvetica Neue"/>
                <a:cs typeface="Helvetica Neue"/>
              </a:defRPr>
            </a:pPr>
            <a:r>
              <a:rPr sz="1650" b="1">
                <a:solidFill>
                  <a:srgbClr val="2457F5"/>
                </a:solidFill>
                <a:latin typeface="Helvetica Neue"/>
                <a:ea typeface="Helvetica Neue"/>
                <a:cs typeface="Helvetica Neue"/>
              </a:rPr>
              <a:t>Vault balance</a:t>
            </a:r>
          </a:p>
        </p:txBody>
      </p:sp>
      <p:sp>
        <p:nvSpPr>
          <p:cNvPr id="21" name="">
            <a:extLst xmlns:a="http://schemas.openxmlformats.org/drawingml/2006/main">
              <a:ext uri="{FF2B5EF4-FFF2-40B4-BE49-F238E27FC236}">
                <a16:creationId xmlns:a16="http://schemas.microsoft.com/office/drawing/2014/main" id="{62E3F901-3BA2-4CA0-BD68-62D618CEBD43}"/>
              </a:ext>
            </a:extLst>
          </p:cNvPr>
          <p:cNvSpPr>
            <a:spLocks xmlns:a="http://schemas.openxmlformats.org/drawingml/2006/main" noGrp="1"/>
          </p:cNvSpPr>
          <p:nvPr/>
        </p:nvSpPr>
        <p:spPr>
          <a:xfrm xmlns:a="http://schemas.openxmlformats.org/drawingml/2006/main">
            <a:off x="6572250" y="3562350"/>
            <a:ext cx="4476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87B35675-DF36-400E-ADC9-83CF6BB9F581}"/>
              </a:ext>
            </a:extLst>
          </p:cNvPr>
          <p:cNvSpPr>
            <a:spLocks xmlns:a="http://schemas.openxmlformats.org/drawingml/2006/main" noGrp="1"/>
          </p:cNvSpPr>
          <p:nvPr/>
        </p:nvSpPr>
        <p:spPr>
          <a:xfrm xmlns:a="http://schemas.openxmlformats.org/drawingml/2006/main">
            <a:off x="6572250" y="384810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02</a:t>
            </a:r>
          </a:p>
        </p:txBody>
      </p:sp>
      <p:sp>
        <p:nvSpPr>
          <p:cNvPr id="23" name="">
            <a:extLst xmlns:a="http://schemas.openxmlformats.org/drawingml/2006/main">
              <a:ext uri="{FF2B5EF4-FFF2-40B4-BE49-F238E27FC236}">
                <a16:creationId xmlns:a16="http://schemas.microsoft.com/office/drawing/2014/main" id="{2DA23D72-581E-4E52-A758-F4D66549B508}"/>
              </a:ext>
            </a:extLst>
          </p:cNvPr>
          <p:cNvSpPr>
            <a:spLocks xmlns:a="http://schemas.openxmlformats.org/drawingml/2006/main" noGrp="1"/>
          </p:cNvSpPr>
          <p:nvPr/>
        </p:nvSpPr>
        <p:spPr>
          <a:xfrm xmlns:a="http://schemas.openxmlformats.org/drawingml/2006/main">
            <a:off x="7200900" y="3829050"/>
            <a:ext cx="3619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a:solidFill>
                  <a:srgbClr val="101820"/>
                </a:solidFill>
                <a:latin typeface="Helvetica Neue"/>
                <a:ea typeface="Helvetica Neue"/>
                <a:cs typeface="Helvetica Neue"/>
              </a:defRPr>
            </a:pPr>
            <a:r>
              <a:rPr sz="1650" b="1">
                <a:solidFill>
                  <a:srgbClr val="101820"/>
                </a:solidFill>
                <a:latin typeface="Helvetica Neue"/>
                <a:ea typeface="Helvetica Neue"/>
                <a:cs typeface="Helvetica Neue"/>
              </a:rPr>
              <a:t>Claims outstanding</a:t>
            </a:r>
          </a:p>
        </p:txBody>
      </p:sp>
      <p:sp>
        <p:nvSpPr>
          <p:cNvPr id="24" name="">
            <a:extLst xmlns:a="http://schemas.openxmlformats.org/drawingml/2006/main">
              <a:ext uri="{FF2B5EF4-FFF2-40B4-BE49-F238E27FC236}">
                <a16:creationId xmlns:a16="http://schemas.microsoft.com/office/drawing/2014/main" id="{94B2F20B-9042-4C5C-88EF-708895CDF4F9}"/>
              </a:ext>
            </a:extLst>
          </p:cNvPr>
          <p:cNvSpPr>
            <a:spLocks xmlns:a="http://schemas.openxmlformats.org/drawingml/2006/main" noGrp="1"/>
          </p:cNvSpPr>
          <p:nvPr/>
        </p:nvSpPr>
        <p:spPr>
          <a:xfrm xmlns:a="http://schemas.openxmlformats.org/drawingml/2006/main">
            <a:off x="6572250" y="4248150"/>
            <a:ext cx="4476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D57FF94E-B7C1-4E2D-AFD5-F6844CD14654}"/>
              </a:ext>
            </a:extLst>
          </p:cNvPr>
          <p:cNvSpPr>
            <a:spLocks xmlns:a="http://schemas.openxmlformats.org/drawingml/2006/main" noGrp="1"/>
          </p:cNvSpPr>
          <p:nvPr/>
        </p:nvSpPr>
        <p:spPr>
          <a:xfrm xmlns:a="http://schemas.openxmlformats.org/drawingml/2006/main">
            <a:off x="6572250" y="453390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03</a:t>
            </a:r>
          </a:p>
        </p:txBody>
      </p:sp>
      <p:sp>
        <p:nvSpPr>
          <p:cNvPr id="26" name="">
            <a:extLst xmlns:a="http://schemas.openxmlformats.org/drawingml/2006/main">
              <a:ext uri="{FF2B5EF4-FFF2-40B4-BE49-F238E27FC236}">
                <a16:creationId xmlns:a16="http://schemas.microsoft.com/office/drawing/2014/main" id="{EFB60F58-F7DD-408F-8477-EC79011DE217}"/>
              </a:ext>
            </a:extLst>
          </p:cNvPr>
          <p:cNvSpPr>
            <a:spLocks xmlns:a="http://schemas.openxmlformats.org/drawingml/2006/main" noGrp="1"/>
          </p:cNvSpPr>
          <p:nvPr/>
        </p:nvSpPr>
        <p:spPr>
          <a:xfrm xmlns:a="http://schemas.openxmlformats.org/drawingml/2006/main">
            <a:off x="7200900" y="4514850"/>
            <a:ext cx="3619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a:solidFill>
                  <a:srgbClr val="101820"/>
                </a:solidFill>
                <a:latin typeface="Helvetica Neue"/>
                <a:ea typeface="Helvetica Neue"/>
                <a:cs typeface="Helvetica Neue"/>
              </a:defRPr>
            </a:pPr>
            <a:r>
              <a:rPr sz="1650" b="1">
                <a:solidFill>
                  <a:srgbClr val="101820"/>
                </a:solidFill>
                <a:latin typeface="Helvetica Neue"/>
                <a:ea typeface="Helvetica Neue"/>
                <a:cs typeface="Helvetica Neue"/>
              </a:rPr>
              <a:t>Redemption history</a:t>
            </a:r>
          </a:p>
        </p:txBody>
      </p:sp>
      <p:sp>
        <p:nvSpPr>
          <p:cNvPr id="27" name="">
            <a:extLst xmlns:a="http://schemas.openxmlformats.org/drawingml/2006/main">
              <a:ext uri="{FF2B5EF4-FFF2-40B4-BE49-F238E27FC236}">
                <a16:creationId xmlns:a16="http://schemas.microsoft.com/office/drawing/2014/main" id="{FA412437-5B40-4FB1-87A9-A83AADAC94CC}"/>
              </a:ext>
            </a:extLst>
          </p:cNvPr>
          <p:cNvSpPr>
            <a:spLocks xmlns:a="http://schemas.openxmlformats.org/drawingml/2006/main" noGrp="1"/>
          </p:cNvSpPr>
          <p:nvPr/>
        </p:nvSpPr>
        <p:spPr>
          <a:xfrm xmlns:a="http://schemas.openxmlformats.org/drawingml/2006/main">
            <a:off x="6572250" y="4933950"/>
            <a:ext cx="4476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287B1054-C979-4640-AC6E-097173D416F7}"/>
              </a:ext>
            </a:extLst>
          </p:cNvPr>
          <p:cNvSpPr>
            <a:spLocks xmlns:a="http://schemas.openxmlformats.org/drawingml/2006/main" noGrp="1"/>
          </p:cNvSpPr>
          <p:nvPr/>
        </p:nvSpPr>
        <p:spPr>
          <a:xfrm xmlns:a="http://schemas.openxmlformats.org/drawingml/2006/main">
            <a:off x="762000" y="5772150"/>
            <a:ext cx="1028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Built on shared token standards that other Solana apps can integrate.</a:t>
            </a:r>
          </a:p>
        </p:txBody>
      </p:sp>
    </p:spTree>
    <p:extLst>
      <p:ext uri="{BB962C8B-B14F-4D97-AF65-F5344CB8AC3E}">
        <p14:creationId xmlns:p14="http://schemas.microsoft.com/office/powerpoint/2010/main" val="366925869"/>
      </p:ext>
    </p:extLst>
  </p:cSld>
</p:sld>
</file>

<file path=ppt/slides/slide8.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1426033-6231-4131-968F-712F0FB5FDB9}"/>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EA9AED8-78A0-4107-BF0B-02BF50535609}"/>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49F7DF5-AD21-40A8-8BFC-AD1F1660BA25}"/>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D829995C-B506-4EBF-AE4F-1121DCE32C5D}"/>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Coca-Cola, in dollars</a:t>
            </a:r>
          </a:p>
        </p:txBody>
      </p:sp>
      <p:sp>
        <p:nvSpPr>
          <p:cNvPr id="5" name="">
            <a:extLst xmlns:a="http://schemas.openxmlformats.org/drawingml/2006/main">
              <a:ext uri="{FF2B5EF4-FFF2-40B4-BE49-F238E27FC236}">
                <a16:creationId xmlns:a16="http://schemas.microsoft.com/office/drawing/2014/main" id="{B2C5753D-9536-460B-8447-9839E34796B8}"/>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08</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b9ca86e08b764646"/>
          <a:srcRect xmlns:a="http://schemas.openxmlformats.org/drawingml/2006/main" l="0" t="8194" r="0" b="8194"/>
          <a:stretch xmlns:a="http://schemas.openxmlformats.org/drawingml/2006/main">
            <a:fillRect l="0" t="0" r="0" b="0"/>
          </a:stretch>
        </p:blipFill>
        <p:spPr>
          <a:xfrm xmlns:a="http://schemas.openxmlformats.org/drawingml/2006/main">
            <a:off x="523875" y="1581150"/>
            <a:ext cx="7381875" cy="4714875"/>
          </a:xfrm>
          <a:prstGeom xmlns:a="http://schemas.openxmlformats.org/drawingml/2006/main" prst="roundRect">
            <a:avLst>
              <a:gd name="adj" fmla="val 2828"/>
            </a:avLst>
          </a:prstGeom>
        </p:spPr>
      </p:pic>
      <p:sp>
        <p:nvSpPr>
          <p:cNvPr id="7" name="">
            <a:extLst xmlns:a="http://schemas.openxmlformats.org/drawingml/2006/main">
              <a:ext uri="{FF2B5EF4-FFF2-40B4-BE49-F238E27FC236}">
                <a16:creationId xmlns:a16="http://schemas.microsoft.com/office/drawing/2014/main" id="{F1C58FC3-F251-47D9-AC20-55F74652A26C}"/>
              </a:ext>
            </a:extLst>
          </p:cNvPr>
          <p:cNvSpPr>
            <a:spLocks xmlns:a="http://schemas.openxmlformats.org/drawingml/2006/main" noGrp="1"/>
          </p:cNvSpPr>
          <p:nvPr/>
        </p:nvSpPr>
        <p:spPr>
          <a:xfrm xmlns:a="http://schemas.openxmlformats.org/drawingml/2006/main">
            <a:off x="8334375" y="1790700"/>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HISTORICAL SCENARIO</a:t>
            </a:r>
          </a:p>
        </p:txBody>
      </p:sp>
      <p:sp>
        <p:nvSpPr>
          <p:cNvPr id="8" name="">
            <a:extLst xmlns:a="http://schemas.openxmlformats.org/drawingml/2006/main">
              <a:ext uri="{FF2B5EF4-FFF2-40B4-BE49-F238E27FC236}">
                <a16:creationId xmlns:a16="http://schemas.microsoft.com/office/drawing/2014/main" id="{C2E3CE02-73EC-4745-846D-5CBB1D76974E}"/>
              </a:ext>
            </a:extLst>
          </p:cNvPr>
          <p:cNvSpPr>
            <a:spLocks xmlns:a="http://schemas.openxmlformats.org/drawingml/2006/main" noGrp="1"/>
          </p:cNvSpPr>
          <p:nvPr/>
        </p:nvSpPr>
        <p:spPr>
          <a:xfrm xmlns:a="http://schemas.openxmlformats.org/drawingml/2006/main">
            <a:off x="8334375" y="2095500"/>
            <a:ext cx="304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100 Coca-Cola share-equivalents</a:t>
            </a:r>
          </a:p>
        </p:txBody>
      </p:sp>
      <p:sp>
        <p:nvSpPr>
          <p:cNvPr id="9" name="">
            <a:extLst xmlns:a="http://schemas.openxmlformats.org/drawingml/2006/main">
              <a:ext uri="{FF2B5EF4-FFF2-40B4-BE49-F238E27FC236}">
                <a16:creationId xmlns:a16="http://schemas.microsoft.com/office/drawing/2014/main" id="{E6046A55-6DC9-4393-A175-512DD1C0D975}"/>
              </a:ext>
            </a:extLst>
          </p:cNvPr>
          <p:cNvSpPr>
            <a:spLocks xmlns:a="http://schemas.openxmlformats.org/drawingml/2006/main" noGrp="1"/>
          </p:cNvSpPr>
          <p:nvPr/>
        </p:nvSpPr>
        <p:spPr>
          <a:xfrm xmlns:a="http://schemas.openxmlformats.org/drawingml/2006/main">
            <a:off x="8334375" y="2647950"/>
            <a:ext cx="285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KOx</a:t>
            </a:r>
          </a:p>
        </p:txBody>
      </p:sp>
      <p:sp>
        <p:nvSpPr>
          <p:cNvPr id="10" name="">
            <a:extLst xmlns:a="http://schemas.openxmlformats.org/drawingml/2006/main">
              <a:ext uri="{FF2B5EF4-FFF2-40B4-BE49-F238E27FC236}">
                <a16:creationId xmlns:a16="http://schemas.microsoft.com/office/drawing/2014/main" id="{E619131C-13A5-43FB-AEDF-2A35FE3F46A9}"/>
              </a:ext>
            </a:extLst>
          </p:cNvPr>
          <p:cNvSpPr>
            <a:spLocks xmlns:a="http://schemas.openxmlformats.org/drawingml/2006/main" noGrp="1"/>
          </p:cNvSpPr>
          <p:nvPr/>
        </p:nvSpPr>
        <p:spPr>
          <a:xfrm xmlns:a="http://schemas.openxmlformats.org/drawingml/2006/main">
            <a:off x="8334375" y="3009900"/>
            <a:ext cx="304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550" b="1">
                <a:solidFill>
                  <a:srgbClr val="2457F5"/>
                </a:solidFill>
                <a:latin typeface="Helvetica Neue"/>
                <a:ea typeface="Helvetica Neue"/>
                <a:cs typeface="Helvetica Neue"/>
              </a:defRPr>
            </a:pPr>
            <a:r>
              <a:rPr sz="2550" b="1">
                <a:solidFill>
                  <a:srgbClr val="2457F5"/>
                </a:solidFill>
                <a:latin typeface="Helvetica Neue"/>
                <a:ea typeface="Helvetica Neue"/>
                <a:cs typeface="Helvetica Neue"/>
              </a:rPr>
              <a:t>≈ $8,935</a:t>
            </a:r>
          </a:p>
        </p:txBody>
      </p:sp>
      <p:sp>
        <p:nvSpPr>
          <p:cNvPr id="11" name="">
            <a:extLst xmlns:a="http://schemas.openxmlformats.org/drawingml/2006/main">
              <a:ext uri="{FF2B5EF4-FFF2-40B4-BE49-F238E27FC236}">
                <a16:creationId xmlns:a16="http://schemas.microsoft.com/office/drawing/2014/main" id="{342B5D8F-D008-47ED-96BA-C4C2919EB5ED}"/>
              </a:ext>
            </a:extLst>
          </p:cNvPr>
          <p:cNvSpPr>
            <a:spLocks xmlns:a="http://schemas.openxmlformats.org/drawingml/2006/main" noGrp="1"/>
          </p:cNvSpPr>
          <p:nvPr/>
        </p:nvSpPr>
        <p:spPr>
          <a:xfrm xmlns:a="http://schemas.openxmlformats.org/drawingml/2006/main">
            <a:off x="8334375" y="3429000"/>
            <a:ext cx="2952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100.0000 KOx · stock exposure</a:t>
            </a:r>
          </a:p>
        </p:txBody>
      </p:sp>
      <p:sp>
        <p:nvSpPr>
          <p:cNvPr id="12" name="">
            <a:extLst xmlns:a="http://schemas.openxmlformats.org/drawingml/2006/main">
              <a:ext uri="{FF2B5EF4-FFF2-40B4-BE49-F238E27FC236}">
                <a16:creationId xmlns:a16="http://schemas.microsoft.com/office/drawing/2014/main" id="{5E0EFE27-9553-4D2C-ADB2-EE6958AD6C2A}"/>
              </a:ext>
            </a:extLst>
          </p:cNvPr>
          <p:cNvSpPr>
            <a:spLocks xmlns:a="http://schemas.openxmlformats.org/drawingml/2006/main" noGrp="1"/>
          </p:cNvSpPr>
          <p:nvPr/>
        </p:nvSpPr>
        <p:spPr>
          <a:xfrm xmlns:a="http://schemas.openxmlformats.org/drawingml/2006/main">
            <a:off x="8334375" y="3876675"/>
            <a:ext cx="304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550" b="1">
                <a:solidFill>
                  <a:srgbClr val="C46A00"/>
                </a:solidFill>
                <a:latin typeface="Helvetica Neue"/>
                <a:ea typeface="Helvetica Neue"/>
                <a:cs typeface="Helvetica Neue"/>
              </a:defRPr>
            </a:pPr>
            <a:r>
              <a:rPr sz="2550" b="1">
                <a:solidFill>
                  <a:srgbClr val="C46A00"/>
                </a:solidFill>
                <a:latin typeface="Helvetica Neue"/>
                <a:ea typeface="Helvetica Neue"/>
                <a:cs typeface="Helvetica Neue"/>
              </a:rPr>
              <a:t>≈ $37.10</a:t>
            </a:r>
          </a:p>
        </p:txBody>
      </p:sp>
      <p:sp>
        <p:nvSpPr>
          <p:cNvPr id="13" name="">
            <a:extLst xmlns:a="http://schemas.openxmlformats.org/drawingml/2006/main">
              <a:ext uri="{FF2B5EF4-FFF2-40B4-BE49-F238E27FC236}">
                <a16:creationId xmlns:a16="http://schemas.microsoft.com/office/drawing/2014/main" id="{B0506625-0336-4D74-B92D-419414D463A2}"/>
              </a:ext>
            </a:extLst>
          </p:cNvPr>
          <p:cNvSpPr>
            <a:spLocks xmlns:a="http://schemas.openxmlformats.org/drawingml/2006/main" noGrp="1"/>
          </p:cNvSpPr>
          <p:nvPr/>
        </p:nvSpPr>
        <p:spPr>
          <a:xfrm xmlns:a="http://schemas.openxmlformats.org/drawingml/2006/main">
            <a:off x="8334375" y="4295775"/>
            <a:ext cx="2952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0.4152 KOx · dividend allocation</a:t>
            </a:r>
          </a:p>
        </p:txBody>
      </p:sp>
      <p:sp>
        <p:nvSpPr>
          <p:cNvPr id="14" name="">
            <a:extLst xmlns:a="http://schemas.openxmlformats.org/drawingml/2006/main">
              <a:ext uri="{FF2B5EF4-FFF2-40B4-BE49-F238E27FC236}">
                <a16:creationId xmlns:a16="http://schemas.microsoft.com/office/drawing/2014/main" id="{382E56CE-0779-4CF2-ACCE-75DDD06B419A}"/>
              </a:ext>
            </a:extLst>
          </p:cNvPr>
          <p:cNvSpPr>
            <a:spLocks xmlns:a="http://schemas.openxmlformats.org/drawingml/2006/main" noGrp="1"/>
          </p:cNvSpPr>
          <p:nvPr/>
        </p:nvSpPr>
        <p:spPr>
          <a:xfrm xmlns:a="http://schemas.openxmlformats.org/drawingml/2006/main">
            <a:off x="8334375" y="4705350"/>
            <a:ext cx="295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101820"/>
                </a:solidFill>
                <a:latin typeface="Helvetica Neue"/>
                <a:ea typeface="Helvetica Neue"/>
                <a:cs typeface="Helvetica Neue"/>
              </a:defRPr>
            </a:pPr>
            <a:r>
              <a:rPr sz="1200" b="1">
                <a:solidFill>
                  <a:srgbClr val="101820"/>
                </a:solidFill>
                <a:latin typeface="Helvetica Neue"/>
                <a:ea typeface="Helvetica Neue"/>
                <a:cs typeface="Helvetica Neue"/>
              </a:rPr>
              <a:t>At the event-implied $89.35/share</a:t>
            </a:r>
          </a:p>
        </p:txBody>
      </p:sp>
      <p:sp>
        <p:nvSpPr>
          <p:cNvPr id="15" name="">
            <a:extLst xmlns:a="http://schemas.openxmlformats.org/drawingml/2006/main">
              <a:ext uri="{FF2B5EF4-FFF2-40B4-BE49-F238E27FC236}">
                <a16:creationId xmlns:a16="http://schemas.microsoft.com/office/drawing/2014/main" id="{E699F7BA-E0BE-4313-9475-8E00AC183FE6}"/>
              </a:ext>
            </a:extLst>
          </p:cNvPr>
          <p:cNvSpPr>
            <a:spLocks xmlns:a="http://schemas.openxmlformats.org/drawingml/2006/main" noGrp="1"/>
          </p:cNvSpPr>
          <p:nvPr/>
        </p:nvSpPr>
        <p:spPr>
          <a:xfrm xmlns:a="http://schemas.openxmlformats.org/drawingml/2006/main">
            <a:off x="8334375" y="5048250"/>
            <a:ext cx="295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77503FF7-D316-4C8B-A611-F0B8A6566495}"/>
              </a:ext>
            </a:extLst>
          </p:cNvPr>
          <p:cNvSpPr>
            <a:spLocks xmlns:a="http://schemas.openxmlformats.org/drawingml/2006/main" noGrp="1"/>
          </p:cNvSpPr>
          <p:nvPr/>
        </p:nvSpPr>
        <p:spPr>
          <a:xfrm xmlns:a="http://schemas.openxmlformats.org/drawingml/2006/main">
            <a:off x="8334375" y="5219700"/>
            <a:ext cx="295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Event · 15 September 2026</a:t>
            </a:r>
          </a:p>
        </p:txBody>
      </p:sp>
      <p:sp>
        <p:nvSpPr>
          <p:cNvPr id="17" name="">
            <a:extLst xmlns:a="http://schemas.openxmlformats.org/drawingml/2006/main">
              <a:ext uri="{FF2B5EF4-FFF2-40B4-BE49-F238E27FC236}">
                <a16:creationId xmlns:a16="http://schemas.microsoft.com/office/drawing/2014/main" id="{79D72777-B3DD-4120-8B8C-AB36190C164C}"/>
              </a:ext>
            </a:extLst>
          </p:cNvPr>
          <p:cNvSpPr>
            <a:spLocks xmlns:a="http://schemas.openxmlformats.org/drawingml/2006/main" noGrp="1"/>
          </p:cNvSpPr>
          <p:nvPr/>
        </p:nvSpPr>
        <p:spPr>
          <a:xfrm xmlns:a="http://schemas.openxmlformats.org/drawingml/2006/main">
            <a:off x="8334375" y="5686425"/>
            <a:ext cx="2952750" cy="552450"/>
          </a:xfrm>
          <a:prstGeom xmlns:a="http://schemas.openxmlformats.org/drawingml/2006/main" prst="roundRect">
            <a:avLst>
              <a:gd name="adj" fmla="val 13793"/>
            </a:avLst>
          </a:prstGeom>
          <a:solidFill xmlns:a="http://schemas.openxmlformats.org/drawingml/2006/main">
            <a:srgbClr val="10182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7B62DC5E-6F4A-4F60-BF5B-CB93B8C1DE83}"/>
              </a:ext>
            </a:extLst>
          </p:cNvPr>
          <p:cNvSpPr>
            <a:spLocks xmlns:a="http://schemas.openxmlformats.org/drawingml/2006/main" noGrp="1"/>
          </p:cNvSpPr>
          <p:nvPr/>
        </p:nvSpPr>
        <p:spPr>
          <a:xfrm xmlns:a="http://schemas.openxmlformats.org/drawingml/2006/main">
            <a:off x="8505825" y="5791200"/>
            <a:ext cx="2647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Working now: historical calculator</a:t>
            </a:r>
          </a:p>
          <a:p xmlns:a="http://schemas.openxmlformats.org/drawingml/2006/main">
            <a:pPr algn="l">
              <a:lnSpc>
                <a:spcPct val="118000"/>
              </a:lnSpc>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Next: vault execution</a:t>
            </a:r>
          </a:p>
        </p:txBody>
      </p:sp>
    </p:spTree>
    <p:extLst>
      <p:ext uri="{BB962C8B-B14F-4D97-AF65-F5344CB8AC3E}">
        <p14:creationId xmlns:p14="http://schemas.microsoft.com/office/powerpoint/2010/main" val="1791069286"/>
      </p:ext>
    </p:extLst>
  </p:cSld>
</p:sld>
</file>

<file path=ppt/slides/slide9.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DAC8289C-6F7E-431F-8A68-979D35DBECCA}"/>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8945EDF-6038-48AF-B0D4-CF3F4F977F08}"/>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6FE27B9-188A-432B-A928-1C59B071D32C}"/>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2E44DD38-A2AB-4ABD-A6F9-6E3C72EA874D}"/>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event first</a:t>
            </a:r>
          </a:p>
        </p:txBody>
      </p:sp>
      <p:sp>
        <p:nvSpPr>
          <p:cNvPr id="5" name="">
            <a:extLst xmlns:a="http://schemas.openxmlformats.org/drawingml/2006/main">
              <a:ext uri="{FF2B5EF4-FFF2-40B4-BE49-F238E27FC236}">
                <a16:creationId xmlns:a16="http://schemas.microsoft.com/office/drawing/2014/main" id="{6EDCD16B-E194-4F1D-9F51-C0A2BE20F944}"/>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09</a:t>
            </a:r>
          </a:p>
        </p:txBody>
      </p:sp>
      <p:sp>
        <p:nvSpPr>
          <p:cNvPr id="6" name="">
            <a:extLst xmlns:a="http://schemas.openxmlformats.org/drawingml/2006/main">
              <a:ext uri="{FF2B5EF4-FFF2-40B4-BE49-F238E27FC236}">
                <a16:creationId xmlns:a16="http://schemas.microsoft.com/office/drawing/2014/main" id="{6FDA8BA5-3390-471D-A52D-6319CF095F7D}"/>
              </a:ext>
            </a:extLst>
          </p:cNvPr>
          <p:cNvSpPr>
            <a:spLocks xmlns:a="http://schemas.openxmlformats.org/drawingml/2006/main" noGrp="1"/>
          </p:cNvSpPr>
          <p:nvPr/>
        </p:nvSpPr>
        <p:spPr>
          <a:xfrm xmlns:a="http://schemas.openxmlformats.org/drawingml/2006/main">
            <a:off x="762000" y="1847850"/>
            <a:ext cx="3810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HACKATHON TARGET</a:t>
            </a:r>
          </a:p>
        </p:txBody>
      </p:sp>
      <p:sp>
        <p:nvSpPr>
          <p:cNvPr id="7" name="Deposit">
            <a:extLst xmlns:a="http://schemas.openxmlformats.org/drawingml/2006/main">
              <a:ext uri="{FF2B5EF4-FFF2-40B4-BE49-F238E27FC236}">
                <a16:creationId xmlns:a16="http://schemas.microsoft.com/office/drawing/2014/main" id="{2E0B7809-D63F-422B-8DD4-F3F72ECA91DF}"/>
              </a:ext>
            </a:extLst>
          </p:cNvPr>
          <p:cNvSpPr>
            <a:spLocks xmlns:a="http://schemas.openxmlformats.org/drawingml/2006/main" noGrp="1"/>
          </p:cNvSpPr>
          <p:nvPr/>
        </p:nvSpPr>
        <p:spPr>
          <a:xfrm xmlns:a="http://schemas.openxmlformats.org/drawingml/2006/main">
            <a:off x="762000" y="2419350"/>
            <a:ext cx="1714500" cy="838200"/>
          </a:xfrm>
          <a:prstGeom xmlns:a="http://schemas.openxmlformats.org/drawingml/2006/main" prst="roundRect">
            <a:avLst>
              <a:gd name="adj" fmla="val 13636"/>
            </a:avLst>
          </a:prstGeom>
          <a:solidFill xmlns:a="http://schemas.openxmlformats.org/drawingml/2006/main">
            <a:srgbClr val="FFFEFB"/>
          </a:solidFill>
          <a:ln xmlns:a="http://schemas.openxmlformats.org/drawingml/2006/main" w="9525">
            <a:solidFill>
              <a:srgbClr val="101820"/>
            </a:solidFill>
            <a:prstDash val="solid"/>
          </a:ln>
        </p:spPr>
      </p:sp>
      <p:sp>
        <p:nvSpPr>
          <p:cNvPr id="8" name="">
            <a:extLst xmlns:a="http://schemas.openxmlformats.org/drawingml/2006/main">
              <a:ext uri="{FF2B5EF4-FFF2-40B4-BE49-F238E27FC236}">
                <a16:creationId xmlns:a16="http://schemas.microsoft.com/office/drawing/2014/main" id="{967B564A-C479-4297-8EB4-B4402C57A19D}"/>
              </a:ext>
            </a:extLst>
          </p:cNvPr>
          <p:cNvSpPr>
            <a:spLocks xmlns:a="http://schemas.openxmlformats.org/drawingml/2006/main" noGrp="1"/>
          </p:cNvSpPr>
          <p:nvPr/>
        </p:nvSpPr>
        <p:spPr>
          <a:xfrm xmlns:a="http://schemas.openxmlformats.org/drawingml/2006/main">
            <a:off x="914400"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Deposit</a:t>
            </a:r>
          </a:p>
        </p:txBody>
      </p:sp>
      <p:sp>
        <p:nvSpPr>
          <p:cNvPr id="9" name="Split">
            <a:extLst xmlns:a="http://schemas.openxmlformats.org/drawingml/2006/main">
              <a:ext uri="{FF2B5EF4-FFF2-40B4-BE49-F238E27FC236}">
                <a16:creationId xmlns:a16="http://schemas.microsoft.com/office/drawing/2014/main" id="{426140AF-040F-4FC9-B039-43242505A5EC}"/>
              </a:ext>
            </a:extLst>
          </p:cNvPr>
          <p:cNvSpPr>
            <a:spLocks xmlns:a="http://schemas.openxmlformats.org/drawingml/2006/main" noGrp="1"/>
          </p:cNvSpPr>
          <p:nvPr/>
        </p:nvSpPr>
        <p:spPr>
          <a:xfrm xmlns:a="http://schemas.openxmlformats.org/drawingml/2006/main">
            <a:off x="3476625" y="2419350"/>
            <a:ext cx="1714500" cy="838200"/>
          </a:xfrm>
          <a:prstGeom xmlns:a="http://schemas.openxmlformats.org/drawingml/2006/main" prst="roundRect">
            <a:avLst>
              <a:gd name="adj" fmla="val 13636"/>
            </a:avLst>
          </a:prstGeom>
          <a:solidFill xmlns:a="http://schemas.openxmlformats.org/drawingml/2006/main">
            <a:srgbClr val="EAF0FF"/>
          </a:solidFill>
          <a:ln xmlns:a="http://schemas.openxmlformats.org/drawingml/2006/main" w="9525">
            <a:solidFill>
              <a:srgbClr val="2457F5"/>
            </a:solidFill>
            <a:prstDash val="solid"/>
          </a:ln>
        </p:spPr>
      </p:sp>
      <p:sp>
        <p:nvSpPr>
          <p:cNvPr id="10" name="">
            <a:extLst xmlns:a="http://schemas.openxmlformats.org/drawingml/2006/main">
              <a:ext uri="{FF2B5EF4-FFF2-40B4-BE49-F238E27FC236}">
                <a16:creationId xmlns:a16="http://schemas.microsoft.com/office/drawing/2014/main" id="{14EDAF84-DC1B-4376-A7D5-50D66A7400D1}"/>
              </a:ext>
            </a:extLst>
          </p:cNvPr>
          <p:cNvSpPr>
            <a:spLocks xmlns:a="http://schemas.openxmlformats.org/drawingml/2006/main" noGrp="1"/>
          </p:cNvSpPr>
          <p:nvPr/>
        </p:nvSpPr>
        <p:spPr>
          <a:xfrm xmlns:a="http://schemas.openxmlformats.org/drawingml/2006/main">
            <a:off x="3629025"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2457F5"/>
                </a:solidFill>
                <a:latin typeface="Helvetica Neue"/>
                <a:ea typeface="Helvetica Neue"/>
                <a:cs typeface="Helvetica Neue"/>
              </a:defRPr>
            </a:pPr>
            <a:r>
              <a:rPr sz="1725" b="1">
                <a:solidFill>
                  <a:srgbClr val="2457F5"/>
                </a:solidFill>
                <a:latin typeface="Helvetica Neue"/>
                <a:ea typeface="Helvetica Neue"/>
                <a:cs typeface="Helvetica Neue"/>
              </a:rPr>
              <a:t>Split</a:t>
            </a:r>
          </a:p>
        </p:txBody>
      </p:sp>
      <p:sp>
        <p:nvSpPr>
          <p:cNvPr id="11" name="Sell the dividend">
            <a:extLst xmlns:a="http://schemas.openxmlformats.org/drawingml/2006/main">
              <a:ext uri="{FF2B5EF4-FFF2-40B4-BE49-F238E27FC236}">
                <a16:creationId xmlns:a16="http://schemas.microsoft.com/office/drawing/2014/main" id="{F5C5E8A5-5649-429D-9F4F-E83EA92F1185}"/>
              </a:ext>
            </a:extLst>
          </p:cNvPr>
          <p:cNvSpPr>
            <a:spLocks xmlns:a="http://schemas.openxmlformats.org/drawingml/2006/main" noGrp="1"/>
          </p:cNvSpPr>
          <p:nvPr/>
        </p:nvSpPr>
        <p:spPr>
          <a:xfrm xmlns:a="http://schemas.openxmlformats.org/drawingml/2006/main">
            <a:off x="6191250" y="2419350"/>
            <a:ext cx="2143125" cy="838200"/>
          </a:xfrm>
          <a:prstGeom xmlns:a="http://schemas.openxmlformats.org/drawingml/2006/main" prst="roundRect">
            <a:avLst>
              <a:gd name="adj" fmla="val 13636"/>
            </a:avLst>
          </a:prstGeom>
          <a:solidFill xmlns:a="http://schemas.openxmlformats.org/drawingml/2006/main">
            <a:srgbClr val="F8E8D4"/>
          </a:solidFill>
          <a:ln xmlns:a="http://schemas.openxmlformats.org/drawingml/2006/main" w="9525">
            <a:solidFill>
              <a:srgbClr val="C46A00"/>
            </a:solidFill>
            <a:prstDash val="solid"/>
          </a:ln>
        </p:spPr>
      </p:sp>
      <p:sp>
        <p:nvSpPr>
          <p:cNvPr id="12" name="">
            <a:extLst xmlns:a="http://schemas.openxmlformats.org/drawingml/2006/main">
              <a:ext uri="{FF2B5EF4-FFF2-40B4-BE49-F238E27FC236}">
                <a16:creationId xmlns:a16="http://schemas.microsoft.com/office/drawing/2014/main" id="{C46259FC-C593-4808-B8C5-C00FB86191A3}"/>
              </a:ext>
            </a:extLst>
          </p:cNvPr>
          <p:cNvSpPr>
            <a:spLocks xmlns:a="http://schemas.openxmlformats.org/drawingml/2006/main" noGrp="1"/>
          </p:cNvSpPr>
          <p:nvPr/>
        </p:nvSpPr>
        <p:spPr>
          <a:xfrm xmlns:a="http://schemas.openxmlformats.org/drawingml/2006/main">
            <a:off x="6343650" y="2609850"/>
            <a:ext cx="18383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575" b="1">
                <a:solidFill>
                  <a:srgbClr val="C46A00"/>
                </a:solidFill>
                <a:latin typeface="Helvetica Neue"/>
                <a:ea typeface="Helvetica Neue"/>
                <a:cs typeface="Helvetica Neue"/>
              </a:defRPr>
            </a:pPr>
            <a:r>
              <a:rPr sz="1575" b="1">
                <a:solidFill>
                  <a:srgbClr val="C46A00"/>
                </a:solidFill>
                <a:latin typeface="Helvetica Neue"/>
                <a:ea typeface="Helvetica Neue"/>
                <a:cs typeface="Helvetica Neue"/>
              </a:rPr>
              <a:t>Sell the dividend</a:t>
            </a:r>
          </a:p>
        </p:txBody>
      </p:sp>
      <p:sp>
        <p:nvSpPr>
          <p:cNvPr id="13" name="Redeem separately">
            <a:extLst xmlns:a="http://schemas.openxmlformats.org/drawingml/2006/main">
              <a:ext uri="{FF2B5EF4-FFF2-40B4-BE49-F238E27FC236}">
                <a16:creationId xmlns:a16="http://schemas.microsoft.com/office/drawing/2014/main" id="{7CBF3823-F4AA-4B67-A2E4-4AA8C85BC8AA}"/>
              </a:ext>
            </a:extLst>
          </p:cNvPr>
          <p:cNvSpPr>
            <a:spLocks xmlns:a="http://schemas.openxmlformats.org/drawingml/2006/main" noGrp="1"/>
          </p:cNvSpPr>
          <p:nvPr/>
        </p:nvSpPr>
        <p:spPr>
          <a:xfrm xmlns:a="http://schemas.openxmlformats.org/drawingml/2006/main">
            <a:off x="8905875" y="2419350"/>
            <a:ext cx="1714500" cy="838200"/>
          </a:xfrm>
          <a:prstGeom xmlns:a="http://schemas.openxmlformats.org/drawingml/2006/main" prst="roundRect">
            <a:avLst>
              <a:gd name="adj" fmla="val 13636"/>
            </a:avLst>
          </a:prstGeom>
          <a:solidFill xmlns:a="http://schemas.openxmlformats.org/drawingml/2006/main">
            <a:srgbClr val="FFFEFB"/>
          </a:solidFill>
          <a:ln xmlns:a="http://schemas.openxmlformats.org/drawingml/2006/main" w="9525">
            <a:solidFill>
              <a:srgbClr val="101820"/>
            </a:solidFill>
            <a:prstDash val="solid"/>
          </a:ln>
        </p:spPr>
      </p:sp>
      <p:sp>
        <p:nvSpPr>
          <p:cNvPr id="14" name="">
            <a:extLst xmlns:a="http://schemas.openxmlformats.org/drawingml/2006/main">
              <a:ext uri="{FF2B5EF4-FFF2-40B4-BE49-F238E27FC236}">
                <a16:creationId xmlns:a16="http://schemas.microsoft.com/office/drawing/2014/main" id="{140B2921-DDEA-4E5A-A6E8-FE30DA8DFBBA}"/>
              </a:ext>
            </a:extLst>
          </p:cNvPr>
          <p:cNvSpPr>
            <a:spLocks xmlns:a="http://schemas.openxmlformats.org/drawingml/2006/main" noGrp="1"/>
          </p:cNvSpPr>
          <p:nvPr/>
        </p:nvSpPr>
        <p:spPr>
          <a:xfrm xmlns:a="http://schemas.openxmlformats.org/drawingml/2006/main">
            <a:off x="9058275"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Redeem separately</a:t>
            </a:r>
          </a:p>
        </p:txBody>
      </p:sp>
      <p:cxnSp>
        <p:nvCxnSpPr>
          <p:cNvPr id="46" name=""/>
          <p:cNvCxnSpPr>
            <a:stCxn xmlns:a="http://schemas.openxmlformats.org/drawingml/2006/main" id="7" idx="3"/>
            <a:endCxn xmlns:a="http://schemas.openxmlformats.org/drawingml/2006/main" id="9" idx="1"/>
          </p:cNvCxnSpPr>
          <p:nvPr/>
        </p:nvCxnSpPr>
        <p:spPr>
          <a:xfrm xmlns:a="http://schemas.openxmlformats.org/drawingml/2006/main">
            <a:off x="2476500" y="2838450"/>
            <a:ext cx="1000125"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cxnSp>
        <p:nvCxnSpPr>
          <p:cNvPr id="47" name=""/>
          <p:cNvCxnSpPr>
            <a:stCxn xmlns:a="http://schemas.openxmlformats.org/drawingml/2006/main" id="9" idx="3"/>
            <a:endCxn xmlns:a="http://schemas.openxmlformats.org/drawingml/2006/main" id="11" idx="1"/>
          </p:cNvCxnSpPr>
          <p:nvPr/>
        </p:nvCxnSpPr>
        <p:spPr>
          <a:xfrm xmlns:a="http://schemas.openxmlformats.org/drawingml/2006/main">
            <a:off x="5191125" y="2838450"/>
            <a:ext cx="1000125"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cxnSp>
        <p:nvCxnSpPr>
          <p:cNvPr id="48" name=""/>
          <p:cNvCxnSpPr>
            <a:stCxn xmlns:a="http://schemas.openxmlformats.org/drawingml/2006/main" id="11" idx="3"/>
            <a:endCxn xmlns:a="http://schemas.openxmlformats.org/drawingml/2006/main" id="13" idx="1"/>
          </p:cNvCxnSpPr>
          <p:nvPr/>
        </p:nvCxnSpPr>
        <p:spPr>
          <a:xfrm xmlns:a="http://schemas.openxmlformats.org/drawingml/2006/main">
            <a:off x="8334375" y="2838450"/>
            <a:ext cx="571500"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sp>
        <p:nvSpPr>
          <p:cNvPr id="18" name="">
            <a:extLst xmlns:a="http://schemas.openxmlformats.org/drawingml/2006/main">
              <a:ext uri="{FF2B5EF4-FFF2-40B4-BE49-F238E27FC236}">
                <a16:creationId xmlns:a16="http://schemas.microsoft.com/office/drawing/2014/main" id="{19C62A90-8985-4E53-A55D-7E69F1BF6D9F}"/>
              </a:ext>
            </a:extLst>
          </p:cNvPr>
          <p:cNvSpPr>
            <a:spLocks xmlns:a="http://schemas.openxmlformats.org/drawingml/2006/main" noGrp="1"/>
          </p:cNvSpPr>
          <p:nvPr/>
        </p:nvSpPr>
        <p:spPr>
          <a:xfrm xmlns:a="http://schemas.openxmlformats.org/drawingml/2006/main">
            <a:off x="762000" y="3638550"/>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ROADMAP</a:t>
            </a:r>
          </a:p>
        </p:txBody>
      </p:sp>
      <p:sp>
        <p:nvSpPr>
          <p:cNvPr id="19" name="">
            <a:extLst xmlns:a="http://schemas.openxmlformats.org/drawingml/2006/main">
              <a:ext uri="{FF2B5EF4-FFF2-40B4-BE49-F238E27FC236}">
                <a16:creationId xmlns:a16="http://schemas.microsoft.com/office/drawing/2014/main" id="{CFBCE84E-CB17-45CE-8795-C9BD1D53A2DF}"/>
              </a:ext>
            </a:extLst>
          </p:cNvPr>
          <p:cNvSpPr>
            <a:spLocks xmlns:a="http://schemas.openxmlformats.org/drawingml/2006/main" noGrp="1"/>
          </p:cNvSpPr>
          <p:nvPr/>
        </p:nvSpPr>
        <p:spPr>
          <a:xfrm xmlns:a="http://schemas.openxmlformats.org/drawingml/2006/main">
            <a:off x="762000" y="3943350"/>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6FF8B6B-E348-4D28-A93E-592B848AC5AA}"/>
              </a:ext>
            </a:extLst>
          </p:cNvPr>
          <p:cNvSpPr>
            <a:spLocks xmlns:a="http://schemas.openxmlformats.org/drawingml/2006/main" noGrp="1"/>
          </p:cNvSpPr>
          <p:nvPr/>
        </p:nvSpPr>
        <p:spPr>
          <a:xfrm xmlns:a="http://schemas.openxmlformats.org/drawingml/2006/main">
            <a:off x="762000" y="414337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01</a:t>
            </a:r>
          </a:p>
        </p:txBody>
      </p:sp>
      <p:sp>
        <p:nvSpPr>
          <p:cNvPr id="21" name="">
            <a:extLst xmlns:a="http://schemas.openxmlformats.org/drawingml/2006/main">
              <a:ext uri="{FF2B5EF4-FFF2-40B4-BE49-F238E27FC236}">
                <a16:creationId xmlns:a16="http://schemas.microsoft.com/office/drawing/2014/main" id="{2CC3FD1E-3884-495D-AF19-1BBE4066DEF8}"/>
              </a:ext>
            </a:extLst>
          </p:cNvPr>
          <p:cNvSpPr>
            <a:spLocks xmlns:a="http://schemas.openxmlformats.org/drawingml/2006/main" noGrp="1"/>
          </p:cNvSpPr>
          <p:nvPr/>
        </p:nvSpPr>
        <p:spPr>
          <a:xfrm xmlns:a="http://schemas.openxmlformats.org/drawingml/2006/main">
            <a:off x="1381125" y="4124325"/>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2457F5"/>
                </a:solidFill>
                <a:latin typeface="Helvetica Neue"/>
                <a:ea typeface="Helvetica Neue"/>
                <a:cs typeface="Helvetica Neue"/>
              </a:defRPr>
            </a:pPr>
            <a:r>
              <a:rPr sz="1500" b="1">
                <a:solidFill>
                  <a:srgbClr val="2457F5"/>
                </a:solidFill>
                <a:latin typeface="Helvetica Neue"/>
                <a:ea typeface="Helvetica Neue"/>
                <a:cs typeface="Helvetica Neue"/>
              </a:rPr>
              <a:t>More xStocks</a:t>
            </a:r>
          </a:p>
        </p:txBody>
      </p:sp>
      <p:sp>
        <p:nvSpPr>
          <p:cNvPr id="22" name="">
            <a:extLst xmlns:a="http://schemas.openxmlformats.org/drawingml/2006/main">
              <a:ext uri="{FF2B5EF4-FFF2-40B4-BE49-F238E27FC236}">
                <a16:creationId xmlns:a16="http://schemas.microsoft.com/office/drawing/2014/main" id="{3F9A0430-FFE6-4403-99BF-3B0C09A64F7E}"/>
              </a:ext>
            </a:extLst>
          </p:cNvPr>
          <p:cNvSpPr>
            <a:spLocks xmlns:a="http://schemas.openxmlformats.org/drawingml/2006/main" noGrp="1"/>
          </p:cNvSpPr>
          <p:nvPr/>
        </p:nvSpPr>
        <p:spPr>
          <a:xfrm xmlns:a="http://schemas.openxmlformats.org/drawingml/2006/main">
            <a:off x="4362450" y="412432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Apple · Microsoft · NVIDIA</a:t>
            </a:r>
          </a:p>
        </p:txBody>
      </p:sp>
      <p:sp>
        <p:nvSpPr>
          <p:cNvPr id="23" name="">
            <a:extLst xmlns:a="http://schemas.openxmlformats.org/drawingml/2006/main">
              <a:ext uri="{FF2B5EF4-FFF2-40B4-BE49-F238E27FC236}">
                <a16:creationId xmlns:a16="http://schemas.microsoft.com/office/drawing/2014/main" id="{BBB35D79-6EA6-48B1-A17C-20BE979E26CC}"/>
              </a:ext>
            </a:extLst>
          </p:cNvPr>
          <p:cNvSpPr>
            <a:spLocks xmlns:a="http://schemas.openxmlformats.org/drawingml/2006/main" noGrp="1"/>
          </p:cNvSpPr>
          <p:nvPr/>
        </p:nvSpPr>
        <p:spPr>
          <a:xfrm xmlns:a="http://schemas.openxmlformats.org/drawingml/2006/main">
            <a:off x="1381125" y="4514850"/>
            <a:ext cx="96678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B12134A5-32C0-4353-8903-887597C3CF1A}"/>
              </a:ext>
            </a:extLst>
          </p:cNvPr>
          <p:cNvSpPr>
            <a:spLocks xmlns:a="http://schemas.openxmlformats.org/drawingml/2006/main" noGrp="1"/>
          </p:cNvSpPr>
          <p:nvPr/>
        </p:nvSpPr>
        <p:spPr>
          <a:xfrm xmlns:a="http://schemas.openxmlformats.org/drawingml/2006/main">
            <a:off x="762000" y="468630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02</a:t>
            </a:r>
          </a:p>
        </p:txBody>
      </p:sp>
      <p:sp>
        <p:nvSpPr>
          <p:cNvPr id="25" name="">
            <a:extLst xmlns:a="http://schemas.openxmlformats.org/drawingml/2006/main">
              <a:ext uri="{FF2B5EF4-FFF2-40B4-BE49-F238E27FC236}">
                <a16:creationId xmlns:a16="http://schemas.microsoft.com/office/drawing/2014/main" id="{A46A4749-2AA3-421B-BE59-526527B07375}"/>
              </a:ext>
            </a:extLst>
          </p:cNvPr>
          <p:cNvSpPr>
            <a:spLocks xmlns:a="http://schemas.openxmlformats.org/drawingml/2006/main" noGrp="1"/>
          </p:cNvSpPr>
          <p:nvPr/>
        </p:nvSpPr>
        <p:spPr>
          <a:xfrm xmlns:a="http://schemas.openxmlformats.org/drawingml/2006/main">
            <a:off x="1381125" y="4667250"/>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7A4000"/>
                </a:solidFill>
                <a:latin typeface="Helvetica Neue"/>
                <a:ea typeface="Helvetica Neue"/>
                <a:cs typeface="Helvetica Neue"/>
              </a:defRPr>
            </a:pPr>
            <a:r>
              <a:rPr sz="1500" b="1">
                <a:solidFill>
                  <a:srgbClr val="7A4000"/>
                </a:solidFill>
                <a:latin typeface="Helvetica Neue"/>
                <a:ea typeface="Helvetica Neue"/>
                <a:cs typeface="Helvetica Neue"/>
              </a:rPr>
              <a:t>More Solana issuers</a:t>
            </a:r>
          </a:p>
        </p:txBody>
      </p:sp>
      <p:sp>
        <p:nvSpPr>
          <p:cNvPr id="26" name="">
            <a:extLst xmlns:a="http://schemas.openxmlformats.org/drawingml/2006/main">
              <a:ext uri="{FF2B5EF4-FFF2-40B4-BE49-F238E27FC236}">
                <a16:creationId xmlns:a16="http://schemas.microsoft.com/office/drawing/2014/main" id="{5092DF71-E755-4DA0-B501-5080D3F0DD70}"/>
              </a:ext>
            </a:extLst>
          </p:cNvPr>
          <p:cNvSpPr>
            <a:spLocks xmlns:a="http://schemas.openxmlformats.org/drawingml/2006/main" noGrp="1"/>
          </p:cNvSpPr>
          <p:nvPr/>
        </p:nvSpPr>
        <p:spPr>
          <a:xfrm xmlns:a="http://schemas.openxmlformats.org/drawingml/2006/main">
            <a:off x="4362450" y="4667250"/>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Backpack · Ondo</a:t>
            </a:r>
          </a:p>
        </p:txBody>
      </p:sp>
      <p:sp>
        <p:nvSpPr>
          <p:cNvPr id="27" name="">
            <a:extLst xmlns:a="http://schemas.openxmlformats.org/drawingml/2006/main">
              <a:ext uri="{FF2B5EF4-FFF2-40B4-BE49-F238E27FC236}">
                <a16:creationId xmlns:a16="http://schemas.microsoft.com/office/drawing/2014/main" id="{126CE7A7-68A2-40DF-B1C6-309273F56C84}"/>
              </a:ext>
            </a:extLst>
          </p:cNvPr>
          <p:cNvSpPr>
            <a:spLocks xmlns:a="http://schemas.openxmlformats.org/drawingml/2006/main" noGrp="1"/>
          </p:cNvSpPr>
          <p:nvPr/>
        </p:nvSpPr>
        <p:spPr>
          <a:xfrm xmlns:a="http://schemas.openxmlformats.org/drawingml/2006/main">
            <a:off x="1381125" y="5057775"/>
            <a:ext cx="96678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6424390D-CFA3-405C-9251-9213857C5F5A}"/>
              </a:ext>
            </a:extLst>
          </p:cNvPr>
          <p:cNvSpPr>
            <a:spLocks xmlns:a="http://schemas.openxmlformats.org/drawingml/2006/main" noGrp="1"/>
          </p:cNvSpPr>
          <p:nvPr/>
        </p:nvSpPr>
        <p:spPr>
          <a:xfrm xmlns:a="http://schemas.openxmlformats.org/drawingml/2006/main">
            <a:off x="762000" y="522922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03</a:t>
            </a:r>
          </a:p>
        </p:txBody>
      </p:sp>
      <p:sp>
        <p:nvSpPr>
          <p:cNvPr id="29" name="">
            <a:extLst xmlns:a="http://schemas.openxmlformats.org/drawingml/2006/main">
              <a:ext uri="{FF2B5EF4-FFF2-40B4-BE49-F238E27FC236}">
                <a16:creationId xmlns:a16="http://schemas.microsoft.com/office/drawing/2014/main" id="{5AD63C5C-9A4A-4644-B622-F7285A551F9B}"/>
              </a:ext>
            </a:extLst>
          </p:cNvPr>
          <p:cNvSpPr>
            <a:spLocks xmlns:a="http://schemas.openxmlformats.org/drawingml/2006/main" noGrp="1"/>
          </p:cNvSpPr>
          <p:nvPr/>
        </p:nvSpPr>
        <p:spPr>
          <a:xfrm xmlns:a="http://schemas.openxmlformats.org/drawingml/2006/main">
            <a:off x="1381125" y="5210175"/>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101820"/>
                </a:solidFill>
                <a:latin typeface="Helvetica Neue"/>
                <a:ea typeface="Helvetica Neue"/>
                <a:cs typeface="Helvetica Neue"/>
              </a:defRPr>
            </a:pPr>
            <a:r>
              <a:rPr sz="1500" b="1">
                <a:solidFill>
                  <a:srgbClr val="101820"/>
                </a:solidFill>
                <a:latin typeface="Helvetica Neue"/>
                <a:ea typeface="Helvetica Neue"/>
                <a:cs typeface="Helvetica Neue"/>
              </a:rPr>
              <a:t>Across networks</a:t>
            </a:r>
          </a:p>
        </p:txBody>
      </p:sp>
      <p:sp>
        <p:nvSpPr>
          <p:cNvPr id="30" name="">
            <a:extLst xmlns:a="http://schemas.openxmlformats.org/drawingml/2006/main">
              <a:ext uri="{FF2B5EF4-FFF2-40B4-BE49-F238E27FC236}">
                <a16:creationId xmlns:a16="http://schemas.microsoft.com/office/drawing/2014/main" id="{58E7F8B7-E311-4767-93E1-5C5DF81181AD}"/>
              </a:ext>
            </a:extLst>
          </p:cNvPr>
          <p:cNvSpPr>
            <a:spLocks xmlns:a="http://schemas.openxmlformats.org/drawingml/2006/main" noGrp="1"/>
          </p:cNvSpPr>
          <p:nvPr/>
        </p:nvSpPr>
        <p:spPr>
          <a:xfrm xmlns:a="http://schemas.openxmlformats.org/drawingml/2006/main">
            <a:off x="4362450" y="521017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Coinbase on Base · Robinhood Chain stock tokens</a:t>
            </a:r>
          </a:p>
        </p:txBody>
      </p:sp>
      <p:sp>
        <p:nvSpPr>
          <p:cNvPr id="31" name="">
            <a:extLst xmlns:a="http://schemas.openxmlformats.org/drawingml/2006/main">
              <a:ext uri="{FF2B5EF4-FFF2-40B4-BE49-F238E27FC236}">
                <a16:creationId xmlns:a16="http://schemas.microsoft.com/office/drawing/2014/main" id="{44E1ADB1-AE1D-4A7E-A342-F04057F5BB3C}"/>
              </a:ext>
            </a:extLst>
          </p:cNvPr>
          <p:cNvSpPr>
            <a:spLocks xmlns:a="http://schemas.openxmlformats.org/drawingml/2006/main" noGrp="1"/>
          </p:cNvSpPr>
          <p:nvPr/>
        </p:nvSpPr>
        <p:spPr>
          <a:xfrm xmlns:a="http://schemas.openxmlformats.org/drawingml/2006/main">
            <a:off x="762000" y="6038850"/>
            <a:ext cx="933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Solana as the home base for dividend liquidity.</a:t>
            </a:r>
          </a:p>
        </p:txBody>
      </p:sp>
    </p:spTree>
    <p:extLst>
      <p:ext uri="{BB962C8B-B14F-4D97-AF65-F5344CB8AC3E}">
        <p14:creationId xmlns:p14="http://schemas.microsoft.com/office/powerpoint/2010/main" val="1621300542"/>
      </p:ext>
    </p:extLst>
  </p:cSld>
</p:sld>
</file>

<file path=ppt/theme/theme1.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2026-09-16T05:20:15.6720000Z</dcterms:created>
  <dcterms:modified xsi:type="dcterms:W3CDTF">2026-09-16T05:20:15.6720000Z</dcterms:modified>
</coreProperties>
</file>