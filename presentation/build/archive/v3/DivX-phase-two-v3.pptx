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03529143d6cc494f" /><Relationship Type="http://schemas.openxmlformats.org/officeDocument/2006/relationships/extended-properties" Target="/docProps/app.xml" Id="R235ccf08196a41c3" /><Relationship Type="http://schemas.openxmlformats.org/officeDocument/2006/relationships/officeDocument" Target="/ppt/presentation.xml" Id="R253128f8da164d05" /></Relationships>
</file>

<file path=ppt/presentation.xml><?xml version="1.0" encoding="utf-8"?>
<p:presentation xmlns:p="http://schemas.openxmlformats.org/presentationml/2006/main">
  <p:sldMasterIdLst>
    <p:sldMasterId xmlns:r="http://schemas.openxmlformats.org/officeDocument/2006/relationships" id="2147483648" r:id="R76acb51b5df948e6"/>
  </p:sldMasterIdLst>
  <p:notesMasterIdLst>
    <p:notesMasterId xmlns:r="http://schemas.openxmlformats.org/officeDocument/2006/relationships" r:id="Rf0ab2dc1824f41b0"/>
  </p:notesMasterIdLst>
  <p:sldIdLst>
    <p:sldId xmlns:r="http://schemas.openxmlformats.org/officeDocument/2006/relationships" id="256" r:id="Ra3e8e03c40e640aa"/>
    <p:sldId xmlns:r="http://schemas.openxmlformats.org/officeDocument/2006/relationships" id="257" r:id="R160a8d04165b4937"/>
    <p:sldId xmlns:r="http://schemas.openxmlformats.org/officeDocument/2006/relationships" id="258" r:id="R8ccd207b6a6c4717"/>
    <p:sldId xmlns:r="http://schemas.openxmlformats.org/officeDocument/2006/relationships" id="259" r:id="Rbd97c777310647a2"/>
    <p:sldId xmlns:r="http://schemas.openxmlformats.org/officeDocument/2006/relationships" id="260" r:id="Rf9da3b96103548e6"/>
    <p:sldId xmlns:r="http://schemas.openxmlformats.org/officeDocument/2006/relationships" id="261" r:id="R82481924388c4bfa"/>
    <p:sldId xmlns:r="http://schemas.openxmlformats.org/officeDocument/2006/relationships" id="262" r:id="R26db44d292f54d3b"/>
    <p:sldId xmlns:r="http://schemas.openxmlformats.org/officeDocument/2006/relationships" id="263" r:id="R6f5685898e8f4a08"/>
    <p:sldId xmlns:r="http://schemas.openxmlformats.org/officeDocument/2006/relationships" id="264" r:id="R86bf90b1ad5145e2"/>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7a575a41070446af" /><Relationship Type="http://schemas.openxmlformats.org/officeDocument/2006/relationships/slideMaster" Target="/ppt/slideMasters/slideMaster1.xml" Id="R76acb51b5df948e6" /><Relationship Type="http://schemas.openxmlformats.org/officeDocument/2006/relationships/notesMaster" Target="/ppt/notesMasters/notesMaster1.xml" Id="Rf0ab2dc1824f41b0" /><Relationship Type="http://schemas.openxmlformats.org/officeDocument/2006/relationships/presProps" Target="/ppt/presProps.xml" Id="R25210d61987149fe" /><Relationship Type="http://schemas.openxmlformats.org/officeDocument/2006/relationships/tableStyles" Target="/ppt/tableStyles.xml" Id="R8ee37f60a20f407b" /><Relationship Type="http://schemas.openxmlformats.org/officeDocument/2006/relationships/slide" Target="/ppt/slides/slide1.xml" Id="Ra3e8e03c40e640aa" /><Relationship Type="http://schemas.openxmlformats.org/officeDocument/2006/relationships/slide" Target="/ppt/slides/slide2.xml" Id="R160a8d04165b4937" /><Relationship Type="http://schemas.openxmlformats.org/officeDocument/2006/relationships/slide" Target="/ppt/slides/slide3.xml" Id="R8ccd207b6a6c4717" /><Relationship Type="http://schemas.openxmlformats.org/officeDocument/2006/relationships/slide" Target="/ppt/slides/slide4.xml" Id="Rbd97c777310647a2" /><Relationship Type="http://schemas.openxmlformats.org/officeDocument/2006/relationships/slide" Target="/ppt/slides/slide5.xml" Id="Rf9da3b96103548e6" /><Relationship Type="http://schemas.openxmlformats.org/officeDocument/2006/relationships/slide" Target="/ppt/slides/slide6.xml" Id="R82481924388c4bfa" /><Relationship Type="http://schemas.openxmlformats.org/officeDocument/2006/relationships/slide" Target="/ppt/slides/slide7.xml" Id="R26db44d292f54d3b" /><Relationship Type="http://schemas.openxmlformats.org/officeDocument/2006/relationships/slide" Target="/ppt/slides/slide8.xml" Id="R6f5685898e8f4a08" /><Relationship Type="http://schemas.openxmlformats.org/officeDocument/2006/relationships/slide" Target="/ppt/slides/slide9.xml" Id="R86bf90b1ad5145e2"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f43bee59ce464c6f"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DivX">
      <a:dk1>
        <a:srgbClr val="101820"/>
      </a:dk1>
      <a:lt1>
        <a:srgbClr val="FFFEFB"/>
      </a:lt1>
      <a:dk2>
        <a:srgbClr val="53606B"/>
      </a:dk2>
      <a:lt2>
        <a:srgbClr val="F6F3EC"/>
      </a:lt2>
      <a:accent1>
        <a:srgbClr val="2457F5"/>
      </a:accent1>
      <a:accent2>
        <a:srgbClr val="C46A00"/>
      </a:accent2>
      <a:accent3>
        <a:srgbClr val="087F5B"/>
      </a:accent3>
      <a:accent4>
        <a:srgbClr val="B42318"/>
      </a:accent4>
      <a:accent5>
        <a:srgbClr val="6B4EFF"/>
      </a:accent5>
      <a:accent6>
        <a:srgbClr val="53606B"/>
      </a:accent6>
      <a:hlink>
        <a:srgbClr val="2457F5"/>
      </a:hlink>
      <a:folHlink>
        <a:srgbClr val="1639A6"/>
      </a:folHlink>
    </a:clrScheme>
    <a:fontScheme name="Office">
      <a:majorFont>
        <a:latin typeface="Calibri Light"/>
        <a:ea typeface="Calibri Light"/>
        <a:cs typeface="Calibri Light"/>
      </a:majorFont>
      <a:minorFont>
        <a:latin typeface="Calibri"/>
        <a:ea typeface="Calibri"/>
        <a:cs typeface="Calibri"/>
      </a:minorFont>
    </a:fontScheme>
    <a:fmtScheme name="DivX">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bccef197259c452a" /><Relationship Type="http://schemas.openxmlformats.org/officeDocument/2006/relationships/notesMaster" Target="/ppt/notesMasters/notesMaster1.xml" Id="R1755203ee8f14f55" /></Relationships>
</file>

<file path=ppt/notesSlides/_rels/notesSlide2.xml.rels>&#65279;<?xml version="1.0" encoding="utf-8"?><Relationships xmlns="http://schemas.openxmlformats.org/package/2006/relationships"><Relationship Type="http://schemas.openxmlformats.org/officeDocument/2006/relationships/slide" Target="/ppt/slides/slide2.xml" Id="Rf6b5bb9052404ab5" /><Relationship Type="http://schemas.openxmlformats.org/officeDocument/2006/relationships/notesMaster" Target="/ppt/notesMasters/notesMaster1.xml" Id="R87c405917b2647f7" /></Relationships>
</file>

<file path=ppt/notesSlides/_rels/notesSlide3.xml.rels>&#65279;<?xml version="1.0" encoding="utf-8"?><Relationships xmlns="http://schemas.openxmlformats.org/package/2006/relationships"><Relationship Type="http://schemas.openxmlformats.org/officeDocument/2006/relationships/slide" Target="/ppt/slides/slide3.xml" Id="R60d1a8ead6654f0a" /><Relationship Type="http://schemas.openxmlformats.org/officeDocument/2006/relationships/notesMaster" Target="/ppt/notesMasters/notesMaster1.xml" Id="Rf5796fff94aa442b" /></Relationships>
</file>

<file path=ppt/notesSlides/_rels/notesSlide4.xml.rels>&#65279;<?xml version="1.0" encoding="utf-8"?><Relationships xmlns="http://schemas.openxmlformats.org/package/2006/relationships"><Relationship Type="http://schemas.openxmlformats.org/officeDocument/2006/relationships/slide" Target="/ppt/slides/slide4.xml" Id="Rab3c17b70fa44326" /><Relationship Type="http://schemas.openxmlformats.org/officeDocument/2006/relationships/notesMaster" Target="/ppt/notesMasters/notesMaster1.xml" Id="Re9e716e57e834903" /></Relationships>
</file>

<file path=ppt/notesSlides/_rels/notesSlide5.xml.rels>&#65279;<?xml version="1.0" encoding="utf-8"?><Relationships xmlns="http://schemas.openxmlformats.org/package/2006/relationships"><Relationship Type="http://schemas.openxmlformats.org/officeDocument/2006/relationships/slide" Target="/ppt/slides/slide5.xml" Id="R55a46be38be84814" /><Relationship Type="http://schemas.openxmlformats.org/officeDocument/2006/relationships/notesMaster" Target="/ppt/notesMasters/notesMaster1.xml" Id="R40441cb1ad334da8" /></Relationships>
</file>

<file path=ppt/notesSlides/_rels/notesSlide6.xml.rels>&#65279;<?xml version="1.0" encoding="utf-8"?><Relationships xmlns="http://schemas.openxmlformats.org/package/2006/relationships"><Relationship Type="http://schemas.openxmlformats.org/officeDocument/2006/relationships/slide" Target="/ppt/slides/slide6.xml" Id="R510882ceb6f4483a" /><Relationship Type="http://schemas.openxmlformats.org/officeDocument/2006/relationships/notesMaster" Target="/ppt/notesMasters/notesMaster1.xml" Id="R5fc99e51423941d6" /></Relationships>
</file>

<file path=ppt/notesSlides/_rels/notesSlide7.xml.rels>&#65279;<?xml version="1.0" encoding="utf-8"?><Relationships xmlns="http://schemas.openxmlformats.org/package/2006/relationships"><Relationship Type="http://schemas.openxmlformats.org/officeDocument/2006/relationships/slide" Target="/ppt/slides/slide7.xml" Id="Rfd3ee084391c4f84" /><Relationship Type="http://schemas.openxmlformats.org/officeDocument/2006/relationships/notesMaster" Target="/ppt/notesMasters/notesMaster1.xml" Id="Ra1ee0af9409c4af6" /></Relationships>
</file>

<file path=ppt/notesSlides/_rels/notesSlide8.xml.rels>&#65279;<?xml version="1.0" encoding="utf-8"?><Relationships xmlns="http://schemas.openxmlformats.org/package/2006/relationships"><Relationship Type="http://schemas.openxmlformats.org/officeDocument/2006/relationships/slide" Target="/ppt/slides/slide8.xml" Id="R78c4ffb6af714ecf" /><Relationship Type="http://schemas.openxmlformats.org/officeDocument/2006/relationships/notesMaster" Target="/ppt/notesMasters/notesMaster1.xml" Id="Rdd19ba1c5dca4e01" /></Relationships>
</file>

<file path=ppt/notesSlides/_rels/notesSlide9.xml.rels>&#65279;<?xml version="1.0" encoding="utf-8"?><Relationships xmlns="http://schemas.openxmlformats.org/package/2006/relationships"><Relationship Type="http://schemas.openxmlformats.org/officeDocument/2006/relationships/slide" Target="/ppt/slides/slide9.xml" Id="Rf82cfec2515b41fe" /><Relationship Type="http://schemas.openxmlformats.org/officeDocument/2006/relationships/notesMaster" Target="/ppt/notesMasters/notesMaster1.xml" Id="R731e7812e5184d08"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Narration: DivX is a Solana vault we are building to separate one tokenized stock position into stock exposure and the right to its next dividend-derived xStock units.</a:t>
            </a:r>
          </a:p>
          <a:p xmlns:a="http://schemas.openxmlformats.org/drawingml/2006/main">
            <a:r>
              <a:t>Presenter notes: The protocol is not launched. Current software is an approved interface and working historical calculator.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Narration: Traditional finance already has both sides: banks sell dividend exposure to manage risk from structured products; asset managers such as Survista buy discounted dividend futures. DivX brings the same choice to xStock holders: keep the stock exposure and sell the dividend rights.</a:t>
            </a:r>
          </a:p>
          <a:p xmlns:a="http://schemas.openxmlformats.org/drawingml/2006/main">
            <a:r>
              <a:t>Presenter notes: The institutions shown are participants in traditional dividend markets, not DivX users. Bank direction varies by book and tenor; hedge funds can buy or sell. Traditional dividend futures and swaps are generally cash-settled. DivX allocates collateral in xStock units, and proceeds require a willing buyer at an agreed price.</a:t>
            </a:r>
          </a:p>
          <a:p xmlns:a="http://schemas.openxmlformats.org/drawingml/2006/main">
            <a:r>
              <a:t>Sources (accessed/observed 16 September 2026 unless stated): Eurex 2025 whitepaper, pp. 31–32: https://www.eurex.com/resource/blob/4418754/f90fd622a278beb08757729864e93925/data/whitepaper-derivatives-forum-frankfurt-2025.pdf | CME, Trading Dividend Uncertainty, 2024: https://www.cmegroup.com/articles/2024/trading-dividend-uncertainty.html | CME dividend-futures primer, 2024: https://www.cmegroup.com/articles/2024/equity-index-dividend-futures-a-primer.html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Narration: One deposit enters a locked vault. The program issues two paired claims: PT for the stock exposure and DR for the dividend-derived share. Both claims are backed by the same xStock collateral and redeem in xStock units whose dollar value can change.</a:t>
            </a:r>
          </a:p>
          <a:p xmlns:a="http://schemas.openxmlformats.org/drawingml/2006/main">
            <a:r>
              <a:t>Presenter notes: This present-tense language explains the product mechanics, not deployed execution. The diagram is schematic. Deposit must precede the supported event. Claim receipt units differ from raw redemption allocations.</a:t>
            </a:r>
          </a:p>
          <a:p xmlns:a="http://schemas.openxmlformats.org/drawingml/2006/main">
            <a:r>
              <a:t>Sources (accessed/observed 16 September 2026 unless stated): https://docs.xstocks.fi/developers/multipliers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Narration: Eurex handled more than 21 million dividend contracts in 2024. Pendle reported 96.4 million dollars of average daily trading volume that year. Investors already trade dividends separately, and crypto users already separate yield. DivX connects those two ideas.</a:t>
            </a:r>
          </a:p>
          <a:p xmlns:a="http://schemas.openxmlformats.org/drawingml/2006/main">
            <a:r>
              <a:t>Presenter notes: Contracts and dollars are different measures. These figures establish precedents; they do not prove demand for DivX or forecast future volume.</a:t>
            </a:r>
          </a:p>
          <a:p xmlns:a="http://schemas.openxmlformats.org/drawingml/2006/main">
            <a:r>
              <a:t>Sources (accessed/observed 16 September 2026 unless stated): Eurex release, published 6 January 2025: https://www.eurex.com/ex-en/find/news-center/news/Eurex-dividend-options-received-CFTC-approval-for-trading-in-the-U.S.--4248358 | Pendle team review, published 4 February 2025: https://medium.com/pendle/pendle-2025-zenith-cf1a91e6e23f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Narration: Global dividends totaled 1.75 trillion dollars in 2024. RWA.xyz reported 2.92 billion dollars of tokenized-stock value on September 16, 2026. We start with dividend-paying xStocks on Solana, then expand to more familiar companies and additional issuers.</a:t>
            </a:r>
          </a:p>
          <a:p xmlns:a="http://schemas.openxmlformats.org/drawingml/2006/main">
            <a:r>
              <a:t>Presenter notes: The RWA.xyz total includes stocks, ETFs, native instruments, and synthetic representations. Eligible DivX collateral is only a subset. The two measures are not additive TAM and do not support a growth estimate.</a:t>
            </a:r>
          </a:p>
          <a:p xmlns:a="http://schemas.openxmlformats.org/drawingml/2006/main">
            <a:r>
              <a:t>Sources (accessed/observed 16 September 2026 unless stated): Janus Henderson, published 2025: https://www.janushenderson.com/en-dk/advisor/press-releases/global-dividends-jumped-to-a-record-1-75-trillion-in-2024/ | RWA.xyz Stocks dashboard, observed 16 September 2026: https://app.rwa.xyz/stocks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Narration: Solana brings collateral and both claims into one shared system. The deposit and paired claims are created together in one transaction. Each owner can transfer and redeem their claim under the same program rules, reducing the separate records and reconciliation needed between counterparties.</a:t>
            </a:r>
          </a:p>
          <a:p xmlns:a="http://schemas.openxmlformats.org/drawingml/2006/main">
            <a:r>
              <a:t>Presenter notes: This describes the intended product mechanics, not a deployed program. Issuer controls, event-data trust, operating rules, access restrictions, and actual market liquidity remain dependencies.</a:t>
            </a:r>
          </a:p>
          <a:p xmlns:a="http://schemas.openxmlformats.org/drawingml/2006/main">
            <a:r>
              <a:t>Sources (accessed/observed 16 September 2026 unless stated): Solana transactions: https://solana.com/docs/core/transactions | Solana token extensions: https://solana.com/docs/tokens/extensions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Narration: Dividend claims are divisible, so a holder can sell part of an entitlement and a buyer can take a smaller position. Onchain records let users inspect the vault balance, claims outstanding and redemption history. The same token standards also make the claims available for other Solana applications to integrate.</a:t>
            </a:r>
          </a:p>
          <a:p xmlns:a="http://schemas.openxmlformats.org/drawingml/2006/main">
            <a:r>
              <a:t>Presenter notes: Onchain token accounts expose program state; they do not independently prove offchain custody reserves, correct issuer data, or correct program code. Corporate-action handling remains technical Q&amp;A: the verified KOx dividend is accepted, while the exact HONx reverse split and later spinoff are unsupported dividend events.</a:t>
            </a:r>
          </a:p>
          <a:p xmlns:a="http://schemas.openxmlformats.org/drawingml/2006/main">
            <a:r>
              <a:t>Sources (accessed/observed 16 September 2026 unless stated): Solana tokens: https://solana.com/docs/tokens | Solana accounts: https://solana.com/docs/core/accounts | Solana transactions: https://solana.com/docs/core/transactions | Token supply RPC: https://solana.com/docs/rpc/http/gettokensupply | KOx history: https://api.xstocks.fi/api/v2/public/corporate-actions/history?page=1&amp;pageSize=100&amp;symbol=KOx&amp;sortBy=createdTimeUtc&amp;sortOrder=asc | HONx history: https://api.xstocks.fi/api/v2/public/corporate-actions/history?page=1&amp;pageSize=100&amp;symbol=HONx&amp;sortBy=createdTimeUtc&amp;sortOrder=asc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Narration: Our example uses Coca-Cola, ticker KO, represented on Solana as KOx. For 100 share-equivalents, the historical event separates about 8,935 dollars of stock exposure from 37 dollars and 10 cents of reinvested dividends, valued at the event-implied share price. The calculator makes that allocation inspectable today; vault execution comes next.</a:t>
            </a:r>
          </a:p>
          <a:p xmlns:a="http://schemas.openxmlformats.org/drawingml/2006/main">
            <a:r>
              <a:t>Presenter notes: Valuation basis: P = $0.371 / (1.0225601246249238 / 1.0183317967386898 - 1) = $89.349999989, approximately $89.35/share. The $37.10 is the event's net reinvestment reference value, not cash paid by DivX, a DR sale price, or a guaranteed payout. Both claims redeem in xStock units and their dollar value changes. Screenshot is a historical scenario, not a wallet position or proof that a vault captured the event. Exact raw Q=9,819,982,084; PT=9,779,376,057; DR=40,606,027; decimals=8; event 75c0c70e-1ae4-4ccd-ace6-d8990e1e8f9e v2. Coca-Cola company payment date is 1 October 2026; issuer adjustment is 15 September.</a:t>
            </a:r>
          </a:p>
          <a:p xmlns:a="http://schemas.openxmlformats.org/drawingml/2006/main">
            <a:r>
              <a:t>Sources (accessed/observed 16 September 2026 unless stated): KOx history: https://api.xstocks.fi/api/v2/public/corporate-actions/history?page=1&amp;pageSize=100&amp;symbol=KOx&amp;sortBy=createdTimeUtc&amp;sortOrder=asc | xStocks multiplier mechanics: https://docs.xstocks.fi/developers/multipliers | Coca-Cola announcement, published 15 July 2026: https://investors.coca-colacompany.com/news-events/press-releases/detail/1165/board-of-directors-of-the-coca-cola-company-elects-new-officer-and-declares-regular-quarterly-dividend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Narration: The hackathon target is one complete flow: deposit, split, sell the dividend, redeem each side separately. Next come Apple, Microsoft and NVIDIA xStocks, then Backpack and Ondo. The longer-term vision reaches Coinbase and Robinhood assets on other networks, with Solana as our home base for dividend liquidity.</a:t>
            </a:r>
          </a:p>
          <a:p xmlns:a="http://schemas.openxmlformats.org/drawingml/2006/main">
            <a:r>
              <a:t>Presenter notes: The hackathon execution uses test assets and the verified historical KOx event. Every roadmap item is future work, not a partnership or integration claim. xStocks AAPLx, MSFTx and NVDAx exist; exact Solana mints and event feeds still require approval. Selected Backpack and Ondo products have Solana representations. Coinbase products are on Base. Only Robinhood's new wallet-held Stock Tokens on Robinhood Chain are in scope, not legacy Classic tokens. Cross-chain custody, settlement and messaging remain future design work.</a:t>
            </a:r>
          </a:p>
          <a:p xmlns:a="http://schemas.openxmlformats.org/drawingml/2006/main">
            <a:r>
              <a:t>Sources (accessed/observed 16 September 2026 unless stated): xStocks: https://xstocks.fi/ | xStocks docs: https://docs.xstocks.fi/docs | Backpack MU: https://learn.backpack.exchange/blog/tokenized-micron-mu | Ondo Stocks: https://ondo.finance/ondo-stocks | Coinbase Tokenized Stocks: https://www.coinbase.com/tokenize | Robinhood Stock Tokens: https://robinhood.com/rhj/stocktokens/ | Robinhood Chain: https://robinhood.com/us/en/support/articles/robinhood-chain-testnet/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5f8a8d6535294743"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af525cd8c6854dd1" /><Relationship Type="http://schemas.openxmlformats.org/officeDocument/2006/relationships/slideLayout" Target="/ppt/slideLayouts/slideLayout1.xml" Id="R61a9232368ec45de"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61a9232368ec45de"/>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DivX">
      <a:dk1>
        <a:srgbClr val="101820"/>
      </a:dk1>
      <a:lt1>
        <a:srgbClr val="FFFEFB"/>
      </a:lt1>
      <a:dk2>
        <a:srgbClr val="53606B"/>
      </a:dk2>
      <a:lt2>
        <a:srgbClr val="F6F3EC"/>
      </a:lt2>
      <a:accent1>
        <a:srgbClr val="2457F5"/>
      </a:accent1>
      <a:accent2>
        <a:srgbClr val="C46A00"/>
      </a:accent2>
      <a:accent3>
        <a:srgbClr val="087F5B"/>
      </a:accent3>
      <a:accent4>
        <a:srgbClr val="B42318"/>
      </a:accent4>
      <a:accent5>
        <a:srgbClr val="6B4EFF"/>
      </a:accent5>
      <a:accent6>
        <a:srgbClr val="53606B"/>
      </a:accent6>
      <a:hlink>
        <a:srgbClr val="2457F5"/>
      </a:hlink>
      <a:folHlink>
        <a:srgbClr val="1639A6"/>
      </a:folHlink>
    </a:clrScheme>
    <a:fontScheme name="Office">
      <a:majorFont>
        <a:latin typeface="Calibri Light"/>
        <a:ea typeface="Calibri Light"/>
        <a:cs typeface="Calibri Light"/>
      </a:majorFont>
      <a:minorFont>
        <a:latin typeface="Calibri"/>
        <a:ea typeface="Calibri"/>
        <a:cs typeface="Calibri"/>
      </a:minorFont>
    </a:fontScheme>
    <a:fmtScheme name="DivX">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4beed5ab74484a87" /><Relationship Type="http://schemas.openxmlformats.org/officeDocument/2006/relationships/notesSlide" Target="/ppt/notesSlides/notesSlide1.xml" Id="R020849382f794d25"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16e8744bb5474314" /><Relationship Type="http://schemas.openxmlformats.org/officeDocument/2006/relationships/notesSlide" Target="/ppt/notesSlides/notesSlide2.xml" Id="R3cc8a24be77d4dda"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476292df1b82416d" /><Relationship Type="http://schemas.openxmlformats.org/officeDocument/2006/relationships/notesSlide" Target="/ppt/notesSlides/notesSlide3.xml" Id="R550f9a7a0fd342a8"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2b62f4bdc425400f" /><Relationship Type="http://schemas.openxmlformats.org/officeDocument/2006/relationships/notesSlide" Target="/ppt/notesSlides/notesSlide4.xml" Id="R446d9446ee004737"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3511569e83ca4cd8" /><Relationship Type="http://schemas.openxmlformats.org/officeDocument/2006/relationships/notesSlide" Target="/ppt/notesSlides/notesSlide5.xml" Id="R064c1f9767114424"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ae175e2f8b1c420d" /><Relationship Type="http://schemas.openxmlformats.org/officeDocument/2006/relationships/notesSlide" Target="/ppt/notesSlides/notesSlide6.xml" Id="R3105fd3e8ec74d9f"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a38b9735fbda4c4b" /><Relationship Type="http://schemas.openxmlformats.org/officeDocument/2006/relationships/notesSlide" Target="/ppt/notesSlides/notesSlide7.xml" Id="Ra86e6abf6be64592"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d5f0c29c02954a4e" /><Relationship Type="http://schemas.openxmlformats.org/officeDocument/2006/relationships/image" Target="/ppt/media/image.png" Id="Rb9ca86e08b764646" /><Relationship Type="http://schemas.openxmlformats.org/officeDocument/2006/relationships/notesSlide" Target="/ppt/notesSlides/notesSlide8.xml" Id="R76ae084e850f4d79"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0fb3cdeb23d347b8" /><Relationship Type="http://schemas.openxmlformats.org/officeDocument/2006/relationships/notesSlide" Target="/ppt/notesSlides/notesSlide9.xml" Id="R79ec6f6776cf4d08" /></Relationships>
</file>

<file path=ppt/slides/slide1.xml><?xml version="1.0" encoding="utf-8"?>
<p:sld xmlns:p="http://schemas.openxmlformats.org/presentationml/2006/main">
  <p:cSld>
    <p:bg>
      <p:bgPr>
        <a:solidFill xmlns:a="http://schemas.openxmlformats.org/drawingml/2006/main">
          <a:srgbClr val="101820"/>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62E3A5C0-58E6-4C09-B67F-5CC61BE5DC1E}"/>
              </a:ext>
            </a:extLst>
          </p:cNvPr>
          <p:cNvSpPr>
            <a:spLocks xmlns:a="http://schemas.openxmlformats.org/drawingml/2006/main" noGrp="1"/>
          </p:cNvSpPr>
          <p:nvPr/>
        </p:nvSpPr>
        <p:spPr>
          <a:xfrm xmlns:a="http://schemas.openxmlformats.org/drawingml/2006/main" rot="2700000">
            <a:off x="781050" y="666750"/>
            <a:ext cx="171450" cy="171450"/>
          </a:xfrm>
          <a:prstGeom xmlns:a="http://schemas.openxmlformats.org/drawingml/2006/main" prst="rect">
            <a:avLst/>
          </a:prstGeom>
          <a:solidFill xmlns:a="http://schemas.openxmlformats.org/drawingml/2006/main">
            <a:srgbClr val="7292FF"/>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B38BA2FF-4639-44CD-9CAA-EE8C0F2A1E5F}"/>
              </a:ext>
            </a:extLst>
          </p:cNvPr>
          <p:cNvSpPr>
            <a:spLocks xmlns:a="http://schemas.openxmlformats.org/drawingml/2006/main" noGrp="1"/>
          </p:cNvSpPr>
          <p:nvPr/>
        </p:nvSpPr>
        <p:spPr>
          <a:xfrm xmlns:a="http://schemas.openxmlformats.org/drawingml/2006/main" rot="2700000">
            <a:off x="923925" y="809625"/>
            <a:ext cx="171450" cy="171450"/>
          </a:xfrm>
          <a:prstGeom xmlns:a="http://schemas.openxmlformats.org/drawingml/2006/main" prst="rect">
            <a:avLst/>
          </a:prstGeom>
          <a:solidFill xmlns:a="http://schemas.openxmlformats.org/drawingml/2006/main">
            <a:srgbClr val="FFB657"/>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A6DB9F5C-AD13-44F3-BE52-5FB0655ED18E}"/>
              </a:ext>
            </a:extLst>
          </p:cNvPr>
          <p:cNvSpPr>
            <a:spLocks xmlns:a="http://schemas.openxmlformats.org/drawingml/2006/main" noGrp="1"/>
          </p:cNvSpPr>
          <p:nvPr/>
        </p:nvSpPr>
        <p:spPr>
          <a:xfrm xmlns:a="http://schemas.openxmlformats.org/drawingml/2006/main">
            <a:off x="1152525" y="657225"/>
            <a:ext cx="1619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500" b="1">
                <a:solidFill>
                  <a:srgbClr val="FFFFFF"/>
                </a:solidFill>
                <a:latin typeface="Helvetica Neue"/>
                <a:ea typeface="Helvetica Neue"/>
                <a:cs typeface="Helvetica Neue"/>
              </a:defRPr>
            </a:pPr>
            <a:r>
              <a:rPr sz="1500" b="1">
                <a:solidFill>
                  <a:srgbClr val="FFFFFF"/>
                </a:solidFill>
                <a:latin typeface="Helvetica Neue"/>
                <a:ea typeface="Helvetica Neue"/>
                <a:cs typeface="Helvetica Neue"/>
              </a:rPr>
              <a:t>DivX</a:t>
            </a:r>
          </a:p>
        </p:txBody>
      </p:sp>
      <p:sp>
        <p:nvSpPr>
          <p:cNvPr id="4" name="">
            <a:extLst xmlns:a="http://schemas.openxmlformats.org/drawingml/2006/main">
              <a:ext uri="{FF2B5EF4-FFF2-40B4-BE49-F238E27FC236}">
                <a16:creationId xmlns:a16="http://schemas.microsoft.com/office/drawing/2014/main" id="{4F569CCC-E3AB-4FE0-80AA-6C60A36F7660}"/>
              </a:ext>
            </a:extLst>
          </p:cNvPr>
          <p:cNvSpPr>
            <a:spLocks xmlns:a="http://schemas.openxmlformats.org/drawingml/2006/main" noGrp="1"/>
          </p:cNvSpPr>
          <p:nvPr/>
        </p:nvSpPr>
        <p:spPr>
          <a:xfrm xmlns:a="http://schemas.openxmlformats.org/drawingml/2006/main">
            <a:off x="781050" y="1390650"/>
            <a:ext cx="4762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00" b="1">
                <a:solidFill>
                  <a:srgbClr val="AAB2BA"/>
                </a:solidFill>
                <a:latin typeface="Helvetica Neue"/>
                <a:ea typeface="Helvetica Neue"/>
                <a:cs typeface="Helvetica Neue"/>
              </a:defRPr>
            </a:pPr>
            <a:r>
              <a:rPr sz="900" b="1">
                <a:solidFill>
                  <a:srgbClr val="AAB2BA"/>
                </a:solidFill>
                <a:latin typeface="Helvetica Neue"/>
                <a:ea typeface="Helvetica Neue"/>
                <a:cs typeface="Helvetica Neue"/>
              </a:rPr>
              <a:t>STOCKLANA PROTOTYPE · SEPTEMBER 2026</a:t>
            </a:r>
          </a:p>
        </p:txBody>
      </p:sp>
      <p:sp>
        <p:nvSpPr>
          <p:cNvPr id="5" name="">
            <a:extLst xmlns:a="http://schemas.openxmlformats.org/drawingml/2006/main">
              <a:ext uri="{FF2B5EF4-FFF2-40B4-BE49-F238E27FC236}">
                <a16:creationId xmlns:a16="http://schemas.microsoft.com/office/drawing/2014/main" id="{CDC049C8-07B4-4B9F-A398-6A214947C2BF}"/>
              </a:ext>
            </a:extLst>
          </p:cNvPr>
          <p:cNvSpPr>
            <a:spLocks xmlns:a="http://schemas.openxmlformats.org/drawingml/2006/main" noGrp="1"/>
          </p:cNvSpPr>
          <p:nvPr/>
        </p:nvSpPr>
        <p:spPr>
          <a:xfrm xmlns:a="http://schemas.openxmlformats.org/drawingml/2006/main">
            <a:off x="781050" y="2114550"/>
            <a:ext cx="9810750" cy="2095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800" b="1">
                <a:solidFill>
                  <a:srgbClr val="FFFFFF"/>
                </a:solidFill>
                <a:latin typeface="Helvetica Neue"/>
                <a:ea typeface="Helvetica Neue"/>
                <a:cs typeface="Helvetica Neue"/>
              </a:defRPr>
            </a:pPr>
            <a:r>
              <a:rPr b="1">
                <a:solidFill>
                  <a:srgbClr val="7292FF"/>
                </a:solidFill>
                <a:latin typeface="Helvetica Neue"/>
                <a:ea typeface="Helvetica Neue"/>
                <a:cs typeface="Helvetica Neue"/>
              </a:rPr>
              <a:t>Keep the stock exposure.</a:t>
            </a:r>
            <a:r>
              <a:rPr b="1">
                <a:solidFill>
                  <a:srgbClr val="FFB657"/>
                </a:solidFill>
                <a:latin typeface="Helvetica Neue"/>
                <a:ea typeface="Helvetica Neue"/>
                <a:cs typeface="Helvetica Neue"/>
              </a:rPr>
              <a:t>
Sell the dividend rights.</a:t>
            </a:r>
          </a:p>
        </p:txBody>
      </p:sp>
      <p:sp>
        <p:nvSpPr>
          <p:cNvPr id="6" name="">
            <a:extLst xmlns:a="http://schemas.openxmlformats.org/drawingml/2006/main">
              <a:ext uri="{FF2B5EF4-FFF2-40B4-BE49-F238E27FC236}">
                <a16:creationId xmlns:a16="http://schemas.microsoft.com/office/drawing/2014/main" id="{0EE9328D-739F-43CF-B2ED-3A2B44868CF8}"/>
              </a:ext>
            </a:extLst>
          </p:cNvPr>
          <p:cNvSpPr>
            <a:spLocks xmlns:a="http://schemas.openxmlformats.org/drawingml/2006/main" noGrp="1"/>
          </p:cNvSpPr>
          <p:nvPr/>
        </p:nvSpPr>
        <p:spPr>
          <a:xfrm xmlns:a="http://schemas.openxmlformats.org/drawingml/2006/main">
            <a:off x="800100" y="4695825"/>
            <a:ext cx="6858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875" b="0">
                <a:solidFill>
                  <a:srgbClr val="E6E8EA"/>
                </a:solidFill>
                <a:latin typeface="Helvetica Neue"/>
                <a:ea typeface="Helvetica Neue"/>
                <a:cs typeface="Helvetica Neue"/>
              </a:defRPr>
            </a:pPr>
            <a:r>
              <a:rPr sz="1875" b="0">
                <a:solidFill>
                  <a:srgbClr val="E6E8EA"/>
                </a:solidFill>
                <a:latin typeface="Helvetica Neue"/>
                <a:ea typeface="Helvetica Neue"/>
                <a:cs typeface="Helvetica Neue"/>
              </a:rPr>
              <a:t>A Solana vault for tokenized-stock dividends.</a:t>
            </a:r>
          </a:p>
        </p:txBody>
      </p:sp>
      <p:sp>
        <p:nvSpPr>
          <p:cNvPr id="7" name="">
            <a:extLst xmlns:a="http://schemas.openxmlformats.org/drawingml/2006/main">
              <a:ext uri="{FF2B5EF4-FFF2-40B4-BE49-F238E27FC236}">
                <a16:creationId xmlns:a16="http://schemas.microsoft.com/office/drawing/2014/main" id="{1A6623CF-59CC-4F4A-A8BB-F2D6F8CF5054}"/>
              </a:ext>
            </a:extLst>
          </p:cNvPr>
          <p:cNvSpPr>
            <a:spLocks xmlns:a="http://schemas.openxmlformats.org/drawingml/2006/main" noGrp="1"/>
          </p:cNvSpPr>
          <p:nvPr/>
        </p:nvSpPr>
        <p:spPr>
          <a:xfrm xmlns:a="http://schemas.openxmlformats.org/drawingml/2006/main">
            <a:off x="800100" y="5857875"/>
            <a:ext cx="10572750" cy="9525"/>
          </a:xfrm>
          <a:prstGeom xmlns:a="http://schemas.openxmlformats.org/drawingml/2006/main" prst="rect">
            <a:avLst/>
          </a:prstGeom>
          <a:solidFill xmlns:a="http://schemas.openxmlformats.org/drawingml/2006/main">
            <a:srgbClr val="303B45"/>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BD16B190-D73A-48D1-8768-A4A450F4D725}"/>
              </a:ext>
            </a:extLst>
          </p:cNvPr>
          <p:cNvSpPr>
            <a:spLocks xmlns:a="http://schemas.openxmlformats.org/drawingml/2006/main" noGrp="1"/>
          </p:cNvSpPr>
          <p:nvPr/>
        </p:nvSpPr>
        <p:spPr>
          <a:xfrm xmlns:a="http://schemas.openxmlformats.org/drawingml/2006/main">
            <a:off x="800100" y="6096000"/>
            <a:ext cx="4953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00" b="1">
                <a:solidFill>
                  <a:srgbClr val="AAB2BA"/>
                </a:solidFill>
                <a:latin typeface="Helvetica Neue"/>
                <a:ea typeface="Helvetica Neue"/>
                <a:cs typeface="Helvetica Neue"/>
              </a:defRPr>
            </a:pPr>
            <a:r>
              <a:rPr sz="900" b="1">
                <a:solidFill>
                  <a:srgbClr val="AAB2BA"/>
                </a:solidFill>
                <a:latin typeface="Helvetica Neue"/>
                <a:ea typeface="Helvetica Neue"/>
                <a:cs typeface="Helvetica Neue"/>
              </a:rPr>
              <a:t>CONCEPT + WORKING HISTORICAL CALCULATOR</a:t>
            </a:r>
          </a:p>
        </p:txBody>
      </p:sp>
    </p:spTree>
    <p:extLst>
      <p:ext uri="{BB962C8B-B14F-4D97-AF65-F5344CB8AC3E}">
        <p14:creationId xmlns:p14="http://schemas.microsoft.com/office/powerpoint/2010/main" val="1130895196"/>
      </p:ext>
    </p:extLst>
  </p:cSld>
</p:sld>
</file>

<file path=ppt/slides/slide2.xml><?xml version="1.0" encoding="utf-8"?>
<p:sld xmlns:p="http://schemas.openxmlformats.org/presentationml/2006/main">
  <p:cSld>
    <p:bg>
      <p:bgPr>
        <a:solidFill xmlns:a="http://schemas.openxmlformats.org/drawingml/2006/main">
          <a:srgbClr val="F6F3EC"/>
        </a:solidFill>
      </p:bgPr>
    </p:bg>
    <p:spTree>
      <p:nvGrpSpPr>
        <p:cNvPr id="1" name=""/>
        <p:cNvGrpSpPr/>
        <p:nvPr/>
      </p:nvGrpSpPr>
      <p:grpSpPr>
        <a:xfrm xmlns:a="http://schemas.openxmlformats.org/drawingml/2006/main"/>
      </p:grpSpPr>
      <p:sp>
        <p:nvSpPr>
          <p:cNvPr id="30" name="">
            <a:extLst xmlns:a="http://schemas.openxmlformats.org/drawingml/2006/main">
              <a:ext uri="{FF2B5EF4-FFF2-40B4-BE49-F238E27FC236}">
                <a16:creationId xmlns:a16="http://schemas.microsoft.com/office/drawing/2014/main" id="{FCF2F5FB-6988-46AF-BC89-4797D009CE4E}"/>
              </a:ext>
            </a:extLst>
          </p:cNvPr>
          <p:cNvSpPr>
            <a:spLocks xmlns:a="http://schemas.openxmlformats.org/drawingml/2006/main" noGrp="1"/>
          </p:cNvSpPr>
          <p:nvPr/>
        </p:nvSpPr>
        <p:spPr>
          <a:xfrm xmlns:a="http://schemas.openxmlformats.org/drawingml/2006/main" rot="2700000">
            <a:off x="704850" y="514350"/>
            <a:ext cx="123444" cy="123444"/>
          </a:xfrm>
          <a:prstGeom xmlns:a="http://schemas.openxmlformats.org/drawingml/2006/main" prst="rect">
            <a:avLst/>
          </a:prstGeom>
          <a:solidFill xmlns:a="http://schemas.openxmlformats.org/drawingml/2006/main">
            <a:srgbClr val="2457F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D6ECAC64-0303-4C4E-ADF4-AF30352D0BC2}"/>
              </a:ext>
            </a:extLst>
          </p:cNvPr>
          <p:cNvSpPr>
            <a:spLocks xmlns:a="http://schemas.openxmlformats.org/drawingml/2006/main" noGrp="1"/>
          </p:cNvSpPr>
          <p:nvPr/>
        </p:nvSpPr>
        <p:spPr>
          <a:xfrm xmlns:a="http://schemas.openxmlformats.org/drawingml/2006/main" rot="2700000">
            <a:off x="807720" y="617220"/>
            <a:ext cx="123444" cy="123444"/>
          </a:xfrm>
          <a:prstGeom xmlns:a="http://schemas.openxmlformats.org/drawingml/2006/main" prst="rect">
            <a:avLst/>
          </a:prstGeom>
          <a:solidFill xmlns:a="http://schemas.openxmlformats.org/drawingml/2006/main">
            <a:srgbClr val="C46A00"/>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5D3C0604-4F17-4606-B0FC-650C77C8DBDA}"/>
              </a:ext>
            </a:extLst>
          </p:cNvPr>
          <p:cNvSpPr>
            <a:spLocks xmlns:a="http://schemas.openxmlformats.org/drawingml/2006/main" noGrp="1"/>
          </p:cNvSpPr>
          <p:nvPr/>
        </p:nvSpPr>
        <p:spPr>
          <a:xfrm xmlns:a="http://schemas.openxmlformats.org/drawingml/2006/main">
            <a:off x="972312" y="507492"/>
            <a:ext cx="1165860" cy="2057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080" b="1">
                <a:solidFill>
                  <a:srgbClr val="101820"/>
                </a:solidFill>
                <a:latin typeface="Helvetica Neue"/>
                <a:ea typeface="Helvetica Neue"/>
                <a:cs typeface="Helvetica Neue"/>
              </a:defRPr>
            </a:pPr>
            <a:r>
              <a:rPr sz="1080" b="1">
                <a:solidFill>
                  <a:srgbClr val="101820"/>
                </a:solidFill>
                <a:latin typeface="Helvetica Neue"/>
                <a:ea typeface="Helvetica Neue"/>
                <a:cs typeface="Helvetica Neue"/>
              </a:rPr>
              <a:t>DivX</a:t>
            </a:r>
          </a:p>
        </p:txBody>
      </p:sp>
      <p:sp>
        <p:nvSpPr>
          <p:cNvPr id="4" name="">
            <a:extLst xmlns:a="http://schemas.openxmlformats.org/drawingml/2006/main">
              <a:ext uri="{FF2B5EF4-FFF2-40B4-BE49-F238E27FC236}">
                <a16:creationId xmlns:a16="http://schemas.microsoft.com/office/drawing/2014/main" id="{4C6C26D4-686A-4A21-BFD8-386F50222265}"/>
              </a:ext>
            </a:extLst>
          </p:cNvPr>
          <p:cNvSpPr>
            <a:spLocks xmlns:a="http://schemas.openxmlformats.org/drawingml/2006/main" noGrp="1"/>
          </p:cNvSpPr>
          <p:nvPr/>
        </p:nvSpPr>
        <p:spPr>
          <a:xfrm xmlns:a="http://schemas.openxmlformats.org/drawingml/2006/main">
            <a:off x="704850" y="933450"/>
            <a:ext cx="10572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8000"/>
              </a:lnSpc>
              <a:buNone/>
              <a:defRPr sz="3150" b="1">
                <a:solidFill>
                  <a:srgbClr val="101820"/>
                </a:solidFill>
                <a:latin typeface="Helvetica Neue"/>
                <a:ea typeface="Helvetica Neue"/>
                <a:cs typeface="Helvetica Neue"/>
              </a:defRPr>
            </a:pPr>
            <a:r>
              <a:rPr sz="3150" b="1">
                <a:solidFill>
                  <a:srgbClr val="101820"/>
                </a:solidFill>
                <a:latin typeface="Helvetica Neue"/>
                <a:ea typeface="Helvetica Neue"/>
                <a:cs typeface="Helvetica Neue"/>
              </a:rPr>
              <a:t>Two sides of one trade</a:t>
            </a:r>
          </a:p>
        </p:txBody>
      </p:sp>
      <p:sp>
        <p:nvSpPr>
          <p:cNvPr id="5" name="">
            <a:extLst xmlns:a="http://schemas.openxmlformats.org/drawingml/2006/main">
              <a:ext uri="{FF2B5EF4-FFF2-40B4-BE49-F238E27FC236}">
                <a16:creationId xmlns:a16="http://schemas.microsoft.com/office/drawing/2014/main" id="{B9E3F3A0-31F6-4F06-AAA6-5552A29F6EE9}"/>
              </a:ext>
            </a:extLst>
          </p:cNvPr>
          <p:cNvSpPr>
            <a:spLocks xmlns:a="http://schemas.openxmlformats.org/drawingml/2006/main" noGrp="1"/>
          </p:cNvSpPr>
          <p:nvPr/>
        </p:nvSpPr>
        <p:spPr>
          <a:xfrm xmlns:a="http://schemas.openxmlformats.org/drawingml/2006/main">
            <a:off x="11144250" y="552450"/>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defRPr sz="900" b="1">
                <a:solidFill>
                  <a:srgbClr val="53606B"/>
                </a:solidFill>
                <a:latin typeface="Helvetica Neue"/>
                <a:ea typeface="Helvetica Neue"/>
                <a:cs typeface="Helvetica Neue"/>
              </a:defRPr>
            </a:pPr>
            <a:r>
              <a:rPr sz="900" b="1">
                <a:solidFill>
                  <a:srgbClr val="53606B"/>
                </a:solidFill>
                <a:latin typeface="Helvetica Neue"/>
                <a:ea typeface="Helvetica Neue"/>
                <a:cs typeface="Helvetica Neue"/>
              </a:rPr>
              <a:t>02</a:t>
            </a:r>
          </a:p>
        </p:txBody>
      </p:sp>
      <p:sp>
        <p:nvSpPr>
          <p:cNvPr id="6" name="">
            <a:extLst xmlns:a="http://schemas.openxmlformats.org/drawingml/2006/main">
              <a:ext uri="{FF2B5EF4-FFF2-40B4-BE49-F238E27FC236}">
                <a16:creationId xmlns:a16="http://schemas.microsoft.com/office/drawing/2014/main" id="{4D5BA338-F58C-45FC-A39C-8D4D4DC6FE6C}"/>
              </a:ext>
            </a:extLst>
          </p:cNvPr>
          <p:cNvSpPr>
            <a:spLocks xmlns:a="http://schemas.openxmlformats.org/drawingml/2006/main" noGrp="1"/>
          </p:cNvSpPr>
          <p:nvPr/>
        </p:nvSpPr>
        <p:spPr>
          <a:xfrm xmlns:a="http://schemas.openxmlformats.org/drawingml/2006/main">
            <a:off x="762000" y="1714500"/>
            <a:ext cx="4000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00" b="1">
                <a:solidFill>
                  <a:srgbClr val="53606B"/>
                </a:solidFill>
                <a:latin typeface="Helvetica Neue"/>
                <a:ea typeface="Helvetica Neue"/>
                <a:cs typeface="Helvetica Neue"/>
              </a:defRPr>
            </a:pPr>
            <a:r>
              <a:rPr sz="900" b="1">
                <a:solidFill>
                  <a:srgbClr val="53606B"/>
                </a:solidFill>
                <a:latin typeface="Helvetica Neue"/>
                <a:ea typeface="Helvetica Neue"/>
                <a:cs typeface="Helvetica Neue"/>
              </a:rPr>
              <a:t>TRADITIONAL DIVIDEND MARKET</a:t>
            </a:r>
          </a:p>
        </p:txBody>
      </p:sp>
      <p:sp>
        <p:nvSpPr>
          <p:cNvPr id="7" name="">
            <a:extLst xmlns:a="http://schemas.openxmlformats.org/drawingml/2006/main">
              <a:ext uri="{FF2B5EF4-FFF2-40B4-BE49-F238E27FC236}">
                <a16:creationId xmlns:a16="http://schemas.microsoft.com/office/drawing/2014/main" id="{ACE26286-5573-4092-B710-860116F91DA3}"/>
              </a:ext>
            </a:extLst>
          </p:cNvPr>
          <p:cNvSpPr>
            <a:spLocks xmlns:a="http://schemas.openxmlformats.org/drawingml/2006/main" noGrp="1"/>
          </p:cNvSpPr>
          <p:nvPr/>
        </p:nvSpPr>
        <p:spPr>
          <a:xfrm xmlns:a="http://schemas.openxmlformats.org/drawingml/2006/main">
            <a:off x="762000" y="2114550"/>
            <a:ext cx="1714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00" b="1">
                <a:solidFill>
                  <a:srgbClr val="1639A6"/>
                </a:solidFill>
                <a:latin typeface="Helvetica Neue"/>
                <a:ea typeface="Helvetica Neue"/>
                <a:cs typeface="Helvetica Neue"/>
              </a:defRPr>
            </a:pPr>
            <a:r>
              <a:rPr sz="900" b="1">
                <a:solidFill>
                  <a:srgbClr val="1639A6"/>
                </a:solidFill>
                <a:latin typeface="Helvetica Neue"/>
                <a:ea typeface="Helvetica Neue"/>
                <a:cs typeface="Helvetica Neue"/>
              </a:rPr>
              <a:t>SELLERS</a:t>
            </a:r>
          </a:p>
        </p:txBody>
      </p:sp>
      <p:sp>
        <p:nvSpPr>
          <p:cNvPr id="8" name="">
            <a:extLst xmlns:a="http://schemas.openxmlformats.org/drawingml/2006/main">
              <a:ext uri="{FF2B5EF4-FFF2-40B4-BE49-F238E27FC236}">
                <a16:creationId xmlns:a16="http://schemas.microsoft.com/office/drawing/2014/main" id="{92E51F23-6FEB-490B-9BD2-4CB4292C0FAA}"/>
              </a:ext>
            </a:extLst>
          </p:cNvPr>
          <p:cNvSpPr>
            <a:spLocks xmlns:a="http://schemas.openxmlformats.org/drawingml/2006/main" noGrp="1"/>
          </p:cNvSpPr>
          <p:nvPr/>
        </p:nvSpPr>
        <p:spPr>
          <a:xfrm xmlns:a="http://schemas.openxmlformats.org/drawingml/2006/main">
            <a:off x="762000" y="2362200"/>
            <a:ext cx="4286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2100" b="1">
                <a:solidFill>
                  <a:srgbClr val="101820"/>
                </a:solidFill>
                <a:latin typeface="Helvetica Neue"/>
                <a:ea typeface="Helvetica Neue"/>
                <a:cs typeface="Helvetica Neue"/>
              </a:defRPr>
            </a:pPr>
            <a:r>
              <a:rPr sz="2100" b="1">
                <a:solidFill>
                  <a:srgbClr val="101820"/>
                </a:solidFill>
                <a:latin typeface="Helvetica Neue"/>
                <a:ea typeface="Helvetica Neue"/>
                <a:cs typeface="Helvetica Neue"/>
              </a:rPr>
              <a:t>Bank trading desks</a:t>
            </a:r>
          </a:p>
        </p:txBody>
      </p:sp>
      <p:sp>
        <p:nvSpPr>
          <p:cNvPr id="9" name="">
            <a:extLst xmlns:a="http://schemas.openxmlformats.org/drawingml/2006/main">
              <a:ext uri="{FF2B5EF4-FFF2-40B4-BE49-F238E27FC236}">
                <a16:creationId xmlns:a16="http://schemas.microsoft.com/office/drawing/2014/main" id="{7CC7D5B1-BE6B-4CFA-9556-F2EC5E113E6C}"/>
              </a:ext>
            </a:extLst>
          </p:cNvPr>
          <p:cNvSpPr>
            <a:spLocks xmlns:a="http://schemas.openxmlformats.org/drawingml/2006/main" noGrp="1"/>
          </p:cNvSpPr>
          <p:nvPr/>
        </p:nvSpPr>
        <p:spPr>
          <a:xfrm xmlns:a="http://schemas.openxmlformats.org/drawingml/2006/main">
            <a:off x="762000" y="2781300"/>
            <a:ext cx="4381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350" b="0">
                <a:solidFill>
                  <a:srgbClr val="53606B"/>
                </a:solidFill>
                <a:latin typeface="Helvetica Neue"/>
                <a:ea typeface="Helvetica Neue"/>
                <a:cs typeface="Helvetica Neue"/>
              </a:defRPr>
            </a:pPr>
            <a:r>
              <a:rPr sz="1350" b="0">
                <a:solidFill>
                  <a:srgbClr val="53606B"/>
                </a:solidFill>
                <a:latin typeface="Helvetica Neue"/>
                <a:ea typeface="Helvetica Neue"/>
                <a:cs typeface="Helvetica Neue"/>
              </a:rPr>
              <a:t>Manage dividend risk from structured products.</a:t>
            </a:r>
          </a:p>
        </p:txBody>
      </p:sp>
      <p:sp>
        <p:nvSpPr>
          <p:cNvPr id="10" name="">
            <a:extLst xmlns:a="http://schemas.openxmlformats.org/drawingml/2006/main">
              <a:ext uri="{FF2B5EF4-FFF2-40B4-BE49-F238E27FC236}">
                <a16:creationId xmlns:a16="http://schemas.microsoft.com/office/drawing/2014/main" id="{6656D016-B365-43AF-8C80-4F86984B7081}"/>
              </a:ext>
            </a:extLst>
          </p:cNvPr>
          <p:cNvSpPr>
            <a:spLocks xmlns:a="http://schemas.openxmlformats.org/drawingml/2006/main" noGrp="1"/>
          </p:cNvSpPr>
          <p:nvPr/>
        </p:nvSpPr>
        <p:spPr>
          <a:xfrm xmlns:a="http://schemas.openxmlformats.org/drawingml/2006/main">
            <a:off x="6705600" y="2114550"/>
            <a:ext cx="1714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00" b="1">
                <a:solidFill>
                  <a:srgbClr val="7A4000"/>
                </a:solidFill>
                <a:latin typeface="Helvetica Neue"/>
                <a:ea typeface="Helvetica Neue"/>
                <a:cs typeface="Helvetica Neue"/>
              </a:defRPr>
            </a:pPr>
            <a:r>
              <a:rPr sz="900" b="1">
                <a:solidFill>
                  <a:srgbClr val="7A4000"/>
                </a:solidFill>
                <a:latin typeface="Helvetica Neue"/>
                <a:ea typeface="Helvetica Neue"/>
                <a:cs typeface="Helvetica Neue"/>
              </a:rPr>
              <a:t>BUYERS</a:t>
            </a:r>
          </a:p>
        </p:txBody>
      </p:sp>
      <p:sp>
        <p:nvSpPr>
          <p:cNvPr id="11" name="">
            <a:extLst xmlns:a="http://schemas.openxmlformats.org/drawingml/2006/main">
              <a:ext uri="{FF2B5EF4-FFF2-40B4-BE49-F238E27FC236}">
                <a16:creationId xmlns:a16="http://schemas.microsoft.com/office/drawing/2014/main" id="{8C2538E3-D5FC-4A9B-B5C6-C8272FEF04CE}"/>
              </a:ext>
            </a:extLst>
          </p:cNvPr>
          <p:cNvSpPr>
            <a:spLocks xmlns:a="http://schemas.openxmlformats.org/drawingml/2006/main" noGrp="1"/>
          </p:cNvSpPr>
          <p:nvPr/>
        </p:nvSpPr>
        <p:spPr>
          <a:xfrm xmlns:a="http://schemas.openxmlformats.org/drawingml/2006/main">
            <a:off x="6705600" y="2362200"/>
            <a:ext cx="4667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2100" b="1">
                <a:solidFill>
                  <a:srgbClr val="101820"/>
                </a:solidFill>
                <a:latin typeface="Helvetica Neue"/>
                <a:ea typeface="Helvetica Neue"/>
                <a:cs typeface="Helvetica Neue"/>
              </a:defRPr>
            </a:pPr>
            <a:r>
              <a:rPr sz="2100" b="1">
                <a:solidFill>
                  <a:srgbClr val="101820"/>
                </a:solidFill>
                <a:latin typeface="Helvetica Neue"/>
                <a:ea typeface="Helvetica Neue"/>
                <a:cs typeface="Helvetica Neue"/>
              </a:rPr>
              <a:t>Asset managers and hedge funds</a:t>
            </a:r>
          </a:p>
        </p:txBody>
      </p:sp>
      <p:sp>
        <p:nvSpPr>
          <p:cNvPr id="12" name="">
            <a:extLst xmlns:a="http://schemas.openxmlformats.org/drawingml/2006/main">
              <a:ext uri="{FF2B5EF4-FFF2-40B4-BE49-F238E27FC236}">
                <a16:creationId xmlns:a16="http://schemas.microsoft.com/office/drawing/2014/main" id="{F9D02F36-80AA-44F3-A08A-15D20850E809}"/>
              </a:ext>
            </a:extLst>
          </p:cNvPr>
          <p:cNvSpPr>
            <a:spLocks xmlns:a="http://schemas.openxmlformats.org/drawingml/2006/main" noGrp="1"/>
          </p:cNvSpPr>
          <p:nvPr/>
        </p:nvSpPr>
        <p:spPr>
          <a:xfrm xmlns:a="http://schemas.openxmlformats.org/drawingml/2006/main">
            <a:off x="6705600" y="2781300"/>
            <a:ext cx="4667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350" b="0">
                <a:solidFill>
                  <a:srgbClr val="53606B"/>
                </a:solidFill>
                <a:latin typeface="Helvetica Neue"/>
                <a:ea typeface="Helvetica Neue"/>
                <a:cs typeface="Helvetica Neue"/>
              </a:defRPr>
            </a:pPr>
            <a:r>
              <a:rPr sz="1350" b="0">
                <a:solidFill>
                  <a:srgbClr val="53606B"/>
                </a:solidFill>
                <a:latin typeface="Helvetica Neue"/>
                <a:ea typeface="Helvetica Neue"/>
                <a:cs typeface="Helvetica Neue"/>
              </a:rPr>
              <a:t>Trade expected payouts. Survista is one documented buyer.</a:t>
            </a:r>
          </a:p>
        </p:txBody>
      </p:sp>
      <p:sp>
        <p:nvSpPr>
          <p:cNvPr id="13" name="">
            <a:extLst xmlns:a="http://schemas.openxmlformats.org/drawingml/2006/main">
              <a:ext uri="{FF2B5EF4-FFF2-40B4-BE49-F238E27FC236}">
                <a16:creationId xmlns:a16="http://schemas.microsoft.com/office/drawing/2014/main" id="{B15746C8-F4FF-4E1B-98B6-DF559A61D894}"/>
              </a:ext>
            </a:extLst>
          </p:cNvPr>
          <p:cNvSpPr>
            <a:spLocks xmlns:a="http://schemas.openxmlformats.org/drawingml/2006/main" noGrp="1"/>
          </p:cNvSpPr>
          <p:nvPr/>
        </p:nvSpPr>
        <p:spPr>
          <a:xfrm xmlns:a="http://schemas.openxmlformats.org/drawingml/2006/main">
            <a:off x="762000" y="3371850"/>
            <a:ext cx="10572750" cy="9525"/>
          </a:xfrm>
          <a:prstGeom xmlns:a="http://schemas.openxmlformats.org/drawingml/2006/main" prst="rect">
            <a:avLst/>
          </a:prstGeom>
          <a:solidFill xmlns:a="http://schemas.openxmlformats.org/drawingml/2006/main">
            <a:srgbClr val="D7D2C8"/>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2963442E-3699-4DB2-9552-F6A37F1F8E2D}"/>
              </a:ext>
            </a:extLst>
          </p:cNvPr>
          <p:cNvSpPr>
            <a:spLocks xmlns:a="http://schemas.openxmlformats.org/drawingml/2006/main" noGrp="1"/>
          </p:cNvSpPr>
          <p:nvPr/>
        </p:nvSpPr>
        <p:spPr>
          <a:xfrm xmlns:a="http://schemas.openxmlformats.org/drawingml/2006/main">
            <a:off x="762000" y="3590925"/>
            <a:ext cx="2286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00" b="1">
                <a:solidFill>
                  <a:srgbClr val="53606B"/>
                </a:solidFill>
                <a:latin typeface="Helvetica Neue"/>
                <a:ea typeface="Helvetica Neue"/>
                <a:cs typeface="Helvetica Neue"/>
              </a:defRPr>
            </a:pPr>
            <a:r>
              <a:rPr sz="900" b="1">
                <a:solidFill>
                  <a:srgbClr val="53606B"/>
                </a:solidFill>
                <a:latin typeface="Helvetica Neue"/>
                <a:ea typeface="Helvetica Neue"/>
                <a:cs typeface="Helvetica Neue"/>
              </a:rPr>
              <a:t>DIVX FLOW</a:t>
            </a:r>
          </a:p>
        </p:txBody>
      </p:sp>
      <p:sp>
        <p:nvSpPr>
          <p:cNvPr id="15" name="Stock holder">
            <a:extLst xmlns:a="http://schemas.openxmlformats.org/drawingml/2006/main">
              <a:ext uri="{FF2B5EF4-FFF2-40B4-BE49-F238E27FC236}">
                <a16:creationId xmlns:a16="http://schemas.microsoft.com/office/drawing/2014/main" id="{FFD40279-393C-404A-AF4F-A8B17804956F}"/>
              </a:ext>
            </a:extLst>
          </p:cNvPr>
          <p:cNvSpPr>
            <a:spLocks xmlns:a="http://schemas.openxmlformats.org/drawingml/2006/main" noGrp="1"/>
          </p:cNvSpPr>
          <p:nvPr/>
        </p:nvSpPr>
        <p:spPr>
          <a:xfrm xmlns:a="http://schemas.openxmlformats.org/drawingml/2006/main">
            <a:off x="857250" y="4324350"/>
            <a:ext cx="1809750" cy="704850"/>
          </a:xfrm>
          <a:prstGeom xmlns:a="http://schemas.openxmlformats.org/drawingml/2006/main" prst="roundRect">
            <a:avLst>
              <a:gd name="adj" fmla="val 16216"/>
            </a:avLst>
          </a:prstGeom>
          <a:solidFill xmlns:a="http://schemas.openxmlformats.org/drawingml/2006/main">
            <a:srgbClr val="FFFEFB"/>
          </a:solidFill>
          <a:ln xmlns:a="http://schemas.openxmlformats.org/drawingml/2006/main" w="9525">
            <a:solidFill>
              <a:srgbClr val="101820"/>
            </a:solidFill>
            <a:prstDash val="solid"/>
          </a:ln>
        </p:spPr>
      </p:sp>
      <p:sp>
        <p:nvSpPr>
          <p:cNvPr id="16" name="">
            <a:extLst xmlns:a="http://schemas.openxmlformats.org/drawingml/2006/main">
              <a:ext uri="{FF2B5EF4-FFF2-40B4-BE49-F238E27FC236}">
                <a16:creationId xmlns:a16="http://schemas.microsoft.com/office/drawing/2014/main" id="{C1052BD9-6BBE-48A7-98F0-25F91D658A21}"/>
              </a:ext>
            </a:extLst>
          </p:cNvPr>
          <p:cNvSpPr>
            <a:spLocks xmlns:a="http://schemas.openxmlformats.org/drawingml/2006/main" noGrp="1"/>
          </p:cNvSpPr>
          <p:nvPr/>
        </p:nvSpPr>
        <p:spPr>
          <a:xfrm xmlns:a="http://schemas.openxmlformats.org/drawingml/2006/main">
            <a:off x="1066800" y="4533900"/>
            <a:ext cx="13906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4000"/>
              </a:lnSpc>
              <a:buNone/>
              <a:defRPr sz="1350" b="1">
                <a:solidFill>
                  <a:srgbClr val="101820"/>
                </a:solidFill>
                <a:latin typeface="Helvetica Neue"/>
                <a:ea typeface="Helvetica Neue"/>
                <a:cs typeface="Helvetica Neue"/>
              </a:defRPr>
            </a:pPr>
            <a:r>
              <a:rPr sz="1350" b="1">
                <a:solidFill>
                  <a:srgbClr val="101820"/>
                </a:solidFill>
                <a:latin typeface="Helvetica Neue"/>
                <a:ea typeface="Helvetica Neue"/>
                <a:cs typeface="Helvetica Neue"/>
              </a:rPr>
              <a:t>STOCK HOLDER</a:t>
            </a:r>
          </a:p>
        </p:txBody>
      </p:sp>
      <p:sp>
        <p:nvSpPr>
          <p:cNvPr id="17" name="Buyer">
            <a:extLst xmlns:a="http://schemas.openxmlformats.org/drawingml/2006/main">
              <a:ext uri="{FF2B5EF4-FFF2-40B4-BE49-F238E27FC236}">
                <a16:creationId xmlns:a16="http://schemas.microsoft.com/office/drawing/2014/main" id="{E6047C0E-01AE-470B-B5A8-B415720DCE8D}"/>
              </a:ext>
            </a:extLst>
          </p:cNvPr>
          <p:cNvSpPr>
            <a:spLocks xmlns:a="http://schemas.openxmlformats.org/drawingml/2006/main" noGrp="1"/>
          </p:cNvSpPr>
          <p:nvPr/>
        </p:nvSpPr>
        <p:spPr>
          <a:xfrm xmlns:a="http://schemas.openxmlformats.org/drawingml/2006/main">
            <a:off x="9525000" y="4324350"/>
            <a:ext cx="1809750" cy="704850"/>
          </a:xfrm>
          <a:prstGeom xmlns:a="http://schemas.openxmlformats.org/drawingml/2006/main" prst="roundRect">
            <a:avLst>
              <a:gd name="adj" fmla="val 16216"/>
            </a:avLst>
          </a:prstGeom>
          <a:solidFill xmlns:a="http://schemas.openxmlformats.org/drawingml/2006/main">
            <a:srgbClr val="FFFEFB"/>
          </a:solidFill>
          <a:ln xmlns:a="http://schemas.openxmlformats.org/drawingml/2006/main" w="9525">
            <a:solidFill>
              <a:srgbClr val="101820"/>
            </a:solidFill>
            <a:prstDash val="solid"/>
          </a:ln>
        </p:spPr>
      </p:sp>
      <p:sp>
        <p:nvSpPr>
          <p:cNvPr id="18" name="">
            <a:extLst xmlns:a="http://schemas.openxmlformats.org/drawingml/2006/main">
              <a:ext uri="{FF2B5EF4-FFF2-40B4-BE49-F238E27FC236}">
                <a16:creationId xmlns:a16="http://schemas.microsoft.com/office/drawing/2014/main" id="{EFA478CE-2DDA-4D67-8EC0-BE978F4576F6}"/>
              </a:ext>
            </a:extLst>
          </p:cNvPr>
          <p:cNvSpPr>
            <a:spLocks xmlns:a="http://schemas.openxmlformats.org/drawingml/2006/main" noGrp="1"/>
          </p:cNvSpPr>
          <p:nvPr/>
        </p:nvSpPr>
        <p:spPr>
          <a:xfrm xmlns:a="http://schemas.openxmlformats.org/drawingml/2006/main">
            <a:off x="9734550" y="4533900"/>
            <a:ext cx="13906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4000"/>
              </a:lnSpc>
              <a:buNone/>
              <a:defRPr sz="1350" b="1">
                <a:solidFill>
                  <a:srgbClr val="101820"/>
                </a:solidFill>
                <a:latin typeface="Helvetica Neue"/>
                <a:ea typeface="Helvetica Neue"/>
                <a:cs typeface="Helvetica Neue"/>
              </a:defRPr>
            </a:pPr>
            <a:r>
              <a:rPr sz="1350" b="1">
                <a:solidFill>
                  <a:srgbClr val="101820"/>
                </a:solidFill>
                <a:latin typeface="Helvetica Neue"/>
                <a:ea typeface="Helvetica Neue"/>
                <a:cs typeface="Helvetica Neue"/>
              </a:rPr>
              <a:t>BUYER</a:t>
            </a:r>
          </a:p>
        </p:txBody>
      </p:sp>
      <p:sp>
        <p:nvSpPr>
          <p:cNvPr id="19" name="Dividend right label">
            <a:extLst xmlns:a="http://schemas.openxmlformats.org/drawingml/2006/main">
              <a:ext uri="{FF2B5EF4-FFF2-40B4-BE49-F238E27FC236}">
                <a16:creationId xmlns:a16="http://schemas.microsoft.com/office/drawing/2014/main" id="{3E96A67D-EE94-4A59-88ED-4A0E8B268934}"/>
              </a:ext>
            </a:extLst>
          </p:cNvPr>
          <p:cNvSpPr>
            <a:spLocks xmlns:a="http://schemas.openxmlformats.org/drawingml/2006/main" noGrp="1"/>
          </p:cNvSpPr>
          <p:nvPr/>
        </p:nvSpPr>
        <p:spPr>
          <a:xfrm xmlns:a="http://schemas.openxmlformats.org/drawingml/2006/main">
            <a:off x="4667250" y="3876675"/>
            <a:ext cx="2857500" cy="476250"/>
          </a:xfrm>
          <a:prstGeom xmlns:a="http://schemas.openxmlformats.org/drawingml/2006/main" prst="roundRect">
            <a:avLst>
              <a:gd name="adj" fmla="val 24000"/>
            </a:avLst>
          </a:prstGeom>
          <a:solidFill xmlns:a="http://schemas.openxmlformats.org/drawingml/2006/main">
            <a:srgbClr val="F8E8D4"/>
          </a:solidFill>
          <a:ln xmlns:a="http://schemas.openxmlformats.org/drawingml/2006/main" w="9525">
            <a:solidFill>
              <a:srgbClr val="C46A00"/>
            </a:solidFill>
            <a:prstDash val="solid"/>
          </a:ln>
        </p:spPr>
      </p:sp>
      <p:sp>
        <p:nvSpPr>
          <p:cNvPr id="20" name="">
            <a:extLst xmlns:a="http://schemas.openxmlformats.org/drawingml/2006/main">
              <a:ext uri="{FF2B5EF4-FFF2-40B4-BE49-F238E27FC236}">
                <a16:creationId xmlns:a16="http://schemas.microsoft.com/office/drawing/2014/main" id="{438E9FF2-24E8-47D0-BF59-19A7CADE16DD}"/>
              </a:ext>
            </a:extLst>
          </p:cNvPr>
          <p:cNvSpPr>
            <a:spLocks xmlns:a="http://schemas.openxmlformats.org/drawingml/2006/main" noGrp="1"/>
          </p:cNvSpPr>
          <p:nvPr/>
        </p:nvSpPr>
        <p:spPr>
          <a:xfrm xmlns:a="http://schemas.openxmlformats.org/drawingml/2006/main">
            <a:off x="5010150" y="4000500"/>
            <a:ext cx="21717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4000"/>
              </a:lnSpc>
              <a:buNone/>
              <a:defRPr sz="1125" b="1">
                <a:solidFill>
                  <a:srgbClr val="7A4000"/>
                </a:solidFill>
                <a:latin typeface="Helvetica Neue"/>
                <a:ea typeface="Helvetica Neue"/>
                <a:cs typeface="Helvetica Neue"/>
              </a:defRPr>
            </a:pPr>
            <a:r>
              <a:rPr sz="1125" b="1">
                <a:solidFill>
                  <a:srgbClr val="7A4000"/>
                </a:solidFill>
                <a:latin typeface="Helvetica Neue"/>
                <a:ea typeface="Helvetica Neue"/>
                <a:cs typeface="Helvetica Neue"/>
              </a:rPr>
              <a:t>DIVIDEND RIGHT</a:t>
            </a:r>
          </a:p>
        </p:txBody>
      </p:sp>
      <p:sp>
        <p:nvSpPr>
          <p:cNvPr id="21" name="Payment label">
            <a:extLst xmlns:a="http://schemas.openxmlformats.org/drawingml/2006/main">
              <a:ext uri="{FF2B5EF4-FFF2-40B4-BE49-F238E27FC236}">
                <a16:creationId xmlns:a16="http://schemas.microsoft.com/office/drawing/2014/main" id="{12B7F59B-FB6F-41A6-9295-44719D442474}"/>
              </a:ext>
            </a:extLst>
          </p:cNvPr>
          <p:cNvSpPr>
            <a:spLocks xmlns:a="http://schemas.openxmlformats.org/drawingml/2006/main" noGrp="1"/>
          </p:cNvSpPr>
          <p:nvPr/>
        </p:nvSpPr>
        <p:spPr>
          <a:xfrm xmlns:a="http://schemas.openxmlformats.org/drawingml/2006/main">
            <a:off x="4667250" y="5010150"/>
            <a:ext cx="2857500" cy="476250"/>
          </a:xfrm>
          <a:prstGeom xmlns:a="http://schemas.openxmlformats.org/drawingml/2006/main" prst="roundRect">
            <a:avLst>
              <a:gd name="adj" fmla="val 24000"/>
            </a:avLst>
          </a:prstGeom>
          <a:solidFill xmlns:a="http://schemas.openxmlformats.org/drawingml/2006/main">
            <a:srgbClr val="EAF0FF"/>
          </a:solidFill>
          <a:ln xmlns:a="http://schemas.openxmlformats.org/drawingml/2006/main" w="9525">
            <a:solidFill>
              <a:srgbClr val="2457F5"/>
            </a:solidFill>
            <a:prstDash val="solid"/>
          </a:ln>
        </p:spPr>
      </p:sp>
      <p:sp>
        <p:nvSpPr>
          <p:cNvPr id="22" name="">
            <a:extLst xmlns:a="http://schemas.openxmlformats.org/drawingml/2006/main">
              <a:ext uri="{FF2B5EF4-FFF2-40B4-BE49-F238E27FC236}">
                <a16:creationId xmlns:a16="http://schemas.microsoft.com/office/drawing/2014/main" id="{741FCB19-921A-4DEC-AAB4-2380780FCDAA}"/>
              </a:ext>
            </a:extLst>
          </p:cNvPr>
          <p:cNvSpPr>
            <a:spLocks xmlns:a="http://schemas.openxmlformats.org/drawingml/2006/main" noGrp="1"/>
          </p:cNvSpPr>
          <p:nvPr/>
        </p:nvSpPr>
        <p:spPr>
          <a:xfrm xmlns:a="http://schemas.openxmlformats.org/drawingml/2006/main">
            <a:off x="5010150" y="5133975"/>
            <a:ext cx="21717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4000"/>
              </a:lnSpc>
              <a:buNone/>
              <a:defRPr sz="1125" b="1">
                <a:solidFill>
                  <a:srgbClr val="1639A6"/>
                </a:solidFill>
                <a:latin typeface="Helvetica Neue"/>
                <a:ea typeface="Helvetica Neue"/>
                <a:cs typeface="Helvetica Neue"/>
              </a:defRPr>
            </a:pPr>
            <a:r>
              <a:rPr sz="1125" b="1">
                <a:solidFill>
                  <a:srgbClr val="1639A6"/>
                </a:solidFill>
                <a:latin typeface="Helvetica Neue"/>
                <a:ea typeface="Helvetica Neue"/>
                <a:cs typeface="Helvetica Neue"/>
              </a:rPr>
              <a:t>PAYMENT</a:t>
            </a:r>
          </a:p>
        </p:txBody>
      </p:sp>
      <p:cxnSp>
        <p:nvCxnSpPr>
          <p:cNvPr id="52" name=""/>
          <p:cNvCxnSpPr>
            <a:stCxn xmlns:a="http://schemas.openxmlformats.org/drawingml/2006/main" id="15" idx="0"/>
            <a:endCxn xmlns:a="http://schemas.openxmlformats.org/drawingml/2006/main" id="19" idx="1"/>
          </p:cNvCxnSpPr>
          <p:nvPr/>
        </p:nvCxnSpPr>
        <p:spPr>
          <a:xfrm xmlns:a="http://schemas.openxmlformats.org/drawingml/2006/main" flipV="1">
            <a:off x="1762125" y="4095750"/>
            <a:ext cx="2905125" cy="228600"/>
          </a:xfrm>
          <a:prstGeom xmlns:a="http://schemas.openxmlformats.org/drawingml/2006/main" prst="bentConnector4">
            <a:avLst/>
          </a:prstGeom>
          <a:ln xmlns:a="http://schemas.openxmlformats.org/drawingml/2006/main" w="19050">
            <a:solidFill>
              <a:srgbClr val="C46A00"/>
            </a:solidFill>
            <a:prstDash val="solid"/>
          </a:ln>
        </p:spPr>
      </p:cxnSp>
      <p:cxnSp>
        <p:nvCxnSpPr>
          <p:cNvPr id="53" name=""/>
          <p:cNvCxnSpPr>
            <a:stCxn xmlns:a="http://schemas.openxmlformats.org/drawingml/2006/main" id="19" idx="3"/>
            <a:endCxn xmlns:a="http://schemas.openxmlformats.org/drawingml/2006/main" id="17" idx="0"/>
          </p:cNvCxnSpPr>
          <p:nvPr/>
        </p:nvCxnSpPr>
        <p:spPr>
          <a:xfrm xmlns:a="http://schemas.openxmlformats.org/drawingml/2006/main">
            <a:off x="7524750" y="4095750"/>
            <a:ext cx="2905125" cy="228600"/>
          </a:xfrm>
          <a:prstGeom xmlns:a="http://schemas.openxmlformats.org/drawingml/2006/main" prst="bentConnector4">
            <a:avLst/>
          </a:prstGeom>
          <a:ln xmlns:a="http://schemas.openxmlformats.org/drawingml/2006/main" w="19050">
            <a:solidFill>
              <a:srgbClr val="C46A00"/>
            </a:solidFill>
            <a:prstDash val="solid"/>
            <a:tailEnd type="triangle" w="sm" len="sm"/>
          </a:ln>
        </p:spPr>
      </p:cxnSp>
      <p:cxnSp>
        <p:nvCxnSpPr>
          <p:cNvPr id="54" name=""/>
          <p:cNvCxnSpPr>
            <a:stCxn xmlns:a="http://schemas.openxmlformats.org/drawingml/2006/main" id="17" idx="2"/>
            <a:endCxn xmlns:a="http://schemas.openxmlformats.org/drawingml/2006/main" id="21" idx="3"/>
          </p:cNvCxnSpPr>
          <p:nvPr/>
        </p:nvCxnSpPr>
        <p:spPr>
          <a:xfrm xmlns:a="http://schemas.openxmlformats.org/drawingml/2006/main" flipH="1">
            <a:off x="7524750" y="5029200"/>
            <a:ext cx="2905125" cy="228600"/>
          </a:xfrm>
          <a:prstGeom xmlns:a="http://schemas.openxmlformats.org/drawingml/2006/main" prst="bentConnector4">
            <a:avLst/>
          </a:prstGeom>
          <a:ln xmlns:a="http://schemas.openxmlformats.org/drawingml/2006/main" w="19050">
            <a:solidFill>
              <a:srgbClr val="2457F5"/>
            </a:solidFill>
            <a:prstDash val="solid"/>
          </a:ln>
        </p:spPr>
      </p:cxnSp>
      <p:cxnSp>
        <p:nvCxnSpPr>
          <p:cNvPr id="55" name=""/>
          <p:cNvCxnSpPr>
            <a:stCxn xmlns:a="http://schemas.openxmlformats.org/drawingml/2006/main" id="21" idx="1"/>
            <a:endCxn xmlns:a="http://schemas.openxmlformats.org/drawingml/2006/main" id="15" idx="2"/>
          </p:cNvCxnSpPr>
          <p:nvPr/>
        </p:nvCxnSpPr>
        <p:spPr>
          <a:xfrm xmlns:a="http://schemas.openxmlformats.org/drawingml/2006/main" flipH="1" flipV="1">
            <a:off x="1762125" y="5029200"/>
            <a:ext cx="2905125" cy="228600"/>
          </a:xfrm>
          <a:prstGeom xmlns:a="http://schemas.openxmlformats.org/drawingml/2006/main" prst="bentConnector4">
            <a:avLst/>
          </a:prstGeom>
          <a:ln xmlns:a="http://schemas.openxmlformats.org/drawingml/2006/main" w="19050">
            <a:solidFill>
              <a:srgbClr val="2457F5"/>
            </a:solidFill>
            <a:prstDash val="solid"/>
            <a:tailEnd type="triangle" w="sm" len="sm"/>
          </a:ln>
        </p:spPr>
      </p:cxnSp>
      <p:sp>
        <p:nvSpPr>
          <p:cNvPr id="27" name="Retained PT">
            <a:extLst xmlns:a="http://schemas.openxmlformats.org/drawingml/2006/main">
              <a:ext uri="{FF2B5EF4-FFF2-40B4-BE49-F238E27FC236}">
                <a16:creationId xmlns:a16="http://schemas.microsoft.com/office/drawing/2014/main" id="{0344E94A-F09B-444D-9B18-E30FF6B2DB9A}"/>
              </a:ext>
            </a:extLst>
          </p:cNvPr>
          <p:cNvSpPr>
            <a:spLocks xmlns:a="http://schemas.openxmlformats.org/drawingml/2006/main" noGrp="1"/>
          </p:cNvSpPr>
          <p:nvPr/>
        </p:nvSpPr>
        <p:spPr>
          <a:xfrm xmlns:a="http://schemas.openxmlformats.org/drawingml/2006/main">
            <a:off x="857250" y="5438775"/>
            <a:ext cx="1809750" cy="400050"/>
          </a:xfrm>
          <a:prstGeom xmlns:a="http://schemas.openxmlformats.org/drawingml/2006/main" prst="roundRect">
            <a:avLst>
              <a:gd name="adj" fmla="val 19048"/>
            </a:avLst>
          </a:prstGeom>
          <a:solidFill xmlns:a="http://schemas.openxmlformats.org/drawingml/2006/main">
            <a:srgbClr val="EAF0FF"/>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F278D980-AE2D-41FF-881A-CA38ABB84634}"/>
              </a:ext>
            </a:extLst>
          </p:cNvPr>
          <p:cNvSpPr>
            <a:spLocks xmlns:a="http://schemas.openxmlformats.org/drawingml/2006/main" noGrp="1"/>
          </p:cNvSpPr>
          <p:nvPr/>
        </p:nvSpPr>
        <p:spPr>
          <a:xfrm xmlns:a="http://schemas.openxmlformats.org/drawingml/2006/main">
            <a:off x="1066800" y="5534025"/>
            <a:ext cx="13906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4000"/>
              </a:lnSpc>
              <a:buNone/>
              <a:defRPr sz="1125" b="1">
                <a:solidFill>
                  <a:srgbClr val="1639A6"/>
                </a:solidFill>
                <a:latin typeface="Helvetica Neue"/>
                <a:ea typeface="Helvetica Neue"/>
                <a:cs typeface="Helvetica Neue"/>
              </a:defRPr>
            </a:pPr>
            <a:r>
              <a:rPr sz="1125" b="1">
                <a:solidFill>
                  <a:srgbClr val="1639A6"/>
                </a:solidFill>
                <a:latin typeface="Helvetica Neue"/>
                <a:ea typeface="Helvetica Neue"/>
                <a:cs typeface="Helvetica Neue"/>
              </a:rPr>
              <a:t>PT retained</a:t>
            </a:r>
          </a:p>
        </p:txBody>
      </p:sp>
      <p:sp>
        <p:nvSpPr>
          <p:cNvPr id="29" name="">
            <a:extLst xmlns:a="http://schemas.openxmlformats.org/drawingml/2006/main">
              <a:ext uri="{FF2B5EF4-FFF2-40B4-BE49-F238E27FC236}">
                <a16:creationId xmlns:a16="http://schemas.microsoft.com/office/drawing/2014/main" id="{62918914-6C66-4532-A4FD-BC56DB048130}"/>
              </a:ext>
            </a:extLst>
          </p:cNvPr>
          <p:cNvSpPr>
            <a:spLocks xmlns:a="http://schemas.openxmlformats.org/drawingml/2006/main" noGrp="1"/>
          </p:cNvSpPr>
          <p:nvPr/>
        </p:nvSpPr>
        <p:spPr>
          <a:xfrm xmlns:a="http://schemas.openxmlformats.org/drawingml/2006/main">
            <a:off x="762000" y="6076950"/>
            <a:ext cx="4476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275" b="0">
                <a:solidFill>
                  <a:srgbClr val="53606B"/>
                </a:solidFill>
                <a:latin typeface="Helvetica Neue"/>
                <a:ea typeface="Helvetica Neue"/>
                <a:cs typeface="Helvetica Neue"/>
              </a:defRPr>
            </a:pPr>
            <a:r>
              <a:rPr sz="1275" b="0">
                <a:solidFill>
                  <a:srgbClr val="53606B"/>
                </a:solidFill>
                <a:latin typeface="Helvetica Neue"/>
                <a:ea typeface="Helvetica Neue"/>
                <a:cs typeface="Helvetica Neue"/>
              </a:rPr>
              <a:t>Stock exposure stays with the holder.</a:t>
            </a:r>
          </a:p>
        </p:txBody>
      </p:sp>
    </p:spTree>
    <p:extLst>
      <p:ext uri="{BB962C8B-B14F-4D97-AF65-F5344CB8AC3E}">
        <p14:creationId xmlns:p14="http://schemas.microsoft.com/office/powerpoint/2010/main" val="567212040"/>
      </p:ext>
    </p:extLst>
  </p:cSld>
</p:sld>
</file>

<file path=ppt/slides/slide3.xml><?xml version="1.0" encoding="utf-8"?>
<p:sld xmlns:p="http://schemas.openxmlformats.org/presentationml/2006/main">
  <p:cSld>
    <p:bg>
      <p:bgPr>
        <a:solidFill xmlns:a="http://schemas.openxmlformats.org/drawingml/2006/main">
          <a:srgbClr val="F6F3EC"/>
        </a:soli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1BDA6A25-FB20-4F3E-8665-376866CD8A8B}"/>
              </a:ext>
            </a:extLst>
          </p:cNvPr>
          <p:cNvSpPr>
            <a:spLocks xmlns:a="http://schemas.openxmlformats.org/drawingml/2006/main" noGrp="1"/>
          </p:cNvSpPr>
          <p:nvPr/>
        </p:nvSpPr>
        <p:spPr>
          <a:xfrm xmlns:a="http://schemas.openxmlformats.org/drawingml/2006/main" rot="2700000">
            <a:off x="704850" y="514350"/>
            <a:ext cx="123444" cy="123444"/>
          </a:xfrm>
          <a:prstGeom xmlns:a="http://schemas.openxmlformats.org/drawingml/2006/main" prst="rect">
            <a:avLst/>
          </a:prstGeom>
          <a:solidFill xmlns:a="http://schemas.openxmlformats.org/drawingml/2006/main">
            <a:srgbClr val="2457F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FE3217F6-6DDA-432E-9665-AEA21133263F}"/>
              </a:ext>
            </a:extLst>
          </p:cNvPr>
          <p:cNvSpPr>
            <a:spLocks xmlns:a="http://schemas.openxmlformats.org/drawingml/2006/main" noGrp="1"/>
          </p:cNvSpPr>
          <p:nvPr/>
        </p:nvSpPr>
        <p:spPr>
          <a:xfrm xmlns:a="http://schemas.openxmlformats.org/drawingml/2006/main" rot="2700000">
            <a:off x="807720" y="617220"/>
            <a:ext cx="123444" cy="123444"/>
          </a:xfrm>
          <a:prstGeom xmlns:a="http://schemas.openxmlformats.org/drawingml/2006/main" prst="rect">
            <a:avLst/>
          </a:prstGeom>
          <a:solidFill xmlns:a="http://schemas.openxmlformats.org/drawingml/2006/main">
            <a:srgbClr val="C46A00"/>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32057FDD-5D14-4561-92DB-653722E0CFB6}"/>
              </a:ext>
            </a:extLst>
          </p:cNvPr>
          <p:cNvSpPr>
            <a:spLocks xmlns:a="http://schemas.openxmlformats.org/drawingml/2006/main" noGrp="1"/>
          </p:cNvSpPr>
          <p:nvPr/>
        </p:nvSpPr>
        <p:spPr>
          <a:xfrm xmlns:a="http://schemas.openxmlformats.org/drawingml/2006/main">
            <a:off x="972312" y="507492"/>
            <a:ext cx="1165860" cy="2057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080" b="1">
                <a:solidFill>
                  <a:srgbClr val="101820"/>
                </a:solidFill>
                <a:latin typeface="Helvetica Neue"/>
                <a:ea typeface="Helvetica Neue"/>
                <a:cs typeface="Helvetica Neue"/>
              </a:defRPr>
            </a:pPr>
            <a:r>
              <a:rPr sz="1080" b="1">
                <a:solidFill>
                  <a:srgbClr val="101820"/>
                </a:solidFill>
                <a:latin typeface="Helvetica Neue"/>
                <a:ea typeface="Helvetica Neue"/>
                <a:cs typeface="Helvetica Neue"/>
              </a:rPr>
              <a:t>DivX</a:t>
            </a:r>
          </a:p>
        </p:txBody>
      </p:sp>
      <p:sp>
        <p:nvSpPr>
          <p:cNvPr id="4" name="">
            <a:extLst xmlns:a="http://schemas.openxmlformats.org/drawingml/2006/main">
              <a:ext uri="{FF2B5EF4-FFF2-40B4-BE49-F238E27FC236}">
                <a16:creationId xmlns:a16="http://schemas.microsoft.com/office/drawing/2014/main" id="{FD0E6B68-4245-44FD-9BD3-05579DDA00B1}"/>
              </a:ext>
            </a:extLst>
          </p:cNvPr>
          <p:cNvSpPr>
            <a:spLocks xmlns:a="http://schemas.openxmlformats.org/drawingml/2006/main" noGrp="1"/>
          </p:cNvSpPr>
          <p:nvPr/>
        </p:nvSpPr>
        <p:spPr>
          <a:xfrm xmlns:a="http://schemas.openxmlformats.org/drawingml/2006/main">
            <a:off x="704850" y="933450"/>
            <a:ext cx="10572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8000"/>
              </a:lnSpc>
              <a:buNone/>
              <a:defRPr sz="3150" b="1">
                <a:solidFill>
                  <a:srgbClr val="101820"/>
                </a:solidFill>
                <a:latin typeface="Helvetica Neue"/>
                <a:ea typeface="Helvetica Neue"/>
                <a:cs typeface="Helvetica Neue"/>
              </a:defRPr>
            </a:pPr>
            <a:r>
              <a:rPr sz="3150" b="1">
                <a:solidFill>
                  <a:srgbClr val="101820"/>
                </a:solidFill>
                <a:latin typeface="Helvetica Neue"/>
                <a:ea typeface="Helvetica Neue"/>
                <a:cs typeface="Helvetica Neue"/>
              </a:rPr>
              <a:t>One deposit, two claims</a:t>
            </a:r>
          </a:p>
        </p:txBody>
      </p:sp>
      <p:sp>
        <p:nvSpPr>
          <p:cNvPr id="5" name="">
            <a:extLst xmlns:a="http://schemas.openxmlformats.org/drawingml/2006/main">
              <a:ext uri="{FF2B5EF4-FFF2-40B4-BE49-F238E27FC236}">
                <a16:creationId xmlns:a16="http://schemas.microsoft.com/office/drawing/2014/main" id="{431562E4-457A-4532-8D90-E6A1DCF29D54}"/>
              </a:ext>
            </a:extLst>
          </p:cNvPr>
          <p:cNvSpPr>
            <a:spLocks xmlns:a="http://schemas.openxmlformats.org/drawingml/2006/main" noGrp="1"/>
          </p:cNvSpPr>
          <p:nvPr/>
        </p:nvSpPr>
        <p:spPr>
          <a:xfrm xmlns:a="http://schemas.openxmlformats.org/drawingml/2006/main">
            <a:off x="11144250" y="552450"/>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defRPr sz="900" b="1">
                <a:solidFill>
                  <a:srgbClr val="53606B"/>
                </a:solidFill>
                <a:latin typeface="Helvetica Neue"/>
                <a:ea typeface="Helvetica Neue"/>
                <a:cs typeface="Helvetica Neue"/>
              </a:defRPr>
            </a:pPr>
            <a:r>
              <a:rPr sz="900" b="1">
                <a:solidFill>
                  <a:srgbClr val="53606B"/>
                </a:solidFill>
                <a:latin typeface="Helvetica Neue"/>
                <a:ea typeface="Helvetica Neue"/>
                <a:cs typeface="Helvetica Neue"/>
              </a:rPr>
              <a:t>03</a:t>
            </a:r>
          </a:p>
        </p:txBody>
      </p:sp>
      <p:sp>
        <p:nvSpPr>
          <p:cNvPr id="6" name="xStock">
            <a:extLst xmlns:a="http://schemas.openxmlformats.org/drawingml/2006/main">
              <a:ext uri="{FF2B5EF4-FFF2-40B4-BE49-F238E27FC236}">
                <a16:creationId xmlns:a16="http://schemas.microsoft.com/office/drawing/2014/main" id="{258D44F4-D345-48D7-AB0B-4C81C75B7346}"/>
              </a:ext>
            </a:extLst>
          </p:cNvPr>
          <p:cNvSpPr>
            <a:spLocks xmlns:a="http://schemas.openxmlformats.org/drawingml/2006/main" noGrp="1"/>
          </p:cNvSpPr>
          <p:nvPr/>
        </p:nvSpPr>
        <p:spPr>
          <a:xfrm xmlns:a="http://schemas.openxmlformats.org/drawingml/2006/main">
            <a:off x="742950" y="2705100"/>
            <a:ext cx="1619250" cy="952500"/>
          </a:xfrm>
          <a:prstGeom xmlns:a="http://schemas.openxmlformats.org/drawingml/2006/main" prst="roundRect">
            <a:avLst>
              <a:gd name="adj" fmla="val 14000"/>
            </a:avLst>
          </a:prstGeom>
          <a:solidFill xmlns:a="http://schemas.openxmlformats.org/drawingml/2006/main">
            <a:srgbClr val="101820"/>
          </a:solidFill>
          <a:ln xmlns:a="http://schemas.openxmlformats.org/drawingml/2006/main" w="9525">
            <a:solidFill>
              <a:srgbClr val="101820"/>
            </a:solidFill>
            <a:prstDash val="solid"/>
          </a:ln>
        </p:spPr>
      </p:sp>
      <p:sp>
        <p:nvSpPr>
          <p:cNvPr id="7" name="">
            <a:extLst xmlns:a="http://schemas.openxmlformats.org/drawingml/2006/main">
              <a:ext uri="{FF2B5EF4-FFF2-40B4-BE49-F238E27FC236}">
                <a16:creationId xmlns:a16="http://schemas.microsoft.com/office/drawing/2014/main" id="{8BBAB7FE-6527-471C-82BD-61CA58FEB634}"/>
              </a:ext>
            </a:extLst>
          </p:cNvPr>
          <p:cNvSpPr>
            <a:spLocks xmlns:a="http://schemas.openxmlformats.org/drawingml/2006/main" noGrp="1"/>
          </p:cNvSpPr>
          <p:nvPr/>
        </p:nvSpPr>
        <p:spPr>
          <a:xfrm xmlns:a="http://schemas.openxmlformats.org/drawingml/2006/main">
            <a:off x="981075" y="2914650"/>
            <a:ext cx="1143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4000"/>
              </a:lnSpc>
              <a:buNone/>
              <a:defRPr sz="2400" b="1">
                <a:solidFill>
                  <a:srgbClr val="FFFFFF"/>
                </a:solidFill>
                <a:latin typeface="Helvetica Neue"/>
                <a:ea typeface="Helvetica Neue"/>
                <a:cs typeface="Helvetica Neue"/>
              </a:defRPr>
            </a:pPr>
            <a:r>
              <a:rPr sz="2400" b="1">
                <a:solidFill>
                  <a:srgbClr val="FFFFFF"/>
                </a:solidFill>
                <a:latin typeface="Helvetica Neue"/>
                <a:ea typeface="Helvetica Neue"/>
                <a:cs typeface="Helvetica Neue"/>
              </a:rPr>
              <a:t>xStock</a:t>
            </a:r>
          </a:p>
        </p:txBody>
      </p:sp>
      <p:sp>
        <p:nvSpPr>
          <p:cNvPr id="8" name="Vault">
            <a:extLst xmlns:a="http://schemas.openxmlformats.org/drawingml/2006/main">
              <a:ext uri="{FF2B5EF4-FFF2-40B4-BE49-F238E27FC236}">
                <a16:creationId xmlns:a16="http://schemas.microsoft.com/office/drawing/2014/main" id="{F9CA674D-482D-4083-8E2D-85AA725E9DDC}"/>
              </a:ext>
            </a:extLst>
          </p:cNvPr>
          <p:cNvSpPr>
            <a:spLocks xmlns:a="http://schemas.openxmlformats.org/drawingml/2006/main" noGrp="1"/>
          </p:cNvSpPr>
          <p:nvPr/>
        </p:nvSpPr>
        <p:spPr>
          <a:xfrm xmlns:a="http://schemas.openxmlformats.org/drawingml/2006/main">
            <a:off x="3676650" y="2533650"/>
            <a:ext cx="2095500" cy="1295400"/>
          </a:xfrm>
          <a:prstGeom xmlns:a="http://schemas.openxmlformats.org/drawingml/2006/main" prst="roundRect">
            <a:avLst>
              <a:gd name="adj" fmla="val 11765"/>
            </a:avLst>
          </a:prstGeom>
          <a:solidFill xmlns:a="http://schemas.openxmlformats.org/drawingml/2006/main">
            <a:srgbClr val="FFFEFB"/>
          </a:solidFill>
          <a:ln xmlns:a="http://schemas.openxmlformats.org/drawingml/2006/main" w="9525">
            <a:solidFill>
              <a:srgbClr val="D7D2C8"/>
            </a:solidFill>
            <a:prstDash val="solid"/>
          </a:ln>
        </p:spPr>
      </p:sp>
      <p:sp>
        <p:nvSpPr>
          <p:cNvPr id="9" name="">
            <a:extLst xmlns:a="http://schemas.openxmlformats.org/drawingml/2006/main">
              <a:ext uri="{FF2B5EF4-FFF2-40B4-BE49-F238E27FC236}">
                <a16:creationId xmlns:a16="http://schemas.microsoft.com/office/drawing/2014/main" id="{6F46A6C9-4DF5-4FA6-BF9D-61566B272885}"/>
              </a:ext>
            </a:extLst>
          </p:cNvPr>
          <p:cNvSpPr>
            <a:spLocks xmlns:a="http://schemas.openxmlformats.org/drawingml/2006/main" noGrp="1"/>
          </p:cNvSpPr>
          <p:nvPr/>
        </p:nvSpPr>
        <p:spPr>
          <a:xfrm xmlns:a="http://schemas.openxmlformats.org/drawingml/2006/main">
            <a:off x="4038600" y="2724150"/>
            <a:ext cx="13525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00" b="1">
                <a:solidFill>
                  <a:srgbClr val="53606B"/>
                </a:solidFill>
                <a:latin typeface="Helvetica Neue"/>
                <a:ea typeface="Helvetica Neue"/>
                <a:cs typeface="Helvetica Neue"/>
              </a:defRPr>
            </a:pPr>
            <a:r>
              <a:rPr sz="900" b="1">
                <a:solidFill>
                  <a:srgbClr val="53606B"/>
                </a:solidFill>
                <a:latin typeface="Helvetica Neue"/>
                <a:ea typeface="Helvetica Neue"/>
                <a:cs typeface="Helvetica Neue"/>
              </a:rPr>
              <a:t>LOCKED</a:t>
            </a:r>
          </a:p>
        </p:txBody>
      </p:sp>
      <p:sp>
        <p:nvSpPr>
          <p:cNvPr id="10" name="">
            <a:extLst xmlns:a="http://schemas.openxmlformats.org/drawingml/2006/main">
              <a:ext uri="{FF2B5EF4-FFF2-40B4-BE49-F238E27FC236}">
                <a16:creationId xmlns:a16="http://schemas.microsoft.com/office/drawing/2014/main" id="{A376B670-B01A-45E2-AE4E-78C0C3CFA3FE}"/>
              </a:ext>
            </a:extLst>
          </p:cNvPr>
          <p:cNvSpPr>
            <a:spLocks xmlns:a="http://schemas.openxmlformats.org/drawingml/2006/main" noGrp="1"/>
          </p:cNvSpPr>
          <p:nvPr/>
        </p:nvSpPr>
        <p:spPr>
          <a:xfrm xmlns:a="http://schemas.openxmlformats.org/drawingml/2006/main">
            <a:off x="4038600" y="3038475"/>
            <a:ext cx="13525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4000"/>
              </a:lnSpc>
              <a:buNone/>
              <a:defRPr sz="2325" b="1">
                <a:solidFill>
                  <a:srgbClr val="101820"/>
                </a:solidFill>
                <a:latin typeface="Helvetica Neue"/>
                <a:ea typeface="Helvetica Neue"/>
                <a:cs typeface="Helvetica Neue"/>
              </a:defRPr>
            </a:pPr>
            <a:r>
              <a:rPr sz="2325" b="1">
                <a:solidFill>
                  <a:srgbClr val="101820"/>
                </a:solidFill>
                <a:latin typeface="Helvetica Neue"/>
                <a:ea typeface="Helvetica Neue"/>
                <a:cs typeface="Helvetica Neue"/>
              </a:rPr>
              <a:t>VAULT</a:t>
            </a:r>
          </a:p>
        </p:txBody>
      </p:sp>
      <p:sp>
        <p:nvSpPr>
          <p:cNvPr id="11" name="Stock exposure PT">
            <a:extLst xmlns:a="http://schemas.openxmlformats.org/drawingml/2006/main">
              <a:ext uri="{FF2B5EF4-FFF2-40B4-BE49-F238E27FC236}">
                <a16:creationId xmlns:a16="http://schemas.microsoft.com/office/drawing/2014/main" id="{B3269545-BA6A-466A-B68C-207F8F7A5506}"/>
              </a:ext>
            </a:extLst>
          </p:cNvPr>
          <p:cNvSpPr>
            <a:spLocks xmlns:a="http://schemas.openxmlformats.org/drawingml/2006/main" noGrp="1"/>
          </p:cNvSpPr>
          <p:nvPr/>
        </p:nvSpPr>
        <p:spPr>
          <a:xfrm xmlns:a="http://schemas.openxmlformats.org/drawingml/2006/main">
            <a:off x="7477125" y="1714500"/>
            <a:ext cx="3714750" cy="1428750"/>
          </a:xfrm>
          <a:prstGeom xmlns:a="http://schemas.openxmlformats.org/drawingml/2006/main" prst="roundRect">
            <a:avLst>
              <a:gd name="adj" fmla="val 9333"/>
            </a:avLst>
          </a:prstGeom>
          <a:solidFill xmlns:a="http://schemas.openxmlformats.org/drawingml/2006/main">
            <a:srgbClr val="EAF0FF"/>
          </a:solidFill>
          <a:ln xmlns:a="http://schemas.openxmlformats.org/drawingml/2006/main" w="9525">
            <a:solidFill>
              <a:srgbClr val="2457F5"/>
            </a:solidFill>
            <a:prstDash val="solid"/>
          </a:ln>
        </p:spPr>
      </p:sp>
      <p:sp>
        <p:nvSpPr>
          <p:cNvPr id="12" name="">
            <a:extLst xmlns:a="http://schemas.openxmlformats.org/drawingml/2006/main">
              <a:ext uri="{FF2B5EF4-FFF2-40B4-BE49-F238E27FC236}">
                <a16:creationId xmlns:a16="http://schemas.microsoft.com/office/drawing/2014/main" id="{6B05DF28-67CE-4D2B-8E57-E9867F6CB683}"/>
              </a:ext>
            </a:extLst>
          </p:cNvPr>
          <p:cNvSpPr>
            <a:spLocks xmlns:a="http://schemas.openxmlformats.org/drawingml/2006/main" noGrp="1"/>
          </p:cNvSpPr>
          <p:nvPr/>
        </p:nvSpPr>
        <p:spPr>
          <a:xfrm xmlns:a="http://schemas.openxmlformats.org/drawingml/2006/main">
            <a:off x="7753350" y="1924050"/>
            <a:ext cx="762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00" b="1">
                <a:solidFill>
                  <a:srgbClr val="1639A6"/>
                </a:solidFill>
                <a:latin typeface="Helvetica Neue"/>
                <a:ea typeface="Helvetica Neue"/>
                <a:cs typeface="Helvetica Neue"/>
              </a:defRPr>
            </a:pPr>
            <a:r>
              <a:rPr sz="900" b="1">
                <a:solidFill>
                  <a:srgbClr val="1639A6"/>
                </a:solidFill>
                <a:latin typeface="Helvetica Neue"/>
                <a:ea typeface="Helvetica Neue"/>
                <a:cs typeface="Helvetica Neue"/>
              </a:rPr>
              <a:t>PT</a:t>
            </a:r>
          </a:p>
        </p:txBody>
      </p:sp>
      <p:sp>
        <p:nvSpPr>
          <p:cNvPr id="13" name="">
            <a:extLst xmlns:a="http://schemas.openxmlformats.org/drawingml/2006/main">
              <a:ext uri="{FF2B5EF4-FFF2-40B4-BE49-F238E27FC236}">
                <a16:creationId xmlns:a16="http://schemas.microsoft.com/office/drawing/2014/main" id="{52073FB6-BE3E-4E18-8ED2-A77C1CC051D6}"/>
              </a:ext>
            </a:extLst>
          </p:cNvPr>
          <p:cNvSpPr>
            <a:spLocks xmlns:a="http://schemas.openxmlformats.org/drawingml/2006/main" noGrp="1"/>
          </p:cNvSpPr>
          <p:nvPr/>
        </p:nvSpPr>
        <p:spPr>
          <a:xfrm xmlns:a="http://schemas.openxmlformats.org/drawingml/2006/main">
            <a:off x="7753350" y="2228850"/>
            <a:ext cx="3048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2100" b="1">
                <a:solidFill>
                  <a:srgbClr val="1639A6"/>
                </a:solidFill>
                <a:latin typeface="Helvetica Neue"/>
                <a:ea typeface="Helvetica Neue"/>
                <a:cs typeface="Helvetica Neue"/>
              </a:defRPr>
            </a:pPr>
            <a:r>
              <a:rPr sz="2100" b="1">
                <a:solidFill>
                  <a:srgbClr val="1639A6"/>
                </a:solidFill>
                <a:latin typeface="Helvetica Neue"/>
                <a:ea typeface="Helvetica Neue"/>
                <a:cs typeface="Helvetica Neue"/>
              </a:rPr>
              <a:t>Stock exposure</a:t>
            </a:r>
          </a:p>
        </p:txBody>
      </p:sp>
      <p:sp>
        <p:nvSpPr>
          <p:cNvPr id="14" name="">
            <a:extLst xmlns:a="http://schemas.openxmlformats.org/drawingml/2006/main">
              <a:ext uri="{FF2B5EF4-FFF2-40B4-BE49-F238E27FC236}">
                <a16:creationId xmlns:a16="http://schemas.microsoft.com/office/drawing/2014/main" id="{B9208D66-71A5-4186-81F0-A7E16A3D3669}"/>
              </a:ext>
            </a:extLst>
          </p:cNvPr>
          <p:cNvSpPr>
            <a:spLocks xmlns:a="http://schemas.openxmlformats.org/drawingml/2006/main" noGrp="1"/>
          </p:cNvSpPr>
          <p:nvPr/>
        </p:nvSpPr>
        <p:spPr>
          <a:xfrm xmlns:a="http://schemas.openxmlformats.org/drawingml/2006/main">
            <a:off x="7753350" y="2647950"/>
            <a:ext cx="30956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125" b="0">
                <a:solidFill>
                  <a:srgbClr val="53606B"/>
                </a:solidFill>
                <a:latin typeface="Helvetica Neue"/>
                <a:ea typeface="Helvetica Neue"/>
                <a:cs typeface="Helvetica Neue"/>
              </a:defRPr>
            </a:pPr>
            <a:r>
              <a:rPr sz="1125" b="0">
                <a:solidFill>
                  <a:srgbClr val="53606B"/>
                </a:solidFill>
                <a:latin typeface="Helvetica Neue"/>
                <a:ea typeface="Helvetica Neue"/>
                <a:cs typeface="Helvetica Neue"/>
              </a:rPr>
              <a:t>Collateral remaining after this event’s dividend allocation.</a:t>
            </a:r>
          </a:p>
        </p:txBody>
      </p:sp>
      <p:sp>
        <p:nvSpPr>
          <p:cNvPr id="15" name="Dividend rights DR">
            <a:extLst xmlns:a="http://schemas.openxmlformats.org/drawingml/2006/main">
              <a:ext uri="{FF2B5EF4-FFF2-40B4-BE49-F238E27FC236}">
                <a16:creationId xmlns:a16="http://schemas.microsoft.com/office/drawing/2014/main" id="{5609668C-5221-4E73-8D8A-52AEA955C914}"/>
              </a:ext>
            </a:extLst>
          </p:cNvPr>
          <p:cNvSpPr>
            <a:spLocks xmlns:a="http://schemas.openxmlformats.org/drawingml/2006/main" noGrp="1"/>
          </p:cNvSpPr>
          <p:nvPr/>
        </p:nvSpPr>
        <p:spPr>
          <a:xfrm xmlns:a="http://schemas.openxmlformats.org/drawingml/2006/main">
            <a:off x="7477125" y="3562350"/>
            <a:ext cx="3714750" cy="1428750"/>
          </a:xfrm>
          <a:prstGeom xmlns:a="http://schemas.openxmlformats.org/drawingml/2006/main" prst="roundRect">
            <a:avLst>
              <a:gd name="adj" fmla="val 9333"/>
            </a:avLst>
          </a:prstGeom>
          <a:solidFill xmlns:a="http://schemas.openxmlformats.org/drawingml/2006/main">
            <a:srgbClr val="F8E8D4"/>
          </a:solidFill>
          <a:ln xmlns:a="http://schemas.openxmlformats.org/drawingml/2006/main" w="9525">
            <a:solidFill>
              <a:srgbClr val="C46A00"/>
            </a:solidFill>
            <a:prstDash val="solid"/>
          </a:ln>
        </p:spPr>
      </p:sp>
      <p:sp>
        <p:nvSpPr>
          <p:cNvPr id="16" name="">
            <a:extLst xmlns:a="http://schemas.openxmlformats.org/drawingml/2006/main">
              <a:ext uri="{FF2B5EF4-FFF2-40B4-BE49-F238E27FC236}">
                <a16:creationId xmlns:a16="http://schemas.microsoft.com/office/drawing/2014/main" id="{85518A96-29FA-4793-BCB7-CCDE81316C1E}"/>
              </a:ext>
            </a:extLst>
          </p:cNvPr>
          <p:cNvSpPr>
            <a:spLocks xmlns:a="http://schemas.openxmlformats.org/drawingml/2006/main" noGrp="1"/>
          </p:cNvSpPr>
          <p:nvPr/>
        </p:nvSpPr>
        <p:spPr>
          <a:xfrm xmlns:a="http://schemas.openxmlformats.org/drawingml/2006/main">
            <a:off x="7753350" y="3771900"/>
            <a:ext cx="762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00" b="1">
                <a:solidFill>
                  <a:srgbClr val="7A4000"/>
                </a:solidFill>
                <a:latin typeface="Helvetica Neue"/>
                <a:ea typeface="Helvetica Neue"/>
                <a:cs typeface="Helvetica Neue"/>
              </a:defRPr>
            </a:pPr>
            <a:r>
              <a:rPr sz="900" b="1">
                <a:solidFill>
                  <a:srgbClr val="7A4000"/>
                </a:solidFill>
                <a:latin typeface="Helvetica Neue"/>
                <a:ea typeface="Helvetica Neue"/>
                <a:cs typeface="Helvetica Neue"/>
              </a:rPr>
              <a:t>DR</a:t>
            </a:r>
          </a:p>
        </p:txBody>
      </p:sp>
      <p:sp>
        <p:nvSpPr>
          <p:cNvPr id="17" name="">
            <a:extLst xmlns:a="http://schemas.openxmlformats.org/drawingml/2006/main">
              <a:ext uri="{FF2B5EF4-FFF2-40B4-BE49-F238E27FC236}">
                <a16:creationId xmlns:a16="http://schemas.microsoft.com/office/drawing/2014/main" id="{4097F1B0-D54D-4A06-B2BC-49B991DD8DB6}"/>
              </a:ext>
            </a:extLst>
          </p:cNvPr>
          <p:cNvSpPr>
            <a:spLocks xmlns:a="http://schemas.openxmlformats.org/drawingml/2006/main" noGrp="1"/>
          </p:cNvSpPr>
          <p:nvPr/>
        </p:nvSpPr>
        <p:spPr>
          <a:xfrm xmlns:a="http://schemas.openxmlformats.org/drawingml/2006/main">
            <a:off x="7753350" y="4076700"/>
            <a:ext cx="3048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2100" b="1">
                <a:solidFill>
                  <a:srgbClr val="7A4000"/>
                </a:solidFill>
                <a:latin typeface="Helvetica Neue"/>
                <a:ea typeface="Helvetica Neue"/>
                <a:cs typeface="Helvetica Neue"/>
              </a:defRPr>
            </a:pPr>
            <a:r>
              <a:rPr sz="2100" b="1">
                <a:solidFill>
                  <a:srgbClr val="7A4000"/>
                </a:solidFill>
                <a:latin typeface="Helvetica Neue"/>
                <a:ea typeface="Helvetica Neue"/>
                <a:cs typeface="Helvetica Neue"/>
              </a:rPr>
              <a:t>Dividend rights</a:t>
            </a:r>
          </a:p>
        </p:txBody>
      </p:sp>
      <p:sp>
        <p:nvSpPr>
          <p:cNvPr id="18" name="">
            <a:extLst xmlns:a="http://schemas.openxmlformats.org/drawingml/2006/main">
              <a:ext uri="{FF2B5EF4-FFF2-40B4-BE49-F238E27FC236}">
                <a16:creationId xmlns:a16="http://schemas.microsoft.com/office/drawing/2014/main" id="{895E77A3-C640-4696-BCC0-2D9DC3BFE1BE}"/>
              </a:ext>
            </a:extLst>
          </p:cNvPr>
          <p:cNvSpPr>
            <a:spLocks xmlns:a="http://schemas.openxmlformats.org/drawingml/2006/main" noGrp="1"/>
          </p:cNvSpPr>
          <p:nvPr/>
        </p:nvSpPr>
        <p:spPr>
          <a:xfrm xmlns:a="http://schemas.openxmlformats.org/drawingml/2006/main">
            <a:off x="7753350" y="4495800"/>
            <a:ext cx="30956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125" b="0">
                <a:solidFill>
                  <a:srgbClr val="53606B"/>
                </a:solidFill>
                <a:latin typeface="Helvetica Neue"/>
                <a:ea typeface="Helvetica Neue"/>
                <a:cs typeface="Helvetica Neue"/>
              </a:defRPr>
            </a:pPr>
            <a:r>
              <a:rPr sz="1125" b="0">
                <a:solidFill>
                  <a:srgbClr val="53606B"/>
                </a:solidFill>
                <a:latin typeface="Helvetica Neue"/>
                <a:ea typeface="Helvetica Neue"/>
                <a:cs typeface="Helvetica Neue"/>
              </a:rPr>
              <a:t>This event’s dividend-derived share of the collateral.</a:t>
            </a:r>
          </a:p>
        </p:txBody>
      </p:sp>
      <p:cxnSp>
        <p:nvCxnSpPr>
          <p:cNvPr id="43" name=""/>
          <p:cNvCxnSpPr>
            <a:stCxn xmlns:a="http://schemas.openxmlformats.org/drawingml/2006/main" id="6" idx="3"/>
            <a:endCxn xmlns:a="http://schemas.openxmlformats.org/drawingml/2006/main" id="8" idx="1"/>
          </p:cNvCxnSpPr>
          <p:nvPr/>
        </p:nvCxnSpPr>
        <p:spPr>
          <a:xfrm xmlns:a="http://schemas.openxmlformats.org/drawingml/2006/main">
            <a:off x="2362200" y="3181350"/>
            <a:ext cx="1314450" cy="0"/>
          </a:xfrm>
          <a:prstGeom xmlns:a="http://schemas.openxmlformats.org/drawingml/2006/main" prst="straightConnector1">
            <a:avLst/>
          </a:prstGeom>
          <a:ln xmlns:a="http://schemas.openxmlformats.org/drawingml/2006/main" w="19050">
            <a:solidFill>
              <a:srgbClr val="101820"/>
            </a:solidFill>
            <a:prstDash val="solid"/>
            <a:tailEnd type="triangle" w="sm" len="sm"/>
          </a:ln>
        </p:spPr>
      </p:cxnSp>
      <p:cxnSp>
        <p:nvCxnSpPr>
          <p:cNvPr id="44" name=""/>
          <p:cNvCxnSpPr>
            <a:stCxn xmlns:a="http://schemas.openxmlformats.org/drawingml/2006/main" id="8" idx="3"/>
            <a:endCxn xmlns:a="http://schemas.openxmlformats.org/drawingml/2006/main" id="11" idx="1"/>
          </p:cNvCxnSpPr>
          <p:nvPr/>
        </p:nvCxnSpPr>
        <p:spPr>
          <a:xfrm xmlns:a="http://schemas.openxmlformats.org/drawingml/2006/main" flipV="1">
            <a:off x="5772150" y="2428875"/>
            <a:ext cx="1704975" cy="752475"/>
          </a:xfrm>
          <a:prstGeom xmlns:a="http://schemas.openxmlformats.org/drawingml/2006/main" prst="straightConnector1">
            <a:avLst/>
          </a:prstGeom>
          <a:ln xmlns:a="http://schemas.openxmlformats.org/drawingml/2006/main" w="19050">
            <a:solidFill>
              <a:srgbClr val="2457F5"/>
            </a:solidFill>
            <a:prstDash val="solid"/>
            <a:tailEnd type="triangle" w="sm" len="sm"/>
          </a:ln>
        </p:spPr>
      </p:cxnSp>
      <p:cxnSp>
        <p:nvCxnSpPr>
          <p:cNvPr id="45" name=""/>
          <p:cNvCxnSpPr>
            <a:stCxn xmlns:a="http://schemas.openxmlformats.org/drawingml/2006/main" id="8" idx="3"/>
            <a:endCxn xmlns:a="http://schemas.openxmlformats.org/drawingml/2006/main" id="15" idx="1"/>
          </p:cNvCxnSpPr>
          <p:nvPr/>
        </p:nvCxnSpPr>
        <p:spPr>
          <a:xfrm xmlns:a="http://schemas.openxmlformats.org/drawingml/2006/main">
            <a:off x="5772150" y="3181350"/>
            <a:ext cx="1704975" cy="1095375"/>
          </a:xfrm>
          <a:prstGeom xmlns:a="http://schemas.openxmlformats.org/drawingml/2006/main" prst="straightConnector1">
            <a:avLst/>
          </a:prstGeom>
          <a:ln xmlns:a="http://schemas.openxmlformats.org/drawingml/2006/main" w="19050">
            <a:solidFill>
              <a:srgbClr val="C46A00"/>
            </a:solidFill>
            <a:prstDash val="solid"/>
            <a:tailEnd type="triangle" w="sm" len="sm"/>
          </a:ln>
        </p:spPr>
      </p:cxnSp>
      <p:sp>
        <p:nvSpPr>
          <p:cNvPr id="22" name="">
            <a:extLst xmlns:a="http://schemas.openxmlformats.org/drawingml/2006/main">
              <a:ext uri="{FF2B5EF4-FFF2-40B4-BE49-F238E27FC236}">
                <a16:creationId xmlns:a16="http://schemas.microsoft.com/office/drawing/2014/main" id="{A74F685A-FE26-47B4-A435-E3A0CFE80EAF}"/>
              </a:ext>
            </a:extLst>
          </p:cNvPr>
          <p:cNvSpPr>
            <a:spLocks xmlns:a="http://schemas.openxmlformats.org/drawingml/2006/main" noGrp="1"/>
          </p:cNvSpPr>
          <p:nvPr/>
        </p:nvSpPr>
        <p:spPr>
          <a:xfrm xmlns:a="http://schemas.openxmlformats.org/drawingml/2006/main">
            <a:off x="742950" y="5505450"/>
            <a:ext cx="7334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725" b="1">
                <a:solidFill>
                  <a:srgbClr val="101820"/>
                </a:solidFill>
                <a:latin typeface="Helvetica Neue"/>
                <a:ea typeface="Helvetica Neue"/>
                <a:cs typeface="Helvetica Neue"/>
              </a:defRPr>
            </a:pPr>
            <a:r>
              <a:rPr sz="1725" b="1">
                <a:solidFill>
                  <a:srgbClr val="101820"/>
                </a:solidFill>
                <a:latin typeface="Helvetica Neue"/>
                <a:ea typeface="Helvetica Neue"/>
                <a:cs typeface="Helvetica Neue"/>
              </a:rPr>
              <a:t>Both claims are backed by the same locked xStock balance.</a:t>
            </a:r>
          </a:p>
        </p:txBody>
      </p:sp>
      <p:sp>
        <p:nvSpPr>
          <p:cNvPr id="23" name="">
            <a:extLst xmlns:a="http://schemas.openxmlformats.org/drawingml/2006/main">
              <a:ext uri="{FF2B5EF4-FFF2-40B4-BE49-F238E27FC236}">
                <a16:creationId xmlns:a16="http://schemas.microsoft.com/office/drawing/2014/main" id="{D152ACA6-4981-4B3A-8726-27FAFCE9490E}"/>
              </a:ext>
            </a:extLst>
          </p:cNvPr>
          <p:cNvSpPr>
            <a:spLocks xmlns:a="http://schemas.openxmlformats.org/drawingml/2006/main" noGrp="1"/>
          </p:cNvSpPr>
          <p:nvPr/>
        </p:nvSpPr>
        <p:spPr>
          <a:xfrm xmlns:a="http://schemas.openxmlformats.org/drawingml/2006/main">
            <a:off x="742950" y="5962650"/>
            <a:ext cx="7334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275" b="0">
                <a:solidFill>
                  <a:srgbClr val="53606B"/>
                </a:solidFill>
                <a:latin typeface="Helvetica Neue"/>
                <a:ea typeface="Helvetica Neue"/>
                <a:cs typeface="Helvetica Neue"/>
              </a:defRPr>
            </a:pPr>
            <a:r>
              <a:rPr sz="1275" b="0">
                <a:solidFill>
                  <a:srgbClr val="53606B"/>
                </a:solidFill>
                <a:latin typeface="Helvetica Neue"/>
                <a:ea typeface="Helvetica Neue"/>
                <a:cs typeface="Helvetica Neue"/>
              </a:rPr>
              <a:t>Redeems in xStock units; dollar value can change.</a:t>
            </a:r>
          </a:p>
        </p:txBody>
      </p:sp>
      <p:sp>
        <p:nvSpPr>
          <p:cNvPr id="24" name="">
            <a:extLst xmlns:a="http://schemas.openxmlformats.org/drawingml/2006/main">
              <a:ext uri="{FF2B5EF4-FFF2-40B4-BE49-F238E27FC236}">
                <a16:creationId xmlns:a16="http://schemas.microsoft.com/office/drawing/2014/main" id="{C1EA4C08-7B2D-4A2B-9F4C-72B7F4534256}"/>
              </a:ext>
            </a:extLst>
          </p:cNvPr>
          <p:cNvSpPr>
            <a:spLocks xmlns:a="http://schemas.openxmlformats.org/drawingml/2006/main" noGrp="1"/>
          </p:cNvSpPr>
          <p:nvPr/>
        </p:nvSpPr>
        <p:spPr>
          <a:xfrm xmlns:a="http://schemas.openxmlformats.org/drawingml/2006/main">
            <a:off x="8801100" y="6048375"/>
            <a:ext cx="2667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00" b="1">
                <a:solidFill>
                  <a:srgbClr val="53606B"/>
                </a:solidFill>
                <a:latin typeface="Helvetica Neue"/>
                <a:ea typeface="Helvetica Neue"/>
                <a:cs typeface="Helvetica Neue"/>
              </a:defRPr>
            </a:pPr>
            <a:r>
              <a:rPr sz="900" b="1">
                <a:solidFill>
                  <a:srgbClr val="53606B"/>
                </a:solidFill>
                <a:latin typeface="Helvetica Neue"/>
                <a:ea typeface="Helvetica Neue"/>
                <a:cs typeface="Helvetica Neue"/>
              </a:rPr>
              <a:t>SCHEMATIC, NOT A 50/50 ALLOCATION</a:t>
            </a:r>
          </a:p>
        </p:txBody>
      </p:sp>
    </p:spTree>
    <p:extLst>
      <p:ext uri="{BB962C8B-B14F-4D97-AF65-F5344CB8AC3E}">
        <p14:creationId xmlns:p14="http://schemas.microsoft.com/office/powerpoint/2010/main" val="1767241239"/>
      </p:ext>
    </p:extLst>
  </p:cSld>
</p:sld>
</file>

<file path=ppt/slides/slide4.xml><?xml version="1.0" encoding="utf-8"?>
<p:sld xmlns:p="http://schemas.openxmlformats.org/presentationml/2006/main">
  <p:cSld>
    <p:bg>
      <p:bgPr>
        <a:solidFill xmlns:a="http://schemas.openxmlformats.org/drawingml/2006/main">
          <a:srgbClr val="F6F3EC"/>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9C90979A-7350-4A22-AF32-39E571DC432E}"/>
              </a:ext>
            </a:extLst>
          </p:cNvPr>
          <p:cNvSpPr>
            <a:spLocks xmlns:a="http://schemas.openxmlformats.org/drawingml/2006/main" noGrp="1"/>
          </p:cNvSpPr>
          <p:nvPr/>
        </p:nvSpPr>
        <p:spPr>
          <a:xfrm xmlns:a="http://schemas.openxmlformats.org/drawingml/2006/main" rot="2700000">
            <a:off x="704850" y="514350"/>
            <a:ext cx="123444" cy="123444"/>
          </a:xfrm>
          <a:prstGeom xmlns:a="http://schemas.openxmlformats.org/drawingml/2006/main" prst="rect">
            <a:avLst/>
          </a:prstGeom>
          <a:solidFill xmlns:a="http://schemas.openxmlformats.org/drawingml/2006/main">
            <a:srgbClr val="2457F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F29D7BD0-14CA-452D-AAD4-274BD62E2308}"/>
              </a:ext>
            </a:extLst>
          </p:cNvPr>
          <p:cNvSpPr>
            <a:spLocks xmlns:a="http://schemas.openxmlformats.org/drawingml/2006/main" noGrp="1"/>
          </p:cNvSpPr>
          <p:nvPr/>
        </p:nvSpPr>
        <p:spPr>
          <a:xfrm xmlns:a="http://schemas.openxmlformats.org/drawingml/2006/main" rot="2700000">
            <a:off x="807720" y="617220"/>
            <a:ext cx="123444" cy="123444"/>
          </a:xfrm>
          <a:prstGeom xmlns:a="http://schemas.openxmlformats.org/drawingml/2006/main" prst="rect">
            <a:avLst/>
          </a:prstGeom>
          <a:solidFill xmlns:a="http://schemas.openxmlformats.org/drawingml/2006/main">
            <a:srgbClr val="C46A00"/>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2DDE1CE7-A139-4246-B438-271A8AD71D22}"/>
              </a:ext>
            </a:extLst>
          </p:cNvPr>
          <p:cNvSpPr>
            <a:spLocks xmlns:a="http://schemas.openxmlformats.org/drawingml/2006/main" noGrp="1"/>
          </p:cNvSpPr>
          <p:nvPr/>
        </p:nvSpPr>
        <p:spPr>
          <a:xfrm xmlns:a="http://schemas.openxmlformats.org/drawingml/2006/main">
            <a:off x="972312" y="507492"/>
            <a:ext cx="1165860" cy="2057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080" b="1">
                <a:solidFill>
                  <a:srgbClr val="101820"/>
                </a:solidFill>
                <a:latin typeface="Helvetica Neue"/>
                <a:ea typeface="Helvetica Neue"/>
                <a:cs typeface="Helvetica Neue"/>
              </a:defRPr>
            </a:pPr>
            <a:r>
              <a:rPr sz="1080" b="1">
                <a:solidFill>
                  <a:srgbClr val="101820"/>
                </a:solidFill>
                <a:latin typeface="Helvetica Neue"/>
                <a:ea typeface="Helvetica Neue"/>
                <a:cs typeface="Helvetica Neue"/>
              </a:rPr>
              <a:t>DivX</a:t>
            </a:r>
          </a:p>
        </p:txBody>
      </p:sp>
      <p:sp>
        <p:nvSpPr>
          <p:cNvPr id="4" name="">
            <a:extLst xmlns:a="http://schemas.openxmlformats.org/drawingml/2006/main">
              <a:ext uri="{FF2B5EF4-FFF2-40B4-BE49-F238E27FC236}">
                <a16:creationId xmlns:a16="http://schemas.microsoft.com/office/drawing/2014/main" id="{1980E468-46BE-4AE0-9513-A995ACDB4718}"/>
              </a:ext>
            </a:extLst>
          </p:cNvPr>
          <p:cNvSpPr>
            <a:spLocks xmlns:a="http://schemas.openxmlformats.org/drawingml/2006/main" noGrp="1"/>
          </p:cNvSpPr>
          <p:nvPr/>
        </p:nvSpPr>
        <p:spPr>
          <a:xfrm xmlns:a="http://schemas.openxmlformats.org/drawingml/2006/main">
            <a:off x="704850" y="933450"/>
            <a:ext cx="10572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8000"/>
              </a:lnSpc>
              <a:buNone/>
              <a:defRPr sz="3150" b="1">
                <a:solidFill>
                  <a:srgbClr val="101820"/>
                </a:solidFill>
                <a:latin typeface="Helvetica Neue"/>
                <a:ea typeface="Helvetica Neue"/>
                <a:cs typeface="Helvetica Neue"/>
              </a:defRPr>
            </a:pPr>
            <a:r>
              <a:rPr sz="3150" b="1">
                <a:solidFill>
                  <a:srgbClr val="101820"/>
                </a:solidFill>
                <a:latin typeface="Helvetica Neue"/>
                <a:ea typeface="Helvetica Neue"/>
                <a:cs typeface="Helvetica Neue"/>
              </a:rPr>
              <a:t>Established markets, familiar behavior</a:t>
            </a:r>
          </a:p>
        </p:txBody>
      </p:sp>
      <p:sp>
        <p:nvSpPr>
          <p:cNvPr id="5" name="">
            <a:extLst xmlns:a="http://schemas.openxmlformats.org/drawingml/2006/main">
              <a:ext uri="{FF2B5EF4-FFF2-40B4-BE49-F238E27FC236}">
                <a16:creationId xmlns:a16="http://schemas.microsoft.com/office/drawing/2014/main" id="{B1D43F62-DA3E-425B-8DD5-306E1CEDCA5B}"/>
              </a:ext>
            </a:extLst>
          </p:cNvPr>
          <p:cNvSpPr>
            <a:spLocks xmlns:a="http://schemas.openxmlformats.org/drawingml/2006/main" noGrp="1"/>
          </p:cNvSpPr>
          <p:nvPr/>
        </p:nvSpPr>
        <p:spPr>
          <a:xfrm xmlns:a="http://schemas.openxmlformats.org/drawingml/2006/main">
            <a:off x="11144250" y="552450"/>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defRPr sz="900" b="1">
                <a:solidFill>
                  <a:srgbClr val="53606B"/>
                </a:solidFill>
                <a:latin typeface="Helvetica Neue"/>
                <a:ea typeface="Helvetica Neue"/>
                <a:cs typeface="Helvetica Neue"/>
              </a:defRPr>
            </a:pPr>
            <a:r>
              <a:rPr sz="900" b="1">
                <a:solidFill>
                  <a:srgbClr val="53606B"/>
                </a:solidFill>
                <a:latin typeface="Helvetica Neue"/>
                <a:ea typeface="Helvetica Neue"/>
                <a:cs typeface="Helvetica Neue"/>
              </a:rPr>
              <a:t>04</a:t>
            </a:r>
          </a:p>
        </p:txBody>
      </p:sp>
      <p:sp>
        <p:nvSpPr>
          <p:cNvPr id="6" name="">
            <a:extLst xmlns:a="http://schemas.openxmlformats.org/drawingml/2006/main">
              <a:ext uri="{FF2B5EF4-FFF2-40B4-BE49-F238E27FC236}">
                <a16:creationId xmlns:a16="http://schemas.microsoft.com/office/drawing/2014/main" id="{BC3F20A0-0F87-4B96-94BB-8A3A3217011E}"/>
              </a:ext>
            </a:extLst>
          </p:cNvPr>
          <p:cNvSpPr>
            <a:spLocks xmlns:a="http://schemas.openxmlformats.org/drawingml/2006/main" noGrp="1"/>
          </p:cNvSpPr>
          <p:nvPr/>
        </p:nvSpPr>
        <p:spPr>
          <a:xfrm xmlns:a="http://schemas.openxmlformats.org/drawingml/2006/main">
            <a:off x="762000" y="1943100"/>
            <a:ext cx="4476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00" b="1">
                <a:solidFill>
                  <a:srgbClr val="53606B"/>
                </a:solidFill>
                <a:latin typeface="Helvetica Neue"/>
                <a:ea typeface="Helvetica Neue"/>
                <a:cs typeface="Helvetica Neue"/>
              </a:defRPr>
            </a:pPr>
            <a:r>
              <a:rPr sz="900" b="1">
                <a:solidFill>
                  <a:srgbClr val="53606B"/>
                </a:solidFill>
                <a:latin typeface="Helvetica Neue"/>
                <a:ea typeface="Helvetica Neue"/>
                <a:cs typeface="Helvetica Neue"/>
              </a:rPr>
              <a:t>LISTED DIVIDEND DERIVATIVES</a:t>
            </a:r>
          </a:p>
        </p:txBody>
      </p:sp>
      <p:sp>
        <p:nvSpPr>
          <p:cNvPr id="7" name="">
            <a:extLst xmlns:a="http://schemas.openxmlformats.org/drawingml/2006/main">
              <a:ext uri="{FF2B5EF4-FFF2-40B4-BE49-F238E27FC236}">
                <a16:creationId xmlns:a16="http://schemas.microsoft.com/office/drawing/2014/main" id="{F07D310D-9BB3-4BF2-99CB-CEC744F99053}"/>
              </a:ext>
            </a:extLst>
          </p:cNvPr>
          <p:cNvSpPr>
            <a:spLocks xmlns:a="http://schemas.openxmlformats.org/drawingml/2006/main" noGrp="1"/>
          </p:cNvSpPr>
          <p:nvPr/>
        </p:nvSpPr>
        <p:spPr>
          <a:xfrm xmlns:a="http://schemas.openxmlformats.org/drawingml/2006/main">
            <a:off x="762000" y="2247900"/>
            <a:ext cx="44767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5000"/>
              </a:lnSpc>
              <a:buNone/>
              <a:defRPr sz="5700" b="1">
                <a:solidFill>
                  <a:srgbClr val="101820"/>
                </a:solidFill>
                <a:latin typeface="Helvetica Neue"/>
                <a:ea typeface="Helvetica Neue"/>
                <a:cs typeface="Helvetica Neue"/>
              </a:defRPr>
            </a:pPr>
            <a:r>
              <a:rPr sz="5700" b="1">
                <a:solidFill>
                  <a:srgbClr val="101820"/>
                </a:solidFill>
                <a:latin typeface="Helvetica Neue"/>
                <a:ea typeface="Helvetica Neue"/>
                <a:cs typeface="Helvetica Neue"/>
              </a:rPr>
              <a:t>21M+</a:t>
            </a:r>
          </a:p>
        </p:txBody>
      </p:sp>
      <p:sp>
        <p:nvSpPr>
          <p:cNvPr id="8" name="">
            <a:extLst xmlns:a="http://schemas.openxmlformats.org/drawingml/2006/main">
              <a:ext uri="{FF2B5EF4-FFF2-40B4-BE49-F238E27FC236}">
                <a16:creationId xmlns:a16="http://schemas.microsoft.com/office/drawing/2014/main" id="{3CC27D4E-C6AC-45A1-B4A8-6EDED2B2BFAA}"/>
              </a:ext>
            </a:extLst>
          </p:cNvPr>
          <p:cNvSpPr>
            <a:spLocks xmlns:a="http://schemas.openxmlformats.org/drawingml/2006/main" noGrp="1"/>
          </p:cNvSpPr>
          <p:nvPr/>
        </p:nvSpPr>
        <p:spPr>
          <a:xfrm xmlns:a="http://schemas.openxmlformats.org/drawingml/2006/main">
            <a:off x="781050" y="3238500"/>
            <a:ext cx="4572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650" b="0">
                <a:solidFill>
                  <a:srgbClr val="53606B"/>
                </a:solidFill>
                <a:latin typeface="Helvetica Neue"/>
                <a:ea typeface="Helvetica Neue"/>
                <a:cs typeface="Helvetica Neue"/>
              </a:defRPr>
            </a:pPr>
            <a:r>
              <a:rPr sz="1650" b="0">
                <a:solidFill>
                  <a:srgbClr val="53606B"/>
                </a:solidFill>
                <a:latin typeface="Helvetica Neue"/>
                <a:ea typeface="Helvetica Neue"/>
                <a:cs typeface="Helvetica Neue"/>
              </a:rPr>
              <a:t>dividend contracts traded on Eurex in 2024</a:t>
            </a:r>
          </a:p>
        </p:txBody>
      </p:sp>
      <p:sp>
        <p:nvSpPr>
          <p:cNvPr id="9" name="">
            <a:extLst xmlns:a="http://schemas.openxmlformats.org/drawingml/2006/main">
              <a:ext uri="{FF2B5EF4-FFF2-40B4-BE49-F238E27FC236}">
                <a16:creationId xmlns:a16="http://schemas.microsoft.com/office/drawing/2014/main" id="{97C82D39-D0FC-46FF-B112-93CA75CF7035}"/>
              </a:ext>
            </a:extLst>
          </p:cNvPr>
          <p:cNvSpPr>
            <a:spLocks xmlns:a="http://schemas.openxmlformats.org/drawingml/2006/main" noGrp="1"/>
          </p:cNvSpPr>
          <p:nvPr/>
        </p:nvSpPr>
        <p:spPr>
          <a:xfrm xmlns:a="http://schemas.openxmlformats.org/drawingml/2006/main">
            <a:off x="6096000" y="1885950"/>
            <a:ext cx="9525" cy="2190750"/>
          </a:xfrm>
          <a:prstGeom xmlns:a="http://schemas.openxmlformats.org/drawingml/2006/main" prst="rect">
            <a:avLst/>
          </a:prstGeom>
          <a:solidFill xmlns:a="http://schemas.openxmlformats.org/drawingml/2006/main">
            <a:srgbClr val="D7D2C8"/>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6BE546B5-20FF-4610-A577-9272DA1BCBE6}"/>
              </a:ext>
            </a:extLst>
          </p:cNvPr>
          <p:cNvSpPr>
            <a:spLocks xmlns:a="http://schemas.openxmlformats.org/drawingml/2006/main" noGrp="1"/>
          </p:cNvSpPr>
          <p:nvPr/>
        </p:nvSpPr>
        <p:spPr>
          <a:xfrm xmlns:a="http://schemas.openxmlformats.org/drawingml/2006/main">
            <a:off x="6667500" y="1943100"/>
            <a:ext cx="4476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00" b="1">
                <a:solidFill>
                  <a:srgbClr val="53606B"/>
                </a:solidFill>
                <a:latin typeface="Helvetica Neue"/>
                <a:ea typeface="Helvetica Neue"/>
                <a:cs typeface="Helvetica Neue"/>
              </a:defRPr>
            </a:pPr>
            <a:r>
              <a:rPr sz="900" b="1">
                <a:solidFill>
                  <a:srgbClr val="53606B"/>
                </a:solidFill>
                <a:latin typeface="Helvetica Neue"/>
                <a:ea typeface="Helvetica Neue"/>
                <a:cs typeface="Helvetica Neue"/>
              </a:rPr>
              <a:t>ONCHAIN YIELD SEPARATION</a:t>
            </a:r>
          </a:p>
        </p:txBody>
      </p:sp>
      <p:sp>
        <p:nvSpPr>
          <p:cNvPr id="11" name="">
            <a:extLst xmlns:a="http://schemas.openxmlformats.org/drawingml/2006/main">
              <a:ext uri="{FF2B5EF4-FFF2-40B4-BE49-F238E27FC236}">
                <a16:creationId xmlns:a16="http://schemas.microsoft.com/office/drawing/2014/main" id="{BB67C3AF-FA64-4087-A962-ED6114991EF5}"/>
              </a:ext>
            </a:extLst>
          </p:cNvPr>
          <p:cNvSpPr>
            <a:spLocks xmlns:a="http://schemas.openxmlformats.org/drawingml/2006/main" noGrp="1"/>
          </p:cNvSpPr>
          <p:nvPr/>
        </p:nvSpPr>
        <p:spPr>
          <a:xfrm xmlns:a="http://schemas.openxmlformats.org/drawingml/2006/main">
            <a:off x="6667500" y="2247900"/>
            <a:ext cx="46672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5000"/>
              </a:lnSpc>
              <a:buNone/>
              <a:defRPr sz="5700" b="1">
                <a:solidFill>
                  <a:srgbClr val="2457F5"/>
                </a:solidFill>
                <a:latin typeface="Helvetica Neue"/>
                <a:ea typeface="Helvetica Neue"/>
                <a:cs typeface="Helvetica Neue"/>
              </a:defRPr>
            </a:pPr>
            <a:r>
              <a:rPr sz="5700" b="1">
                <a:solidFill>
                  <a:srgbClr val="2457F5"/>
                </a:solidFill>
                <a:latin typeface="Helvetica Neue"/>
                <a:ea typeface="Helvetica Neue"/>
                <a:cs typeface="Helvetica Neue"/>
              </a:rPr>
              <a:t>$96.4M</a:t>
            </a:r>
          </a:p>
        </p:txBody>
      </p:sp>
      <p:sp>
        <p:nvSpPr>
          <p:cNvPr id="12" name="">
            <a:extLst xmlns:a="http://schemas.openxmlformats.org/drawingml/2006/main">
              <a:ext uri="{FF2B5EF4-FFF2-40B4-BE49-F238E27FC236}">
                <a16:creationId xmlns:a16="http://schemas.microsoft.com/office/drawing/2014/main" id="{A7B0A287-C050-4A2C-9D0F-8C6938F2A8B9}"/>
              </a:ext>
            </a:extLst>
          </p:cNvPr>
          <p:cNvSpPr>
            <a:spLocks xmlns:a="http://schemas.openxmlformats.org/drawingml/2006/main" noGrp="1"/>
          </p:cNvSpPr>
          <p:nvPr/>
        </p:nvSpPr>
        <p:spPr>
          <a:xfrm xmlns:a="http://schemas.openxmlformats.org/drawingml/2006/main">
            <a:off x="6686550" y="3238500"/>
            <a:ext cx="447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650" b="0">
                <a:solidFill>
                  <a:srgbClr val="53606B"/>
                </a:solidFill>
                <a:latin typeface="Helvetica Neue"/>
                <a:ea typeface="Helvetica Neue"/>
                <a:cs typeface="Helvetica Neue"/>
              </a:defRPr>
            </a:pPr>
            <a:r>
              <a:rPr sz="1650" b="0">
                <a:solidFill>
                  <a:srgbClr val="53606B"/>
                </a:solidFill>
                <a:latin typeface="Helvetica Neue"/>
                <a:ea typeface="Helvetica Neue"/>
                <a:cs typeface="Helvetica Neue"/>
              </a:rPr>
              <a:t>average daily trading volume in 2024, reported by Pendle</a:t>
            </a:r>
          </a:p>
        </p:txBody>
      </p:sp>
      <p:sp>
        <p:nvSpPr>
          <p:cNvPr id="13" name="">
            <a:extLst xmlns:a="http://schemas.openxmlformats.org/drawingml/2006/main">
              <a:ext uri="{FF2B5EF4-FFF2-40B4-BE49-F238E27FC236}">
                <a16:creationId xmlns:a16="http://schemas.microsoft.com/office/drawing/2014/main" id="{A57073FA-7475-426E-B7C0-0C6D4D99FC50}"/>
              </a:ext>
            </a:extLst>
          </p:cNvPr>
          <p:cNvSpPr>
            <a:spLocks xmlns:a="http://schemas.openxmlformats.org/drawingml/2006/main" noGrp="1"/>
          </p:cNvSpPr>
          <p:nvPr/>
        </p:nvSpPr>
        <p:spPr>
          <a:xfrm xmlns:a="http://schemas.openxmlformats.org/drawingml/2006/main">
            <a:off x="762000" y="4762500"/>
            <a:ext cx="9810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a:solidFill>
                  <a:srgbClr val="101820"/>
                </a:solidFill>
                <a:latin typeface="Helvetica Neue"/>
                <a:ea typeface="Helvetica Neue"/>
                <a:cs typeface="Helvetica Neue"/>
              </a:defRPr>
            </a:pPr>
            <a:r>
              <a:rPr b="1">
                <a:solidFill>
                  <a:srgbClr val="101820"/>
                </a:solidFill>
                <a:latin typeface="Helvetica Neue"/>
                <a:ea typeface="Helvetica Neue"/>
                <a:cs typeface="Helvetica Neue"/>
              </a:rPr>
              <a:t>Investors already trade dividends separately.</a:t>
            </a:r>
            <a:r>
              <a:rPr b="1">
                <a:solidFill>
                  <a:srgbClr val="101820"/>
                </a:solidFill>
                <a:latin typeface="Helvetica Neue"/>
                <a:ea typeface="Helvetica Neue"/>
                <a:cs typeface="Helvetica Neue"/>
              </a:rPr>
              <a:t>
Crypto users already separate yield.</a:t>
            </a:r>
          </a:p>
        </p:txBody>
      </p:sp>
      <p:sp>
        <p:nvSpPr>
          <p:cNvPr id="14" name="">
            <a:extLst xmlns:a="http://schemas.openxmlformats.org/drawingml/2006/main">
              <a:ext uri="{FF2B5EF4-FFF2-40B4-BE49-F238E27FC236}">
                <a16:creationId xmlns:a16="http://schemas.microsoft.com/office/drawing/2014/main" id="{16FA5AD1-98E6-4FD9-9D69-7421D0CE4802}"/>
              </a:ext>
            </a:extLst>
          </p:cNvPr>
          <p:cNvSpPr>
            <a:spLocks xmlns:a="http://schemas.openxmlformats.org/drawingml/2006/main" noGrp="1"/>
          </p:cNvSpPr>
          <p:nvPr/>
        </p:nvSpPr>
        <p:spPr>
          <a:xfrm xmlns:a="http://schemas.openxmlformats.org/drawingml/2006/main">
            <a:off x="762000" y="5962650"/>
            <a:ext cx="1009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200" b="0">
                <a:solidFill>
                  <a:srgbClr val="53606B"/>
                </a:solidFill>
                <a:latin typeface="Helvetica Neue"/>
                <a:ea typeface="Helvetica Neue"/>
                <a:cs typeface="Helvetica Neue"/>
              </a:defRPr>
            </a:pPr>
            <a:r>
              <a:rPr sz="1200" b="0">
                <a:solidFill>
                  <a:srgbClr val="53606B"/>
                </a:solidFill>
                <a:latin typeface="Helvetica Neue"/>
                <a:ea typeface="Helvetica Neue"/>
                <a:cs typeface="Helvetica Neue"/>
              </a:rPr>
              <a:t>Established markets for trading dividends and separating yield.</a:t>
            </a:r>
          </a:p>
        </p:txBody>
      </p:sp>
    </p:spTree>
    <p:extLst>
      <p:ext uri="{BB962C8B-B14F-4D97-AF65-F5344CB8AC3E}">
        <p14:creationId xmlns:p14="http://schemas.microsoft.com/office/powerpoint/2010/main" val="1326621710"/>
      </p:ext>
    </p:extLst>
  </p:cSld>
</p:sld>
</file>

<file path=ppt/slides/slide5.xml><?xml version="1.0" encoding="utf-8"?>
<p:sld xmlns:p="http://schemas.openxmlformats.org/presentationml/2006/main">
  <p:cSld>
    <p:bg>
      <p:bgPr>
        <a:solidFill xmlns:a="http://schemas.openxmlformats.org/drawingml/2006/main">
          <a:srgbClr val="F6F3EC"/>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3A0FB764-59F9-416E-B76B-A76ED15B9842}"/>
              </a:ext>
            </a:extLst>
          </p:cNvPr>
          <p:cNvSpPr>
            <a:spLocks xmlns:a="http://schemas.openxmlformats.org/drawingml/2006/main" noGrp="1"/>
          </p:cNvSpPr>
          <p:nvPr/>
        </p:nvSpPr>
        <p:spPr>
          <a:xfrm xmlns:a="http://schemas.openxmlformats.org/drawingml/2006/main" rot="2700000">
            <a:off x="704850" y="514350"/>
            <a:ext cx="123444" cy="123444"/>
          </a:xfrm>
          <a:prstGeom xmlns:a="http://schemas.openxmlformats.org/drawingml/2006/main" prst="rect">
            <a:avLst/>
          </a:prstGeom>
          <a:solidFill xmlns:a="http://schemas.openxmlformats.org/drawingml/2006/main">
            <a:srgbClr val="2457F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CE297A75-BF94-4C80-B777-B3C5FCF631DC}"/>
              </a:ext>
            </a:extLst>
          </p:cNvPr>
          <p:cNvSpPr>
            <a:spLocks xmlns:a="http://schemas.openxmlformats.org/drawingml/2006/main" noGrp="1"/>
          </p:cNvSpPr>
          <p:nvPr/>
        </p:nvSpPr>
        <p:spPr>
          <a:xfrm xmlns:a="http://schemas.openxmlformats.org/drawingml/2006/main" rot="2700000">
            <a:off x="807720" y="617220"/>
            <a:ext cx="123444" cy="123444"/>
          </a:xfrm>
          <a:prstGeom xmlns:a="http://schemas.openxmlformats.org/drawingml/2006/main" prst="rect">
            <a:avLst/>
          </a:prstGeom>
          <a:solidFill xmlns:a="http://schemas.openxmlformats.org/drawingml/2006/main">
            <a:srgbClr val="C46A00"/>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329D019B-E825-461E-9E9D-48C111A0796C}"/>
              </a:ext>
            </a:extLst>
          </p:cNvPr>
          <p:cNvSpPr>
            <a:spLocks xmlns:a="http://schemas.openxmlformats.org/drawingml/2006/main" noGrp="1"/>
          </p:cNvSpPr>
          <p:nvPr/>
        </p:nvSpPr>
        <p:spPr>
          <a:xfrm xmlns:a="http://schemas.openxmlformats.org/drawingml/2006/main">
            <a:off x="972312" y="507492"/>
            <a:ext cx="1165860" cy="2057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080" b="1">
                <a:solidFill>
                  <a:srgbClr val="101820"/>
                </a:solidFill>
                <a:latin typeface="Helvetica Neue"/>
                <a:ea typeface="Helvetica Neue"/>
                <a:cs typeface="Helvetica Neue"/>
              </a:defRPr>
            </a:pPr>
            <a:r>
              <a:rPr sz="1080" b="1">
                <a:solidFill>
                  <a:srgbClr val="101820"/>
                </a:solidFill>
                <a:latin typeface="Helvetica Neue"/>
                <a:ea typeface="Helvetica Neue"/>
                <a:cs typeface="Helvetica Neue"/>
              </a:rPr>
              <a:t>DivX</a:t>
            </a:r>
          </a:p>
        </p:txBody>
      </p:sp>
      <p:sp>
        <p:nvSpPr>
          <p:cNvPr id="4" name="">
            <a:extLst xmlns:a="http://schemas.openxmlformats.org/drawingml/2006/main">
              <a:ext uri="{FF2B5EF4-FFF2-40B4-BE49-F238E27FC236}">
                <a16:creationId xmlns:a16="http://schemas.microsoft.com/office/drawing/2014/main" id="{F202B8FF-B348-4576-B0EE-01EF0FC54692}"/>
              </a:ext>
            </a:extLst>
          </p:cNvPr>
          <p:cNvSpPr>
            <a:spLocks xmlns:a="http://schemas.openxmlformats.org/drawingml/2006/main" noGrp="1"/>
          </p:cNvSpPr>
          <p:nvPr/>
        </p:nvSpPr>
        <p:spPr>
          <a:xfrm xmlns:a="http://schemas.openxmlformats.org/drawingml/2006/main">
            <a:off x="704850" y="933450"/>
            <a:ext cx="10572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8000"/>
              </a:lnSpc>
              <a:buNone/>
              <a:defRPr sz="3150" b="1">
                <a:solidFill>
                  <a:srgbClr val="101820"/>
                </a:solidFill>
                <a:latin typeface="Helvetica Neue"/>
                <a:ea typeface="Helvetica Neue"/>
                <a:cs typeface="Helvetica Neue"/>
              </a:defRPr>
            </a:pPr>
            <a:r>
              <a:rPr sz="3150" b="1">
                <a:solidFill>
                  <a:srgbClr val="101820"/>
                </a:solidFill>
                <a:latin typeface="Helvetica Neue"/>
                <a:ea typeface="Helvetica Neue"/>
                <a:cs typeface="Helvetica Neue"/>
              </a:rPr>
              <a:t>Tokenized stocks bring the collateral onchain</a:t>
            </a:r>
          </a:p>
        </p:txBody>
      </p:sp>
      <p:sp>
        <p:nvSpPr>
          <p:cNvPr id="5" name="">
            <a:extLst xmlns:a="http://schemas.openxmlformats.org/drawingml/2006/main">
              <a:ext uri="{FF2B5EF4-FFF2-40B4-BE49-F238E27FC236}">
                <a16:creationId xmlns:a16="http://schemas.microsoft.com/office/drawing/2014/main" id="{8A73E425-A8F5-4B8C-B2F6-1407E1F55810}"/>
              </a:ext>
            </a:extLst>
          </p:cNvPr>
          <p:cNvSpPr>
            <a:spLocks xmlns:a="http://schemas.openxmlformats.org/drawingml/2006/main" noGrp="1"/>
          </p:cNvSpPr>
          <p:nvPr/>
        </p:nvSpPr>
        <p:spPr>
          <a:xfrm xmlns:a="http://schemas.openxmlformats.org/drawingml/2006/main">
            <a:off x="11144250" y="552450"/>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defRPr sz="900" b="1">
                <a:solidFill>
                  <a:srgbClr val="53606B"/>
                </a:solidFill>
                <a:latin typeface="Helvetica Neue"/>
                <a:ea typeface="Helvetica Neue"/>
                <a:cs typeface="Helvetica Neue"/>
              </a:defRPr>
            </a:pPr>
            <a:r>
              <a:rPr sz="900" b="1">
                <a:solidFill>
                  <a:srgbClr val="53606B"/>
                </a:solidFill>
                <a:latin typeface="Helvetica Neue"/>
                <a:ea typeface="Helvetica Neue"/>
                <a:cs typeface="Helvetica Neue"/>
              </a:rPr>
              <a:t>05</a:t>
            </a:r>
          </a:p>
        </p:txBody>
      </p:sp>
      <p:sp>
        <p:nvSpPr>
          <p:cNvPr id="6" name="">
            <a:extLst xmlns:a="http://schemas.openxmlformats.org/drawingml/2006/main">
              <a:ext uri="{FF2B5EF4-FFF2-40B4-BE49-F238E27FC236}">
                <a16:creationId xmlns:a16="http://schemas.microsoft.com/office/drawing/2014/main" id="{47D599AF-0CAE-4233-AD06-428001314F22}"/>
              </a:ext>
            </a:extLst>
          </p:cNvPr>
          <p:cNvSpPr>
            <a:spLocks xmlns:a="http://schemas.openxmlformats.org/drawingml/2006/main" noGrp="1"/>
          </p:cNvSpPr>
          <p:nvPr/>
        </p:nvSpPr>
        <p:spPr>
          <a:xfrm xmlns:a="http://schemas.openxmlformats.org/drawingml/2006/main">
            <a:off x="762000" y="1981200"/>
            <a:ext cx="4381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00" b="1">
                <a:solidFill>
                  <a:srgbClr val="53606B"/>
                </a:solidFill>
                <a:latin typeface="Helvetica Neue"/>
                <a:ea typeface="Helvetica Neue"/>
                <a:cs typeface="Helvetica Neue"/>
              </a:defRPr>
            </a:pPr>
            <a:r>
              <a:rPr sz="900" b="1">
                <a:solidFill>
                  <a:srgbClr val="53606B"/>
                </a:solidFill>
                <a:latin typeface="Helvetica Neue"/>
                <a:ea typeface="Helvetica Neue"/>
                <a:cs typeface="Helvetica Neue"/>
              </a:rPr>
              <a:t>ANNUAL GLOBAL DIVIDENDS</a:t>
            </a:r>
          </a:p>
        </p:txBody>
      </p:sp>
      <p:sp>
        <p:nvSpPr>
          <p:cNvPr id="7" name="">
            <a:extLst xmlns:a="http://schemas.openxmlformats.org/drawingml/2006/main">
              <a:ext uri="{FF2B5EF4-FFF2-40B4-BE49-F238E27FC236}">
                <a16:creationId xmlns:a16="http://schemas.microsoft.com/office/drawing/2014/main" id="{72AE73A2-2A25-4E6F-B8A8-AF06E74FECEE}"/>
              </a:ext>
            </a:extLst>
          </p:cNvPr>
          <p:cNvSpPr>
            <a:spLocks xmlns:a="http://schemas.openxmlformats.org/drawingml/2006/main" noGrp="1"/>
          </p:cNvSpPr>
          <p:nvPr/>
        </p:nvSpPr>
        <p:spPr>
          <a:xfrm xmlns:a="http://schemas.openxmlformats.org/drawingml/2006/main">
            <a:off x="762000" y="2333625"/>
            <a:ext cx="4381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5000"/>
              </a:lnSpc>
              <a:buNone/>
              <a:defRPr sz="5400" b="1">
                <a:solidFill>
                  <a:srgbClr val="C46A00"/>
                </a:solidFill>
                <a:latin typeface="Helvetica Neue"/>
                <a:ea typeface="Helvetica Neue"/>
                <a:cs typeface="Helvetica Neue"/>
              </a:defRPr>
            </a:pPr>
            <a:r>
              <a:rPr sz="5400" b="1">
                <a:solidFill>
                  <a:srgbClr val="C46A00"/>
                </a:solidFill>
                <a:latin typeface="Helvetica Neue"/>
                <a:ea typeface="Helvetica Neue"/>
                <a:cs typeface="Helvetica Neue"/>
              </a:rPr>
              <a:t>$1.75T</a:t>
            </a:r>
          </a:p>
        </p:txBody>
      </p:sp>
      <p:sp>
        <p:nvSpPr>
          <p:cNvPr id="8" name="">
            <a:extLst xmlns:a="http://schemas.openxmlformats.org/drawingml/2006/main">
              <a:ext uri="{FF2B5EF4-FFF2-40B4-BE49-F238E27FC236}">
                <a16:creationId xmlns:a16="http://schemas.microsoft.com/office/drawing/2014/main" id="{81A7284B-F2B1-46A6-9C42-D3BA6DFBBB73}"/>
              </a:ext>
            </a:extLst>
          </p:cNvPr>
          <p:cNvSpPr>
            <a:spLocks xmlns:a="http://schemas.openxmlformats.org/drawingml/2006/main" noGrp="1"/>
          </p:cNvSpPr>
          <p:nvPr/>
        </p:nvSpPr>
        <p:spPr>
          <a:xfrm xmlns:a="http://schemas.openxmlformats.org/drawingml/2006/main">
            <a:off x="781050" y="3286125"/>
            <a:ext cx="4381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650" b="0">
                <a:solidFill>
                  <a:srgbClr val="53606B"/>
                </a:solidFill>
                <a:latin typeface="Helvetica Neue"/>
                <a:ea typeface="Helvetica Neue"/>
                <a:cs typeface="Helvetica Neue"/>
              </a:defRPr>
            </a:pPr>
            <a:r>
              <a:rPr sz="1650" b="0">
                <a:solidFill>
                  <a:srgbClr val="53606B"/>
                </a:solidFill>
                <a:latin typeface="Helvetica Neue"/>
                <a:ea typeface="Helvetica Neue"/>
                <a:cs typeface="Helvetica Neue"/>
              </a:rPr>
              <a:t>paid in 2024</a:t>
            </a:r>
          </a:p>
        </p:txBody>
      </p:sp>
      <p:sp>
        <p:nvSpPr>
          <p:cNvPr id="9" name="">
            <a:extLst xmlns:a="http://schemas.openxmlformats.org/drawingml/2006/main">
              <a:ext uri="{FF2B5EF4-FFF2-40B4-BE49-F238E27FC236}">
                <a16:creationId xmlns:a16="http://schemas.microsoft.com/office/drawing/2014/main" id="{722CE631-8F6C-412F-97FD-610EE54CD552}"/>
              </a:ext>
            </a:extLst>
          </p:cNvPr>
          <p:cNvSpPr>
            <a:spLocks xmlns:a="http://schemas.openxmlformats.org/drawingml/2006/main" noGrp="1"/>
          </p:cNvSpPr>
          <p:nvPr/>
        </p:nvSpPr>
        <p:spPr>
          <a:xfrm xmlns:a="http://schemas.openxmlformats.org/drawingml/2006/main">
            <a:off x="5943600" y="1885950"/>
            <a:ext cx="9525" cy="2190750"/>
          </a:xfrm>
          <a:prstGeom xmlns:a="http://schemas.openxmlformats.org/drawingml/2006/main" prst="rect">
            <a:avLst/>
          </a:prstGeom>
          <a:solidFill xmlns:a="http://schemas.openxmlformats.org/drawingml/2006/main">
            <a:srgbClr val="D7D2C8"/>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76503020-2AD2-455E-A235-F329BCC36489}"/>
              </a:ext>
            </a:extLst>
          </p:cNvPr>
          <p:cNvSpPr>
            <a:spLocks xmlns:a="http://schemas.openxmlformats.org/drawingml/2006/main" noGrp="1"/>
          </p:cNvSpPr>
          <p:nvPr/>
        </p:nvSpPr>
        <p:spPr>
          <a:xfrm xmlns:a="http://schemas.openxmlformats.org/drawingml/2006/main">
            <a:off x="6572250" y="1981200"/>
            <a:ext cx="4762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00" b="1">
                <a:solidFill>
                  <a:srgbClr val="53606B"/>
                </a:solidFill>
                <a:latin typeface="Helvetica Neue"/>
                <a:ea typeface="Helvetica Neue"/>
                <a:cs typeface="Helvetica Neue"/>
              </a:defRPr>
            </a:pPr>
            <a:r>
              <a:rPr sz="900" b="1">
                <a:solidFill>
                  <a:srgbClr val="53606B"/>
                </a:solidFill>
                <a:latin typeface="Helvetica Neue"/>
                <a:ea typeface="Helvetica Neue"/>
                <a:cs typeface="Helvetica Neue"/>
              </a:rPr>
              <a:t>DISTRIBUTED TOKENIZED-STOCK VALUE</a:t>
            </a:r>
          </a:p>
        </p:txBody>
      </p:sp>
      <p:sp>
        <p:nvSpPr>
          <p:cNvPr id="11" name="">
            <a:extLst xmlns:a="http://schemas.openxmlformats.org/drawingml/2006/main">
              <a:ext uri="{FF2B5EF4-FFF2-40B4-BE49-F238E27FC236}">
                <a16:creationId xmlns:a16="http://schemas.microsoft.com/office/drawing/2014/main" id="{29DCE6F9-638E-478F-BC5A-54F3A0FB216F}"/>
              </a:ext>
            </a:extLst>
          </p:cNvPr>
          <p:cNvSpPr>
            <a:spLocks xmlns:a="http://schemas.openxmlformats.org/drawingml/2006/main" noGrp="1"/>
          </p:cNvSpPr>
          <p:nvPr/>
        </p:nvSpPr>
        <p:spPr>
          <a:xfrm xmlns:a="http://schemas.openxmlformats.org/drawingml/2006/main">
            <a:off x="6572250" y="2333625"/>
            <a:ext cx="4762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5000"/>
              </a:lnSpc>
              <a:buNone/>
              <a:defRPr sz="5400" b="1">
                <a:solidFill>
                  <a:srgbClr val="2457F5"/>
                </a:solidFill>
                <a:latin typeface="Helvetica Neue"/>
                <a:ea typeface="Helvetica Neue"/>
                <a:cs typeface="Helvetica Neue"/>
              </a:defRPr>
            </a:pPr>
            <a:r>
              <a:rPr sz="5400" b="1">
                <a:solidFill>
                  <a:srgbClr val="2457F5"/>
                </a:solidFill>
                <a:latin typeface="Helvetica Neue"/>
                <a:ea typeface="Helvetica Neue"/>
                <a:cs typeface="Helvetica Neue"/>
              </a:rPr>
              <a:t>$2.92B</a:t>
            </a:r>
          </a:p>
        </p:txBody>
      </p:sp>
      <p:sp>
        <p:nvSpPr>
          <p:cNvPr id="12" name="">
            <a:extLst xmlns:a="http://schemas.openxmlformats.org/drawingml/2006/main">
              <a:ext uri="{FF2B5EF4-FFF2-40B4-BE49-F238E27FC236}">
                <a16:creationId xmlns:a16="http://schemas.microsoft.com/office/drawing/2014/main" id="{3D350A20-588F-44B4-A53F-B0677AA7D700}"/>
              </a:ext>
            </a:extLst>
          </p:cNvPr>
          <p:cNvSpPr>
            <a:spLocks xmlns:a="http://schemas.openxmlformats.org/drawingml/2006/main" noGrp="1"/>
          </p:cNvSpPr>
          <p:nvPr/>
        </p:nvSpPr>
        <p:spPr>
          <a:xfrm xmlns:a="http://schemas.openxmlformats.org/drawingml/2006/main">
            <a:off x="6591300" y="3286125"/>
            <a:ext cx="4762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650" b="0">
                <a:solidFill>
                  <a:srgbClr val="53606B"/>
                </a:solidFill>
                <a:latin typeface="Helvetica Neue"/>
                <a:ea typeface="Helvetica Neue"/>
                <a:cs typeface="Helvetica Neue"/>
              </a:defRPr>
            </a:pPr>
            <a:r>
              <a:rPr sz="1650" b="0">
                <a:solidFill>
                  <a:srgbClr val="53606B"/>
                </a:solidFill>
                <a:latin typeface="Helvetica Neue"/>
                <a:ea typeface="Helvetica Neue"/>
                <a:cs typeface="Helvetica Neue"/>
              </a:rPr>
              <a:t>observed 16 September 2026</a:t>
            </a:r>
          </a:p>
        </p:txBody>
      </p:sp>
      <p:sp>
        <p:nvSpPr>
          <p:cNvPr id="13" name="">
            <a:extLst xmlns:a="http://schemas.openxmlformats.org/drawingml/2006/main">
              <a:ext uri="{FF2B5EF4-FFF2-40B4-BE49-F238E27FC236}">
                <a16:creationId xmlns:a16="http://schemas.microsoft.com/office/drawing/2014/main" id="{4226F416-0E16-4F09-ADBA-DBB7866D730E}"/>
              </a:ext>
            </a:extLst>
          </p:cNvPr>
          <p:cNvSpPr>
            <a:spLocks xmlns:a="http://schemas.openxmlformats.org/drawingml/2006/main" noGrp="1"/>
          </p:cNvSpPr>
          <p:nvPr/>
        </p:nvSpPr>
        <p:spPr>
          <a:xfrm xmlns:a="http://schemas.openxmlformats.org/drawingml/2006/main">
            <a:off x="762000" y="4371975"/>
            <a:ext cx="10572750" cy="19050"/>
          </a:xfrm>
          <a:prstGeom xmlns:a="http://schemas.openxmlformats.org/drawingml/2006/main" prst="rect">
            <a:avLst/>
          </a:prstGeom>
          <a:solidFill xmlns:a="http://schemas.openxmlformats.org/drawingml/2006/main">
            <a:srgbClr val="D7D2C8"/>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E20B3C9F-F900-4CD2-8EEA-BEDA9A2C6562}"/>
              </a:ext>
            </a:extLst>
          </p:cNvPr>
          <p:cNvSpPr>
            <a:spLocks xmlns:a="http://schemas.openxmlformats.org/drawingml/2006/main" noGrp="1"/>
          </p:cNvSpPr>
          <p:nvPr/>
        </p:nvSpPr>
        <p:spPr>
          <a:xfrm xmlns:a="http://schemas.openxmlformats.org/drawingml/2006/main">
            <a:off x="762000" y="4695825"/>
            <a:ext cx="2190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125" b="1">
                <a:solidFill>
                  <a:srgbClr val="53606B"/>
                </a:solidFill>
                <a:latin typeface="Helvetica Neue"/>
                <a:ea typeface="Helvetica Neue"/>
                <a:cs typeface="Helvetica Neue"/>
              </a:defRPr>
            </a:pPr>
            <a:r>
              <a:rPr sz="1125" b="1">
                <a:solidFill>
                  <a:srgbClr val="53606B"/>
                </a:solidFill>
                <a:latin typeface="Helvetica Neue"/>
                <a:ea typeface="Helvetica Neue"/>
                <a:cs typeface="Helvetica Neue"/>
              </a:rPr>
              <a:t>Starting market</a:t>
            </a:r>
          </a:p>
        </p:txBody>
      </p:sp>
      <p:sp>
        <p:nvSpPr>
          <p:cNvPr id="15" name="">
            <a:extLst xmlns:a="http://schemas.openxmlformats.org/drawingml/2006/main">
              <a:ext uri="{FF2B5EF4-FFF2-40B4-BE49-F238E27FC236}">
                <a16:creationId xmlns:a16="http://schemas.microsoft.com/office/drawing/2014/main" id="{A6AE9C36-577D-4692-B871-3E190813A59D}"/>
              </a:ext>
            </a:extLst>
          </p:cNvPr>
          <p:cNvSpPr>
            <a:spLocks xmlns:a="http://schemas.openxmlformats.org/drawingml/2006/main" noGrp="1"/>
          </p:cNvSpPr>
          <p:nvPr/>
        </p:nvSpPr>
        <p:spPr>
          <a:xfrm xmlns:a="http://schemas.openxmlformats.org/drawingml/2006/main">
            <a:off x="2971800" y="4610100"/>
            <a:ext cx="6191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2250" b="1">
                <a:solidFill>
                  <a:srgbClr val="101820"/>
                </a:solidFill>
                <a:latin typeface="Helvetica Neue"/>
                <a:ea typeface="Helvetica Neue"/>
                <a:cs typeface="Helvetica Neue"/>
              </a:defRPr>
            </a:pPr>
            <a:r>
              <a:rPr sz="2250" b="1">
                <a:solidFill>
                  <a:srgbClr val="101820"/>
                </a:solidFill>
                <a:latin typeface="Helvetica Neue"/>
                <a:ea typeface="Helvetica Neue"/>
                <a:cs typeface="Helvetica Neue"/>
              </a:rPr>
              <a:t>Dividend-paying xStocks on Solana</a:t>
            </a:r>
          </a:p>
        </p:txBody>
      </p:sp>
      <p:sp>
        <p:nvSpPr>
          <p:cNvPr id="16" name="">
            <a:extLst xmlns:a="http://schemas.openxmlformats.org/drawingml/2006/main">
              <a:ext uri="{FF2B5EF4-FFF2-40B4-BE49-F238E27FC236}">
                <a16:creationId xmlns:a16="http://schemas.microsoft.com/office/drawing/2014/main" id="{FD7CCF55-2FD5-4465-8CEB-4A30199142F3}"/>
              </a:ext>
            </a:extLst>
          </p:cNvPr>
          <p:cNvSpPr>
            <a:spLocks xmlns:a="http://schemas.openxmlformats.org/drawingml/2006/main" noGrp="1"/>
          </p:cNvSpPr>
          <p:nvPr/>
        </p:nvSpPr>
        <p:spPr>
          <a:xfrm xmlns:a="http://schemas.openxmlformats.org/drawingml/2006/main">
            <a:off x="2971800" y="5124450"/>
            <a:ext cx="7239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350" b="1">
                <a:solidFill>
                  <a:srgbClr val="1639A6"/>
                </a:solidFill>
                <a:latin typeface="Helvetica Neue"/>
                <a:ea typeface="Helvetica Neue"/>
                <a:cs typeface="Helvetica Neue"/>
              </a:defRPr>
            </a:pPr>
            <a:r>
              <a:rPr sz="1350" b="1">
                <a:solidFill>
                  <a:srgbClr val="1639A6"/>
                </a:solidFill>
                <a:latin typeface="Helvetica Neue"/>
                <a:ea typeface="Helvetica Neue"/>
                <a:cs typeface="Helvetica Neue"/>
              </a:rPr>
              <a:t>Coca-Cola first. More dividend-paying stocks next.</a:t>
            </a:r>
          </a:p>
        </p:txBody>
      </p:sp>
      <p:sp>
        <p:nvSpPr>
          <p:cNvPr id="17" name="">
            <a:extLst xmlns:a="http://schemas.openxmlformats.org/drawingml/2006/main">
              <a:ext uri="{FF2B5EF4-FFF2-40B4-BE49-F238E27FC236}">
                <a16:creationId xmlns:a16="http://schemas.microsoft.com/office/drawing/2014/main" id="{36ACFFA0-FB68-424F-BBF4-0590F5F89CE9}"/>
              </a:ext>
            </a:extLst>
          </p:cNvPr>
          <p:cNvSpPr>
            <a:spLocks xmlns:a="http://schemas.openxmlformats.org/drawingml/2006/main" noGrp="1"/>
          </p:cNvSpPr>
          <p:nvPr/>
        </p:nvSpPr>
        <p:spPr>
          <a:xfrm xmlns:a="http://schemas.openxmlformats.org/drawingml/2006/main">
            <a:off x="762000" y="5953125"/>
            <a:ext cx="10382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125" b="0">
                <a:solidFill>
                  <a:srgbClr val="53606B"/>
                </a:solidFill>
                <a:latin typeface="Helvetica Neue"/>
                <a:ea typeface="Helvetica Neue"/>
                <a:cs typeface="Helvetica Neue"/>
              </a:defRPr>
            </a:pPr>
            <a:r>
              <a:rPr sz="1125" b="0">
                <a:solidFill>
                  <a:srgbClr val="53606B"/>
                </a:solidFill>
                <a:latin typeface="Helvetica Neue"/>
                <a:ea typeface="Helvetica Neue"/>
                <a:cs typeface="Helvetica Neue"/>
              </a:rPr>
              <a:t>RWA.xyz includes stocks and ETFs represented natively or synthetically.</a:t>
            </a:r>
          </a:p>
        </p:txBody>
      </p:sp>
    </p:spTree>
    <p:extLst>
      <p:ext uri="{BB962C8B-B14F-4D97-AF65-F5344CB8AC3E}">
        <p14:creationId xmlns:p14="http://schemas.microsoft.com/office/powerpoint/2010/main" val="1335400915"/>
      </p:ext>
    </p:extLst>
  </p:cSld>
</p:sld>
</file>

<file path=ppt/slides/slide6.xml><?xml version="1.0" encoding="utf-8"?>
<p:sld xmlns:p="http://schemas.openxmlformats.org/presentationml/2006/main">
  <p:cSld>
    <p:bg>
      <p:bgPr>
        <a:solidFill xmlns:a="http://schemas.openxmlformats.org/drawingml/2006/main">
          <a:srgbClr val="F6F3EC"/>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756AA35E-F4A0-4D0B-BA0D-659B8659EE40}"/>
              </a:ext>
            </a:extLst>
          </p:cNvPr>
          <p:cNvSpPr>
            <a:spLocks xmlns:a="http://schemas.openxmlformats.org/drawingml/2006/main" noGrp="1"/>
          </p:cNvSpPr>
          <p:nvPr/>
        </p:nvSpPr>
        <p:spPr>
          <a:xfrm xmlns:a="http://schemas.openxmlformats.org/drawingml/2006/main" rot="2700000">
            <a:off x="704850" y="514350"/>
            <a:ext cx="123444" cy="123444"/>
          </a:xfrm>
          <a:prstGeom xmlns:a="http://schemas.openxmlformats.org/drawingml/2006/main" prst="rect">
            <a:avLst/>
          </a:prstGeom>
          <a:solidFill xmlns:a="http://schemas.openxmlformats.org/drawingml/2006/main">
            <a:srgbClr val="2457F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BA1D4BCA-F8CF-4580-AE6F-40CEB3BBB9A2}"/>
              </a:ext>
            </a:extLst>
          </p:cNvPr>
          <p:cNvSpPr>
            <a:spLocks xmlns:a="http://schemas.openxmlformats.org/drawingml/2006/main" noGrp="1"/>
          </p:cNvSpPr>
          <p:nvPr/>
        </p:nvSpPr>
        <p:spPr>
          <a:xfrm xmlns:a="http://schemas.openxmlformats.org/drawingml/2006/main" rot="2700000">
            <a:off x="807720" y="617220"/>
            <a:ext cx="123444" cy="123444"/>
          </a:xfrm>
          <a:prstGeom xmlns:a="http://schemas.openxmlformats.org/drawingml/2006/main" prst="rect">
            <a:avLst/>
          </a:prstGeom>
          <a:solidFill xmlns:a="http://schemas.openxmlformats.org/drawingml/2006/main">
            <a:srgbClr val="C46A00"/>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847D9A52-106E-4442-8223-7A8B6C95B25E}"/>
              </a:ext>
            </a:extLst>
          </p:cNvPr>
          <p:cNvSpPr>
            <a:spLocks xmlns:a="http://schemas.openxmlformats.org/drawingml/2006/main" noGrp="1"/>
          </p:cNvSpPr>
          <p:nvPr/>
        </p:nvSpPr>
        <p:spPr>
          <a:xfrm xmlns:a="http://schemas.openxmlformats.org/drawingml/2006/main">
            <a:off x="972312" y="507492"/>
            <a:ext cx="1165860" cy="2057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080" b="1">
                <a:solidFill>
                  <a:srgbClr val="101820"/>
                </a:solidFill>
                <a:latin typeface="Helvetica Neue"/>
                <a:ea typeface="Helvetica Neue"/>
                <a:cs typeface="Helvetica Neue"/>
              </a:defRPr>
            </a:pPr>
            <a:r>
              <a:rPr sz="1080" b="1">
                <a:solidFill>
                  <a:srgbClr val="101820"/>
                </a:solidFill>
                <a:latin typeface="Helvetica Neue"/>
                <a:ea typeface="Helvetica Neue"/>
                <a:cs typeface="Helvetica Neue"/>
              </a:rPr>
              <a:t>DivX</a:t>
            </a:r>
          </a:p>
        </p:txBody>
      </p:sp>
      <p:sp>
        <p:nvSpPr>
          <p:cNvPr id="4" name="">
            <a:extLst xmlns:a="http://schemas.openxmlformats.org/drawingml/2006/main">
              <a:ext uri="{FF2B5EF4-FFF2-40B4-BE49-F238E27FC236}">
                <a16:creationId xmlns:a16="http://schemas.microsoft.com/office/drawing/2014/main" id="{9947C19F-6252-417C-ABBE-EF6392B78854}"/>
              </a:ext>
            </a:extLst>
          </p:cNvPr>
          <p:cNvSpPr>
            <a:spLocks xmlns:a="http://schemas.openxmlformats.org/drawingml/2006/main" noGrp="1"/>
          </p:cNvSpPr>
          <p:nvPr/>
        </p:nvSpPr>
        <p:spPr>
          <a:xfrm xmlns:a="http://schemas.openxmlformats.org/drawingml/2006/main">
            <a:off x="704850" y="933450"/>
            <a:ext cx="10572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8000"/>
              </a:lnSpc>
              <a:buNone/>
              <a:defRPr sz="3150" b="1">
                <a:solidFill>
                  <a:srgbClr val="101820"/>
                </a:solidFill>
                <a:latin typeface="Helvetica Neue"/>
                <a:ea typeface="Helvetica Neue"/>
                <a:cs typeface="Helvetica Neue"/>
              </a:defRPr>
            </a:pPr>
            <a:r>
              <a:rPr sz="3150" b="1">
                <a:solidFill>
                  <a:srgbClr val="101820"/>
                </a:solidFill>
                <a:latin typeface="Helvetica Neue"/>
                <a:ea typeface="Helvetica Neue"/>
                <a:cs typeface="Helvetica Neue"/>
              </a:rPr>
              <a:t>What Solana changes</a:t>
            </a:r>
          </a:p>
        </p:txBody>
      </p:sp>
      <p:sp>
        <p:nvSpPr>
          <p:cNvPr id="5" name="">
            <a:extLst xmlns:a="http://schemas.openxmlformats.org/drawingml/2006/main">
              <a:ext uri="{FF2B5EF4-FFF2-40B4-BE49-F238E27FC236}">
                <a16:creationId xmlns:a16="http://schemas.microsoft.com/office/drawing/2014/main" id="{C384D27B-610C-49B9-A6D3-B17FB59190FC}"/>
              </a:ext>
            </a:extLst>
          </p:cNvPr>
          <p:cNvSpPr>
            <a:spLocks xmlns:a="http://schemas.openxmlformats.org/drawingml/2006/main" noGrp="1"/>
          </p:cNvSpPr>
          <p:nvPr/>
        </p:nvSpPr>
        <p:spPr>
          <a:xfrm xmlns:a="http://schemas.openxmlformats.org/drawingml/2006/main">
            <a:off x="11144250" y="552450"/>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defRPr sz="900" b="1">
                <a:solidFill>
                  <a:srgbClr val="53606B"/>
                </a:solidFill>
                <a:latin typeface="Helvetica Neue"/>
                <a:ea typeface="Helvetica Neue"/>
                <a:cs typeface="Helvetica Neue"/>
              </a:defRPr>
            </a:pPr>
            <a:r>
              <a:rPr sz="900" b="1">
                <a:solidFill>
                  <a:srgbClr val="53606B"/>
                </a:solidFill>
                <a:latin typeface="Helvetica Neue"/>
                <a:ea typeface="Helvetica Neue"/>
                <a:cs typeface="Helvetica Neue"/>
              </a:rPr>
              <a:t>06</a:t>
            </a:r>
          </a:p>
        </p:txBody>
      </p:sp>
      <p:sp>
        <p:nvSpPr>
          <p:cNvPr id="6" name="">
            <a:extLst xmlns:a="http://schemas.openxmlformats.org/drawingml/2006/main">
              <a:ext uri="{FF2B5EF4-FFF2-40B4-BE49-F238E27FC236}">
                <a16:creationId xmlns:a16="http://schemas.microsoft.com/office/drawing/2014/main" id="{DE2198D6-F592-4AB8-81E9-25B5B5D3899E}"/>
              </a:ext>
            </a:extLst>
          </p:cNvPr>
          <p:cNvSpPr>
            <a:spLocks xmlns:a="http://schemas.openxmlformats.org/drawingml/2006/main" noGrp="1"/>
          </p:cNvSpPr>
          <p:nvPr/>
        </p:nvSpPr>
        <p:spPr>
          <a:xfrm xmlns:a="http://schemas.openxmlformats.org/drawingml/2006/main">
            <a:off x="762000" y="1924050"/>
            <a:ext cx="476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200" b="1">
                <a:solidFill>
                  <a:srgbClr val="53606B"/>
                </a:solidFill>
                <a:latin typeface="Helvetica Neue"/>
                <a:ea typeface="Helvetica Neue"/>
                <a:cs typeface="Helvetica Neue"/>
              </a:defRPr>
            </a:pPr>
            <a:r>
              <a:rPr sz="1200" b="1">
                <a:solidFill>
                  <a:srgbClr val="53606B"/>
                </a:solidFill>
                <a:latin typeface="Helvetica Neue"/>
                <a:ea typeface="Helvetica Neue"/>
                <a:cs typeface="Helvetica Neue"/>
              </a:rPr>
              <a:t>01</a:t>
            </a:r>
          </a:p>
        </p:txBody>
      </p:sp>
      <p:sp>
        <p:nvSpPr>
          <p:cNvPr id="7" name="">
            <a:extLst xmlns:a="http://schemas.openxmlformats.org/drawingml/2006/main">
              <a:ext uri="{FF2B5EF4-FFF2-40B4-BE49-F238E27FC236}">
                <a16:creationId xmlns:a16="http://schemas.microsoft.com/office/drawing/2014/main" id="{3279CD69-F7DA-4536-A584-D6FBB4E12E48}"/>
              </a:ext>
            </a:extLst>
          </p:cNvPr>
          <p:cNvSpPr>
            <a:spLocks xmlns:a="http://schemas.openxmlformats.org/drawingml/2006/main" noGrp="1"/>
          </p:cNvSpPr>
          <p:nvPr/>
        </p:nvSpPr>
        <p:spPr>
          <a:xfrm xmlns:a="http://schemas.openxmlformats.org/drawingml/2006/main">
            <a:off x="1504950" y="1885950"/>
            <a:ext cx="285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2100" b="1">
                <a:solidFill>
                  <a:srgbClr val="2457F5"/>
                </a:solidFill>
                <a:latin typeface="Helvetica Neue"/>
                <a:ea typeface="Helvetica Neue"/>
                <a:cs typeface="Helvetica Neue"/>
              </a:defRPr>
            </a:pPr>
            <a:r>
              <a:rPr sz="2100" b="1">
                <a:solidFill>
                  <a:srgbClr val="2457F5"/>
                </a:solidFill>
                <a:latin typeface="Helvetica Neue"/>
                <a:ea typeface="Helvetica Neue"/>
                <a:cs typeface="Helvetica Neue"/>
              </a:rPr>
              <a:t>Locked collateral</a:t>
            </a:r>
          </a:p>
        </p:txBody>
      </p:sp>
      <p:sp>
        <p:nvSpPr>
          <p:cNvPr id="8" name="">
            <a:extLst xmlns:a="http://schemas.openxmlformats.org/drawingml/2006/main">
              <a:ext uri="{FF2B5EF4-FFF2-40B4-BE49-F238E27FC236}">
                <a16:creationId xmlns:a16="http://schemas.microsoft.com/office/drawing/2014/main" id="{9D2BE18C-659D-40C6-83F4-FA9F0C49D438}"/>
              </a:ext>
            </a:extLst>
          </p:cNvPr>
          <p:cNvSpPr>
            <a:spLocks xmlns:a="http://schemas.openxmlformats.org/drawingml/2006/main" noGrp="1"/>
          </p:cNvSpPr>
          <p:nvPr/>
        </p:nvSpPr>
        <p:spPr>
          <a:xfrm xmlns:a="http://schemas.openxmlformats.org/drawingml/2006/main">
            <a:off x="4838700" y="1924050"/>
            <a:ext cx="6191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500" b="0">
                <a:solidFill>
                  <a:srgbClr val="53606B"/>
                </a:solidFill>
                <a:latin typeface="Helvetica Neue"/>
                <a:ea typeface="Helvetica Neue"/>
                <a:cs typeface="Helvetica Neue"/>
              </a:defRPr>
            </a:pPr>
            <a:r>
              <a:rPr sz="1500" b="0">
                <a:solidFill>
                  <a:srgbClr val="53606B"/>
                </a:solidFill>
                <a:latin typeface="Helvetica Neue"/>
                <a:ea typeface="Helvetica Neue"/>
                <a:cs typeface="Helvetica Neue"/>
              </a:rPr>
              <a:t>The vault holds the assets backing both claims.</a:t>
            </a:r>
          </a:p>
        </p:txBody>
      </p:sp>
      <p:sp>
        <p:nvSpPr>
          <p:cNvPr id="9" name="">
            <a:extLst xmlns:a="http://schemas.openxmlformats.org/drawingml/2006/main">
              <a:ext uri="{FF2B5EF4-FFF2-40B4-BE49-F238E27FC236}">
                <a16:creationId xmlns:a16="http://schemas.microsoft.com/office/drawing/2014/main" id="{AA9F87EC-80ED-42EA-9739-70FE62E8BF8D}"/>
              </a:ext>
            </a:extLst>
          </p:cNvPr>
          <p:cNvSpPr>
            <a:spLocks xmlns:a="http://schemas.openxmlformats.org/drawingml/2006/main" noGrp="1"/>
          </p:cNvSpPr>
          <p:nvPr/>
        </p:nvSpPr>
        <p:spPr>
          <a:xfrm xmlns:a="http://schemas.openxmlformats.org/drawingml/2006/main">
            <a:off x="762000" y="2619375"/>
            <a:ext cx="10382250" cy="9525"/>
          </a:xfrm>
          <a:prstGeom xmlns:a="http://schemas.openxmlformats.org/drawingml/2006/main" prst="rect">
            <a:avLst/>
          </a:prstGeom>
          <a:solidFill xmlns:a="http://schemas.openxmlformats.org/drawingml/2006/main">
            <a:srgbClr val="D7D2C8"/>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EFDC32DA-4C55-40CE-840C-C082AFA694E6}"/>
              </a:ext>
            </a:extLst>
          </p:cNvPr>
          <p:cNvSpPr>
            <a:spLocks xmlns:a="http://schemas.openxmlformats.org/drawingml/2006/main" noGrp="1"/>
          </p:cNvSpPr>
          <p:nvPr/>
        </p:nvSpPr>
        <p:spPr>
          <a:xfrm xmlns:a="http://schemas.openxmlformats.org/drawingml/2006/main">
            <a:off x="762000" y="2990850"/>
            <a:ext cx="476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200" b="1">
                <a:solidFill>
                  <a:srgbClr val="53606B"/>
                </a:solidFill>
                <a:latin typeface="Helvetica Neue"/>
                <a:ea typeface="Helvetica Neue"/>
                <a:cs typeface="Helvetica Neue"/>
              </a:defRPr>
            </a:pPr>
            <a:r>
              <a:rPr sz="1200" b="1">
                <a:solidFill>
                  <a:srgbClr val="53606B"/>
                </a:solidFill>
                <a:latin typeface="Helvetica Neue"/>
                <a:ea typeface="Helvetica Neue"/>
                <a:cs typeface="Helvetica Neue"/>
              </a:rPr>
              <a:t>02</a:t>
            </a:r>
          </a:p>
        </p:txBody>
      </p:sp>
      <p:sp>
        <p:nvSpPr>
          <p:cNvPr id="11" name="">
            <a:extLst xmlns:a="http://schemas.openxmlformats.org/drawingml/2006/main">
              <a:ext uri="{FF2B5EF4-FFF2-40B4-BE49-F238E27FC236}">
                <a16:creationId xmlns:a16="http://schemas.microsoft.com/office/drawing/2014/main" id="{93A8624F-7E9A-48BA-8437-E42D8D698307}"/>
              </a:ext>
            </a:extLst>
          </p:cNvPr>
          <p:cNvSpPr>
            <a:spLocks xmlns:a="http://schemas.openxmlformats.org/drawingml/2006/main" noGrp="1"/>
          </p:cNvSpPr>
          <p:nvPr/>
        </p:nvSpPr>
        <p:spPr>
          <a:xfrm xmlns:a="http://schemas.openxmlformats.org/drawingml/2006/main">
            <a:off x="1504950" y="2952750"/>
            <a:ext cx="285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2100" b="1">
                <a:solidFill>
                  <a:srgbClr val="101820"/>
                </a:solidFill>
                <a:latin typeface="Helvetica Neue"/>
                <a:ea typeface="Helvetica Neue"/>
                <a:cs typeface="Helvetica Neue"/>
              </a:defRPr>
            </a:pPr>
            <a:r>
              <a:rPr sz="2100" b="1">
                <a:solidFill>
                  <a:srgbClr val="101820"/>
                </a:solidFill>
                <a:latin typeface="Helvetica Neue"/>
                <a:ea typeface="Helvetica Neue"/>
                <a:cs typeface="Helvetica Neue"/>
              </a:rPr>
              <a:t>Atomic issuance</a:t>
            </a:r>
          </a:p>
        </p:txBody>
      </p:sp>
      <p:sp>
        <p:nvSpPr>
          <p:cNvPr id="12" name="">
            <a:extLst xmlns:a="http://schemas.openxmlformats.org/drawingml/2006/main">
              <a:ext uri="{FF2B5EF4-FFF2-40B4-BE49-F238E27FC236}">
                <a16:creationId xmlns:a16="http://schemas.microsoft.com/office/drawing/2014/main" id="{D99E444F-ABFB-4380-AA1B-B39510F4515A}"/>
              </a:ext>
            </a:extLst>
          </p:cNvPr>
          <p:cNvSpPr>
            <a:spLocks xmlns:a="http://schemas.openxmlformats.org/drawingml/2006/main" noGrp="1"/>
          </p:cNvSpPr>
          <p:nvPr/>
        </p:nvSpPr>
        <p:spPr>
          <a:xfrm xmlns:a="http://schemas.openxmlformats.org/drawingml/2006/main">
            <a:off x="4838700" y="2990850"/>
            <a:ext cx="6191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500" b="0">
                <a:solidFill>
                  <a:srgbClr val="53606B"/>
                </a:solidFill>
                <a:latin typeface="Helvetica Neue"/>
                <a:ea typeface="Helvetica Neue"/>
                <a:cs typeface="Helvetica Neue"/>
              </a:defRPr>
            </a:pPr>
            <a:r>
              <a:rPr sz="1500" b="0">
                <a:solidFill>
                  <a:srgbClr val="53606B"/>
                </a:solidFill>
                <a:latin typeface="Helvetica Neue"/>
                <a:ea typeface="Helvetica Neue"/>
                <a:cs typeface="Helvetica Neue"/>
              </a:rPr>
              <a:t>One deposit creates the paired claims together.</a:t>
            </a:r>
          </a:p>
        </p:txBody>
      </p:sp>
      <p:sp>
        <p:nvSpPr>
          <p:cNvPr id="13" name="">
            <a:extLst xmlns:a="http://schemas.openxmlformats.org/drawingml/2006/main">
              <a:ext uri="{FF2B5EF4-FFF2-40B4-BE49-F238E27FC236}">
                <a16:creationId xmlns:a16="http://schemas.microsoft.com/office/drawing/2014/main" id="{E14528C7-5FA2-4D80-B8FC-1DB429BAD6F2}"/>
              </a:ext>
            </a:extLst>
          </p:cNvPr>
          <p:cNvSpPr>
            <a:spLocks xmlns:a="http://schemas.openxmlformats.org/drawingml/2006/main" noGrp="1"/>
          </p:cNvSpPr>
          <p:nvPr/>
        </p:nvSpPr>
        <p:spPr>
          <a:xfrm xmlns:a="http://schemas.openxmlformats.org/drawingml/2006/main">
            <a:off x="762000" y="3686175"/>
            <a:ext cx="10382250" cy="9525"/>
          </a:xfrm>
          <a:prstGeom xmlns:a="http://schemas.openxmlformats.org/drawingml/2006/main" prst="rect">
            <a:avLst/>
          </a:prstGeom>
          <a:solidFill xmlns:a="http://schemas.openxmlformats.org/drawingml/2006/main">
            <a:srgbClr val="D7D2C8"/>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275FB729-C9D1-4C9E-AB1F-B05DD8CDD049}"/>
              </a:ext>
            </a:extLst>
          </p:cNvPr>
          <p:cNvSpPr>
            <a:spLocks xmlns:a="http://schemas.openxmlformats.org/drawingml/2006/main" noGrp="1"/>
          </p:cNvSpPr>
          <p:nvPr/>
        </p:nvSpPr>
        <p:spPr>
          <a:xfrm xmlns:a="http://schemas.openxmlformats.org/drawingml/2006/main">
            <a:off x="762000" y="4057650"/>
            <a:ext cx="476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200" b="1">
                <a:solidFill>
                  <a:srgbClr val="53606B"/>
                </a:solidFill>
                <a:latin typeface="Helvetica Neue"/>
                <a:ea typeface="Helvetica Neue"/>
                <a:cs typeface="Helvetica Neue"/>
              </a:defRPr>
            </a:pPr>
            <a:r>
              <a:rPr sz="1200" b="1">
                <a:solidFill>
                  <a:srgbClr val="53606B"/>
                </a:solidFill>
                <a:latin typeface="Helvetica Neue"/>
                <a:ea typeface="Helvetica Neue"/>
                <a:cs typeface="Helvetica Neue"/>
              </a:rPr>
              <a:t>03</a:t>
            </a:r>
          </a:p>
        </p:txBody>
      </p:sp>
      <p:sp>
        <p:nvSpPr>
          <p:cNvPr id="15" name="">
            <a:extLst xmlns:a="http://schemas.openxmlformats.org/drawingml/2006/main">
              <a:ext uri="{FF2B5EF4-FFF2-40B4-BE49-F238E27FC236}">
                <a16:creationId xmlns:a16="http://schemas.microsoft.com/office/drawing/2014/main" id="{915C6C4B-073C-44F3-BF0D-E14EC65B48D7}"/>
              </a:ext>
            </a:extLst>
          </p:cNvPr>
          <p:cNvSpPr>
            <a:spLocks xmlns:a="http://schemas.openxmlformats.org/drawingml/2006/main" noGrp="1"/>
          </p:cNvSpPr>
          <p:nvPr/>
        </p:nvSpPr>
        <p:spPr>
          <a:xfrm xmlns:a="http://schemas.openxmlformats.org/drawingml/2006/main">
            <a:off x="1504950" y="4019550"/>
            <a:ext cx="285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2100" b="1">
                <a:solidFill>
                  <a:srgbClr val="C46A00"/>
                </a:solidFill>
                <a:latin typeface="Helvetica Neue"/>
                <a:ea typeface="Helvetica Neue"/>
                <a:cs typeface="Helvetica Neue"/>
              </a:defRPr>
            </a:pPr>
            <a:r>
              <a:rPr sz="2100" b="1">
                <a:solidFill>
                  <a:srgbClr val="C46A00"/>
                </a:solidFill>
                <a:latin typeface="Helvetica Neue"/>
                <a:ea typeface="Helvetica Neue"/>
                <a:cs typeface="Helvetica Neue"/>
              </a:rPr>
              <a:t>Separate ownership</a:t>
            </a:r>
          </a:p>
        </p:txBody>
      </p:sp>
      <p:sp>
        <p:nvSpPr>
          <p:cNvPr id="16" name="">
            <a:extLst xmlns:a="http://schemas.openxmlformats.org/drawingml/2006/main">
              <a:ext uri="{FF2B5EF4-FFF2-40B4-BE49-F238E27FC236}">
                <a16:creationId xmlns:a16="http://schemas.microsoft.com/office/drawing/2014/main" id="{5908D4DD-E056-4D9B-AFE0-93B9BE671106}"/>
              </a:ext>
            </a:extLst>
          </p:cNvPr>
          <p:cNvSpPr>
            <a:spLocks xmlns:a="http://schemas.openxmlformats.org/drawingml/2006/main" noGrp="1"/>
          </p:cNvSpPr>
          <p:nvPr/>
        </p:nvSpPr>
        <p:spPr>
          <a:xfrm xmlns:a="http://schemas.openxmlformats.org/drawingml/2006/main">
            <a:off x="4838700" y="4057650"/>
            <a:ext cx="6191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500" b="0">
                <a:solidFill>
                  <a:srgbClr val="53606B"/>
                </a:solidFill>
                <a:latin typeface="Helvetica Neue"/>
                <a:ea typeface="Helvetica Neue"/>
                <a:cs typeface="Helvetica Neue"/>
              </a:defRPr>
            </a:pPr>
            <a:r>
              <a:rPr sz="1500" b="0">
                <a:solidFill>
                  <a:srgbClr val="53606B"/>
                </a:solidFill>
                <a:latin typeface="Helvetica Neue"/>
                <a:ea typeface="Helvetica Neue"/>
                <a:cs typeface="Helvetica Neue"/>
              </a:rPr>
              <a:t>Each holder can transfer and redeem under the program’s rules.</a:t>
            </a:r>
          </a:p>
        </p:txBody>
      </p:sp>
      <p:sp>
        <p:nvSpPr>
          <p:cNvPr id="17" name="">
            <a:extLst xmlns:a="http://schemas.openxmlformats.org/drawingml/2006/main">
              <a:ext uri="{FF2B5EF4-FFF2-40B4-BE49-F238E27FC236}">
                <a16:creationId xmlns:a16="http://schemas.microsoft.com/office/drawing/2014/main" id="{308A933D-7712-4F8D-BFF2-B8F6F54E34B3}"/>
              </a:ext>
            </a:extLst>
          </p:cNvPr>
          <p:cNvSpPr>
            <a:spLocks xmlns:a="http://schemas.openxmlformats.org/drawingml/2006/main" noGrp="1"/>
          </p:cNvSpPr>
          <p:nvPr/>
        </p:nvSpPr>
        <p:spPr>
          <a:xfrm xmlns:a="http://schemas.openxmlformats.org/drawingml/2006/main">
            <a:off x="762000" y="4752975"/>
            <a:ext cx="10382250" cy="9525"/>
          </a:xfrm>
          <a:prstGeom xmlns:a="http://schemas.openxmlformats.org/drawingml/2006/main" prst="rect">
            <a:avLst/>
          </a:prstGeom>
          <a:solidFill xmlns:a="http://schemas.openxmlformats.org/drawingml/2006/main">
            <a:srgbClr val="D7D2C8"/>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9C1151CA-B9AE-4D46-8676-330ADA8DF9B4}"/>
              </a:ext>
            </a:extLst>
          </p:cNvPr>
          <p:cNvSpPr>
            <a:spLocks xmlns:a="http://schemas.openxmlformats.org/drawingml/2006/main" noGrp="1"/>
          </p:cNvSpPr>
          <p:nvPr/>
        </p:nvSpPr>
        <p:spPr>
          <a:xfrm xmlns:a="http://schemas.openxmlformats.org/drawingml/2006/main">
            <a:off x="1504950" y="5334000"/>
            <a:ext cx="8477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950" b="1">
                <a:solidFill>
                  <a:srgbClr val="101820"/>
                </a:solidFill>
                <a:latin typeface="Helvetica Neue"/>
                <a:ea typeface="Helvetica Neue"/>
                <a:cs typeface="Helvetica Neue"/>
              </a:defRPr>
            </a:pPr>
            <a:r>
              <a:rPr sz="1950" b="1">
                <a:solidFill>
                  <a:srgbClr val="101820"/>
                </a:solidFill>
                <a:latin typeface="Helvetica Neue"/>
                <a:ea typeface="Helvetica Neue"/>
                <a:cs typeface="Helvetica Neue"/>
              </a:rPr>
              <a:t>One program coordinates both claims.</a:t>
            </a:r>
          </a:p>
        </p:txBody>
      </p:sp>
    </p:spTree>
    <p:extLst>
      <p:ext uri="{BB962C8B-B14F-4D97-AF65-F5344CB8AC3E}">
        <p14:creationId xmlns:p14="http://schemas.microsoft.com/office/powerpoint/2010/main" val="1285266071"/>
      </p:ext>
    </p:extLst>
  </p:cSld>
</p:sld>
</file>

<file path=ppt/slides/slide7.xml><?xml version="1.0" encoding="utf-8"?>
<p:sld xmlns:p="http://schemas.openxmlformats.org/presentationml/2006/main">
  <p:cSld>
    <p:bg>
      <p:bgPr>
        <a:solidFill xmlns:a="http://schemas.openxmlformats.org/drawingml/2006/main">
          <a:srgbClr val="F6F3EC"/>
        </a:solidFill>
      </p:bgPr>
    </p:bg>
    <p:spTree>
      <p:nvGrpSpPr>
        <p:cNvPr id="1" name=""/>
        <p:cNvGrpSpPr/>
        <p:nvPr/>
      </p:nvGrpSpPr>
      <p:grpSpPr>
        <a:xfrm xmlns:a="http://schemas.openxmlformats.org/drawingml/2006/main"/>
      </p:grpSpPr>
      <p:sp>
        <p:nvSpPr>
          <p:cNvPr id="29" name="">
            <a:extLst xmlns:a="http://schemas.openxmlformats.org/drawingml/2006/main">
              <a:ext uri="{FF2B5EF4-FFF2-40B4-BE49-F238E27FC236}">
                <a16:creationId xmlns:a16="http://schemas.microsoft.com/office/drawing/2014/main" id="{44F41632-C431-464A-B8C4-40E928520040}"/>
              </a:ext>
            </a:extLst>
          </p:cNvPr>
          <p:cNvSpPr>
            <a:spLocks xmlns:a="http://schemas.openxmlformats.org/drawingml/2006/main" noGrp="1"/>
          </p:cNvSpPr>
          <p:nvPr/>
        </p:nvSpPr>
        <p:spPr>
          <a:xfrm xmlns:a="http://schemas.openxmlformats.org/drawingml/2006/main" rot="2700000">
            <a:off x="704850" y="514350"/>
            <a:ext cx="123444" cy="123444"/>
          </a:xfrm>
          <a:prstGeom xmlns:a="http://schemas.openxmlformats.org/drawingml/2006/main" prst="rect">
            <a:avLst/>
          </a:prstGeom>
          <a:solidFill xmlns:a="http://schemas.openxmlformats.org/drawingml/2006/main">
            <a:srgbClr val="2457F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FE0071C0-B60F-48C5-823C-E7025E7CA115}"/>
              </a:ext>
            </a:extLst>
          </p:cNvPr>
          <p:cNvSpPr>
            <a:spLocks xmlns:a="http://schemas.openxmlformats.org/drawingml/2006/main" noGrp="1"/>
          </p:cNvSpPr>
          <p:nvPr/>
        </p:nvSpPr>
        <p:spPr>
          <a:xfrm xmlns:a="http://schemas.openxmlformats.org/drawingml/2006/main" rot="2700000">
            <a:off x="807720" y="617220"/>
            <a:ext cx="123444" cy="123444"/>
          </a:xfrm>
          <a:prstGeom xmlns:a="http://schemas.openxmlformats.org/drawingml/2006/main" prst="rect">
            <a:avLst/>
          </a:prstGeom>
          <a:solidFill xmlns:a="http://schemas.openxmlformats.org/drawingml/2006/main">
            <a:srgbClr val="C46A00"/>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DF34E330-A319-4133-B226-9EDAB34AB696}"/>
              </a:ext>
            </a:extLst>
          </p:cNvPr>
          <p:cNvSpPr>
            <a:spLocks xmlns:a="http://schemas.openxmlformats.org/drawingml/2006/main" noGrp="1"/>
          </p:cNvSpPr>
          <p:nvPr/>
        </p:nvSpPr>
        <p:spPr>
          <a:xfrm xmlns:a="http://schemas.openxmlformats.org/drawingml/2006/main">
            <a:off x="972312" y="507492"/>
            <a:ext cx="1165860" cy="2057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080" b="1">
                <a:solidFill>
                  <a:srgbClr val="101820"/>
                </a:solidFill>
                <a:latin typeface="Helvetica Neue"/>
                <a:ea typeface="Helvetica Neue"/>
                <a:cs typeface="Helvetica Neue"/>
              </a:defRPr>
            </a:pPr>
            <a:r>
              <a:rPr sz="1080" b="1">
                <a:solidFill>
                  <a:srgbClr val="101820"/>
                </a:solidFill>
                <a:latin typeface="Helvetica Neue"/>
                <a:ea typeface="Helvetica Neue"/>
                <a:cs typeface="Helvetica Neue"/>
              </a:rPr>
              <a:t>DivX</a:t>
            </a:r>
          </a:p>
        </p:txBody>
      </p:sp>
      <p:sp>
        <p:nvSpPr>
          <p:cNvPr id="4" name="">
            <a:extLst xmlns:a="http://schemas.openxmlformats.org/drawingml/2006/main">
              <a:ext uri="{FF2B5EF4-FFF2-40B4-BE49-F238E27FC236}">
                <a16:creationId xmlns:a16="http://schemas.microsoft.com/office/drawing/2014/main" id="{BB4C5152-53C0-4DBB-9273-E565AFE914DF}"/>
              </a:ext>
            </a:extLst>
          </p:cNvPr>
          <p:cNvSpPr>
            <a:spLocks xmlns:a="http://schemas.openxmlformats.org/drawingml/2006/main" noGrp="1"/>
          </p:cNvSpPr>
          <p:nvPr/>
        </p:nvSpPr>
        <p:spPr>
          <a:xfrm xmlns:a="http://schemas.openxmlformats.org/drawingml/2006/main">
            <a:off x="704850" y="933450"/>
            <a:ext cx="10572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8000"/>
              </a:lnSpc>
              <a:buNone/>
              <a:defRPr sz="3150" b="1">
                <a:solidFill>
                  <a:srgbClr val="101820"/>
                </a:solidFill>
                <a:latin typeface="Helvetica Neue"/>
                <a:ea typeface="Helvetica Neue"/>
                <a:cs typeface="Helvetica Neue"/>
              </a:defRPr>
            </a:pPr>
            <a:r>
              <a:rPr sz="3150" b="1">
                <a:solidFill>
                  <a:srgbClr val="101820"/>
                </a:solidFill>
                <a:latin typeface="Helvetica Neue"/>
                <a:ea typeface="Helvetica Neue"/>
                <a:cs typeface="Helvetica Neue"/>
              </a:rPr>
              <a:t>Fractional ownership and auditability</a:t>
            </a:r>
          </a:p>
        </p:txBody>
      </p:sp>
      <p:sp>
        <p:nvSpPr>
          <p:cNvPr id="5" name="">
            <a:extLst xmlns:a="http://schemas.openxmlformats.org/drawingml/2006/main">
              <a:ext uri="{FF2B5EF4-FFF2-40B4-BE49-F238E27FC236}">
                <a16:creationId xmlns:a16="http://schemas.microsoft.com/office/drawing/2014/main" id="{F4C0E423-0B54-45C1-8B7E-377A09D5A8D2}"/>
              </a:ext>
            </a:extLst>
          </p:cNvPr>
          <p:cNvSpPr>
            <a:spLocks xmlns:a="http://schemas.openxmlformats.org/drawingml/2006/main" noGrp="1"/>
          </p:cNvSpPr>
          <p:nvPr/>
        </p:nvSpPr>
        <p:spPr>
          <a:xfrm xmlns:a="http://schemas.openxmlformats.org/drawingml/2006/main">
            <a:off x="11144250" y="552450"/>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defRPr sz="900" b="1">
                <a:solidFill>
                  <a:srgbClr val="53606B"/>
                </a:solidFill>
                <a:latin typeface="Helvetica Neue"/>
                <a:ea typeface="Helvetica Neue"/>
                <a:cs typeface="Helvetica Neue"/>
              </a:defRPr>
            </a:pPr>
            <a:r>
              <a:rPr sz="900" b="1">
                <a:solidFill>
                  <a:srgbClr val="53606B"/>
                </a:solidFill>
                <a:latin typeface="Helvetica Neue"/>
                <a:ea typeface="Helvetica Neue"/>
                <a:cs typeface="Helvetica Neue"/>
              </a:rPr>
              <a:t>07</a:t>
            </a:r>
          </a:p>
        </p:txBody>
      </p:sp>
      <p:sp>
        <p:nvSpPr>
          <p:cNvPr id="6" name="">
            <a:extLst xmlns:a="http://schemas.openxmlformats.org/drawingml/2006/main">
              <a:ext uri="{FF2B5EF4-FFF2-40B4-BE49-F238E27FC236}">
                <a16:creationId xmlns:a16="http://schemas.microsoft.com/office/drawing/2014/main" id="{CD6DC8DD-9757-4F4E-B90A-89A6C5DF246C}"/>
              </a:ext>
            </a:extLst>
          </p:cNvPr>
          <p:cNvSpPr>
            <a:spLocks xmlns:a="http://schemas.openxmlformats.org/drawingml/2006/main" noGrp="1"/>
          </p:cNvSpPr>
          <p:nvPr/>
        </p:nvSpPr>
        <p:spPr>
          <a:xfrm xmlns:a="http://schemas.openxmlformats.org/drawingml/2006/main">
            <a:off x="762000" y="1885950"/>
            <a:ext cx="4476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00" b="1">
                <a:solidFill>
                  <a:srgbClr val="7A4000"/>
                </a:solidFill>
                <a:latin typeface="Helvetica Neue"/>
                <a:ea typeface="Helvetica Neue"/>
                <a:cs typeface="Helvetica Neue"/>
              </a:defRPr>
            </a:pPr>
            <a:r>
              <a:rPr sz="900" b="1">
                <a:solidFill>
                  <a:srgbClr val="7A4000"/>
                </a:solidFill>
                <a:latin typeface="Helvetica Neue"/>
                <a:ea typeface="Helvetica Neue"/>
                <a:cs typeface="Helvetica Neue"/>
              </a:rPr>
              <a:t>FRACTIONAL OWNERSHIP</a:t>
            </a:r>
          </a:p>
        </p:txBody>
      </p:sp>
      <p:sp>
        <p:nvSpPr>
          <p:cNvPr id="7" name="">
            <a:extLst xmlns:a="http://schemas.openxmlformats.org/drawingml/2006/main">
              <a:ext uri="{FF2B5EF4-FFF2-40B4-BE49-F238E27FC236}">
                <a16:creationId xmlns:a16="http://schemas.microsoft.com/office/drawing/2014/main" id="{5056EB4F-316D-4B20-9EF6-B06471A56703}"/>
              </a:ext>
            </a:extLst>
          </p:cNvPr>
          <p:cNvSpPr>
            <a:spLocks xmlns:a="http://schemas.openxmlformats.org/drawingml/2006/main" noGrp="1"/>
          </p:cNvSpPr>
          <p:nvPr/>
        </p:nvSpPr>
        <p:spPr>
          <a:xfrm xmlns:a="http://schemas.openxmlformats.org/drawingml/2006/main">
            <a:off x="762000" y="2228850"/>
            <a:ext cx="4572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2325" b="1">
                <a:solidFill>
                  <a:srgbClr val="101820"/>
                </a:solidFill>
                <a:latin typeface="Helvetica Neue"/>
                <a:ea typeface="Helvetica Neue"/>
                <a:cs typeface="Helvetica Neue"/>
              </a:defRPr>
            </a:pPr>
            <a:r>
              <a:rPr sz="2325" b="1">
                <a:solidFill>
                  <a:srgbClr val="101820"/>
                </a:solidFill>
                <a:latin typeface="Helvetica Neue"/>
                <a:ea typeface="Helvetica Neue"/>
                <a:cs typeface="Helvetica Neue"/>
              </a:rPr>
              <a:t>Buy or sell part of a dividend claim.</a:t>
            </a:r>
          </a:p>
        </p:txBody>
      </p:sp>
      <p:sp>
        <p:nvSpPr>
          <p:cNvPr id="8" name="Dividend claim">
            <a:extLst xmlns:a="http://schemas.openxmlformats.org/drawingml/2006/main">
              <a:ext uri="{FF2B5EF4-FFF2-40B4-BE49-F238E27FC236}">
                <a16:creationId xmlns:a16="http://schemas.microsoft.com/office/drawing/2014/main" id="{55619A0F-1E26-4A5D-BD92-B60CCE728148}"/>
              </a:ext>
            </a:extLst>
          </p:cNvPr>
          <p:cNvSpPr>
            <a:spLocks xmlns:a="http://schemas.openxmlformats.org/drawingml/2006/main" noGrp="1"/>
          </p:cNvSpPr>
          <p:nvPr/>
        </p:nvSpPr>
        <p:spPr>
          <a:xfrm xmlns:a="http://schemas.openxmlformats.org/drawingml/2006/main">
            <a:off x="762000" y="3276600"/>
            <a:ext cx="4381500" cy="457200"/>
          </a:xfrm>
          <a:prstGeom xmlns:a="http://schemas.openxmlformats.org/drawingml/2006/main" prst="roundRect">
            <a:avLst>
              <a:gd name="adj" fmla="val 20833"/>
            </a:avLst>
          </a:prstGeom>
          <a:solidFill xmlns:a="http://schemas.openxmlformats.org/drawingml/2006/main">
            <a:srgbClr val="F8E8D4"/>
          </a:solidFill>
          <a:ln xmlns:a="http://schemas.openxmlformats.org/drawingml/2006/main" w="9525">
            <a:solidFill>
              <a:srgbClr val="C46A00"/>
            </a:solidFill>
            <a:prstDash val="solid"/>
          </a:ln>
        </p:spPr>
      </p:sp>
      <p:sp>
        <p:nvSpPr>
          <p:cNvPr id="9" name="">
            <a:extLst xmlns:a="http://schemas.openxmlformats.org/drawingml/2006/main">
              <a:ext uri="{FF2B5EF4-FFF2-40B4-BE49-F238E27FC236}">
                <a16:creationId xmlns:a16="http://schemas.microsoft.com/office/drawing/2014/main" id="{DC5EF20C-501D-4844-A772-9367C61F4E9B}"/>
              </a:ext>
            </a:extLst>
          </p:cNvPr>
          <p:cNvSpPr>
            <a:spLocks xmlns:a="http://schemas.openxmlformats.org/drawingml/2006/main" noGrp="1"/>
          </p:cNvSpPr>
          <p:nvPr/>
        </p:nvSpPr>
        <p:spPr>
          <a:xfrm xmlns:a="http://schemas.openxmlformats.org/drawingml/2006/main">
            <a:off x="933450" y="3409950"/>
            <a:ext cx="40386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4000"/>
              </a:lnSpc>
              <a:buNone/>
              <a:defRPr sz="1050" b="1">
                <a:solidFill>
                  <a:srgbClr val="7A4000"/>
                </a:solidFill>
                <a:latin typeface="Helvetica Neue"/>
                <a:ea typeface="Helvetica Neue"/>
                <a:cs typeface="Helvetica Neue"/>
              </a:defRPr>
            </a:pPr>
            <a:r>
              <a:rPr sz="1050" b="1">
                <a:solidFill>
                  <a:srgbClr val="7A4000"/>
                </a:solidFill>
                <a:latin typeface="Helvetica Neue"/>
                <a:ea typeface="Helvetica Neue"/>
                <a:cs typeface="Helvetica Neue"/>
              </a:rPr>
              <a:t>DIVIDEND CLAIM</a:t>
            </a:r>
          </a:p>
        </p:txBody>
      </p:sp>
      <p:sp>
        <p:nvSpPr>
          <p:cNvPr id="10" name="Holder part">
            <a:extLst xmlns:a="http://schemas.openxmlformats.org/drawingml/2006/main">
              <a:ext uri="{FF2B5EF4-FFF2-40B4-BE49-F238E27FC236}">
                <a16:creationId xmlns:a16="http://schemas.microsoft.com/office/drawing/2014/main" id="{8361423E-EA5B-4C22-A2CE-EA4333F14C11}"/>
              </a:ext>
            </a:extLst>
          </p:cNvPr>
          <p:cNvSpPr>
            <a:spLocks xmlns:a="http://schemas.openxmlformats.org/drawingml/2006/main" noGrp="1"/>
          </p:cNvSpPr>
          <p:nvPr/>
        </p:nvSpPr>
        <p:spPr>
          <a:xfrm xmlns:a="http://schemas.openxmlformats.org/drawingml/2006/main">
            <a:off x="762000" y="4019550"/>
            <a:ext cx="1476375" cy="628650"/>
          </a:xfrm>
          <a:prstGeom xmlns:a="http://schemas.openxmlformats.org/drawingml/2006/main" prst="roundRect">
            <a:avLst>
              <a:gd name="adj" fmla="val 15152"/>
            </a:avLst>
          </a:prstGeom>
          <a:solidFill xmlns:a="http://schemas.openxmlformats.org/drawingml/2006/main">
            <a:srgbClr val="FFFEFB"/>
          </a:solidFill>
          <a:ln xmlns:a="http://schemas.openxmlformats.org/drawingml/2006/main" w="9525">
            <a:solidFill>
              <a:srgbClr val="C46A00"/>
            </a:solidFill>
            <a:prstDash val="solid"/>
          </a:ln>
        </p:spPr>
      </p:sp>
      <p:sp>
        <p:nvSpPr>
          <p:cNvPr id="11" name="">
            <a:extLst xmlns:a="http://schemas.openxmlformats.org/drawingml/2006/main">
              <a:ext uri="{FF2B5EF4-FFF2-40B4-BE49-F238E27FC236}">
                <a16:creationId xmlns:a16="http://schemas.microsoft.com/office/drawing/2014/main" id="{A8F7367D-90AA-4C5B-8682-D74C392A52DE}"/>
              </a:ext>
            </a:extLst>
          </p:cNvPr>
          <p:cNvSpPr>
            <a:spLocks xmlns:a="http://schemas.openxmlformats.org/drawingml/2006/main" noGrp="1"/>
          </p:cNvSpPr>
          <p:nvPr/>
        </p:nvSpPr>
        <p:spPr>
          <a:xfrm xmlns:a="http://schemas.openxmlformats.org/drawingml/2006/main">
            <a:off x="914400" y="4210050"/>
            <a:ext cx="117157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4000"/>
              </a:lnSpc>
              <a:buNone/>
              <a:defRPr sz="1200" b="1">
                <a:solidFill>
                  <a:srgbClr val="7A4000"/>
                </a:solidFill>
                <a:latin typeface="Helvetica Neue"/>
                <a:ea typeface="Helvetica Neue"/>
                <a:cs typeface="Helvetica Neue"/>
              </a:defRPr>
            </a:pPr>
            <a:r>
              <a:rPr sz="1200" b="1">
                <a:solidFill>
                  <a:srgbClr val="7A4000"/>
                </a:solidFill>
                <a:latin typeface="Helvetica Neue"/>
                <a:ea typeface="Helvetica Neue"/>
                <a:cs typeface="Helvetica Neue"/>
              </a:rPr>
              <a:t>holder keeps</a:t>
            </a:r>
          </a:p>
        </p:txBody>
      </p:sp>
      <p:sp>
        <p:nvSpPr>
          <p:cNvPr id="12" name="Buyer part">
            <a:extLst xmlns:a="http://schemas.openxmlformats.org/drawingml/2006/main">
              <a:ext uri="{FF2B5EF4-FFF2-40B4-BE49-F238E27FC236}">
                <a16:creationId xmlns:a16="http://schemas.microsoft.com/office/drawing/2014/main" id="{E8C0E0F7-7D3C-4001-9034-51A1413DC629}"/>
              </a:ext>
            </a:extLst>
          </p:cNvPr>
          <p:cNvSpPr>
            <a:spLocks xmlns:a="http://schemas.openxmlformats.org/drawingml/2006/main" noGrp="1"/>
          </p:cNvSpPr>
          <p:nvPr/>
        </p:nvSpPr>
        <p:spPr>
          <a:xfrm xmlns:a="http://schemas.openxmlformats.org/drawingml/2006/main">
            <a:off x="2505075" y="4019550"/>
            <a:ext cx="2638425" cy="628650"/>
          </a:xfrm>
          <a:prstGeom xmlns:a="http://schemas.openxmlformats.org/drawingml/2006/main" prst="roundRect">
            <a:avLst>
              <a:gd name="adj" fmla="val 15152"/>
            </a:avLst>
          </a:prstGeom>
          <a:solidFill xmlns:a="http://schemas.openxmlformats.org/drawingml/2006/main">
            <a:srgbClr val="F8E8D4"/>
          </a:solidFill>
          <a:ln xmlns:a="http://schemas.openxmlformats.org/drawingml/2006/main" w="9525">
            <a:solidFill>
              <a:srgbClr val="C46A00"/>
            </a:solidFill>
            <a:prstDash val="solid"/>
          </a:ln>
        </p:spPr>
      </p:sp>
      <p:sp>
        <p:nvSpPr>
          <p:cNvPr id="13" name="">
            <a:extLst xmlns:a="http://schemas.openxmlformats.org/drawingml/2006/main">
              <a:ext uri="{FF2B5EF4-FFF2-40B4-BE49-F238E27FC236}">
                <a16:creationId xmlns:a16="http://schemas.microsoft.com/office/drawing/2014/main" id="{BFCEF281-2578-46DC-82BE-1918AB74DC16}"/>
              </a:ext>
            </a:extLst>
          </p:cNvPr>
          <p:cNvSpPr>
            <a:spLocks xmlns:a="http://schemas.openxmlformats.org/drawingml/2006/main" noGrp="1"/>
          </p:cNvSpPr>
          <p:nvPr/>
        </p:nvSpPr>
        <p:spPr>
          <a:xfrm xmlns:a="http://schemas.openxmlformats.org/drawingml/2006/main">
            <a:off x="2676525" y="4210050"/>
            <a:ext cx="22955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4000"/>
              </a:lnSpc>
              <a:buNone/>
              <a:defRPr sz="1200" b="1">
                <a:solidFill>
                  <a:srgbClr val="7A4000"/>
                </a:solidFill>
                <a:latin typeface="Helvetica Neue"/>
                <a:ea typeface="Helvetica Neue"/>
                <a:cs typeface="Helvetica Neue"/>
              </a:defRPr>
            </a:pPr>
            <a:r>
              <a:rPr sz="1200" b="1">
                <a:solidFill>
                  <a:srgbClr val="7A4000"/>
                </a:solidFill>
                <a:latin typeface="Helvetica Neue"/>
                <a:ea typeface="Helvetica Neue"/>
                <a:cs typeface="Helvetica Neue"/>
              </a:rPr>
              <a:t>buyer takes part</a:t>
            </a:r>
          </a:p>
        </p:txBody>
      </p:sp>
      <p:cxnSp>
        <p:nvCxnSpPr>
          <p:cNvPr id="42" name=""/>
          <p:cNvCxnSpPr>
            <a:stCxn xmlns:a="http://schemas.openxmlformats.org/drawingml/2006/main" id="8" idx="2"/>
            <a:endCxn xmlns:a="http://schemas.openxmlformats.org/drawingml/2006/main" id="10" idx="0"/>
          </p:cNvCxnSpPr>
          <p:nvPr/>
        </p:nvCxnSpPr>
        <p:spPr>
          <a:xfrm xmlns:a="http://schemas.openxmlformats.org/drawingml/2006/main" flipH="1">
            <a:off x="1500188" y="3733800"/>
            <a:ext cx="1452563" cy="285750"/>
          </a:xfrm>
          <a:prstGeom xmlns:a="http://schemas.openxmlformats.org/drawingml/2006/main" prst="straightConnector1">
            <a:avLst/>
          </a:prstGeom>
          <a:ln xmlns:a="http://schemas.openxmlformats.org/drawingml/2006/main" w="19050">
            <a:solidFill>
              <a:srgbClr val="C46A00"/>
            </a:solidFill>
            <a:prstDash val="solid"/>
            <a:tailEnd type="triangle" w="sm" len="sm"/>
          </a:ln>
        </p:spPr>
      </p:cxnSp>
      <p:cxnSp>
        <p:nvCxnSpPr>
          <p:cNvPr id="43" name=""/>
          <p:cNvCxnSpPr>
            <a:stCxn xmlns:a="http://schemas.openxmlformats.org/drawingml/2006/main" id="8" idx="2"/>
            <a:endCxn xmlns:a="http://schemas.openxmlformats.org/drawingml/2006/main" id="12" idx="0"/>
          </p:cNvCxnSpPr>
          <p:nvPr/>
        </p:nvCxnSpPr>
        <p:spPr>
          <a:xfrm xmlns:a="http://schemas.openxmlformats.org/drawingml/2006/main">
            <a:off x="2952750" y="3733800"/>
            <a:ext cx="871538" cy="285750"/>
          </a:xfrm>
          <a:prstGeom xmlns:a="http://schemas.openxmlformats.org/drawingml/2006/main" prst="straightConnector1">
            <a:avLst/>
          </a:prstGeom>
          <a:ln xmlns:a="http://schemas.openxmlformats.org/drawingml/2006/main" w="19050">
            <a:solidFill>
              <a:srgbClr val="C46A00"/>
            </a:solidFill>
            <a:prstDash val="solid"/>
            <a:tailEnd type="triangle" w="sm" len="sm"/>
          </a:ln>
        </p:spPr>
      </p:cxnSp>
      <p:sp>
        <p:nvSpPr>
          <p:cNvPr id="16" name="">
            <a:extLst xmlns:a="http://schemas.openxmlformats.org/drawingml/2006/main">
              <a:ext uri="{FF2B5EF4-FFF2-40B4-BE49-F238E27FC236}">
                <a16:creationId xmlns:a16="http://schemas.microsoft.com/office/drawing/2014/main" id="{F618D85D-767C-4090-A685-4203AB68A0E8}"/>
              </a:ext>
            </a:extLst>
          </p:cNvPr>
          <p:cNvSpPr>
            <a:spLocks xmlns:a="http://schemas.openxmlformats.org/drawingml/2006/main" noGrp="1"/>
          </p:cNvSpPr>
          <p:nvPr/>
        </p:nvSpPr>
        <p:spPr>
          <a:xfrm xmlns:a="http://schemas.openxmlformats.org/drawingml/2006/main">
            <a:off x="5943600" y="1809750"/>
            <a:ext cx="9525" cy="3390900"/>
          </a:xfrm>
          <a:prstGeom xmlns:a="http://schemas.openxmlformats.org/drawingml/2006/main" prst="rect">
            <a:avLst/>
          </a:prstGeom>
          <a:solidFill xmlns:a="http://schemas.openxmlformats.org/drawingml/2006/main">
            <a:srgbClr val="D7D2C8"/>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A53D5954-71A1-491E-B938-396CAC930450}"/>
              </a:ext>
            </a:extLst>
          </p:cNvPr>
          <p:cNvSpPr>
            <a:spLocks xmlns:a="http://schemas.openxmlformats.org/drawingml/2006/main" noGrp="1"/>
          </p:cNvSpPr>
          <p:nvPr/>
        </p:nvSpPr>
        <p:spPr>
          <a:xfrm xmlns:a="http://schemas.openxmlformats.org/drawingml/2006/main">
            <a:off x="6572250" y="1885950"/>
            <a:ext cx="4381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00" b="1">
                <a:solidFill>
                  <a:srgbClr val="1639A6"/>
                </a:solidFill>
                <a:latin typeface="Helvetica Neue"/>
                <a:ea typeface="Helvetica Neue"/>
                <a:cs typeface="Helvetica Neue"/>
              </a:defRPr>
            </a:pPr>
            <a:r>
              <a:rPr sz="900" b="1">
                <a:solidFill>
                  <a:srgbClr val="1639A6"/>
                </a:solidFill>
                <a:latin typeface="Helvetica Neue"/>
                <a:ea typeface="Helvetica Neue"/>
                <a:cs typeface="Helvetica Neue"/>
              </a:rPr>
              <a:t>AUDITABILITY</a:t>
            </a:r>
          </a:p>
        </p:txBody>
      </p:sp>
      <p:sp>
        <p:nvSpPr>
          <p:cNvPr id="18" name="">
            <a:extLst xmlns:a="http://schemas.openxmlformats.org/drawingml/2006/main">
              <a:ext uri="{FF2B5EF4-FFF2-40B4-BE49-F238E27FC236}">
                <a16:creationId xmlns:a16="http://schemas.microsoft.com/office/drawing/2014/main" id="{2F0FB013-301C-4962-B531-550562C978AB}"/>
              </a:ext>
            </a:extLst>
          </p:cNvPr>
          <p:cNvSpPr>
            <a:spLocks xmlns:a="http://schemas.openxmlformats.org/drawingml/2006/main" noGrp="1"/>
          </p:cNvSpPr>
          <p:nvPr/>
        </p:nvSpPr>
        <p:spPr>
          <a:xfrm xmlns:a="http://schemas.openxmlformats.org/drawingml/2006/main">
            <a:off x="6572250" y="2228850"/>
            <a:ext cx="4572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2325" b="1">
                <a:solidFill>
                  <a:srgbClr val="101820"/>
                </a:solidFill>
                <a:latin typeface="Helvetica Neue"/>
                <a:ea typeface="Helvetica Neue"/>
                <a:cs typeface="Helvetica Neue"/>
              </a:defRPr>
            </a:pPr>
            <a:r>
              <a:rPr sz="2325" b="1">
                <a:solidFill>
                  <a:srgbClr val="101820"/>
                </a:solidFill>
                <a:latin typeface="Helvetica Neue"/>
                <a:ea typeface="Helvetica Neue"/>
                <a:cs typeface="Helvetica Neue"/>
              </a:rPr>
              <a:t>Inspect the onchain record.</a:t>
            </a:r>
          </a:p>
        </p:txBody>
      </p:sp>
      <p:sp>
        <p:nvSpPr>
          <p:cNvPr id="19" name="">
            <a:extLst xmlns:a="http://schemas.openxmlformats.org/drawingml/2006/main">
              <a:ext uri="{FF2B5EF4-FFF2-40B4-BE49-F238E27FC236}">
                <a16:creationId xmlns:a16="http://schemas.microsoft.com/office/drawing/2014/main" id="{7682F5D7-D946-45B8-89F0-EFB5DBF865DA}"/>
              </a:ext>
            </a:extLst>
          </p:cNvPr>
          <p:cNvSpPr>
            <a:spLocks xmlns:a="http://schemas.openxmlformats.org/drawingml/2006/main" noGrp="1"/>
          </p:cNvSpPr>
          <p:nvPr/>
        </p:nvSpPr>
        <p:spPr>
          <a:xfrm xmlns:a="http://schemas.openxmlformats.org/drawingml/2006/main">
            <a:off x="6572250" y="3162300"/>
            <a:ext cx="4191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050" b="1">
                <a:solidFill>
                  <a:srgbClr val="53606B"/>
                </a:solidFill>
                <a:latin typeface="Helvetica Neue"/>
                <a:ea typeface="Helvetica Neue"/>
                <a:cs typeface="Helvetica Neue"/>
              </a:defRPr>
            </a:pPr>
            <a:r>
              <a:rPr sz="1050" b="1">
                <a:solidFill>
                  <a:srgbClr val="53606B"/>
                </a:solidFill>
                <a:latin typeface="Helvetica Neue"/>
                <a:ea typeface="Helvetica Neue"/>
                <a:cs typeface="Helvetica Neue"/>
              </a:rPr>
              <a:t>01</a:t>
            </a:r>
          </a:p>
        </p:txBody>
      </p:sp>
      <p:sp>
        <p:nvSpPr>
          <p:cNvPr id="20" name="">
            <a:extLst xmlns:a="http://schemas.openxmlformats.org/drawingml/2006/main">
              <a:ext uri="{FF2B5EF4-FFF2-40B4-BE49-F238E27FC236}">
                <a16:creationId xmlns:a16="http://schemas.microsoft.com/office/drawing/2014/main" id="{11D29CBB-6B1F-411B-AF08-7CF54EA40EC7}"/>
              </a:ext>
            </a:extLst>
          </p:cNvPr>
          <p:cNvSpPr>
            <a:spLocks xmlns:a="http://schemas.openxmlformats.org/drawingml/2006/main" noGrp="1"/>
          </p:cNvSpPr>
          <p:nvPr/>
        </p:nvSpPr>
        <p:spPr>
          <a:xfrm xmlns:a="http://schemas.openxmlformats.org/drawingml/2006/main">
            <a:off x="7200900" y="3143250"/>
            <a:ext cx="3619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650" b="1">
                <a:solidFill>
                  <a:srgbClr val="2457F5"/>
                </a:solidFill>
                <a:latin typeface="Helvetica Neue"/>
                <a:ea typeface="Helvetica Neue"/>
                <a:cs typeface="Helvetica Neue"/>
              </a:defRPr>
            </a:pPr>
            <a:r>
              <a:rPr sz="1650" b="1">
                <a:solidFill>
                  <a:srgbClr val="2457F5"/>
                </a:solidFill>
                <a:latin typeface="Helvetica Neue"/>
                <a:ea typeface="Helvetica Neue"/>
                <a:cs typeface="Helvetica Neue"/>
              </a:rPr>
              <a:t>Vault balance</a:t>
            </a:r>
          </a:p>
        </p:txBody>
      </p:sp>
      <p:sp>
        <p:nvSpPr>
          <p:cNvPr id="21" name="">
            <a:extLst xmlns:a="http://schemas.openxmlformats.org/drawingml/2006/main">
              <a:ext uri="{FF2B5EF4-FFF2-40B4-BE49-F238E27FC236}">
                <a16:creationId xmlns:a16="http://schemas.microsoft.com/office/drawing/2014/main" id="{62E3F901-3BA2-4CA0-BD68-62D618CEBD43}"/>
              </a:ext>
            </a:extLst>
          </p:cNvPr>
          <p:cNvSpPr>
            <a:spLocks xmlns:a="http://schemas.openxmlformats.org/drawingml/2006/main" noGrp="1"/>
          </p:cNvSpPr>
          <p:nvPr/>
        </p:nvSpPr>
        <p:spPr>
          <a:xfrm xmlns:a="http://schemas.openxmlformats.org/drawingml/2006/main">
            <a:off x="6572250" y="3562350"/>
            <a:ext cx="4476750" cy="9525"/>
          </a:xfrm>
          <a:prstGeom xmlns:a="http://schemas.openxmlformats.org/drawingml/2006/main" prst="rect">
            <a:avLst/>
          </a:prstGeom>
          <a:solidFill xmlns:a="http://schemas.openxmlformats.org/drawingml/2006/main">
            <a:srgbClr val="D7D2C8"/>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87B35675-DF36-400E-ADC9-83CF6BB9F581}"/>
              </a:ext>
            </a:extLst>
          </p:cNvPr>
          <p:cNvSpPr>
            <a:spLocks xmlns:a="http://schemas.openxmlformats.org/drawingml/2006/main" noGrp="1"/>
          </p:cNvSpPr>
          <p:nvPr/>
        </p:nvSpPr>
        <p:spPr>
          <a:xfrm xmlns:a="http://schemas.openxmlformats.org/drawingml/2006/main">
            <a:off x="6572250" y="3848100"/>
            <a:ext cx="4191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050" b="1">
                <a:solidFill>
                  <a:srgbClr val="53606B"/>
                </a:solidFill>
                <a:latin typeface="Helvetica Neue"/>
                <a:ea typeface="Helvetica Neue"/>
                <a:cs typeface="Helvetica Neue"/>
              </a:defRPr>
            </a:pPr>
            <a:r>
              <a:rPr sz="1050" b="1">
                <a:solidFill>
                  <a:srgbClr val="53606B"/>
                </a:solidFill>
                <a:latin typeface="Helvetica Neue"/>
                <a:ea typeface="Helvetica Neue"/>
                <a:cs typeface="Helvetica Neue"/>
              </a:rPr>
              <a:t>02</a:t>
            </a:r>
          </a:p>
        </p:txBody>
      </p:sp>
      <p:sp>
        <p:nvSpPr>
          <p:cNvPr id="23" name="">
            <a:extLst xmlns:a="http://schemas.openxmlformats.org/drawingml/2006/main">
              <a:ext uri="{FF2B5EF4-FFF2-40B4-BE49-F238E27FC236}">
                <a16:creationId xmlns:a16="http://schemas.microsoft.com/office/drawing/2014/main" id="{2DA23D72-581E-4E52-A758-F4D66549B508}"/>
              </a:ext>
            </a:extLst>
          </p:cNvPr>
          <p:cNvSpPr>
            <a:spLocks xmlns:a="http://schemas.openxmlformats.org/drawingml/2006/main" noGrp="1"/>
          </p:cNvSpPr>
          <p:nvPr/>
        </p:nvSpPr>
        <p:spPr>
          <a:xfrm xmlns:a="http://schemas.openxmlformats.org/drawingml/2006/main">
            <a:off x="7200900" y="3829050"/>
            <a:ext cx="3619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650" b="1">
                <a:solidFill>
                  <a:srgbClr val="101820"/>
                </a:solidFill>
                <a:latin typeface="Helvetica Neue"/>
                <a:ea typeface="Helvetica Neue"/>
                <a:cs typeface="Helvetica Neue"/>
              </a:defRPr>
            </a:pPr>
            <a:r>
              <a:rPr sz="1650" b="1">
                <a:solidFill>
                  <a:srgbClr val="101820"/>
                </a:solidFill>
                <a:latin typeface="Helvetica Neue"/>
                <a:ea typeface="Helvetica Neue"/>
                <a:cs typeface="Helvetica Neue"/>
              </a:rPr>
              <a:t>Claims outstanding</a:t>
            </a:r>
          </a:p>
        </p:txBody>
      </p:sp>
      <p:sp>
        <p:nvSpPr>
          <p:cNvPr id="24" name="">
            <a:extLst xmlns:a="http://schemas.openxmlformats.org/drawingml/2006/main">
              <a:ext uri="{FF2B5EF4-FFF2-40B4-BE49-F238E27FC236}">
                <a16:creationId xmlns:a16="http://schemas.microsoft.com/office/drawing/2014/main" id="{94B2F20B-9042-4C5C-88EF-708895CDF4F9}"/>
              </a:ext>
            </a:extLst>
          </p:cNvPr>
          <p:cNvSpPr>
            <a:spLocks xmlns:a="http://schemas.openxmlformats.org/drawingml/2006/main" noGrp="1"/>
          </p:cNvSpPr>
          <p:nvPr/>
        </p:nvSpPr>
        <p:spPr>
          <a:xfrm xmlns:a="http://schemas.openxmlformats.org/drawingml/2006/main">
            <a:off x="6572250" y="4248150"/>
            <a:ext cx="4476750" cy="9525"/>
          </a:xfrm>
          <a:prstGeom xmlns:a="http://schemas.openxmlformats.org/drawingml/2006/main" prst="rect">
            <a:avLst/>
          </a:prstGeom>
          <a:solidFill xmlns:a="http://schemas.openxmlformats.org/drawingml/2006/main">
            <a:srgbClr val="D7D2C8"/>
          </a:solidFill>
          <a:ln xmlns:a="http://schemas.openxmlformats.org/drawingml/2006/main" w="0">
            <a:noFill/>
            <a:prstDash val="solid"/>
          </a:ln>
        </p:spPr>
      </p:sp>
      <p:sp>
        <p:nvSpPr>
          <p:cNvPr id="25" name="">
            <a:extLst xmlns:a="http://schemas.openxmlformats.org/drawingml/2006/main">
              <a:ext uri="{FF2B5EF4-FFF2-40B4-BE49-F238E27FC236}">
                <a16:creationId xmlns:a16="http://schemas.microsoft.com/office/drawing/2014/main" id="{D57FF94E-B7C1-4E2D-AFD5-F6844CD14654}"/>
              </a:ext>
            </a:extLst>
          </p:cNvPr>
          <p:cNvSpPr>
            <a:spLocks xmlns:a="http://schemas.openxmlformats.org/drawingml/2006/main" noGrp="1"/>
          </p:cNvSpPr>
          <p:nvPr/>
        </p:nvSpPr>
        <p:spPr>
          <a:xfrm xmlns:a="http://schemas.openxmlformats.org/drawingml/2006/main">
            <a:off x="6572250" y="4533900"/>
            <a:ext cx="4191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050" b="1">
                <a:solidFill>
                  <a:srgbClr val="53606B"/>
                </a:solidFill>
                <a:latin typeface="Helvetica Neue"/>
                <a:ea typeface="Helvetica Neue"/>
                <a:cs typeface="Helvetica Neue"/>
              </a:defRPr>
            </a:pPr>
            <a:r>
              <a:rPr sz="1050" b="1">
                <a:solidFill>
                  <a:srgbClr val="53606B"/>
                </a:solidFill>
                <a:latin typeface="Helvetica Neue"/>
                <a:ea typeface="Helvetica Neue"/>
                <a:cs typeface="Helvetica Neue"/>
              </a:rPr>
              <a:t>03</a:t>
            </a:r>
          </a:p>
        </p:txBody>
      </p:sp>
      <p:sp>
        <p:nvSpPr>
          <p:cNvPr id="26" name="">
            <a:extLst xmlns:a="http://schemas.openxmlformats.org/drawingml/2006/main">
              <a:ext uri="{FF2B5EF4-FFF2-40B4-BE49-F238E27FC236}">
                <a16:creationId xmlns:a16="http://schemas.microsoft.com/office/drawing/2014/main" id="{EFB60F58-F7DD-408F-8477-EC79011DE217}"/>
              </a:ext>
            </a:extLst>
          </p:cNvPr>
          <p:cNvSpPr>
            <a:spLocks xmlns:a="http://schemas.openxmlformats.org/drawingml/2006/main" noGrp="1"/>
          </p:cNvSpPr>
          <p:nvPr/>
        </p:nvSpPr>
        <p:spPr>
          <a:xfrm xmlns:a="http://schemas.openxmlformats.org/drawingml/2006/main">
            <a:off x="7200900" y="4514850"/>
            <a:ext cx="3619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650" b="1">
                <a:solidFill>
                  <a:srgbClr val="101820"/>
                </a:solidFill>
                <a:latin typeface="Helvetica Neue"/>
                <a:ea typeface="Helvetica Neue"/>
                <a:cs typeface="Helvetica Neue"/>
              </a:defRPr>
            </a:pPr>
            <a:r>
              <a:rPr sz="1650" b="1">
                <a:solidFill>
                  <a:srgbClr val="101820"/>
                </a:solidFill>
                <a:latin typeface="Helvetica Neue"/>
                <a:ea typeface="Helvetica Neue"/>
                <a:cs typeface="Helvetica Neue"/>
              </a:rPr>
              <a:t>Redemption history</a:t>
            </a:r>
          </a:p>
        </p:txBody>
      </p:sp>
      <p:sp>
        <p:nvSpPr>
          <p:cNvPr id="27" name="">
            <a:extLst xmlns:a="http://schemas.openxmlformats.org/drawingml/2006/main">
              <a:ext uri="{FF2B5EF4-FFF2-40B4-BE49-F238E27FC236}">
                <a16:creationId xmlns:a16="http://schemas.microsoft.com/office/drawing/2014/main" id="{FA412437-5B40-4FB1-87A9-A83AADAC94CC}"/>
              </a:ext>
            </a:extLst>
          </p:cNvPr>
          <p:cNvSpPr>
            <a:spLocks xmlns:a="http://schemas.openxmlformats.org/drawingml/2006/main" noGrp="1"/>
          </p:cNvSpPr>
          <p:nvPr/>
        </p:nvSpPr>
        <p:spPr>
          <a:xfrm xmlns:a="http://schemas.openxmlformats.org/drawingml/2006/main">
            <a:off x="6572250" y="4933950"/>
            <a:ext cx="4476750" cy="9525"/>
          </a:xfrm>
          <a:prstGeom xmlns:a="http://schemas.openxmlformats.org/drawingml/2006/main" prst="rect">
            <a:avLst/>
          </a:prstGeom>
          <a:solidFill xmlns:a="http://schemas.openxmlformats.org/drawingml/2006/main">
            <a:srgbClr val="D7D2C8"/>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287B1054-C979-4640-AC6E-097173D416F7}"/>
              </a:ext>
            </a:extLst>
          </p:cNvPr>
          <p:cNvSpPr>
            <a:spLocks xmlns:a="http://schemas.openxmlformats.org/drawingml/2006/main" noGrp="1"/>
          </p:cNvSpPr>
          <p:nvPr/>
        </p:nvSpPr>
        <p:spPr>
          <a:xfrm xmlns:a="http://schemas.openxmlformats.org/drawingml/2006/main">
            <a:off x="762000" y="5772150"/>
            <a:ext cx="10287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875" b="1">
                <a:solidFill>
                  <a:srgbClr val="101820"/>
                </a:solidFill>
                <a:latin typeface="Helvetica Neue"/>
                <a:ea typeface="Helvetica Neue"/>
                <a:cs typeface="Helvetica Neue"/>
              </a:defRPr>
            </a:pPr>
            <a:r>
              <a:rPr sz="1875" b="1">
                <a:solidFill>
                  <a:srgbClr val="101820"/>
                </a:solidFill>
                <a:latin typeface="Helvetica Neue"/>
                <a:ea typeface="Helvetica Neue"/>
                <a:cs typeface="Helvetica Neue"/>
              </a:rPr>
              <a:t>Built on shared token standards that other Solana apps can integrate.</a:t>
            </a:r>
          </a:p>
        </p:txBody>
      </p:sp>
    </p:spTree>
    <p:extLst>
      <p:ext uri="{BB962C8B-B14F-4D97-AF65-F5344CB8AC3E}">
        <p14:creationId xmlns:p14="http://schemas.microsoft.com/office/powerpoint/2010/main" val="366925869"/>
      </p:ext>
    </p:extLst>
  </p:cSld>
</p:sld>
</file>

<file path=ppt/slides/slide8.xml><?xml version="1.0" encoding="utf-8"?>
<p:sld xmlns:p="http://schemas.openxmlformats.org/presentationml/2006/main">
  <p:cSld>
    <p:bg>
      <p:bgPr>
        <a:solidFill xmlns:a="http://schemas.openxmlformats.org/drawingml/2006/main">
          <a:srgbClr val="F6F3EC"/>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F1426033-6231-4131-968F-712F0FB5FDB9}"/>
              </a:ext>
            </a:extLst>
          </p:cNvPr>
          <p:cNvSpPr>
            <a:spLocks xmlns:a="http://schemas.openxmlformats.org/drawingml/2006/main" noGrp="1"/>
          </p:cNvSpPr>
          <p:nvPr/>
        </p:nvSpPr>
        <p:spPr>
          <a:xfrm xmlns:a="http://schemas.openxmlformats.org/drawingml/2006/main" rot="2700000">
            <a:off x="704850" y="514350"/>
            <a:ext cx="123444" cy="123444"/>
          </a:xfrm>
          <a:prstGeom xmlns:a="http://schemas.openxmlformats.org/drawingml/2006/main" prst="rect">
            <a:avLst/>
          </a:prstGeom>
          <a:solidFill xmlns:a="http://schemas.openxmlformats.org/drawingml/2006/main">
            <a:srgbClr val="2457F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4EA9AED8-78A0-4107-BF0B-02BF50535609}"/>
              </a:ext>
            </a:extLst>
          </p:cNvPr>
          <p:cNvSpPr>
            <a:spLocks xmlns:a="http://schemas.openxmlformats.org/drawingml/2006/main" noGrp="1"/>
          </p:cNvSpPr>
          <p:nvPr/>
        </p:nvSpPr>
        <p:spPr>
          <a:xfrm xmlns:a="http://schemas.openxmlformats.org/drawingml/2006/main" rot="2700000">
            <a:off x="807720" y="617220"/>
            <a:ext cx="123444" cy="123444"/>
          </a:xfrm>
          <a:prstGeom xmlns:a="http://schemas.openxmlformats.org/drawingml/2006/main" prst="rect">
            <a:avLst/>
          </a:prstGeom>
          <a:solidFill xmlns:a="http://schemas.openxmlformats.org/drawingml/2006/main">
            <a:srgbClr val="C46A00"/>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049F7DF5-AD21-40A8-8BFC-AD1F1660BA25}"/>
              </a:ext>
            </a:extLst>
          </p:cNvPr>
          <p:cNvSpPr>
            <a:spLocks xmlns:a="http://schemas.openxmlformats.org/drawingml/2006/main" noGrp="1"/>
          </p:cNvSpPr>
          <p:nvPr/>
        </p:nvSpPr>
        <p:spPr>
          <a:xfrm xmlns:a="http://schemas.openxmlformats.org/drawingml/2006/main">
            <a:off x="972312" y="507492"/>
            <a:ext cx="1165860" cy="2057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080" b="1">
                <a:solidFill>
                  <a:srgbClr val="101820"/>
                </a:solidFill>
                <a:latin typeface="Helvetica Neue"/>
                <a:ea typeface="Helvetica Neue"/>
                <a:cs typeface="Helvetica Neue"/>
              </a:defRPr>
            </a:pPr>
            <a:r>
              <a:rPr sz="1080" b="1">
                <a:solidFill>
                  <a:srgbClr val="101820"/>
                </a:solidFill>
                <a:latin typeface="Helvetica Neue"/>
                <a:ea typeface="Helvetica Neue"/>
                <a:cs typeface="Helvetica Neue"/>
              </a:rPr>
              <a:t>DivX</a:t>
            </a:r>
          </a:p>
        </p:txBody>
      </p:sp>
      <p:sp>
        <p:nvSpPr>
          <p:cNvPr id="4" name="">
            <a:extLst xmlns:a="http://schemas.openxmlformats.org/drawingml/2006/main">
              <a:ext uri="{FF2B5EF4-FFF2-40B4-BE49-F238E27FC236}">
                <a16:creationId xmlns:a16="http://schemas.microsoft.com/office/drawing/2014/main" id="{D829995C-B506-4EBF-AE4F-1121DCE32C5D}"/>
              </a:ext>
            </a:extLst>
          </p:cNvPr>
          <p:cNvSpPr>
            <a:spLocks xmlns:a="http://schemas.openxmlformats.org/drawingml/2006/main" noGrp="1"/>
          </p:cNvSpPr>
          <p:nvPr/>
        </p:nvSpPr>
        <p:spPr>
          <a:xfrm xmlns:a="http://schemas.openxmlformats.org/drawingml/2006/main">
            <a:off x="704850" y="933450"/>
            <a:ext cx="10572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8000"/>
              </a:lnSpc>
              <a:buNone/>
              <a:defRPr sz="3150" b="1">
                <a:solidFill>
                  <a:srgbClr val="101820"/>
                </a:solidFill>
                <a:latin typeface="Helvetica Neue"/>
                <a:ea typeface="Helvetica Neue"/>
                <a:cs typeface="Helvetica Neue"/>
              </a:defRPr>
            </a:pPr>
            <a:r>
              <a:rPr sz="3150" b="1">
                <a:solidFill>
                  <a:srgbClr val="101820"/>
                </a:solidFill>
                <a:latin typeface="Helvetica Neue"/>
                <a:ea typeface="Helvetica Neue"/>
                <a:cs typeface="Helvetica Neue"/>
              </a:rPr>
              <a:t>Coca-Cola, in dollars</a:t>
            </a:r>
          </a:p>
        </p:txBody>
      </p:sp>
      <p:sp>
        <p:nvSpPr>
          <p:cNvPr id="5" name="">
            <a:extLst xmlns:a="http://schemas.openxmlformats.org/drawingml/2006/main">
              <a:ext uri="{FF2B5EF4-FFF2-40B4-BE49-F238E27FC236}">
                <a16:creationId xmlns:a16="http://schemas.microsoft.com/office/drawing/2014/main" id="{B2C5753D-9536-460B-8447-9839E34796B8}"/>
              </a:ext>
            </a:extLst>
          </p:cNvPr>
          <p:cNvSpPr>
            <a:spLocks xmlns:a="http://schemas.openxmlformats.org/drawingml/2006/main" noGrp="1"/>
          </p:cNvSpPr>
          <p:nvPr/>
        </p:nvSpPr>
        <p:spPr>
          <a:xfrm xmlns:a="http://schemas.openxmlformats.org/drawingml/2006/main">
            <a:off x="11144250" y="552450"/>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defRPr sz="900" b="1">
                <a:solidFill>
                  <a:srgbClr val="53606B"/>
                </a:solidFill>
                <a:latin typeface="Helvetica Neue"/>
                <a:ea typeface="Helvetica Neue"/>
                <a:cs typeface="Helvetica Neue"/>
              </a:defRPr>
            </a:pPr>
            <a:r>
              <a:rPr sz="900" b="1">
                <a:solidFill>
                  <a:srgbClr val="53606B"/>
                </a:solidFill>
                <a:latin typeface="Helvetica Neue"/>
                <a:ea typeface="Helvetica Neue"/>
                <a:cs typeface="Helvetica Neue"/>
              </a:rPr>
              <a:t>08</a:t>
            </a:r>
          </a:p>
        </p:txBody>
      </p:sp>
      <p:pic>
        <p:nvPicPr>
          <p:cNvPr id="24" name=""/>
          <p:cNvPicPr>
            <a:picLocks xmlns:a="http://schemas.openxmlformats.org/drawingml/2006/main" noChangeAspect="1"/>
          </p:cNvPicPr>
          <p:nvPr/>
        </p:nvPicPr>
        <p:blipFill>
          <a:blip xmlns:r="http://schemas.openxmlformats.org/officeDocument/2006/relationships" xmlns:a="http://schemas.openxmlformats.org/drawingml/2006/main" r:embed="Rb9ca86e08b764646"/>
          <a:srcRect xmlns:a="http://schemas.openxmlformats.org/drawingml/2006/main" l="0" t="8194" r="0" b="8194"/>
          <a:stretch xmlns:a="http://schemas.openxmlformats.org/drawingml/2006/main">
            <a:fillRect l="0" t="0" r="0" b="0"/>
          </a:stretch>
        </p:blipFill>
        <p:spPr>
          <a:xfrm xmlns:a="http://schemas.openxmlformats.org/drawingml/2006/main">
            <a:off x="523875" y="1581150"/>
            <a:ext cx="7381875" cy="4714875"/>
          </a:xfrm>
          <a:prstGeom xmlns:a="http://schemas.openxmlformats.org/drawingml/2006/main" prst="roundRect">
            <a:avLst>
              <a:gd name="adj" fmla="val 2828"/>
            </a:avLst>
          </a:prstGeom>
        </p:spPr>
      </p:pic>
      <p:sp>
        <p:nvSpPr>
          <p:cNvPr id="7" name="">
            <a:extLst xmlns:a="http://schemas.openxmlformats.org/drawingml/2006/main">
              <a:ext uri="{FF2B5EF4-FFF2-40B4-BE49-F238E27FC236}">
                <a16:creationId xmlns:a16="http://schemas.microsoft.com/office/drawing/2014/main" id="{F1C58FC3-F251-47D9-AC20-55F74652A26C}"/>
              </a:ext>
            </a:extLst>
          </p:cNvPr>
          <p:cNvSpPr>
            <a:spLocks xmlns:a="http://schemas.openxmlformats.org/drawingml/2006/main" noGrp="1"/>
          </p:cNvSpPr>
          <p:nvPr/>
        </p:nvSpPr>
        <p:spPr>
          <a:xfrm xmlns:a="http://schemas.openxmlformats.org/drawingml/2006/main">
            <a:off x="8334375" y="1790700"/>
            <a:ext cx="285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00" b="1">
                <a:solidFill>
                  <a:srgbClr val="7A4000"/>
                </a:solidFill>
                <a:latin typeface="Helvetica Neue"/>
                <a:ea typeface="Helvetica Neue"/>
                <a:cs typeface="Helvetica Neue"/>
              </a:defRPr>
            </a:pPr>
            <a:r>
              <a:rPr sz="900" b="1">
                <a:solidFill>
                  <a:srgbClr val="7A4000"/>
                </a:solidFill>
                <a:latin typeface="Helvetica Neue"/>
                <a:ea typeface="Helvetica Neue"/>
                <a:cs typeface="Helvetica Neue"/>
              </a:rPr>
              <a:t>HISTORICAL SCENARIO</a:t>
            </a:r>
          </a:p>
        </p:txBody>
      </p:sp>
      <p:sp>
        <p:nvSpPr>
          <p:cNvPr id="8" name="">
            <a:extLst xmlns:a="http://schemas.openxmlformats.org/drawingml/2006/main">
              <a:ext uri="{FF2B5EF4-FFF2-40B4-BE49-F238E27FC236}">
                <a16:creationId xmlns:a16="http://schemas.microsoft.com/office/drawing/2014/main" id="{C2E3CE02-73EC-4745-846D-5CBB1D76974E}"/>
              </a:ext>
            </a:extLst>
          </p:cNvPr>
          <p:cNvSpPr>
            <a:spLocks xmlns:a="http://schemas.openxmlformats.org/drawingml/2006/main" noGrp="1"/>
          </p:cNvSpPr>
          <p:nvPr/>
        </p:nvSpPr>
        <p:spPr>
          <a:xfrm xmlns:a="http://schemas.openxmlformats.org/drawingml/2006/main">
            <a:off x="8334375" y="2095500"/>
            <a:ext cx="3048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6000"/>
              </a:lnSpc>
              <a:buNone/>
              <a:defRPr sz="1725" b="1">
                <a:solidFill>
                  <a:srgbClr val="101820"/>
                </a:solidFill>
                <a:latin typeface="Helvetica Neue"/>
                <a:ea typeface="Helvetica Neue"/>
                <a:cs typeface="Helvetica Neue"/>
              </a:defRPr>
            </a:pPr>
            <a:r>
              <a:rPr sz="1725" b="1">
                <a:solidFill>
                  <a:srgbClr val="101820"/>
                </a:solidFill>
                <a:latin typeface="Helvetica Neue"/>
                <a:ea typeface="Helvetica Neue"/>
                <a:cs typeface="Helvetica Neue"/>
              </a:rPr>
              <a:t>100 Coca-Cola share-equivalents</a:t>
            </a:r>
          </a:p>
        </p:txBody>
      </p:sp>
      <p:sp>
        <p:nvSpPr>
          <p:cNvPr id="9" name="">
            <a:extLst xmlns:a="http://schemas.openxmlformats.org/drawingml/2006/main">
              <a:ext uri="{FF2B5EF4-FFF2-40B4-BE49-F238E27FC236}">
                <a16:creationId xmlns:a16="http://schemas.microsoft.com/office/drawing/2014/main" id="{E6046A55-6DC9-4393-A175-512DD1C0D975}"/>
              </a:ext>
            </a:extLst>
          </p:cNvPr>
          <p:cNvSpPr>
            <a:spLocks xmlns:a="http://schemas.openxmlformats.org/drawingml/2006/main" noGrp="1"/>
          </p:cNvSpPr>
          <p:nvPr/>
        </p:nvSpPr>
        <p:spPr>
          <a:xfrm xmlns:a="http://schemas.openxmlformats.org/drawingml/2006/main">
            <a:off x="8334375" y="2647950"/>
            <a:ext cx="285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050" b="1">
                <a:solidFill>
                  <a:srgbClr val="53606B"/>
                </a:solidFill>
                <a:latin typeface="Helvetica Neue"/>
                <a:ea typeface="Helvetica Neue"/>
                <a:cs typeface="Helvetica Neue"/>
              </a:defRPr>
            </a:pPr>
            <a:r>
              <a:rPr sz="1050" b="1">
                <a:solidFill>
                  <a:srgbClr val="53606B"/>
                </a:solidFill>
                <a:latin typeface="Helvetica Neue"/>
                <a:ea typeface="Helvetica Neue"/>
                <a:cs typeface="Helvetica Neue"/>
              </a:rPr>
              <a:t>KOx</a:t>
            </a:r>
          </a:p>
        </p:txBody>
      </p:sp>
      <p:sp>
        <p:nvSpPr>
          <p:cNvPr id="10" name="">
            <a:extLst xmlns:a="http://schemas.openxmlformats.org/drawingml/2006/main">
              <a:ext uri="{FF2B5EF4-FFF2-40B4-BE49-F238E27FC236}">
                <a16:creationId xmlns:a16="http://schemas.microsoft.com/office/drawing/2014/main" id="{E619131C-13A5-43FB-AEDF-2A35FE3F46A9}"/>
              </a:ext>
            </a:extLst>
          </p:cNvPr>
          <p:cNvSpPr>
            <a:spLocks xmlns:a="http://schemas.openxmlformats.org/drawingml/2006/main" noGrp="1"/>
          </p:cNvSpPr>
          <p:nvPr/>
        </p:nvSpPr>
        <p:spPr>
          <a:xfrm xmlns:a="http://schemas.openxmlformats.org/drawingml/2006/main">
            <a:off x="8334375" y="3009900"/>
            <a:ext cx="3048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2550" b="1">
                <a:solidFill>
                  <a:srgbClr val="2457F5"/>
                </a:solidFill>
                <a:latin typeface="Helvetica Neue"/>
                <a:ea typeface="Helvetica Neue"/>
                <a:cs typeface="Helvetica Neue"/>
              </a:defRPr>
            </a:pPr>
            <a:r>
              <a:rPr sz="2550" b="1">
                <a:solidFill>
                  <a:srgbClr val="2457F5"/>
                </a:solidFill>
                <a:latin typeface="Helvetica Neue"/>
                <a:ea typeface="Helvetica Neue"/>
                <a:cs typeface="Helvetica Neue"/>
              </a:rPr>
              <a:t>≈ $8,935</a:t>
            </a:r>
          </a:p>
        </p:txBody>
      </p:sp>
      <p:sp>
        <p:nvSpPr>
          <p:cNvPr id="11" name="">
            <a:extLst xmlns:a="http://schemas.openxmlformats.org/drawingml/2006/main">
              <a:ext uri="{FF2B5EF4-FFF2-40B4-BE49-F238E27FC236}">
                <a16:creationId xmlns:a16="http://schemas.microsoft.com/office/drawing/2014/main" id="{342B5D8F-D008-47ED-96BA-C4C2919EB5ED}"/>
              </a:ext>
            </a:extLst>
          </p:cNvPr>
          <p:cNvSpPr>
            <a:spLocks xmlns:a="http://schemas.openxmlformats.org/drawingml/2006/main" noGrp="1"/>
          </p:cNvSpPr>
          <p:nvPr/>
        </p:nvSpPr>
        <p:spPr>
          <a:xfrm xmlns:a="http://schemas.openxmlformats.org/drawingml/2006/main">
            <a:off x="8334375" y="3429000"/>
            <a:ext cx="2952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125" b="0">
                <a:solidFill>
                  <a:srgbClr val="53606B"/>
                </a:solidFill>
                <a:latin typeface="Helvetica Neue"/>
                <a:ea typeface="Helvetica Neue"/>
                <a:cs typeface="Helvetica Neue"/>
              </a:defRPr>
            </a:pPr>
            <a:r>
              <a:rPr sz="1125" b="0">
                <a:solidFill>
                  <a:srgbClr val="53606B"/>
                </a:solidFill>
                <a:latin typeface="Helvetica Neue"/>
                <a:ea typeface="Helvetica Neue"/>
                <a:cs typeface="Helvetica Neue"/>
              </a:rPr>
              <a:t>100.0000 KOx · stock exposure</a:t>
            </a:r>
          </a:p>
        </p:txBody>
      </p:sp>
      <p:sp>
        <p:nvSpPr>
          <p:cNvPr id="12" name="">
            <a:extLst xmlns:a="http://schemas.openxmlformats.org/drawingml/2006/main">
              <a:ext uri="{FF2B5EF4-FFF2-40B4-BE49-F238E27FC236}">
                <a16:creationId xmlns:a16="http://schemas.microsoft.com/office/drawing/2014/main" id="{5E0EFE27-9553-4D2C-ADB2-EE6958AD6C2A}"/>
              </a:ext>
            </a:extLst>
          </p:cNvPr>
          <p:cNvSpPr>
            <a:spLocks xmlns:a="http://schemas.openxmlformats.org/drawingml/2006/main" noGrp="1"/>
          </p:cNvSpPr>
          <p:nvPr/>
        </p:nvSpPr>
        <p:spPr>
          <a:xfrm xmlns:a="http://schemas.openxmlformats.org/drawingml/2006/main">
            <a:off x="8334375" y="3876675"/>
            <a:ext cx="3048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2550" b="1">
                <a:solidFill>
                  <a:srgbClr val="C46A00"/>
                </a:solidFill>
                <a:latin typeface="Helvetica Neue"/>
                <a:ea typeface="Helvetica Neue"/>
                <a:cs typeface="Helvetica Neue"/>
              </a:defRPr>
            </a:pPr>
            <a:r>
              <a:rPr sz="2550" b="1">
                <a:solidFill>
                  <a:srgbClr val="C46A00"/>
                </a:solidFill>
                <a:latin typeface="Helvetica Neue"/>
                <a:ea typeface="Helvetica Neue"/>
                <a:cs typeface="Helvetica Neue"/>
              </a:rPr>
              <a:t>≈ $37.10</a:t>
            </a:r>
          </a:p>
        </p:txBody>
      </p:sp>
      <p:sp>
        <p:nvSpPr>
          <p:cNvPr id="13" name="">
            <a:extLst xmlns:a="http://schemas.openxmlformats.org/drawingml/2006/main">
              <a:ext uri="{FF2B5EF4-FFF2-40B4-BE49-F238E27FC236}">
                <a16:creationId xmlns:a16="http://schemas.microsoft.com/office/drawing/2014/main" id="{B0506625-0336-4D74-B92D-419414D463A2}"/>
              </a:ext>
            </a:extLst>
          </p:cNvPr>
          <p:cNvSpPr>
            <a:spLocks xmlns:a="http://schemas.openxmlformats.org/drawingml/2006/main" noGrp="1"/>
          </p:cNvSpPr>
          <p:nvPr/>
        </p:nvSpPr>
        <p:spPr>
          <a:xfrm xmlns:a="http://schemas.openxmlformats.org/drawingml/2006/main">
            <a:off x="8334375" y="4295775"/>
            <a:ext cx="2952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125" b="0">
                <a:solidFill>
                  <a:srgbClr val="53606B"/>
                </a:solidFill>
                <a:latin typeface="Helvetica Neue"/>
                <a:ea typeface="Helvetica Neue"/>
                <a:cs typeface="Helvetica Neue"/>
              </a:defRPr>
            </a:pPr>
            <a:r>
              <a:rPr sz="1125" b="0">
                <a:solidFill>
                  <a:srgbClr val="53606B"/>
                </a:solidFill>
                <a:latin typeface="Helvetica Neue"/>
                <a:ea typeface="Helvetica Neue"/>
                <a:cs typeface="Helvetica Neue"/>
              </a:rPr>
              <a:t>0.4152 KOx · dividend allocation</a:t>
            </a:r>
          </a:p>
        </p:txBody>
      </p:sp>
      <p:sp>
        <p:nvSpPr>
          <p:cNvPr id="14" name="">
            <a:extLst xmlns:a="http://schemas.openxmlformats.org/drawingml/2006/main">
              <a:ext uri="{FF2B5EF4-FFF2-40B4-BE49-F238E27FC236}">
                <a16:creationId xmlns:a16="http://schemas.microsoft.com/office/drawing/2014/main" id="{382E56CE-0779-4CF2-ACCE-75DDD06B419A}"/>
              </a:ext>
            </a:extLst>
          </p:cNvPr>
          <p:cNvSpPr>
            <a:spLocks xmlns:a="http://schemas.openxmlformats.org/drawingml/2006/main" noGrp="1"/>
          </p:cNvSpPr>
          <p:nvPr/>
        </p:nvSpPr>
        <p:spPr>
          <a:xfrm xmlns:a="http://schemas.openxmlformats.org/drawingml/2006/main">
            <a:off x="8334375" y="4705350"/>
            <a:ext cx="2952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200" b="1">
                <a:solidFill>
                  <a:srgbClr val="101820"/>
                </a:solidFill>
                <a:latin typeface="Helvetica Neue"/>
                <a:ea typeface="Helvetica Neue"/>
                <a:cs typeface="Helvetica Neue"/>
              </a:defRPr>
            </a:pPr>
            <a:r>
              <a:rPr sz="1200" b="1">
                <a:solidFill>
                  <a:srgbClr val="101820"/>
                </a:solidFill>
                <a:latin typeface="Helvetica Neue"/>
                <a:ea typeface="Helvetica Neue"/>
                <a:cs typeface="Helvetica Neue"/>
              </a:rPr>
              <a:t>At the event-implied $89.35/share</a:t>
            </a:r>
          </a:p>
        </p:txBody>
      </p:sp>
      <p:sp>
        <p:nvSpPr>
          <p:cNvPr id="15" name="">
            <a:extLst xmlns:a="http://schemas.openxmlformats.org/drawingml/2006/main">
              <a:ext uri="{FF2B5EF4-FFF2-40B4-BE49-F238E27FC236}">
                <a16:creationId xmlns:a16="http://schemas.microsoft.com/office/drawing/2014/main" id="{E699F7BA-E0BE-4313-9475-8E00AC183FE6}"/>
              </a:ext>
            </a:extLst>
          </p:cNvPr>
          <p:cNvSpPr>
            <a:spLocks xmlns:a="http://schemas.openxmlformats.org/drawingml/2006/main" noGrp="1"/>
          </p:cNvSpPr>
          <p:nvPr/>
        </p:nvSpPr>
        <p:spPr>
          <a:xfrm xmlns:a="http://schemas.openxmlformats.org/drawingml/2006/main">
            <a:off x="8334375" y="5048250"/>
            <a:ext cx="2952750" cy="9525"/>
          </a:xfrm>
          <a:prstGeom xmlns:a="http://schemas.openxmlformats.org/drawingml/2006/main" prst="rect">
            <a:avLst/>
          </a:prstGeom>
          <a:solidFill xmlns:a="http://schemas.openxmlformats.org/drawingml/2006/main">
            <a:srgbClr val="D7D2C8"/>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77503FF7-D316-4C8B-A611-F0B8A6566495}"/>
              </a:ext>
            </a:extLst>
          </p:cNvPr>
          <p:cNvSpPr>
            <a:spLocks xmlns:a="http://schemas.openxmlformats.org/drawingml/2006/main" noGrp="1"/>
          </p:cNvSpPr>
          <p:nvPr/>
        </p:nvSpPr>
        <p:spPr>
          <a:xfrm xmlns:a="http://schemas.openxmlformats.org/drawingml/2006/main">
            <a:off x="8334375" y="5219700"/>
            <a:ext cx="2952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125" b="0">
                <a:solidFill>
                  <a:srgbClr val="53606B"/>
                </a:solidFill>
                <a:latin typeface="Helvetica Neue"/>
                <a:ea typeface="Helvetica Neue"/>
                <a:cs typeface="Helvetica Neue"/>
              </a:defRPr>
            </a:pPr>
            <a:r>
              <a:rPr sz="1125" b="0">
                <a:solidFill>
                  <a:srgbClr val="53606B"/>
                </a:solidFill>
                <a:latin typeface="Helvetica Neue"/>
                <a:ea typeface="Helvetica Neue"/>
                <a:cs typeface="Helvetica Neue"/>
              </a:rPr>
              <a:t>Event · 15 September 2026</a:t>
            </a:r>
          </a:p>
        </p:txBody>
      </p:sp>
      <p:sp>
        <p:nvSpPr>
          <p:cNvPr id="17" name="">
            <a:extLst xmlns:a="http://schemas.openxmlformats.org/drawingml/2006/main">
              <a:ext uri="{FF2B5EF4-FFF2-40B4-BE49-F238E27FC236}">
                <a16:creationId xmlns:a16="http://schemas.microsoft.com/office/drawing/2014/main" id="{79D72777-B3DD-4120-8B8C-AB36190C164C}"/>
              </a:ext>
            </a:extLst>
          </p:cNvPr>
          <p:cNvSpPr>
            <a:spLocks xmlns:a="http://schemas.openxmlformats.org/drawingml/2006/main" noGrp="1"/>
          </p:cNvSpPr>
          <p:nvPr/>
        </p:nvSpPr>
        <p:spPr>
          <a:xfrm xmlns:a="http://schemas.openxmlformats.org/drawingml/2006/main">
            <a:off x="8334375" y="5686425"/>
            <a:ext cx="2952750" cy="552450"/>
          </a:xfrm>
          <a:prstGeom xmlns:a="http://schemas.openxmlformats.org/drawingml/2006/main" prst="roundRect">
            <a:avLst>
              <a:gd name="adj" fmla="val 13793"/>
            </a:avLst>
          </a:prstGeom>
          <a:solidFill xmlns:a="http://schemas.openxmlformats.org/drawingml/2006/main">
            <a:srgbClr val="101820"/>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7B62DC5E-6F4A-4F60-BF5B-CB93B8C1DE83}"/>
              </a:ext>
            </a:extLst>
          </p:cNvPr>
          <p:cNvSpPr>
            <a:spLocks xmlns:a="http://schemas.openxmlformats.org/drawingml/2006/main" noGrp="1"/>
          </p:cNvSpPr>
          <p:nvPr/>
        </p:nvSpPr>
        <p:spPr>
          <a:xfrm xmlns:a="http://schemas.openxmlformats.org/drawingml/2006/main">
            <a:off x="8505825" y="5791200"/>
            <a:ext cx="26479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8000"/>
              </a:lnSpc>
              <a:buNone/>
              <a:defRPr sz="1125" b="1">
                <a:solidFill>
                  <a:srgbClr val="FFFFFF"/>
                </a:solidFill>
                <a:latin typeface="Helvetica Neue"/>
                <a:ea typeface="Helvetica Neue"/>
                <a:cs typeface="Helvetica Neue"/>
              </a:defRPr>
            </a:pPr>
            <a:r>
              <a:rPr sz="1125" b="1">
                <a:solidFill>
                  <a:srgbClr val="FFFFFF"/>
                </a:solidFill>
                <a:latin typeface="Helvetica Neue"/>
                <a:ea typeface="Helvetica Neue"/>
                <a:cs typeface="Helvetica Neue"/>
              </a:rPr>
              <a:t>Working now: historical calculator</a:t>
            </a:r>
          </a:p>
          <a:p xmlns:a="http://schemas.openxmlformats.org/drawingml/2006/main">
            <a:pPr algn="l">
              <a:lnSpc>
                <a:spcPct val="118000"/>
              </a:lnSpc>
              <a:buNone/>
              <a:defRPr sz="1125" b="1">
                <a:solidFill>
                  <a:srgbClr val="FFFFFF"/>
                </a:solidFill>
                <a:latin typeface="Helvetica Neue"/>
                <a:ea typeface="Helvetica Neue"/>
                <a:cs typeface="Helvetica Neue"/>
              </a:defRPr>
            </a:pPr>
            <a:r>
              <a:rPr sz="1125" b="1">
                <a:solidFill>
                  <a:srgbClr val="FFFFFF"/>
                </a:solidFill>
                <a:latin typeface="Helvetica Neue"/>
                <a:ea typeface="Helvetica Neue"/>
                <a:cs typeface="Helvetica Neue"/>
              </a:rPr>
              <a:t>Next: vault execution</a:t>
            </a:r>
          </a:p>
        </p:txBody>
      </p:sp>
    </p:spTree>
    <p:extLst>
      <p:ext uri="{BB962C8B-B14F-4D97-AF65-F5344CB8AC3E}">
        <p14:creationId xmlns:p14="http://schemas.microsoft.com/office/powerpoint/2010/main" val="1791069286"/>
      </p:ext>
    </p:extLst>
  </p:cSld>
</p:sld>
</file>

<file path=ppt/slides/slide9.xml><?xml version="1.0" encoding="utf-8"?>
<p:sld xmlns:p="http://schemas.openxmlformats.org/presentationml/2006/main">
  <p:cSld>
    <p:bg>
      <p:bgPr>
        <a:solidFill xmlns:a="http://schemas.openxmlformats.org/drawingml/2006/main">
          <a:srgbClr val="F6F3EC"/>
        </a:solidFill>
      </p:bgPr>
    </p:bg>
    <p:spTree>
      <p:nvGrpSpPr>
        <p:cNvPr id="1" name=""/>
        <p:cNvGrpSpPr/>
        <p:nvPr/>
      </p:nvGrpSpPr>
      <p:grpSpPr>
        <a:xfrm xmlns:a="http://schemas.openxmlformats.org/drawingml/2006/main"/>
      </p:grpSpPr>
      <p:sp>
        <p:nvSpPr>
          <p:cNvPr id="32" name="">
            <a:extLst xmlns:a="http://schemas.openxmlformats.org/drawingml/2006/main">
              <a:ext uri="{FF2B5EF4-FFF2-40B4-BE49-F238E27FC236}">
                <a16:creationId xmlns:a16="http://schemas.microsoft.com/office/drawing/2014/main" id="{DAC8289C-6F7E-431F-8A68-979D35DBECCA}"/>
              </a:ext>
            </a:extLst>
          </p:cNvPr>
          <p:cNvSpPr>
            <a:spLocks xmlns:a="http://schemas.openxmlformats.org/drawingml/2006/main" noGrp="1"/>
          </p:cNvSpPr>
          <p:nvPr/>
        </p:nvSpPr>
        <p:spPr>
          <a:xfrm xmlns:a="http://schemas.openxmlformats.org/drawingml/2006/main" rot="2700000">
            <a:off x="704850" y="514350"/>
            <a:ext cx="123444" cy="123444"/>
          </a:xfrm>
          <a:prstGeom xmlns:a="http://schemas.openxmlformats.org/drawingml/2006/main" prst="rect">
            <a:avLst/>
          </a:prstGeom>
          <a:solidFill xmlns:a="http://schemas.openxmlformats.org/drawingml/2006/main">
            <a:srgbClr val="2457F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28945EDF-6038-48AF-B0D4-CF3F4F977F08}"/>
              </a:ext>
            </a:extLst>
          </p:cNvPr>
          <p:cNvSpPr>
            <a:spLocks xmlns:a="http://schemas.openxmlformats.org/drawingml/2006/main" noGrp="1"/>
          </p:cNvSpPr>
          <p:nvPr/>
        </p:nvSpPr>
        <p:spPr>
          <a:xfrm xmlns:a="http://schemas.openxmlformats.org/drawingml/2006/main" rot="2700000">
            <a:off x="807720" y="617220"/>
            <a:ext cx="123444" cy="123444"/>
          </a:xfrm>
          <a:prstGeom xmlns:a="http://schemas.openxmlformats.org/drawingml/2006/main" prst="rect">
            <a:avLst/>
          </a:prstGeom>
          <a:solidFill xmlns:a="http://schemas.openxmlformats.org/drawingml/2006/main">
            <a:srgbClr val="C46A00"/>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F6FE27B9-188A-432B-A928-1C59B071D32C}"/>
              </a:ext>
            </a:extLst>
          </p:cNvPr>
          <p:cNvSpPr>
            <a:spLocks xmlns:a="http://schemas.openxmlformats.org/drawingml/2006/main" noGrp="1"/>
          </p:cNvSpPr>
          <p:nvPr/>
        </p:nvSpPr>
        <p:spPr>
          <a:xfrm xmlns:a="http://schemas.openxmlformats.org/drawingml/2006/main">
            <a:off x="972312" y="507492"/>
            <a:ext cx="1165860" cy="2057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080" b="1">
                <a:solidFill>
                  <a:srgbClr val="101820"/>
                </a:solidFill>
                <a:latin typeface="Helvetica Neue"/>
                <a:ea typeface="Helvetica Neue"/>
                <a:cs typeface="Helvetica Neue"/>
              </a:defRPr>
            </a:pPr>
            <a:r>
              <a:rPr sz="1080" b="1">
                <a:solidFill>
                  <a:srgbClr val="101820"/>
                </a:solidFill>
                <a:latin typeface="Helvetica Neue"/>
                <a:ea typeface="Helvetica Neue"/>
                <a:cs typeface="Helvetica Neue"/>
              </a:rPr>
              <a:t>DivX</a:t>
            </a:r>
          </a:p>
        </p:txBody>
      </p:sp>
      <p:sp>
        <p:nvSpPr>
          <p:cNvPr id="4" name="">
            <a:extLst xmlns:a="http://schemas.openxmlformats.org/drawingml/2006/main">
              <a:ext uri="{FF2B5EF4-FFF2-40B4-BE49-F238E27FC236}">
                <a16:creationId xmlns:a16="http://schemas.microsoft.com/office/drawing/2014/main" id="{2E44DD38-A2AB-4ABD-A6F9-6E3C72EA874D}"/>
              </a:ext>
            </a:extLst>
          </p:cNvPr>
          <p:cNvSpPr>
            <a:spLocks xmlns:a="http://schemas.openxmlformats.org/drawingml/2006/main" noGrp="1"/>
          </p:cNvSpPr>
          <p:nvPr/>
        </p:nvSpPr>
        <p:spPr>
          <a:xfrm xmlns:a="http://schemas.openxmlformats.org/drawingml/2006/main">
            <a:off x="704850" y="933450"/>
            <a:ext cx="10572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8000"/>
              </a:lnSpc>
              <a:buNone/>
              <a:defRPr sz="3150" b="1">
                <a:solidFill>
                  <a:srgbClr val="101820"/>
                </a:solidFill>
                <a:latin typeface="Helvetica Neue"/>
                <a:ea typeface="Helvetica Neue"/>
                <a:cs typeface="Helvetica Neue"/>
              </a:defRPr>
            </a:pPr>
            <a:r>
              <a:rPr sz="3150" b="1">
                <a:solidFill>
                  <a:srgbClr val="101820"/>
                </a:solidFill>
                <a:latin typeface="Helvetica Neue"/>
                <a:ea typeface="Helvetica Neue"/>
                <a:cs typeface="Helvetica Neue"/>
              </a:rPr>
              <a:t>One event first</a:t>
            </a:r>
          </a:p>
        </p:txBody>
      </p:sp>
      <p:sp>
        <p:nvSpPr>
          <p:cNvPr id="5" name="">
            <a:extLst xmlns:a="http://schemas.openxmlformats.org/drawingml/2006/main">
              <a:ext uri="{FF2B5EF4-FFF2-40B4-BE49-F238E27FC236}">
                <a16:creationId xmlns:a16="http://schemas.microsoft.com/office/drawing/2014/main" id="{6EDCD16B-E194-4F1D-9F51-C0A2BE20F944}"/>
              </a:ext>
            </a:extLst>
          </p:cNvPr>
          <p:cNvSpPr>
            <a:spLocks xmlns:a="http://schemas.openxmlformats.org/drawingml/2006/main" noGrp="1"/>
          </p:cNvSpPr>
          <p:nvPr/>
        </p:nvSpPr>
        <p:spPr>
          <a:xfrm xmlns:a="http://schemas.openxmlformats.org/drawingml/2006/main">
            <a:off x="11144250" y="552450"/>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defRPr sz="900" b="1">
                <a:solidFill>
                  <a:srgbClr val="53606B"/>
                </a:solidFill>
                <a:latin typeface="Helvetica Neue"/>
                <a:ea typeface="Helvetica Neue"/>
                <a:cs typeface="Helvetica Neue"/>
              </a:defRPr>
            </a:pPr>
            <a:r>
              <a:rPr sz="900" b="1">
                <a:solidFill>
                  <a:srgbClr val="53606B"/>
                </a:solidFill>
                <a:latin typeface="Helvetica Neue"/>
                <a:ea typeface="Helvetica Neue"/>
                <a:cs typeface="Helvetica Neue"/>
              </a:rPr>
              <a:t>09</a:t>
            </a:r>
          </a:p>
        </p:txBody>
      </p:sp>
      <p:sp>
        <p:nvSpPr>
          <p:cNvPr id="6" name="">
            <a:extLst xmlns:a="http://schemas.openxmlformats.org/drawingml/2006/main">
              <a:ext uri="{FF2B5EF4-FFF2-40B4-BE49-F238E27FC236}">
                <a16:creationId xmlns:a16="http://schemas.microsoft.com/office/drawing/2014/main" id="{6FDA8BA5-3390-471D-A52D-6319CF095F7D}"/>
              </a:ext>
            </a:extLst>
          </p:cNvPr>
          <p:cNvSpPr>
            <a:spLocks xmlns:a="http://schemas.openxmlformats.org/drawingml/2006/main" noGrp="1"/>
          </p:cNvSpPr>
          <p:nvPr/>
        </p:nvSpPr>
        <p:spPr>
          <a:xfrm xmlns:a="http://schemas.openxmlformats.org/drawingml/2006/main">
            <a:off x="762000" y="1847850"/>
            <a:ext cx="3810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00" b="1">
                <a:solidFill>
                  <a:srgbClr val="1639A6"/>
                </a:solidFill>
                <a:latin typeface="Helvetica Neue"/>
                <a:ea typeface="Helvetica Neue"/>
                <a:cs typeface="Helvetica Neue"/>
              </a:defRPr>
            </a:pPr>
            <a:r>
              <a:rPr sz="900" b="1">
                <a:solidFill>
                  <a:srgbClr val="1639A6"/>
                </a:solidFill>
                <a:latin typeface="Helvetica Neue"/>
                <a:ea typeface="Helvetica Neue"/>
                <a:cs typeface="Helvetica Neue"/>
              </a:rPr>
              <a:t>HACKATHON TARGET</a:t>
            </a:r>
          </a:p>
        </p:txBody>
      </p:sp>
      <p:sp>
        <p:nvSpPr>
          <p:cNvPr id="7" name="Deposit">
            <a:extLst xmlns:a="http://schemas.openxmlformats.org/drawingml/2006/main">
              <a:ext uri="{FF2B5EF4-FFF2-40B4-BE49-F238E27FC236}">
                <a16:creationId xmlns:a16="http://schemas.microsoft.com/office/drawing/2014/main" id="{2E0B7809-D63F-422B-8DD4-F3F72ECA91DF}"/>
              </a:ext>
            </a:extLst>
          </p:cNvPr>
          <p:cNvSpPr>
            <a:spLocks xmlns:a="http://schemas.openxmlformats.org/drawingml/2006/main" noGrp="1"/>
          </p:cNvSpPr>
          <p:nvPr/>
        </p:nvSpPr>
        <p:spPr>
          <a:xfrm xmlns:a="http://schemas.openxmlformats.org/drawingml/2006/main">
            <a:off x="762000" y="2419350"/>
            <a:ext cx="1714500" cy="838200"/>
          </a:xfrm>
          <a:prstGeom xmlns:a="http://schemas.openxmlformats.org/drawingml/2006/main" prst="roundRect">
            <a:avLst>
              <a:gd name="adj" fmla="val 13636"/>
            </a:avLst>
          </a:prstGeom>
          <a:solidFill xmlns:a="http://schemas.openxmlformats.org/drawingml/2006/main">
            <a:srgbClr val="FFFEFB"/>
          </a:solidFill>
          <a:ln xmlns:a="http://schemas.openxmlformats.org/drawingml/2006/main" w="9525">
            <a:solidFill>
              <a:srgbClr val="101820"/>
            </a:solidFill>
            <a:prstDash val="solid"/>
          </a:ln>
        </p:spPr>
      </p:sp>
      <p:sp>
        <p:nvSpPr>
          <p:cNvPr id="8" name="">
            <a:extLst xmlns:a="http://schemas.openxmlformats.org/drawingml/2006/main">
              <a:ext uri="{FF2B5EF4-FFF2-40B4-BE49-F238E27FC236}">
                <a16:creationId xmlns:a16="http://schemas.microsoft.com/office/drawing/2014/main" id="{967B564A-C479-4297-8EB4-B4402C57A19D}"/>
              </a:ext>
            </a:extLst>
          </p:cNvPr>
          <p:cNvSpPr>
            <a:spLocks xmlns:a="http://schemas.openxmlformats.org/drawingml/2006/main" noGrp="1"/>
          </p:cNvSpPr>
          <p:nvPr/>
        </p:nvSpPr>
        <p:spPr>
          <a:xfrm xmlns:a="http://schemas.openxmlformats.org/drawingml/2006/main">
            <a:off x="914400" y="2609850"/>
            <a:ext cx="14097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4000"/>
              </a:lnSpc>
              <a:buNone/>
              <a:defRPr sz="1725" b="1">
                <a:solidFill>
                  <a:srgbClr val="101820"/>
                </a:solidFill>
                <a:latin typeface="Helvetica Neue"/>
                <a:ea typeface="Helvetica Neue"/>
                <a:cs typeface="Helvetica Neue"/>
              </a:defRPr>
            </a:pPr>
            <a:r>
              <a:rPr sz="1725" b="1">
                <a:solidFill>
                  <a:srgbClr val="101820"/>
                </a:solidFill>
                <a:latin typeface="Helvetica Neue"/>
                <a:ea typeface="Helvetica Neue"/>
                <a:cs typeface="Helvetica Neue"/>
              </a:rPr>
              <a:t>Deposit</a:t>
            </a:r>
          </a:p>
        </p:txBody>
      </p:sp>
      <p:sp>
        <p:nvSpPr>
          <p:cNvPr id="9" name="Split">
            <a:extLst xmlns:a="http://schemas.openxmlformats.org/drawingml/2006/main">
              <a:ext uri="{FF2B5EF4-FFF2-40B4-BE49-F238E27FC236}">
                <a16:creationId xmlns:a16="http://schemas.microsoft.com/office/drawing/2014/main" id="{426140AF-040F-4FC9-B039-43242505A5EC}"/>
              </a:ext>
            </a:extLst>
          </p:cNvPr>
          <p:cNvSpPr>
            <a:spLocks xmlns:a="http://schemas.openxmlformats.org/drawingml/2006/main" noGrp="1"/>
          </p:cNvSpPr>
          <p:nvPr/>
        </p:nvSpPr>
        <p:spPr>
          <a:xfrm xmlns:a="http://schemas.openxmlformats.org/drawingml/2006/main">
            <a:off x="3476625" y="2419350"/>
            <a:ext cx="1714500" cy="838200"/>
          </a:xfrm>
          <a:prstGeom xmlns:a="http://schemas.openxmlformats.org/drawingml/2006/main" prst="roundRect">
            <a:avLst>
              <a:gd name="adj" fmla="val 13636"/>
            </a:avLst>
          </a:prstGeom>
          <a:solidFill xmlns:a="http://schemas.openxmlformats.org/drawingml/2006/main">
            <a:srgbClr val="EAF0FF"/>
          </a:solidFill>
          <a:ln xmlns:a="http://schemas.openxmlformats.org/drawingml/2006/main" w="9525">
            <a:solidFill>
              <a:srgbClr val="2457F5"/>
            </a:solidFill>
            <a:prstDash val="solid"/>
          </a:ln>
        </p:spPr>
      </p:sp>
      <p:sp>
        <p:nvSpPr>
          <p:cNvPr id="10" name="">
            <a:extLst xmlns:a="http://schemas.openxmlformats.org/drawingml/2006/main">
              <a:ext uri="{FF2B5EF4-FFF2-40B4-BE49-F238E27FC236}">
                <a16:creationId xmlns:a16="http://schemas.microsoft.com/office/drawing/2014/main" id="{14EDAF84-DC1B-4376-A7D5-50D66A7400D1}"/>
              </a:ext>
            </a:extLst>
          </p:cNvPr>
          <p:cNvSpPr>
            <a:spLocks xmlns:a="http://schemas.openxmlformats.org/drawingml/2006/main" noGrp="1"/>
          </p:cNvSpPr>
          <p:nvPr/>
        </p:nvSpPr>
        <p:spPr>
          <a:xfrm xmlns:a="http://schemas.openxmlformats.org/drawingml/2006/main">
            <a:off x="3629025" y="2609850"/>
            <a:ext cx="14097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4000"/>
              </a:lnSpc>
              <a:buNone/>
              <a:defRPr sz="1725" b="1">
                <a:solidFill>
                  <a:srgbClr val="2457F5"/>
                </a:solidFill>
                <a:latin typeface="Helvetica Neue"/>
                <a:ea typeface="Helvetica Neue"/>
                <a:cs typeface="Helvetica Neue"/>
              </a:defRPr>
            </a:pPr>
            <a:r>
              <a:rPr sz="1725" b="1">
                <a:solidFill>
                  <a:srgbClr val="2457F5"/>
                </a:solidFill>
                <a:latin typeface="Helvetica Neue"/>
                <a:ea typeface="Helvetica Neue"/>
                <a:cs typeface="Helvetica Neue"/>
              </a:rPr>
              <a:t>Split</a:t>
            </a:r>
          </a:p>
        </p:txBody>
      </p:sp>
      <p:sp>
        <p:nvSpPr>
          <p:cNvPr id="11" name="Sell the dividend">
            <a:extLst xmlns:a="http://schemas.openxmlformats.org/drawingml/2006/main">
              <a:ext uri="{FF2B5EF4-FFF2-40B4-BE49-F238E27FC236}">
                <a16:creationId xmlns:a16="http://schemas.microsoft.com/office/drawing/2014/main" id="{F5C5E8A5-5649-429D-9F4F-E83EA92F1185}"/>
              </a:ext>
            </a:extLst>
          </p:cNvPr>
          <p:cNvSpPr>
            <a:spLocks xmlns:a="http://schemas.openxmlformats.org/drawingml/2006/main" noGrp="1"/>
          </p:cNvSpPr>
          <p:nvPr/>
        </p:nvSpPr>
        <p:spPr>
          <a:xfrm xmlns:a="http://schemas.openxmlformats.org/drawingml/2006/main">
            <a:off x="6191250" y="2419350"/>
            <a:ext cx="2143125" cy="838200"/>
          </a:xfrm>
          <a:prstGeom xmlns:a="http://schemas.openxmlformats.org/drawingml/2006/main" prst="roundRect">
            <a:avLst>
              <a:gd name="adj" fmla="val 13636"/>
            </a:avLst>
          </a:prstGeom>
          <a:solidFill xmlns:a="http://schemas.openxmlformats.org/drawingml/2006/main">
            <a:srgbClr val="F8E8D4"/>
          </a:solidFill>
          <a:ln xmlns:a="http://schemas.openxmlformats.org/drawingml/2006/main" w="9525">
            <a:solidFill>
              <a:srgbClr val="C46A00"/>
            </a:solidFill>
            <a:prstDash val="solid"/>
          </a:ln>
        </p:spPr>
      </p:sp>
      <p:sp>
        <p:nvSpPr>
          <p:cNvPr id="12" name="">
            <a:extLst xmlns:a="http://schemas.openxmlformats.org/drawingml/2006/main">
              <a:ext uri="{FF2B5EF4-FFF2-40B4-BE49-F238E27FC236}">
                <a16:creationId xmlns:a16="http://schemas.microsoft.com/office/drawing/2014/main" id="{C46259FC-C593-4808-B8C5-C00FB86191A3}"/>
              </a:ext>
            </a:extLst>
          </p:cNvPr>
          <p:cNvSpPr>
            <a:spLocks xmlns:a="http://schemas.openxmlformats.org/drawingml/2006/main" noGrp="1"/>
          </p:cNvSpPr>
          <p:nvPr/>
        </p:nvSpPr>
        <p:spPr>
          <a:xfrm xmlns:a="http://schemas.openxmlformats.org/drawingml/2006/main">
            <a:off x="6343650" y="2609850"/>
            <a:ext cx="18383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4000"/>
              </a:lnSpc>
              <a:buNone/>
              <a:defRPr sz="1575" b="1">
                <a:solidFill>
                  <a:srgbClr val="C46A00"/>
                </a:solidFill>
                <a:latin typeface="Helvetica Neue"/>
                <a:ea typeface="Helvetica Neue"/>
                <a:cs typeface="Helvetica Neue"/>
              </a:defRPr>
            </a:pPr>
            <a:r>
              <a:rPr sz="1575" b="1">
                <a:solidFill>
                  <a:srgbClr val="C46A00"/>
                </a:solidFill>
                <a:latin typeface="Helvetica Neue"/>
                <a:ea typeface="Helvetica Neue"/>
                <a:cs typeface="Helvetica Neue"/>
              </a:rPr>
              <a:t>Sell the dividend</a:t>
            </a:r>
          </a:p>
        </p:txBody>
      </p:sp>
      <p:sp>
        <p:nvSpPr>
          <p:cNvPr id="13" name="Redeem separately">
            <a:extLst xmlns:a="http://schemas.openxmlformats.org/drawingml/2006/main">
              <a:ext uri="{FF2B5EF4-FFF2-40B4-BE49-F238E27FC236}">
                <a16:creationId xmlns:a16="http://schemas.microsoft.com/office/drawing/2014/main" id="{7CBF3823-F4AA-4B67-A2E4-4AA8C85BC8AA}"/>
              </a:ext>
            </a:extLst>
          </p:cNvPr>
          <p:cNvSpPr>
            <a:spLocks xmlns:a="http://schemas.openxmlformats.org/drawingml/2006/main" noGrp="1"/>
          </p:cNvSpPr>
          <p:nvPr/>
        </p:nvSpPr>
        <p:spPr>
          <a:xfrm xmlns:a="http://schemas.openxmlformats.org/drawingml/2006/main">
            <a:off x="8905875" y="2419350"/>
            <a:ext cx="1714500" cy="838200"/>
          </a:xfrm>
          <a:prstGeom xmlns:a="http://schemas.openxmlformats.org/drawingml/2006/main" prst="roundRect">
            <a:avLst>
              <a:gd name="adj" fmla="val 13636"/>
            </a:avLst>
          </a:prstGeom>
          <a:solidFill xmlns:a="http://schemas.openxmlformats.org/drawingml/2006/main">
            <a:srgbClr val="FFFEFB"/>
          </a:solidFill>
          <a:ln xmlns:a="http://schemas.openxmlformats.org/drawingml/2006/main" w="9525">
            <a:solidFill>
              <a:srgbClr val="101820"/>
            </a:solidFill>
            <a:prstDash val="solid"/>
          </a:ln>
        </p:spPr>
      </p:sp>
      <p:sp>
        <p:nvSpPr>
          <p:cNvPr id="14" name="">
            <a:extLst xmlns:a="http://schemas.openxmlformats.org/drawingml/2006/main">
              <a:ext uri="{FF2B5EF4-FFF2-40B4-BE49-F238E27FC236}">
                <a16:creationId xmlns:a16="http://schemas.microsoft.com/office/drawing/2014/main" id="{140B2921-DDEA-4E5A-A6E8-FE30DA8DFBBA}"/>
              </a:ext>
            </a:extLst>
          </p:cNvPr>
          <p:cNvSpPr>
            <a:spLocks xmlns:a="http://schemas.openxmlformats.org/drawingml/2006/main" noGrp="1"/>
          </p:cNvSpPr>
          <p:nvPr/>
        </p:nvSpPr>
        <p:spPr>
          <a:xfrm xmlns:a="http://schemas.openxmlformats.org/drawingml/2006/main">
            <a:off x="9058275" y="2609850"/>
            <a:ext cx="14097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4000"/>
              </a:lnSpc>
              <a:buNone/>
              <a:defRPr sz="1725" b="1">
                <a:solidFill>
                  <a:srgbClr val="101820"/>
                </a:solidFill>
                <a:latin typeface="Helvetica Neue"/>
                <a:ea typeface="Helvetica Neue"/>
                <a:cs typeface="Helvetica Neue"/>
              </a:defRPr>
            </a:pPr>
            <a:r>
              <a:rPr sz="1725" b="1">
                <a:solidFill>
                  <a:srgbClr val="101820"/>
                </a:solidFill>
                <a:latin typeface="Helvetica Neue"/>
                <a:ea typeface="Helvetica Neue"/>
                <a:cs typeface="Helvetica Neue"/>
              </a:rPr>
              <a:t>Redeem separately</a:t>
            </a:r>
          </a:p>
        </p:txBody>
      </p:sp>
      <p:cxnSp>
        <p:nvCxnSpPr>
          <p:cNvPr id="46" name=""/>
          <p:cNvCxnSpPr>
            <a:stCxn xmlns:a="http://schemas.openxmlformats.org/drawingml/2006/main" id="7" idx="3"/>
            <a:endCxn xmlns:a="http://schemas.openxmlformats.org/drawingml/2006/main" id="9" idx="1"/>
          </p:cNvCxnSpPr>
          <p:nvPr/>
        </p:nvCxnSpPr>
        <p:spPr>
          <a:xfrm xmlns:a="http://schemas.openxmlformats.org/drawingml/2006/main">
            <a:off x="2476500" y="2838450"/>
            <a:ext cx="1000125" cy="0"/>
          </a:xfrm>
          <a:prstGeom xmlns:a="http://schemas.openxmlformats.org/drawingml/2006/main" prst="straightConnector1">
            <a:avLst/>
          </a:prstGeom>
          <a:ln xmlns:a="http://schemas.openxmlformats.org/drawingml/2006/main" w="19050">
            <a:solidFill>
              <a:srgbClr val="53606B"/>
            </a:solidFill>
            <a:prstDash val="solid"/>
            <a:tailEnd type="triangle" w="sm" len="sm"/>
          </a:ln>
        </p:spPr>
      </p:cxnSp>
      <p:cxnSp>
        <p:nvCxnSpPr>
          <p:cNvPr id="47" name=""/>
          <p:cNvCxnSpPr>
            <a:stCxn xmlns:a="http://schemas.openxmlformats.org/drawingml/2006/main" id="9" idx="3"/>
            <a:endCxn xmlns:a="http://schemas.openxmlformats.org/drawingml/2006/main" id="11" idx="1"/>
          </p:cNvCxnSpPr>
          <p:nvPr/>
        </p:nvCxnSpPr>
        <p:spPr>
          <a:xfrm xmlns:a="http://schemas.openxmlformats.org/drawingml/2006/main">
            <a:off x="5191125" y="2838450"/>
            <a:ext cx="1000125" cy="0"/>
          </a:xfrm>
          <a:prstGeom xmlns:a="http://schemas.openxmlformats.org/drawingml/2006/main" prst="straightConnector1">
            <a:avLst/>
          </a:prstGeom>
          <a:ln xmlns:a="http://schemas.openxmlformats.org/drawingml/2006/main" w="19050">
            <a:solidFill>
              <a:srgbClr val="53606B"/>
            </a:solidFill>
            <a:prstDash val="solid"/>
            <a:tailEnd type="triangle" w="sm" len="sm"/>
          </a:ln>
        </p:spPr>
      </p:cxnSp>
      <p:cxnSp>
        <p:nvCxnSpPr>
          <p:cNvPr id="48" name=""/>
          <p:cNvCxnSpPr>
            <a:stCxn xmlns:a="http://schemas.openxmlformats.org/drawingml/2006/main" id="11" idx="3"/>
            <a:endCxn xmlns:a="http://schemas.openxmlformats.org/drawingml/2006/main" id="13" idx="1"/>
          </p:cNvCxnSpPr>
          <p:nvPr/>
        </p:nvCxnSpPr>
        <p:spPr>
          <a:xfrm xmlns:a="http://schemas.openxmlformats.org/drawingml/2006/main">
            <a:off x="8334375" y="2838450"/>
            <a:ext cx="571500" cy="0"/>
          </a:xfrm>
          <a:prstGeom xmlns:a="http://schemas.openxmlformats.org/drawingml/2006/main" prst="straightConnector1">
            <a:avLst/>
          </a:prstGeom>
          <a:ln xmlns:a="http://schemas.openxmlformats.org/drawingml/2006/main" w="19050">
            <a:solidFill>
              <a:srgbClr val="53606B"/>
            </a:solidFill>
            <a:prstDash val="solid"/>
            <a:tailEnd type="triangle" w="sm" len="sm"/>
          </a:ln>
        </p:spPr>
      </p:cxnSp>
      <p:sp>
        <p:nvSpPr>
          <p:cNvPr id="18" name="">
            <a:extLst xmlns:a="http://schemas.openxmlformats.org/drawingml/2006/main">
              <a:ext uri="{FF2B5EF4-FFF2-40B4-BE49-F238E27FC236}">
                <a16:creationId xmlns:a16="http://schemas.microsoft.com/office/drawing/2014/main" id="{19C62A90-8985-4E53-A55D-7E69F1BF6D9F}"/>
              </a:ext>
            </a:extLst>
          </p:cNvPr>
          <p:cNvSpPr>
            <a:spLocks xmlns:a="http://schemas.openxmlformats.org/drawingml/2006/main" noGrp="1"/>
          </p:cNvSpPr>
          <p:nvPr/>
        </p:nvSpPr>
        <p:spPr>
          <a:xfrm xmlns:a="http://schemas.openxmlformats.org/drawingml/2006/main">
            <a:off x="762000" y="3638550"/>
            <a:ext cx="1714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00" b="1">
                <a:solidFill>
                  <a:srgbClr val="53606B"/>
                </a:solidFill>
                <a:latin typeface="Helvetica Neue"/>
                <a:ea typeface="Helvetica Neue"/>
                <a:cs typeface="Helvetica Neue"/>
              </a:defRPr>
            </a:pPr>
            <a:r>
              <a:rPr sz="900" b="1">
                <a:solidFill>
                  <a:srgbClr val="53606B"/>
                </a:solidFill>
                <a:latin typeface="Helvetica Neue"/>
                <a:ea typeface="Helvetica Neue"/>
                <a:cs typeface="Helvetica Neue"/>
              </a:rPr>
              <a:t>ROADMAP</a:t>
            </a:r>
          </a:p>
        </p:txBody>
      </p:sp>
      <p:sp>
        <p:nvSpPr>
          <p:cNvPr id="19" name="">
            <a:extLst xmlns:a="http://schemas.openxmlformats.org/drawingml/2006/main">
              <a:ext uri="{FF2B5EF4-FFF2-40B4-BE49-F238E27FC236}">
                <a16:creationId xmlns:a16="http://schemas.microsoft.com/office/drawing/2014/main" id="{CFBCE84E-CB17-45CE-8795-C9BD1D53A2DF}"/>
              </a:ext>
            </a:extLst>
          </p:cNvPr>
          <p:cNvSpPr>
            <a:spLocks xmlns:a="http://schemas.openxmlformats.org/drawingml/2006/main" noGrp="1"/>
          </p:cNvSpPr>
          <p:nvPr/>
        </p:nvSpPr>
        <p:spPr>
          <a:xfrm xmlns:a="http://schemas.openxmlformats.org/drawingml/2006/main">
            <a:off x="762000" y="3943350"/>
            <a:ext cx="10382250" cy="9525"/>
          </a:xfrm>
          <a:prstGeom xmlns:a="http://schemas.openxmlformats.org/drawingml/2006/main" prst="rect">
            <a:avLst/>
          </a:prstGeom>
          <a:solidFill xmlns:a="http://schemas.openxmlformats.org/drawingml/2006/main">
            <a:srgbClr val="D7D2C8"/>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66FF8B6B-E348-4D28-A93E-592B848AC5AA}"/>
              </a:ext>
            </a:extLst>
          </p:cNvPr>
          <p:cNvSpPr>
            <a:spLocks xmlns:a="http://schemas.openxmlformats.org/drawingml/2006/main" noGrp="1"/>
          </p:cNvSpPr>
          <p:nvPr/>
        </p:nvSpPr>
        <p:spPr>
          <a:xfrm xmlns:a="http://schemas.openxmlformats.org/drawingml/2006/main">
            <a:off x="762000" y="4143375"/>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975" b="1">
                <a:solidFill>
                  <a:srgbClr val="53606B"/>
                </a:solidFill>
                <a:latin typeface="Helvetica Neue"/>
                <a:ea typeface="Helvetica Neue"/>
                <a:cs typeface="Helvetica Neue"/>
              </a:defRPr>
            </a:pPr>
            <a:r>
              <a:rPr sz="975" b="1">
                <a:solidFill>
                  <a:srgbClr val="53606B"/>
                </a:solidFill>
                <a:latin typeface="Helvetica Neue"/>
                <a:ea typeface="Helvetica Neue"/>
                <a:cs typeface="Helvetica Neue"/>
              </a:rPr>
              <a:t>01</a:t>
            </a:r>
          </a:p>
        </p:txBody>
      </p:sp>
      <p:sp>
        <p:nvSpPr>
          <p:cNvPr id="21" name="">
            <a:extLst xmlns:a="http://schemas.openxmlformats.org/drawingml/2006/main">
              <a:ext uri="{FF2B5EF4-FFF2-40B4-BE49-F238E27FC236}">
                <a16:creationId xmlns:a16="http://schemas.microsoft.com/office/drawing/2014/main" id="{2CC3FD1E-3884-495D-AF19-1BBE4066DEF8}"/>
              </a:ext>
            </a:extLst>
          </p:cNvPr>
          <p:cNvSpPr>
            <a:spLocks xmlns:a="http://schemas.openxmlformats.org/drawingml/2006/main" noGrp="1"/>
          </p:cNvSpPr>
          <p:nvPr/>
        </p:nvSpPr>
        <p:spPr>
          <a:xfrm xmlns:a="http://schemas.openxmlformats.org/drawingml/2006/main">
            <a:off x="1381125" y="4124325"/>
            <a:ext cx="2714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500" b="1">
                <a:solidFill>
                  <a:srgbClr val="2457F5"/>
                </a:solidFill>
                <a:latin typeface="Helvetica Neue"/>
                <a:ea typeface="Helvetica Neue"/>
                <a:cs typeface="Helvetica Neue"/>
              </a:defRPr>
            </a:pPr>
            <a:r>
              <a:rPr sz="1500" b="1">
                <a:solidFill>
                  <a:srgbClr val="2457F5"/>
                </a:solidFill>
                <a:latin typeface="Helvetica Neue"/>
                <a:ea typeface="Helvetica Neue"/>
                <a:cs typeface="Helvetica Neue"/>
              </a:rPr>
              <a:t>More xStocks</a:t>
            </a:r>
          </a:p>
        </p:txBody>
      </p:sp>
      <p:sp>
        <p:nvSpPr>
          <p:cNvPr id="22" name="">
            <a:extLst xmlns:a="http://schemas.openxmlformats.org/drawingml/2006/main">
              <a:ext uri="{FF2B5EF4-FFF2-40B4-BE49-F238E27FC236}">
                <a16:creationId xmlns:a16="http://schemas.microsoft.com/office/drawing/2014/main" id="{3F9A0430-FFE6-4403-99BF-3B0C09A64F7E}"/>
              </a:ext>
            </a:extLst>
          </p:cNvPr>
          <p:cNvSpPr>
            <a:spLocks xmlns:a="http://schemas.openxmlformats.org/drawingml/2006/main" noGrp="1"/>
          </p:cNvSpPr>
          <p:nvPr/>
        </p:nvSpPr>
        <p:spPr>
          <a:xfrm xmlns:a="http://schemas.openxmlformats.org/drawingml/2006/main">
            <a:off x="4362450" y="4124325"/>
            <a:ext cx="666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425" b="0">
                <a:solidFill>
                  <a:srgbClr val="53606B"/>
                </a:solidFill>
                <a:latin typeface="Helvetica Neue"/>
                <a:ea typeface="Helvetica Neue"/>
                <a:cs typeface="Helvetica Neue"/>
              </a:defRPr>
            </a:pPr>
            <a:r>
              <a:rPr sz="1425" b="0">
                <a:solidFill>
                  <a:srgbClr val="53606B"/>
                </a:solidFill>
                <a:latin typeface="Helvetica Neue"/>
                <a:ea typeface="Helvetica Neue"/>
                <a:cs typeface="Helvetica Neue"/>
              </a:rPr>
              <a:t>Apple · Microsoft · NVIDIA</a:t>
            </a:r>
          </a:p>
        </p:txBody>
      </p:sp>
      <p:sp>
        <p:nvSpPr>
          <p:cNvPr id="23" name="">
            <a:extLst xmlns:a="http://schemas.openxmlformats.org/drawingml/2006/main">
              <a:ext uri="{FF2B5EF4-FFF2-40B4-BE49-F238E27FC236}">
                <a16:creationId xmlns:a16="http://schemas.microsoft.com/office/drawing/2014/main" id="{BBB35D79-6EA6-48B1-A17C-20BE979E26CC}"/>
              </a:ext>
            </a:extLst>
          </p:cNvPr>
          <p:cNvSpPr>
            <a:spLocks xmlns:a="http://schemas.openxmlformats.org/drawingml/2006/main" noGrp="1"/>
          </p:cNvSpPr>
          <p:nvPr/>
        </p:nvSpPr>
        <p:spPr>
          <a:xfrm xmlns:a="http://schemas.openxmlformats.org/drawingml/2006/main">
            <a:off x="1381125" y="4514850"/>
            <a:ext cx="9667875" cy="9525"/>
          </a:xfrm>
          <a:prstGeom xmlns:a="http://schemas.openxmlformats.org/drawingml/2006/main" prst="rect">
            <a:avLst/>
          </a:prstGeom>
          <a:solidFill xmlns:a="http://schemas.openxmlformats.org/drawingml/2006/main">
            <a:srgbClr val="D7D2C8"/>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B12134A5-32C0-4353-8903-887597C3CF1A}"/>
              </a:ext>
            </a:extLst>
          </p:cNvPr>
          <p:cNvSpPr>
            <a:spLocks xmlns:a="http://schemas.openxmlformats.org/drawingml/2006/main" noGrp="1"/>
          </p:cNvSpPr>
          <p:nvPr/>
        </p:nvSpPr>
        <p:spPr>
          <a:xfrm xmlns:a="http://schemas.openxmlformats.org/drawingml/2006/main">
            <a:off x="762000" y="4686300"/>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975" b="1">
                <a:solidFill>
                  <a:srgbClr val="53606B"/>
                </a:solidFill>
                <a:latin typeface="Helvetica Neue"/>
                <a:ea typeface="Helvetica Neue"/>
                <a:cs typeface="Helvetica Neue"/>
              </a:defRPr>
            </a:pPr>
            <a:r>
              <a:rPr sz="975" b="1">
                <a:solidFill>
                  <a:srgbClr val="53606B"/>
                </a:solidFill>
                <a:latin typeface="Helvetica Neue"/>
                <a:ea typeface="Helvetica Neue"/>
                <a:cs typeface="Helvetica Neue"/>
              </a:rPr>
              <a:t>02</a:t>
            </a:r>
          </a:p>
        </p:txBody>
      </p:sp>
      <p:sp>
        <p:nvSpPr>
          <p:cNvPr id="25" name="">
            <a:extLst xmlns:a="http://schemas.openxmlformats.org/drawingml/2006/main">
              <a:ext uri="{FF2B5EF4-FFF2-40B4-BE49-F238E27FC236}">
                <a16:creationId xmlns:a16="http://schemas.microsoft.com/office/drawing/2014/main" id="{A46A4749-2AA3-421B-BE59-526527B07375}"/>
              </a:ext>
            </a:extLst>
          </p:cNvPr>
          <p:cNvSpPr>
            <a:spLocks xmlns:a="http://schemas.openxmlformats.org/drawingml/2006/main" noGrp="1"/>
          </p:cNvSpPr>
          <p:nvPr/>
        </p:nvSpPr>
        <p:spPr>
          <a:xfrm xmlns:a="http://schemas.openxmlformats.org/drawingml/2006/main">
            <a:off x="1381125" y="4667250"/>
            <a:ext cx="2714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500" b="1">
                <a:solidFill>
                  <a:srgbClr val="7A4000"/>
                </a:solidFill>
                <a:latin typeface="Helvetica Neue"/>
                <a:ea typeface="Helvetica Neue"/>
                <a:cs typeface="Helvetica Neue"/>
              </a:defRPr>
            </a:pPr>
            <a:r>
              <a:rPr sz="1500" b="1">
                <a:solidFill>
                  <a:srgbClr val="7A4000"/>
                </a:solidFill>
                <a:latin typeface="Helvetica Neue"/>
                <a:ea typeface="Helvetica Neue"/>
                <a:cs typeface="Helvetica Neue"/>
              </a:rPr>
              <a:t>More Solana issuers</a:t>
            </a:r>
          </a:p>
        </p:txBody>
      </p:sp>
      <p:sp>
        <p:nvSpPr>
          <p:cNvPr id="26" name="">
            <a:extLst xmlns:a="http://schemas.openxmlformats.org/drawingml/2006/main">
              <a:ext uri="{FF2B5EF4-FFF2-40B4-BE49-F238E27FC236}">
                <a16:creationId xmlns:a16="http://schemas.microsoft.com/office/drawing/2014/main" id="{5092DF71-E755-4DA0-B501-5080D3F0DD70}"/>
              </a:ext>
            </a:extLst>
          </p:cNvPr>
          <p:cNvSpPr>
            <a:spLocks xmlns:a="http://schemas.openxmlformats.org/drawingml/2006/main" noGrp="1"/>
          </p:cNvSpPr>
          <p:nvPr/>
        </p:nvSpPr>
        <p:spPr>
          <a:xfrm xmlns:a="http://schemas.openxmlformats.org/drawingml/2006/main">
            <a:off x="4362450" y="4667250"/>
            <a:ext cx="666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425" b="0">
                <a:solidFill>
                  <a:srgbClr val="53606B"/>
                </a:solidFill>
                <a:latin typeface="Helvetica Neue"/>
                <a:ea typeface="Helvetica Neue"/>
                <a:cs typeface="Helvetica Neue"/>
              </a:defRPr>
            </a:pPr>
            <a:r>
              <a:rPr sz="1425" b="0">
                <a:solidFill>
                  <a:srgbClr val="53606B"/>
                </a:solidFill>
                <a:latin typeface="Helvetica Neue"/>
                <a:ea typeface="Helvetica Neue"/>
                <a:cs typeface="Helvetica Neue"/>
              </a:rPr>
              <a:t>Backpack · Ondo</a:t>
            </a:r>
          </a:p>
        </p:txBody>
      </p:sp>
      <p:sp>
        <p:nvSpPr>
          <p:cNvPr id="27" name="">
            <a:extLst xmlns:a="http://schemas.openxmlformats.org/drawingml/2006/main">
              <a:ext uri="{FF2B5EF4-FFF2-40B4-BE49-F238E27FC236}">
                <a16:creationId xmlns:a16="http://schemas.microsoft.com/office/drawing/2014/main" id="{126CE7A7-68A2-40DF-B1C6-309273F56C84}"/>
              </a:ext>
            </a:extLst>
          </p:cNvPr>
          <p:cNvSpPr>
            <a:spLocks xmlns:a="http://schemas.openxmlformats.org/drawingml/2006/main" noGrp="1"/>
          </p:cNvSpPr>
          <p:nvPr/>
        </p:nvSpPr>
        <p:spPr>
          <a:xfrm xmlns:a="http://schemas.openxmlformats.org/drawingml/2006/main">
            <a:off x="1381125" y="5057775"/>
            <a:ext cx="9667875" cy="9525"/>
          </a:xfrm>
          <a:prstGeom xmlns:a="http://schemas.openxmlformats.org/drawingml/2006/main" prst="rect">
            <a:avLst/>
          </a:prstGeom>
          <a:solidFill xmlns:a="http://schemas.openxmlformats.org/drawingml/2006/main">
            <a:srgbClr val="D7D2C8"/>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6424390D-CFA3-405C-9251-9213857C5F5A}"/>
              </a:ext>
            </a:extLst>
          </p:cNvPr>
          <p:cNvSpPr>
            <a:spLocks xmlns:a="http://schemas.openxmlformats.org/drawingml/2006/main" noGrp="1"/>
          </p:cNvSpPr>
          <p:nvPr/>
        </p:nvSpPr>
        <p:spPr>
          <a:xfrm xmlns:a="http://schemas.openxmlformats.org/drawingml/2006/main">
            <a:off x="762000" y="5229225"/>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975" b="1">
                <a:solidFill>
                  <a:srgbClr val="53606B"/>
                </a:solidFill>
                <a:latin typeface="Helvetica Neue"/>
                <a:ea typeface="Helvetica Neue"/>
                <a:cs typeface="Helvetica Neue"/>
              </a:defRPr>
            </a:pPr>
            <a:r>
              <a:rPr sz="975" b="1">
                <a:solidFill>
                  <a:srgbClr val="53606B"/>
                </a:solidFill>
                <a:latin typeface="Helvetica Neue"/>
                <a:ea typeface="Helvetica Neue"/>
                <a:cs typeface="Helvetica Neue"/>
              </a:rPr>
              <a:t>03</a:t>
            </a:r>
          </a:p>
        </p:txBody>
      </p:sp>
      <p:sp>
        <p:nvSpPr>
          <p:cNvPr id="29" name="">
            <a:extLst xmlns:a="http://schemas.openxmlformats.org/drawingml/2006/main">
              <a:ext uri="{FF2B5EF4-FFF2-40B4-BE49-F238E27FC236}">
                <a16:creationId xmlns:a16="http://schemas.microsoft.com/office/drawing/2014/main" id="{5AD63C5C-9A4A-4644-B622-F7285A551F9B}"/>
              </a:ext>
            </a:extLst>
          </p:cNvPr>
          <p:cNvSpPr>
            <a:spLocks xmlns:a="http://schemas.openxmlformats.org/drawingml/2006/main" noGrp="1"/>
          </p:cNvSpPr>
          <p:nvPr/>
        </p:nvSpPr>
        <p:spPr>
          <a:xfrm xmlns:a="http://schemas.openxmlformats.org/drawingml/2006/main">
            <a:off x="1381125" y="5210175"/>
            <a:ext cx="2714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500" b="1">
                <a:solidFill>
                  <a:srgbClr val="101820"/>
                </a:solidFill>
                <a:latin typeface="Helvetica Neue"/>
                <a:ea typeface="Helvetica Neue"/>
                <a:cs typeface="Helvetica Neue"/>
              </a:defRPr>
            </a:pPr>
            <a:r>
              <a:rPr sz="1500" b="1">
                <a:solidFill>
                  <a:srgbClr val="101820"/>
                </a:solidFill>
                <a:latin typeface="Helvetica Neue"/>
                <a:ea typeface="Helvetica Neue"/>
                <a:cs typeface="Helvetica Neue"/>
              </a:rPr>
              <a:t>Across networks</a:t>
            </a:r>
          </a:p>
        </p:txBody>
      </p:sp>
      <p:sp>
        <p:nvSpPr>
          <p:cNvPr id="30" name="">
            <a:extLst xmlns:a="http://schemas.openxmlformats.org/drawingml/2006/main">
              <a:ext uri="{FF2B5EF4-FFF2-40B4-BE49-F238E27FC236}">
                <a16:creationId xmlns:a16="http://schemas.microsoft.com/office/drawing/2014/main" id="{58E7F8B7-E311-4767-93E1-5C5DF81181AD}"/>
              </a:ext>
            </a:extLst>
          </p:cNvPr>
          <p:cNvSpPr>
            <a:spLocks xmlns:a="http://schemas.openxmlformats.org/drawingml/2006/main" noGrp="1"/>
          </p:cNvSpPr>
          <p:nvPr/>
        </p:nvSpPr>
        <p:spPr>
          <a:xfrm xmlns:a="http://schemas.openxmlformats.org/drawingml/2006/main">
            <a:off x="4362450" y="5210175"/>
            <a:ext cx="666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425" b="0">
                <a:solidFill>
                  <a:srgbClr val="53606B"/>
                </a:solidFill>
                <a:latin typeface="Helvetica Neue"/>
                <a:ea typeface="Helvetica Neue"/>
                <a:cs typeface="Helvetica Neue"/>
              </a:defRPr>
            </a:pPr>
            <a:r>
              <a:rPr sz="1425" b="0">
                <a:solidFill>
                  <a:srgbClr val="53606B"/>
                </a:solidFill>
                <a:latin typeface="Helvetica Neue"/>
                <a:ea typeface="Helvetica Neue"/>
                <a:cs typeface="Helvetica Neue"/>
              </a:rPr>
              <a:t>Coinbase on Base · Robinhood Chain stock tokens</a:t>
            </a:r>
          </a:p>
        </p:txBody>
      </p:sp>
      <p:sp>
        <p:nvSpPr>
          <p:cNvPr id="31" name="">
            <a:extLst xmlns:a="http://schemas.openxmlformats.org/drawingml/2006/main">
              <a:ext uri="{FF2B5EF4-FFF2-40B4-BE49-F238E27FC236}">
                <a16:creationId xmlns:a16="http://schemas.microsoft.com/office/drawing/2014/main" id="{44E1ADB1-AE1D-4A7E-A342-F04057F5BB3C}"/>
              </a:ext>
            </a:extLst>
          </p:cNvPr>
          <p:cNvSpPr>
            <a:spLocks xmlns:a="http://schemas.openxmlformats.org/drawingml/2006/main" noGrp="1"/>
          </p:cNvSpPr>
          <p:nvPr/>
        </p:nvSpPr>
        <p:spPr>
          <a:xfrm xmlns:a="http://schemas.openxmlformats.org/drawingml/2006/main">
            <a:off x="762000" y="6038850"/>
            <a:ext cx="9334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875" b="1">
                <a:solidFill>
                  <a:srgbClr val="101820"/>
                </a:solidFill>
                <a:latin typeface="Helvetica Neue"/>
                <a:ea typeface="Helvetica Neue"/>
                <a:cs typeface="Helvetica Neue"/>
              </a:defRPr>
            </a:pPr>
            <a:r>
              <a:rPr sz="1875" b="1">
                <a:solidFill>
                  <a:srgbClr val="101820"/>
                </a:solidFill>
                <a:latin typeface="Helvetica Neue"/>
                <a:ea typeface="Helvetica Neue"/>
                <a:cs typeface="Helvetica Neue"/>
              </a:rPr>
              <a:t>Solana as the home base for dividend liquidity.</a:t>
            </a:r>
          </a:p>
        </p:txBody>
      </p:sp>
    </p:spTree>
    <p:extLst>
      <p:ext uri="{BB962C8B-B14F-4D97-AF65-F5344CB8AC3E}">
        <p14:creationId xmlns:p14="http://schemas.microsoft.com/office/powerpoint/2010/main" val="1621300542"/>
      </p:ext>
    </p:extLst>
  </p:cSld>
</p:sld>
</file>

<file path=ppt/theme/theme1.xml><?xml version="1.0" encoding="utf-8"?>
<a:theme xmlns:a="http://schemas.openxmlformats.org/drawingml/2006/main" name="ChatGPT">
  <a:themeElements>
    <a:clrScheme name="DivX">
      <a:dk1>
        <a:srgbClr val="101820"/>
      </a:dk1>
      <a:lt1>
        <a:srgbClr val="FFFEFB"/>
      </a:lt1>
      <a:dk2>
        <a:srgbClr val="53606B"/>
      </a:dk2>
      <a:lt2>
        <a:srgbClr val="F6F3EC"/>
      </a:lt2>
      <a:accent1>
        <a:srgbClr val="2457F5"/>
      </a:accent1>
      <a:accent2>
        <a:srgbClr val="C46A00"/>
      </a:accent2>
      <a:accent3>
        <a:srgbClr val="087F5B"/>
      </a:accent3>
      <a:accent4>
        <a:srgbClr val="B42318"/>
      </a:accent4>
      <a:accent5>
        <a:srgbClr val="6B4EFF"/>
      </a:accent5>
      <a:accent6>
        <a:srgbClr val="53606B"/>
      </a:accent6>
      <a:hlink>
        <a:srgbClr val="2457F5"/>
      </a:hlink>
      <a:folHlink>
        <a:srgbClr val="1639A6"/>
      </a:folHlink>
    </a:clrScheme>
    <a:fontScheme name="Office">
      <a:majorFont>
        <a:latin typeface="Calibri Light"/>
        <a:ea typeface="Calibri Light"/>
        <a:cs typeface="Calibri Light"/>
      </a:majorFont>
      <a:minorFont>
        <a:latin typeface="Calibri"/>
        <a:ea typeface="Calibri"/>
        <a:cs typeface="Calibri"/>
      </a:minorFont>
    </a:fontScheme>
    <a:fmtScheme name="DivX">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2026-09-16T05:20:15.6720000Z</dcterms:created>
  <dcterms:modified xsi:type="dcterms:W3CDTF">2026-09-16T05:20:15.6720000Z</dcterms:modified>
</coreProperties>
</file>