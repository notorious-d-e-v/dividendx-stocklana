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d48526fcdc42d4" /><Relationship Type="http://schemas.openxmlformats.org/officeDocument/2006/relationships/extended-properties" Target="/docProps/app.xml" Id="Rafe9e1dc4104441e" /><Relationship Type="http://schemas.openxmlformats.org/officeDocument/2006/relationships/officeDocument" Target="/ppt/presentation.xml" Id="Rde2baebdd4d54afd" /></Relationships>
</file>

<file path=ppt/presentation.xml><?xml version="1.0" encoding="utf-8"?>
<p:presentation xmlns:p="http://schemas.openxmlformats.org/presentationml/2006/main">
  <p:sldMasterIdLst>
    <p:sldMasterId xmlns:r="http://schemas.openxmlformats.org/officeDocument/2006/relationships" id="2147483648" r:id="Rce5a7016dab0419a"/>
  </p:sldMasterIdLst>
  <p:notesMasterIdLst>
    <p:notesMasterId xmlns:r="http://schemas.openxmlformats.org/officeDocument/2006/relationships" r:id="Rd7603cd292064ed8"/>
  </p:notesMasterIdLst>
  <p:sldIdLst>
    <p:sldId xmlns:r="http://schemas.openxmlformats.org/officeDocument/2006/relationships" id="256" r:id="Rdd5dde7db7d14d97"/>
    <p:sldId xmlns:r="http://schemas.openxmlformats.org/officeDocument/2006/relationships" id="257" r:id="R9108b5df3f5c4435"/>
    <p:sldId xmlns:r="http://schemas.openxmlformats.org/officeDocument/2006/relationships" id="258" r:id="R024d3b33159f4069"/>
    <p:sldId xmlns:r="http://schemas.openxmlformats.org/officeDocument/2006/relationships" id="259" r:id="Rb1b7a284241b4313"/>
    <p:sldId xmlns:r="http://schemas.openxmlformats.org/officeDocument/2006/relationships" id="260" r:id="Rab242021e155491f"/>
    <p:sldId xmlns:r="http://schemas.openxmlformats.org/officeDocument/2006/relationships" id="261" r:id="R5a7598864dd94f2d"/>
    <p:sldId xmlns:r="http://schemas.openxmlformats.org/officeDocument/2006/relationships" id="262" r:id="R8ddcec5423c4451f"/>
    <p:sldId xmlns:r="http://schemas.openxmlformats.org/officeDocument/2006/relationships" id="263" r:id="R8cbcf6a630d24f17"/>
    <p:sldId xmlns:r="http://schemas.openxmlformats.org/officeDocument/2006/relationships" id="264" r:id="Raffa7e28f8b144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cbe5ffe5074e52" /><Relationship Type="http://schemas.openxmlformats.org/officeDocument/2006/relationships/slideMaster" Target="/ppt/slideMasters/slideMaster1.xml" Id="Rce5a7016dab0419a" /><Relationship Type="http://schemas.openxmlformats.org/officeDocument/2006/relationships/notesMaster" Target="/ppt/notesMasters/notesMaster1.xml" Id="Rd7603cd292064ed8" /><Relationship Type="http://schemas.openxmlformats.org/officeDocument/2006/relationships/presProps" Target="/ppt/presProps.xml" Id="R88695c461def4c50" /><Relationship Type="http://schemas.openxmlformats.org/officeDocument/2006/relationships/tableStyles" Target="/ppt/tableStyles.xml" Id="R533144a402534eef" /><Relationship Type="http://schemas.openxmlformats.org/officeDocument/2006/relationships/slide" Target="/ppt/slides/slide1.xml" Id="Rdd5dde7db7d14d97" /><Relationship Type="http://schemas.openxmlformats.org/officeDocument/2006/relationships/slide" Target="/ppt/slides/slide2.xml" Id="R9108b5df3f5c4435" /><Relationship Type="http://schemas.openxmlformats.org/officeDocument/2006/relationships/slide" Target="/ppt/slides/slide3.xml" Id="R024d3b33159f4069" /><Relationship Type="http://schemas.openxmlformats.org/officeDocument/2006/relationships/slide" Target="/ppt/slides/slide4.xml" Id="Rb1b7a284241b4313" /><Relationship Type="http://schemas.openxmlformats.org/officeDocument/2006/relationships/slide" Target="/ppt/slides/slide5.xml" Id="Rab242021e155491f" /><Relationship Type="http://schemas.openxmlformats.org/officeDocument/2006/relationships/slide" Target="/ppt/slides/slide6.xml" Id="R5a7598864dd94f2d" /><Relationship Type="http://schemas.openxmlformats.org/officeDocument/2006/relationships/slide" Target="/ppt/slides/slide7.xml" Id="R8ddcec5423c4451f" /><Relationship Type="http://schemas.openxmlformats.org/officeDocument/2006/relationships/slide" Target="/ppt/slides/slide8.xml" Id="R8cbcf6a630d24f17" /><Relationship Type="http://schemas.openxmlformats.org/officeDocument/2006/relationships/slide" Target="/ppt/slides/slide9.xml" Id="Raffa7e28f8b144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d540167f214b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6efc9b6896430c" /><Relationship Type="http://schemas.openxmlformats.org/officeDocument/2006/relationships/notesMaster" Target="/ppt/notesMasters/notesMaster1.xml" Id="R884dde38c61542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c941a5409e4e43" /><Relationship Type="http://schemas.openxmlformats.org/officeDocument/2006/relationships/notesMaster" Target="/ppt/notesMasters/notesMaster1.xml" Id="R4a9fec6018b843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8adec266d48c5" /><Relationship Type="http://schemas.openxmlformats.org/officeDocument/2006/relationships/notesMaster" Target="/ppt/notesMasters/notesMaster1.xml" Id="Raf73a7ac191242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b9cb06ffb54fe0" /><Relationship Type="http://schemas.openxmlformats.org/officeDocument/2006/relationships/notesMaster" Target="/ppt/notesMasters/notesMaster1.xml" Id="R9a0b448deaf547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bd3f4eef844dda" /><Relationship Type="http://schemas.openxmlformats.org/officeDocument/2006/relationships/notesMaster" Target="/ppt/notesMasters/notesMaster1.xml" Id="R13d4814ace174f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fae18474524d26" /><Relationship Type="http://schemas.openxmlformats.org/officeDocument/2006/relationships/notesMaster" Target="/ppt/notesMasters/notesMaster1.xml" Id="R3a89e98d1a044a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7058476cdb477f" /><Relationship Type="http://schemas.openxmlformats.org/officeDocument/2006/relationships/notesMaster" Target="/ppt/notesMasters/notesMaster1.xml" Id="Rdd7216a475bb46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1c88dc691c4f49" /><Relationship Type="http://schemas.openxmlformats.org/officeDocument/2006/relationships/notesMaster" Target="/ppt/notesMasters/notesMaster1.xml" Id="Ra451735b27ba47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68fe013d27489b" /><Relationship Type="http://schemas.openxmlformats.org/officeDocument/2006/relationships/notesMaster" Target="/ppt/notesMasters/notesMaster1.xml" Id="R430c94038d4b43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keep the stock exposure and sell the right to a year of dividends. A dividend is a payment a company makes to its shareholders. We built this for Stocklana on Solana. The program and demo work today with test assets.</a:t>
            </a:r>
          </a:p>
          <a:p xmlns:a="http://schemas.openxmlformats.org/drawingml/2006/main">
            <a:r>
              <a:t>Presenter notes: Working annual-claims prototype with synthetic test assets. No mainnet launch, qualified live issuer settlement or partnership claim.</a:t>
            </a:r>
          </a:p>
          <a:p xmlns:a="http://schemas.openxmlformats.org/drawingml/2006/main">
            <a:r>
              <a:t>Sources and evidence: planning/mainnet-readiness-2026-09-20.md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in traditional finance. Banks use dividend contracts to manage risk from structured products. Investment funds buy exposure to future dividends. DivX brings that choice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and evidence: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this example, deposit 100 stock tokens into a vault. Receive 100 PT for the stock exposure and 100 DR for the year’s dividend rights. The stock tokens stay in the vault. You can keep, transfer or trade each side. The counts describe claims, not a promised dividend amount.</a:t>
            </a:r>
          </a:p>
          <a:p xmlns:a="http://schemas.openxmlformats.org/drawingml/2006/main">
            <a:r>
              <a:t>Presenter notes: Illustrative 100-unit display, not a 50/50 value allocation or guaranteed payout. PT and DR redeem in the deposited token; their dollar values can change. Raw issuance is one raw PT and one raw DR per deposited raw unit; displayed counts depend on series denomination and scaling.</a:t>
            </a:r>
          </a:p>
          <a:p xmlns:a="http://schemas.openxmlformats.org/drawingml/2006/main">
            <a:r>
              <a:t>Sources and evidence: spec/annual-series-accounting.md | design/illustrations/assets/deposit-vault-claims-v1.png | design/illustrations/social/deposit-split-counts-v2.jpg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More than 21 million dividend contracts traded on Eurex in 2024. In crypto, Pendle separates principal from future yield. These markets show that people want to trade income separately from an asset. DivX brings that idea to stock tokens.</a:t>
            </a:r>
          </a:p>
          <a:p xmlns:a="http://schemas.openxmlformats.org/drawingml/2006/main">
            <a:r>
              <a:t>Presenter notes: Historical precedents validate the use case, not demand for DivX or the safety of this implementation. The Eurex figure measures contracts traded, not dollars of liquidity.</a:t>
            </a:r>
          </a:p>
          <a:p xmlns:a="http://schemas.openxmlformats.org/drawingml/2006/main">
            <a:r>
              <a:t>Sources and evidence: https://www.eurex.com/ex-en/find/news-center/news/Eurex-dividend-options-received-CFTC-approval-for-trading-in-the-U.S.--4248358 | https://docs.pendle.finance/pendle-v2/ProtocolMechanics/YieldTokenization/PT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Each stock token and year has its own series. Deposits close when the year starts. DR accumulates qualified dividends with ex-dates in that year. Matching PT and DR can be put back together. Once the year ends and its records are finalized, each side can redeem separately. Accumulated dividend rights do not expire.</a:t>
            </a:r>
          </a:p>
          <a:p xmlns:a="http://schemas.openxmlformats.org/drawingml/2006/main">
            <a:r>
              <a:t>Presenter notes: Qualified official ex-dates determine the annual event set. Maturity stops new accrual eligibility; finalization requires complete, resolved records and may occur later. Cancellations, corrections, unsupported actions and cumulative rounding are tested. Unsupported actions block unsafe finalization. DR transfers include accrued allocation. Reinvested dividends settle in stock tokens, not guaranteed cash. A matching pair cannot erase previously transferred claims.</a:t>
            </a:r>
          </a:p>
          <a:p xmlns:a="http://schemas.openxmlformats.org/drawingml/2006/main">
            <a:r>
              <a:t>Sources and evidence: spec/annual-series-accounting.md | planning/program-review.md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Stock-token trading is already happening on Solana. Galaxy reports that its share reached over 95 percent during the second quarter of 2026. We want to start where the activity is and give that capital more things to do. Fast settlement, fractional positions and auditable records make both tokens useful to other builders.</a:t>
            </a:r>
          </a:p>
          <a:p xmlns:a="http://schemas.openxmlformats.org/drawingml/2006/main">
            <a:r>
              <a:t>Presenter notes: The metric is tokenized-equity trading share reached during Q2 2026. It is not total RWA liquidity, a quarter average, or current market share. Auditability means visible program records, not audit certification or proof of issuer reserves. Asset composition follows the approved why-Solana social illustration while keeping slide text editable.</a:t>
            </a:r>
          </a:p>
          <a:p xmlns:a="http://schemas.openxmlformats.org/drawingml/2006/main">
            <a:r>
              <a:t>Sources and evidence: https://www.galaxy.com/insights/research/solana-q2-2026-report-tokenized-economy-dex-rwa-stablecoins | design/illustrations/social/why-solana-v1.jpg | design/illustrations/assets/stock-and-dividend-composability-v1.png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We have demonstrated a dividend-right market using Raydium with test assets. Next, compatible markets could use Meteora for liquidity and Jupiter for routing and orders. Streamflow could support agreed-price sales. Jupiter Lock and Streamflow could schedule delivery, while Squads could manage a shared treasury. Lending comes later, with reliable prices and enough liquidity.</a:t>
            </a:r>
          </a:p>
          <a:p xmlns:a="http://schemas.openxmlformats.org/drawingml/2006/main">
            <a:r>
              <a:t>Presenter notes: No partnerships, mainnet markets or automatic listings are implied. Test Raydium execution is proved separately on public devnet and captured-program private chains. Other named integrations remain proposed, not implemented. Jupiter routing/orders need eligible venues and liquidity. Rolling products must change annual vintages; a DCA cannot reopen closed issuance. Locking schedules token delivery, not DivX dividend accrual. Treasury support requires client and mint compatibility.</a:t>
            </a:r>
          </a:p>
          <a:p xmlns:a="http://schemas.openxmlformats.org/drawingml/2006/main">
            <a:r>
              <a:t>Sources and evidence: planning/amm-review.md | presentation/divx-article-draft.md | planning/research/defi-demo-sequence.md | https://docs.meteora.ag/ | https://support.jup.ag/ | https://lock.jup.ag/ | https://docs.streamflow.finance/en/articles/11514590-create-an-order | https://docs.squads.so/main/getting-started/treasury-management-overview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guided tour lets anyone split a stock token, put it back together, see the dividend effect and trade dividend rights with a second wallet. It runs real program transactions in a private sandbox with synthetic assets and accelerated time. The public devnet app uses the real calendar. Our test catalog represents selected stocks from Ondo, Backpack and xStocks.</a:t>
            </a:r>
          </a:p>
          <a:p xmlns:a="http://schemas.openxmlformats.org/drawingml/2006/main">
            <a:r>
              <a:t>Presenter notes: The public devnet series remains on real 2027 calendar time; independent redemption is not available until maturity and finalization. The guided tour executes actual program instructions on an isolated private chain with synthetic balances/events and captured Raydium bytecode. Fifteen synthetic issuer-specific profiles span six companies; these are not real mainnet issuer mints. No selected issuer is qualified for live custody/settlement. Preview screenshot is existing approved product imagery, not fresh transaction proof.</a:t>
            </a:r>
          </a:p>
          <a:p xmlns:a="http://schemas.openxmlformats.org/drawingml/2006/main">
            <a:r>
              <a:t>Sources and evidence: https://divx.payai.network/demos/ | https://divx.payai.network/app/ | https://solscan.io/account/2EpQ2iKz921Ce2rremdnFrqG15DQq3Y2rSXbgixceDQE?cluster=devnet | planning/mainnet-readiness-2026-09-20.md | planning/guided-lazy-entry-review-2026-09-21.md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annual program, transaction SDK and guided demo are working. Before mainnet, we need complete issuer records, reviewed settlement operations, independent security review and legal and issuer checks. More liquidity, rolling dividend strategies and other networks come later. Try the guided demo at divx.payai.network. No wallet or real funds are needed.</a:t>
            </a:r>
          </a:p>
          <a:p xmlns:a="http://schemas.openxmlformats.org/drawingml/2006/main">
            <a:r>
              <a:t>Presenter notes: Mainnet requires explicit custody admission, complete qualified event feeds, attestor governance, corrections and incident policy, independent security review, monitoring, issuer-term/legal review, and liquidity. Current software is a tested prototype, not a live issuer settlement service. Named issuer families are selected research/test scope, not endorsements.</a:t>
            </a:r>
          </a:p>
          <a:p xmlns:a="http://schemas.openxmlformats.org/drawingml/2006/main">
            <a:r>
              <a:t>Sources and evidence: planning/mainnet-readiness-2026-09-20.md | https://divx.payai.network/ | https://github.com/notorious-d-e-v/divx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bb050b7b0942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5091f989d44031" /><Relationship Type="http://schemas.openxmlformats.org/officeDocument/2006/relationships/slideLayout" Target="/ppt/slideLayouts/slideLayout1.xml" Id="R4efe8309c0df45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e8309c0df45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181b25a3424cef" /><Relationship Type="http://schemas.openxmlformats.org/officeDocument/2006/relationships/notesSlide" Target="/ppt/notesSlides/notesSlide1.xml" Id="R604d9e2a0dd34b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70a11068b34c60" /><Relationship Type="http://schemas.openxmlformats.org/officeDocument/2006/relationships/notesSlide" Target="/ppt/notesSlides/notesSlide2.xml" Id="R04b540e82489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eddafd844c4202" /><Relationship Type="http://schemas.openxmlformats.org/officeDocument/2006/relationships/image" Target="/ppt/media/image.png" Id="R3822230d660c4c64" /><Relationship Type="http://schemas.openxmlformats.org/officeDocument/2006/relationships/notesSlide" Target="/ppt/notesSlides/notesSlide3.xml" Id="R98425a6ed6e24b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6a659c30714203" /><Relationship Type="http://schemas.openxmlformats.org/officeDocument/2006/relationships/notesSlide" Target="/ppt/notesSlides/notesSlide4.xml" Id="Re7837cb7084446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083c8406374cd6" /><Relationship Type="http://schemas.openxmlformats.org/officeDocument/2006/relationships/notesSlide" Target="/ppt/notesSlides/notesSlide5.xml" Id="R537597aa5cea41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b009bd32b9475f" /><Relationship Type="http://schemas.openxmlformats.org/officeDocument/2006/relationships/image" Target="/ppt/media/image2.png" Id="Rd9504d619fae4ca6" /><Relationship Type="http://schemas.openxmlformats.org/officeDocument/2006/relationships/notesSlide" Target="/ppt/notesSlides/notesSlide6.xml" Id="R8f6d9d0e594941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0a65b153a74bf7" /><Relationship Type="http://schemas.openxmlformats.org/officeDocument/2006/relationships/notesSlide" Target="/ppt/notesSlides/notesSlide7.xml" Id="R99a609a2063a44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1d43b1923f43a8" /><Relationship Type="http://schemas.openxmlformats.org/officeDocument/2006/relationships/image" Target="/ppt/media/image.jpeg" Id="R3b51eb5c69984651" /><Relationship Type="http://schemas.openxmlformats.org/officeDocument/2006/relationships/notesSlide" Target="/ppt/notesSlides/notesSlide8.xml" Id="R68b70d0831eb4c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e8063040f041d0" /><Relationship Type="http://schemas.openxmlformats.org/officeDocument/2006/relationships/notesSlide" Target="/ppt/notesSlides/notesSlide9.xml" Id="R7482136ba61d4e32"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48D554-4D37-4CB0-8541-AE60561033EE}"/>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B83D4F-4166-4C98-A6ED-95D407B70684}"/>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645D37-C8E6-46E4-ACC8-0F4E22112756}"/>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CBDEDEC-96D4-49DB-B9B8-C8089B3CE28B}"/>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7FC9C1D1-8AE9-4F26-B410-3F77E183DD61}"/>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E28CF3AC-A541-4B00-8428-32D0F0C5F4B7}"/>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D8EEABA3-6C06-4980-8436-D736D12C2FB1}"/>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503A62-F563-4280-B5AF-D8F9FC4F0B59}"/>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WORKING PROGRAM · PUBLIC DEVNET · GUIDED SANDBOX</a:t>
            </a:r>
          </a:p>
        </p:txBody>
      </p:sp>
    </p:spTree>
    <p:extLst>
      <p:ext uri="{BB962C8B-B14F-4D97-AF65-F5344CB8AC3E}">
        <p14:creationId xmlns:p14="http://schemas.microsoft.com/office/powerpoint/2010/main" val="5186363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C610038-ECC8-446F-BA04-4525F458E1C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8D2FBB-7627-449C-80C2-67C43FDCFB0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4F4BF5-ED60-4DAD-AB11-31CB1DB2E07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428CEE2-8B41-450A-9C12-964581FF141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383E3009-6236-4C52-976F-CCE6CD67FEA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33A13362-4C2C-424A-B95E-F4C2AEBE9D32}"/>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8DAB798-FD7C-4FA0-A1E6-720FE06473E7}"/>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2F0604F-8352-4C3D-BA1C-AA2355ECE960}"/>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1CA4BCFB-6691-476F-98F7-1FC1C4DB2EE9}"/>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D1AFD158-0B6B-4270-8C6B-FC31627DD837}"/>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6E624088-180C-4D6C-AF71-D21D75BF778B}"/>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C3A851A6-A581-490F-8F9E-455510A2A721}"/>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7909E8B-348B-48B9-926B-D447183FD7FC}"/>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378AEA0-3CF1-480F-A597-C7DE0D01C41A}"/>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BB4DD0B6-6CDF-4533-A9AD-AEF3664CC8CF}"/>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238E9234-167F-4E03-A356-698F969195B9}"/>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1341022F-ABFF-4315-BEAE-2B36559B002C}"/>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C57C2C72-2D21-44DA-84DC-D14F243D10F6}"/>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977EDBF9-572E-4AEB-B30C-32D96A10931B}"/>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5AD953EC-9499-4E29-AE89-60484EB9BC3E}"/>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E76470D5-0A79-4802-84ED-05029C840E84}"/>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4D2CB2F9-0D29-4915-AE1A-C5E10D86194F}"/>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B3DD4E21-199B-4E0C-BAEA-885C35129865}"/>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77FCF33-E280-46BB-B8E9-B8609573D85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7A0D9763-EB79-4736-9933-DDD28F7F5D1D}"/>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965860808"/>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A69C95-FA0B-4731-BA56-00314D3FD20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63455D-70DE-4535-86E1-E4CA7320F4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3B68E9-0D9A-4899-8AEB-269E478F04C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621F4F4-66FD-479C-AB0F-A1A7F598D2A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tokens</a:t>
            </a:r>
          </a:p>
        </p:txBody>
      </p:sp>
      <p:sp>
        <p:nvSpPr>
          <p:cNvPr id="5" name="">
            <a:extLst xmlns:a="http://schemas.openxmlformats.org/drawingml/2006/main">
              <a:ext uri="{FF2B5EF4-FFF2-40B4-BE49-F238E27FC236}">
                <a16:creationId xmlns:a16="http://schemas.microsoft.com/office/drawing/2014/main" id="{9E6C3C71-F821-4D6F-BC63-42892C6EE17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822230d660c4c64"/>
          <a:stretch xmlns:a="http://schemas.openxmlformats.org/drawingml/2006/main"/>
        </p:blipFill>
        <p:spPr>
          <a:xfrm xmlns:a="http://schemas.openxmlformats.org/drawingml/2006/main">
            <a:off x="1088231" y="1905000"/>
            <a:ext cx="6357938"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175A14-4EF9-4BBB-96DB-9AD23428A09E}"/>
              </a:ext>
            </a:extLst>
          </p:cNvPr>
          <p:cNvSpPr>
            <a:spLocks xmlns:a="http://schemas.openxmlformats.org/drawingml/2006/main" noGrp="1"/>
          </p:cNvSpPr>
          <p:nvPr/>
        </p:nvSpPr>
        <p:spPr>
          <a:xfrm xmlns:a="http://schemas.openxmlformats.org/drawingml/2006/main">
            <a:off x="762000" y="16954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Deposit 100 stock tokens</a:t>
            </a:r>
          </a:p>
        </p:txBody>
      </p:sp>
      <p:sp>
        <p:nvSpPr>
          <p:cNvPr id="8" name="">
            <a:extLst xmlns:a="http://schemas.openxmlformats.org/drawingml/2006/main">
              <a:ext uri="{FF2B5EF4-FFF2-40B4-BE49-F238E27FC236}">
                <a16:creationId xmlns:a16="http://schemas.microsoft.com/office/drawing/2014/main" id="{50828CEA-F7E9-4E14-BBFC-BBFC17385A84}"/>
              </a:ext>
            </a:extLst>
          </p:cNvPr>
          <p:cNvSpPr>
            <a:spLocks xmlns:a="http://schemas.openxmlformats.org/drawingml/2006/main" noGrp="1"/>
          </p:cNvSpPr>
          <p:nvPr/>
        </p:nvSpPr>
        <p:spPr>
          <a:xfrm xmlns:a="http://schemas.openxmlformats.org/drawingml/2006/main">
            <a:off x="8286750" y="19812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2457F5"/>
                </a:solidFill>
                <a:latin typeface="Helvetica Neue"/>
                <a:ea typeface="Helvetica Neue"/>
                <a:cs typeface="Helvetica Neue"/>
              </a:defRPr>
            </a:pPr>
            <a:r>
              <a:rPr sz="3600" b="1">
                <a:solidFill>
                  <a:srgbClr val="2457F5"/>
                </a:solidFill>
                <a:latin typeface="Helvetica Neue"/>
                <a:ea typeface="Helvetica Neue"/>
                <a:cs typeface="Helvetica Neue"/>
              </a:rPr>
              <a:t>100 PT</a:t>
            </a:r>
          </a:p>
        </p:txBody>
      </p:sp>
      <p:sp>
        <p:nvSpPr>
          <p:cNvPr id="9" name="">
            <a:extLst xmlns:a="http://schemas.openxmlformats.org/drawingml/2006/main">
              <a:ext uri="{FF2B5EF4-FFF2-40B4-BE49-F238E27FC236}">
                <a16:creationId xmlns:a16="http://schemas.microsoft.com/office/drawing/2014/main" id="{8ED2EB29-D3EE-4EBE-8908-1EA1639E7B7E}"/>
              </a:ext>
            </a:extLst>
          </p:cNvPr>
          <p:cNvSpPr>
            <a:spLocks xmlns:a="http://schemas.openxmlformats.org/drawingml/2006/main" noGrp="1"/>
          </p:cNvSpPr>
          <p:nvPr/>
        </p:nvSpPr>
        <p:spPr>
          <a:xfrm xmlns:a="http://schemas.openxmlformats.org/drawingml/2006/main">
            <a:off x="830580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639A6"/>
                </a:solidFill>
                <a:latin typeface="Helvetica Neue"/>
                <a:ea typeface="Helvetica Neue"/>
                <a:cs typeface="Helvetica Neue"/>
              </a:defRPr>
            </a:pPr>
            <a:r>
              <a:rPr sz="1875" b="1">
                <a:solidFill>
                  <a:srgbClr val="1639A6"/>
                </a:solidFill>
                <a:latin typeface="Helvetica Neue"/>
                <a:ea typeface="Helvetica Neue"/>
                <a:cs typeface="Helvetica Neue"/>
              </a:rPr>
              <a:t>Stock exposure</a:t>
            </a:r>
          </a:p>
        </p:txBody>
      </p:sp>
      <p:sp>
        <p:nvSpPr>
          <p:cNvPr id="10" name="">
            <a:extLst xmlns:a="http://schemas.openxmlformats.org/drawingml/2006/main">
              <a:ext uri="{FF2B5EF4-FFF2-40B4-BE49-F238E27FC236}">
                <a16:creationId xmlns:a16="http://schemas.microsoft.com/office/drawing/2014/main" id="{4F79757C-97E1-4C9F-9F13-208375B1DD21}"/>
              </a:ext>
            </a:extLst>
          </p:cNvPr>
          <p:cNvSpPr>
            <a:spLocks xmlns:a="http://schemas.openxmlformats.org/drawingml/2006/main" noGrp="1"/>
          </p:cNvSpPr>
          <p:nvPr/>
        </p:nvSpPr>
        <p:spPr>
          <a:xfrm xmlns:a="http://schemas.openxmlformats.org/drawingml/2006/main">
            <a:off x="8286750" y="363855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C46A00"/>
                </a:solidFill>
                <a:latin typeface="Helvetica Neue"/>
                <a:ea typeface="Helvetica Neue"/>
                <a:cs typeface="Helvetica Neue"/>
              </a:defRPr>
            </a:pPr>
            <a:r>
              <a:rPr sz="3600" b="1">
                <a:solidFill>
                  <a:srgbClr val="C46A00"/>
                </a:solidFill>
                <a:latin typeface="Helvetica Neue"/>
                <a:ea typeface="Helvetica Neue"/>
                <a:cs typeface="Helvetica Neue"/>
              </a:rPr>
              <a:t>100 DR</a:t>
            </a:r>
          </a:p>
        </p:txBody>
      </p:sp>
      <p:sp>
        <p:nvSpPr>
          <p:cNvPr id="11" name="">
            <a:extLst xmlns:a="http://schemas.openxmlformats.org/drawingml/2006/main">
              <a:ext uri="{FF2B5EF4-FFF2-40B4-BE49-F238E27FC236}">
                <a16:creationId xmlns:a16="http://schemas.microsoft.com/office/drawing/2014/main" id="{164C1F0E-6968-4F01-8CF5-FAAC1136AEE4}"/>
              </a:ext>
            </a:extLst>
          </p:cNvPr>
          <p:cNvSpPr>
            <a:spLocks xmlns:a="http://schemas.openxmlformats.org/drawingml/2006/main" noGrp="1"/>
          </p:cNvSpPr>
          <p:nvPr/>
        </p:nvSpPr>
        <p:spPr>
          <a:xfrm xmlns:a="http://schemas.openxmlformats.org/drawingml/2006/main">
            <a:off x="8305800" y="4305300"/>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7A4000"/>
                </a:solidFill>
                <a:latin typeface="Helvetica Neue"/>
                <a:ea typeface="Helvetica Neue"/>
                <a:cs typeface="Helvetica Neue"/>
              </a:defRPr>
            </a:pPr>
            <a:r>
              <a:rPr sz="1875" b="1">
                <a:solidFill>
                  <a:srgbClr val="7A4000"/>
                </a:solidFill>
                <a:latin typeface="Helvetica Neue"/>
                <a:ea typeface="Helvetica Neue"/>
                <a:cs typeface="Helvetica Neue"/>
              </a:rPr>
              <a:t>The year’s dividend rights</a:t>
            </a:r>
          </a:p>
        </p:txBody>
      </p:sp>
      <p:sp>
        <p:nvSpPr>
          <p:cNvPr id="12" name="">
            <a:extLst xmlns:a="http://schemas.openxmlformats.org/drawingml/2006/main">
              <a:ext uri="{FF2B5EF4-FFF2-40B4-BE49-F238E27FC236}">
                <a16:creationId xmlns:a16="http://schemas.microsoft.com/office/drawing/2014/main" id="{D9E70828-E33B-408D-BD85-AB79712A9A7B}"/>
              </a:ext>
            </a:extLst>
          </p:cNvPr>
          <p:cNvSpPr>
            <a:spLocks xmlns:a="http://schemas.openxmlformats.org/drawingml/2006/main" noGrp="1"/>
          </p:cNvSpPr>
          <p:nvPr/>
        </p:nvSpPr>
        <p:spPr>
          <a:xfrm xmlns:a="http://schemas.openxmlformats.org/drawingml/2006/main">
            <a:off x="762000" y="62007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stock tokens stay in the vault.</a:t>
            </a:r>
          </a:p>
        </p:txBody>
      </p:sp>
      <p:sp>
        <p:nvSpPr>
          <p:cNvPr id="13" name="">
            <a:extLst xmlns:a="http://schemas.openxmlformats.org/drawingml/2006/main">
              <a:ext uri="{FF2B5EF4-FFF2-40B4-BE49-F238E27FC236}">
                <a16:creationId xmlns:a16="http://schemas.microsoft.com/office/drawing/2014/main" id="{8217BA7B-AEA2-4EA0-9AEF-43A206CCA469}"/>
              </a:ext>
            </a:extLst>
          </p:cNvPr>
          <p:cNvSpPr>
            <a:spLocks xmlns:a="http://schemas.openxmlformats.org/drawingml/2006/main" noGrp="1"/>
          </p:cNvSpPr>
          <p:nvPr/>
        </p:nvSpPr>
        <p:spPr>
          <a:xfrm xmlns:a="http://schemas.openxmlformats.org/drawingml/2006/main">
            <a:off x="8286750" y="54959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Keep, transfer or trade</a:t>
            </a:r>
          </a:p>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either side.</a:t>
            </a:r>
          </a:p>
        </p:txBody>
      </p:sp>
    </p:spTree>
    <p:extLst>
      <p:ext uri="{BB962C8B-B14F-4D97-AF65-F5344CB8AC3E}">
        <p14:creationId xmlns:p14="http://schemas.microsoft.com/office/powerpoint/2010/main" val="1308839144"/>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C33539-81B5-42D0-84D0-B8638B0CC08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7E7525-4251-49AF-B5CE-88CF49FFC5D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F2CDB7-16B3-42C9-982C-E5100C13EDA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44EB30A-2109-4843-866F-0ACD1512B9B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5A9E2569-0070-4B08-BFBC-A443D5128C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78814024-ADA8-4A63-8EFC-A9F392982A53}"/>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76343216-694D-4E39-A049-6394766D0503}"/>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014B2D21-D2A7-4EBE-8B39-B0D2817618AB}"/>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BDD07DB9-62AE-4A70-8287-18B1D729B348}"/>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656865-C361-470D-B2D2-5C5D2EDEA312}"/>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86CDD280-A4AC-4402-A3EF-264E02550056}"/>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Pendle</a:t>
            </a:r>
          </a:p>
        </p:txBody>
      </p:sp>
      <p:sp>
        <p:nvSpPr>
          <p:cNvPr id="12" name="">
            <a:extLst xmlns:a="http://schemas.openxmlformats.org/drawingml/2006/main">
              <a:ext uri="{FF2B5EF4-FFF2-40B4-BE49-F238E27FC236}">
                <a16:creationId xmlns:a16="http://schemas.microsoft.com/office/drawing/2014/main" id="{BD083552-C4CA-4498-93B5-9CA4ABFC5D6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Separate principal from future yield</a:t>
            </a:r>
          </a:p>
        </p:txBody>
      </p:sp>
      <p:sp>
        <p:nvSpPr>
          <p:cNvPr id="13" name="">
            <a:extLst xmlns:a="http://schemas.openxmlformats.org/drawingml/2006/main">
              <a:ext uri="{FF2B5EF4-FFF2-40B4-BE49-F238E27FC236}">
                <a16:creationId xmlns:a16="http://schemas.microsoft.com/office/drawing/2014/main" id="{FF08C9AD-7FA3-4FE6-90F3-0707FED6EE2D}"/>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Tree>
    <p:extLst>
      <p:ext uri="{BB962C8B-B14F-4D97-AF65-F5344CB8AC3E}">
        <p14:creationId xmlns:p14="http://schemas.microsoft.com/office/powerpoint/2010/main" val="228003059"/>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65B8BD-E89D-4867-BCA6-AECF6301ABA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F4B903-6C11-4115-816D-C837D771701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D9A069-D1FE-45B9-A738-49D4231C26D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866F237-0512-485E-B16E-4B0AF5B6F37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year of dividend rights</a:t>
            </a:r>
          </a:p>
        </p:txBody>
      </p:sp>
      <p:sp>
        <p:nvSpPr>
          <p:cNvPr id="5" name="">
            <a:extLst xmlns:a="http://schemas.openxmlformats.org/drawingml/2006/main">
              <a:ext uri="{FF2B5EF4-FFF2-40B4-BE49-F238E27FC236}">
                <a16:creationId xmlns:a16="http://schemas.microsoft.com/office/drawing/2014/main" id="{600B5CEE-D2E0-4DED-A69B-C41B60A03DD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2D4A476-767F-4390-92B7-F3FA5A41E62F}"/>
              </a:ext>
            </a:extLst>
          </p:cNvPr>
          <p:cNvSpPr>
            <a:spLocks xmlns:a="http://schemas.openxmlformats.org/drawingml/2006/main" noGrp="1"/>
          </p:cNvSpPr>
          <p:nvPr/>
        </p:nvSpPr>
        <p:spPr>
          <a:xfrm xmlns:a="http://schemas.openxmlformats.org/drawingml/2006/main">
            <a:off x="762000" y="18097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COCA-COLA EXAMPLE · KOX 2027</a:t>
            </a:r>
          </a:p>
        </p:txBody>
      </p:sp>
      <p:sp>
        <p:nvSpPr>
          <p:cNvPr id="7" name="">
            <a:extLst xmlns:a="http://schemas.openxmlformats.org/drawingml/2006/main">
              <a:ext uri="{FF2B5EF4-FFF2-40B4-BE49-F238E27FC236}">
                <a16:creationId xmlns:a16="http://schemas.microsoft.com/office/drawing/2014/main" id="{2FB4690D-1D68-46AF-A9C1-DD022E1B686F}"/>
              </a:ext>
            </a:extLst>
          </p:cNvPr>
          <p:cNvSpPr>
            <a:spLocks xmlns:a="http://schemas.openxmlformats.org/drawingml/2006/main" noGrp="1"/>
          </p:cNvSpPr>
          <p:nvPr/>
        </p:nvSpPr>
        <p:spPr>
          <a:xfrm xmlns:a="http://schemas.openxmlformats.org/drawingml/2006/main">
            <a:off x="7620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2457F5"/>
                </a:solidFill>
                <a:latin typeface="Helvetica Neue"/>
                <a:ea typeface="Helvetica Neue"/>
                <a:cs typeface="Helvetica Neue"/>
              </a:defRPr>
            </a:pPr>
            <a:r>
              <a:rPr sz="2775" b="1">
                <a:solidFill>
                  <a:srgbClr val="2457F5"/>
                </a:solidFill>
                <a:latin typeface="Helvetica Neue"/>
                <a:ea typeface="Helvetica Neue"/>
                <a:cs typeface="Helvetica Neue"/>
              </a:rPr>
              <a:t>PT-KOx-2027</a:t>
            </a:r>
          </a:p>
        </p:txBody>
      </p:sp>
      <p:sp>
        <p:nvSpPr>
          <p:cNvPr id="8" name="">
            <a:extLst xmlns:a="http://schemas.openxmlformats.org/drawingml/2006/main">
              <a:ext uri="{FF2B5EF4-FFF2-40B4-BE49-F238E27FC236}">
                <a16:creationId xmlns:a16="http://schemas.microsoft.com/office/drawing/2014/main" id="{E0D73E20-3E37-482E-8F4A-6BA0219C95A0}"/>
              </a:ext>
            </a:extLst>
          </p:cNvPr>
          <p:cNvSpPr>
            <a:spLocks xmlns:a="http://schemas.openxmlformats.org/drawingml/2006/main" noGrp="1"/>
          </p:cNvSpPr>
          <p:nvPr/>
        </p:nvSpPr>
        <p:spPr>
          <a:xfrm xmlns:a="http://schemas.openxmlformats.org/drawingml/2006/main">
            <a:off x="66675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C46A00"/>
                </a:solidFill>
                <a:latin typeface="Helvetica Neue"/>
                <a:ea typeface="Helvetica Neue"/>
                <a:cs typeface="Helvetica Neue"/>
              </a:defRPr>
            </a:pPr>
            <a:r>
              <a:rPr sz="2775" b="1">
                <a:solidFill>
                  <a:srgbClr val="C46A00"/>
                </a:solidFill>
                <a:latin typeface="Helvetica Neue"/>
                <a:ea typeface="Helvetica Neue"/>
                <a:cs typeface="Helvetica Neue"/>
              </a:rPr>
              <a:t>DR-KOx-2027</a:t>
            </a:r>
          </a:p>
        </p:txBody>
      </p:sp>
      <p:sp>
        <p:nvSpPr>
          <p:cNvPr id="9" name="">
            <a:extLst xmlns:a="http://schemas.openxmlformats.org/drawingml/2006/main">
              <a:ext uri="{FF2B5EF4-FFF2-40B4-BE49-F238E27FC236}">
                <a16:creationId xmlns:a16="http://schemas.microsoft.com/office/drawing/2014/main" id="{A229BD87-093D-4331-BF43-88E31AA2B429}"/>
              </a:ext>
            </a:extLst>
          </p:cNvPr>
          <p:cNvSpPr>
            <a:spLocks xmlns:a="http://schemas.openxmlformats.org/drawingml/2006/main" noGrp="1"/>
          </p:cNvSpPr>
          <p:nvPr/>
        </p:nvSpPr>
        <p:spPr>
          <a:xfrm xmlns:a="http://schemas.openxmlformats.org/drawingml/2006/main">
            <a:off x="762000" y="29813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CB04C6-C192-4067-A53D-BFD60752C371}"/>
              </a:ext>
            </a:extLst>
          </p:cNvPr>
          <p:cNvSpPr>
            <a:spLocks xmlns:a="http://schemas.openxmlformats.org/drawingml/2006/main" noGrp="1"/>
          </p:cNvSpPr>
          <p:nvPr/>
        </p:nvSpPr>
        <p:spPr>
          <a:xfrm xmlns:a="http://schemas.openxmlformats.org/drawingml/2006/main">
            <a:off x="762000" y="313372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Before the year</a:t>
            </a:r>
          </a:p>
        </p:txBody>
      </p:sp>
      <p:sp>
        <p:nvSpPr>
          <p:cNvPr id="11" name="">
            <a:extLst xmlns:a="http://schemas.openxmlformats.org/drawingml/2006/main">
              <a:ext uri="{FF2B5EF4-FFF2-40B4-BE49-F238E27FC236}">
                <a16:creationId xmlns:a16="http://schemas.microsoft.com/office/drawing/2014/main" id="{C29DAC3D-E540-4BAB-99DA-90069DE7C738}"/>
              </a:ext>
            </a:extLst>
          </p:cNvPr>
          <p:cNvSpPr>
            <a:spLocks xmlns:a="http://schemas.openxmlformats.org/drawingml/2006/main" noGrp="1"/>
          </p:cNvSpPr>
          <p:nvPr/>
        </p:nvSpPr>
        <p:spPr>
          <a:xfrm xmlns:a="http://schemas.openxmlformats.org/drawingml/2006/main">
            <a:off x="3695700" y="3133725"/>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Deposit and split. New deposits close at the start of 2027.</a:t>
            </a:r>
          </a:p>
        </p:txBody>
      </p:sp>
      <p:sp>
        <p:nvSpPr>
          <p:cNvPr id="12" name="">
            <a:extLst xmlns:a="http://schemas.openxmlformats.org/drawingml/2006/main">
              <a:ext uri="{FF2B5EF4-FFF2-40B4-BE49-F238E27FC236}">
                <a16:creationId xmlns:a16="http://schemas.microsoft.com/office/drawing/2014/main" id="{699E5670-96F1-4AC9-AEB6-FB2B0E099497}"/>
              </a:ext>
            </a:extLst>
          </p:cNvPr>
          <p:cNvSpPr>
            <a:spLocks xmlns:a="http://schemas.openxmlformats.org/drawingml/2006/main" noGrp="1"/>
          </p:cNvSpPr>
          <p:nvPr/>
        </p:nvSpPr>
        <p:spPr>
          <a:xfrm xmlns:a="http://schemas.openxmlformats.org/drawingml/2006/main">
            <a:off x="762000" y="36766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66A4C3-CBF4-4660-A312-5B13D60D7D16}"/>
              </a:ext>
            </a:extLst>
          </p:cNvPr>
          <p:cNvSpPr>
            <a:spLocks xmlns:a="http://schemas.openxmlformats.org/drawingml/2006/main" noGrp="1"/>
          </p:cNvSpPr>
          <p:nvPr/>
        </p:nvSpPr>
        <p:spPr>
          <a:xfrm xmlns:a="http://schemas.openxmlformats.org/drawingml/2006/main">
            <a:off x="762000" y="38290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During the year</a:t>
            </a:r>
          </a:p>
        </p:txBody>
      </p:sp>
      <p:sp>
        <p:nvSpPr>
          <p:cNvPr id="14" name="">
            <a:extLst xmlns:a="http://schemas.openxmlformats.org/drawingml/2006/main">
              <a:ext uri="{FF2B5EF4-FFF2-40B4-BE49-F238E27FC236}">
                <a16:creationId xmlns:a16="http://schemas.microsoft.com/office/drawing/2014/main" id="{C82D9D7D-0AEF-4AC6-934C-6FB38A4ABA05}"/>
              </a:ext>
            </a:extLst>
          </p:cNvPr>
          <p:cNvSpPr>
            <a:spLocks xmlns:a="http://schemas.openxmlformats.org/drawingml/2006/main" noGrp="1"/>
          </p:cNvSpPr>
          <p:nvPr/>
        </p:nvSpPr>
        <p:spPr>
          <a:xfrm xmlns:a="http://schemas.openxmlformats.org/drawingml/2006/main">
            <a:off x="3695700" y="38290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DR accumulates every qualified dividend for that year.</a:t>
            </a:r>
          </a:p>
        </p:txBody>
      </p:sp>
      <p:sp>
        <p:nvSpPr>
          <p:cNvPr id="15" name="">
            <a:extLst xmlns:a="http://schemas.openxmlformats.org/drawingml/2006/main">
              <a:ext uri="{FF2B5EF4-FFF2-40B4-BE49-F238E27FC236}">
                <a16:creationId xmlns:a16="http://schemas.microsoft.com/office/drawing/2014/main" id="{156592F2-8E68-4E5C-9118-5067606CFA8A}"/>
              </a:ext>
            </a:extLst>
          </p:cNvPr>
          <p:cNvSpPr>
            <a:spLocks xmlns:a="http://schemas.openxmlformats.org/drawingml/2006/main" noGrp="1"/>
          </p:cNvSpPr>
          <p:nvPr/>
        </p:nvSpPr>
        <p:spPr>
          <a:xfrm xmlns:a="http://schemas.openxmlformats.org/drawingml/2006/main">
            <a:off x="762000" y="437197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422F3AD-FBCE-4426-9E19-524B28D3A692}"/>
              </a:ext>
            </a:extLst>
          </p:cNvPr>
          <p:cNvSpPr>
            <a:spLocks xmlns:a="http://schemas.openxmlformats.org/drawingml/2006/main" noGrp="1"/>
          </p:cNvSpPr>
          <p:nvPr/>
        </p:nvSpPr>
        <p:spPr>
          <a:xfrm xmlns:a="http://schemas.openxmlformats.org/drawingml/2006/main">
            <a:off x="762000" y="45243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Put them together</a:t>
            </a:r>
          </a:p>
        </p:txBody>
      </p:sp>
      <p:sp>
        <p:nvSpPr>
          <p:cNvPr id="17" name="">
            <a:extLst xmlns:a="http://schemas.openxmlformats.org/drawingml/2006/main">
              <a:ext uri="{FF2B5EF4-FFF2-40B4-BE49-F238E27FC236}">
                <a16:creationId xmlns:a16="http://schemas.microsoft.com/office/drawing/2014/main" id="{4F23A775-337D-4AD3-A194-3EE1DA21C982}"/>
              </a:ext>
            </a:extLst>
          </p:cNvPr>
          <p:cNvSpPr>
            <a:spLocks xmlns:a="http://schemas.openxmlformats.org/drawingml/2006/main" noGrp="1"/>
          </p:cNvSpPr>
          <p:nvPr/>
        </p:nvSpPr>
        <p:spPr>
          <a:xfrm xmlns:a="http://schemas.openxmlformats.org/drawingml/2006/main">
            <a:off x="3695700" y="4524375"/>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Recombine matching PT and DR to recover their backing.</a:t>
            </a:r>
          </a:p>
        </p:txBody>
      </p:sp>
      <p:sp>
        <p:nvSpPr>
          <p:cNvPr id="18" name="">
            <a:extLst xmlns:a="http://schemas.openxmlformats.org/drawingml/2006/main">
              <a:ext uri="{FF2B5EF4-FFF2-40B4-BE49-F238E27FC236}">
                <a16:creationId xmlns:a16="http://schemas.microsoft.com/office/drawing/2014/main" id="{39DDFDF5-9B0C-40D6-8267-1565A282126B}"/>
              </a:ext>
            </a:extLst>
          </p:cNvPr>
          <p:cNvSpPr>
            <a:spLocks xmlns:a="http://schemas.openxmlformats.org/drawingml/2006/main" noGrp="1"/>
          </p:cNvSpPr>
          <p:nvPr/>
        </p:nvSpPr>
        <p:spPr>
          <a:xfrm xmlns:a="http://schemas.openxmlformats.org/drawingml/2006/main">
            <a:off x="762000" y="50673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C179CA-23F0-4AD7-AD7A-4E52FFBDA69F}"/>
              </a:ext>
            </a:extLst>
          </p:cNvPr>
          <p:cNvSpPr>
            <a:spLocks xmlns:a="http://schemas.openxmlformats.org/drawingml/2006/main" noGrp="1"/>
          </p:cNvSpPr>
          <p:nvPr/>
        </p:nvSpPr>
        <p:spPr>
          <a:xfrm xmlns:a="http://schemas.openxmlformats.org/drawingml/2006/main">
            <a:off x="762000" y="521970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After finalization</a:t>
            </a:r>
          </a:p>
        </p:txBody>
      </p:sp>
      <p:sp>
        <p:nvSpPr>
          <p:cNvPr id="20" name="">
            <a:extLst xmlns:a="http://schemas.openxmlformats.org/drawingml/2006/main">
              <a:ext uri="{FF2B5EF4-FFF2-40B4-BE49-F238E27FC236}">
                <a16:creationId xmlns:a16="http://schemas.microsoft.com/office/drawing/2014/main" id="{9D910161-3AD0-4B23-9C25-A60C50DA86A0}"/>
              </a:ext>
            </a:extLst>
          </p:cNvPr>
          <p:cNvSpPr>
            <a:spLocks xmlns:a="http://schemas.openxmlformats.org/drawingml/2006/main" noGrp="1"/>
          </p:cNvSpPr>
          <p:nvPr/>
        </p:nvSpPr>
        <p:spPr>
          <a:xfrm xmlns:a="http://schemas.openxmlformats.org/drawingml/2006/main">
            <a:off x="3695700" y="521970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Redeem either side separately. Accrued rights do not expire.</a:t>
            </a:r>
          </a:p>
        </p:txBody>
      </p:sp>
      <p:sp>
        <p:nvSpPr>
          <p:cNvPr id="21" name="">
            <a:extLst xmlns:a="http://schemas.openxmlformats.org/drawingml/2006/main">
              <a:ext uri="{FF2B5EF4-FFF2-40B4-BE49-F238E27FC236}">
                <a16:creationId xmlns:a16="http://schemas.microsoft.com/office/drawing/2014/main" id="{25B2CB95-A8D7-41B5-B218-DAE6B9864429}"/>
              </a:ext>
            </a:extLst>
          </p:cNvPr>
          <p:cNvSpPr>
            <a:spLocks xmlns:a="http://schemas.openxmlformats.org/drawingml/2006/main" noGrp="1"/>
          </p:cNvSpPr>
          <p:nvPr/>
        </p:nvSpPr>
        <p:spPr>
          <a:xfrm xmlns:a="http://schemas.openxmlformats.org/drawingml/2006/main">
            <a:off x="762000" y="62865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Separate backing for every issuer, stock token and year.</a:t>
            </a:r>
          </a:p>
        </p:txBody>
      </p:sp>
    </p:spTree>
    <p:extLst>
      <p:ext uri="{BB962C8B-B14F-4D97-AF65-F5344CB8AC3E}">
        <p14:creationId xmlns:p14="http://schemas.microsoft.com/office/powerpoint/2010/main" val="197953111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E07749-EAAA-4A77-A512-FFADE559EF8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2C69E5-B4E5-46F0-822C-835197E7634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DD63C6-D531-4E85-9C1C-EB5750C14B4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638030E-C30A-4A2F-8BCE-3F49E2DB77A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Why Solana</a:t>
            </a:r>
          </a:p>
        </p:txBody>
      </p:sp>
      <p:sp>
        <p:nvSpPr>
          <p:cNvPr id="5" name="">
            <a:extLst xmlns:a="http://schemas.openxmlformats.org/drawingml/2006/main">
              <a:ext uri="{FF2B5EF4-FFF2-40B4-BE49-F238E27FC236}">
                <a16:creationId xmlns:a16="http://schemas.microsoft.com/office/drawing/2014/main" id="{E2488411-7159-4D82-B5F7-F28DD53D76D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09F866E1-C1A1-4ACF-943B-9CF6292DBDA2}"/>
              </a:ext>
            </a:extLst>
          </p:cNvPr>
          <p:cNvSpPr>
            <a:spLocks xmlns:a="http://schemas.openxmlformats.org/drawingml/2006/main" noGrp="1"/>
          </p:cNvSpPr>
          <p:nvPr/>
        </p:nvSpPr>
        <p:spPr>
          <a:xfrm xmlns:a="http://schemas.openxmlformats.org/drawingml/2006/main">
            <a:off x="762000" y="1914525"/>
            <a:ext cx="5191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950" b="1">
                <a:solidFill>
                  <a:srgbClr val="2457F5"/>
                </a:solidFill>
                <a:latin typeface="Helvetica Neue"/>
                <a:ea typeface="Helvetica Neue"/>
                <a:cs typeface="Helvetica Neue"/>
              </a:defRPr>
            </a:pPr>
            <a:r>
              <a:rPr sz="7950" b="1">
                <a:solidFill>
                  <a:srgbClr val="2457F5"/>
                </a:solidFill>
                <a:latin typeface="Helvetica Neue"/>
                <a:ea typeface="Helvetica Neue"/>
                <a:cs typeface="Helvetica Neue"/>
              </a:rPr>
              <a:t>&gt;95%</a:t>
            </a:r>
          </a:p>
        </p:txBody>
      </p:sp>
      <p:sp>
        <p:nvSpPr>
          <p:cNvPr id="7" name="">
            <a:extLst xmlns:a="http://schemas.openxmlformats.org/drawingml/2006/main">
              <a:ext uri="{FF2B5EF4-FFF2-40B4-BE49-F238E27FC236}">
                <a16:creationId xmlns:a16="http://schemas.microsoft.com/office/drawing/2014/main" id="{1F4385B3-8B8F-4F51-8F75-727FA7BA1B4C}"/>
              </a:ext>
            </a:extLst>
          </p:cNvPr>
          <p:cNvSpPr>
            <a:spLocks xmlns:a="http://schemas.openxmlformats.org/drawingml/2006/main" noGrp="1"/>
          </p:cNvSpPr>
          <p:nvPr/>
        </p:nvSpPr>
        <p:spPr>
          <a:xfrm xmlns:a="http://schemas.openxmlformats.org/drawingml/2006/main">
            <a:off x="781050" y="3333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of tokenized-equity trading</a:t>
            </a:r>
          </a:p>
        </p:txBody>
      </p:sp>
      <p:sp>
        <p:nvSpPr>
          <p:cNvPr id="8" name="">
            <a:extLst xmlns:a="http://schemas.openxmlformats.org/drawingml/2006/main">
              <a:ext uri="{FF2B5EF4-FFF2-40B4-BE49-F238E27FC236}">
                <a16:creationId xmlns:a16="http://schemas.microsoft.com/office/drawing/2014/main" id="{935B3170-15AD-44A9-A322-CC45FB1BF515}"/>
              </a:ext>
            </a:extLst>
          </p:cNvPr>
          <p:cNvSpPr>
            <a:spLocks xmlns:a="http://schemas.openxmlformats.org/drawingml/2006/main" noGrp="1"/>
          </p:cNvSpPr>
          <p:nvPr/>
        </p:nvSpPr>
        <p:spPr>
          <a:xfrm xmlns:a="http://schemas.openxmlformats.org/drawingml/2006/main">
            <a:off x="781050" y="384810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Solana reached this share during Q2 2026.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9504d619fae4ca6"/>
          <a:stretch xmlns:a="http://schemas.openxmlformats.org/drawingml/2006/main"/>
        </p:blipFill>
        <p:spPr>
          <a:xfrm xmlns:a="http://schemas.openxmlformats.org/drawingml/2006/main">
            <a:off x="6351588" y="1657350"/>
            <a:ext cx="4851400" cy="3638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4DD66F7-2C7F-4B23-AF73-83A91187BEE1}"/>
              </a:ext>
            </a:extLst>
          </p:cNvPr>
          <p:cNvSpPr>
            <a:spLocks xmlns:a="http://schemas.openxmlformats.org/drawingml/2006/main" noGrp="1"/>
          </p:cNvSpPr>
          <p:nvPr/>
        </p:nvSpPr>
        <p:spPr>
          <a:xfrm xmlns:a="http://schemas.openxmlformats.org/drawingml/2006/main">
            <a:off x="6353175" y="5286375"/>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Two assets for Solana builders</a:t>
            </a:r>
          </a:p>
        </p:txBody>
      </p:sp>
      <p:sp>
        <p:nvSpPr>
          <p:cNvPr id="11" name="">
            <a:extLst xmlns:a="http://schemas.openxmlformats.org/drawingml/2006/main">
              <a:ext uri="{FF2B5EF4-FFF2-40B4-BE49-F238E27FC236}">
                <a16:creationId xmlns:a16="http://schemas.microsoft.com/office/drawing/2014/main" id="{650B537C-0C04-4332-89FE-60DDB6858A51}"/>
              </a:ext>
            </a:extLst>
          </p:cNvPr>
          <p:cNvSpPr>
            <a:spLocks xmlns:a="http://schemas.openxmlformats.org/drawingml/2006/main" noGrp="1"/>
          </p:cNvSpPr>
          <p:nvPr/>
        </p:nvSpPr>
        <p:spPr>
          <a:xfrm xmlns:a="http://schemas.openxmlformats.org/drawingml/2006/main">
            <a:off x="762000" y="5838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Fast settlement · Fractional positions · Auditable</a:t>
            </a:r>
          </a:p>
        </p:txBody>
      </p:sp>
      <p:sp>
        <p:nvSpPr>
          <p:cNvPr id="12" name="">
            <a:extLst xmlns:a="http://schemas.openxmlformats.org/drawingml/2006/main">
              <a:ext uri="{FF2B5EF4-FFF2-40B4-BE49-F238E27FC236}">
                <a16:creationId xmlns:a16="http://schemas.microsoft.com/office/drawing/2014/main" id="{341767FF-884E-4847-92A7-1A0C852D05F8}"/>
              </a:ext>
            </a:extLst>
          </p:cNvPr>
          <p:cNvSpPr>
            <a:spLocks xmlns:a="http://schemas.openxmlformats.org/drawingml/2006/main" noGrp="1"/>
          </p:cNvSpPr>
          <p:nvPr/>
        </p:nvSpPr>
        <p:spPr>
          <a:xfrm xmlns:a="http://schemas.openxmlformats.org/drawingml/2006/main">
            <a:off x="762000" y="63341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Galaxy Research · Q2 2026 report · A level reached, not a quarterly average.</a:t>
            </a:r>
          </a:p>
        </p:txBody>
      </p:sp>
    </p:spTree>
    <p:extLst>
      <p:ext uri="{BB962C8B-B14F-4D97-AF65-F5344CB8AC3E}">
        <p14:creationId xmlns:p14="http://schemas.microsoft.com/office/powerpoint/2010/main" val="42068294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4A0EE5A-F05A-459F-8532-EF988517B36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6EB0C6-898A-48EC-A889-1D74EC719D5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FC9A7C1-EFC5-4477-8740-966AB0EF4F2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8B4B588-3D23-427E-835F-1929C78124B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B1879E7C-885F-4A26-9C38-78A8034C97E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F2378623-B7F5-4052-978F-906E7A43F996}"/>
              </a:ext>
            </a:extLst>
          </p:cNvPr>
          <p:cNvSpPr>
            <a:spLocks xmlns:a="http://schemas.openxmlformats.org/drawingml/2006/main" noGrp="1"/>
          </p:cNvSpPr>
          <p:nvPr/>
        </p:nvSpPr>
        <p:spPr>
          <a:xfrm xmlns:a="http://schemas.openxmlformats.org/drawingml/2006/main">
            <a:off x="762000" y="17526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PT for stock exposure. DR for dividend rights.</a:t>
            </a:r>
          </a:p>
        </p:txBody>
      </p:sp>
      <p:sp>
        <p:nvSpPr>
          <p:cNvPr id="7" name="">
            <a:extLst xmlns:a="http://schemas.openxmlformats.org/drawingml/2006/main">
              <a:ext uri="{FF2B5EF4-FFF2-40B4-BE49-F238E27FC236}">
                <a16:creationId xmlns:a16="http://schemas.microsoft.com/office/drawing/2014/main" id="{170719A4-7156-48EC-A645-6AE58848EB7D}"/>
              </a:ext>
            </a:extLst>
          </p:cNvPr>
          <p:cNvSpPr>
            <a:spLocks xmlns:a="http://schemas.openxmlformats.org/drawingml/2006/main" noGrp="1"/>
          </p:cNvSpPr>
          <p:nvPr/>
        </p:nvSpPr>
        <p:spPr>
          <a:xfrm xmlns:a="http://schemas.openxmlformats.org/drawingml/2006/main">
            <a:off x="762000" y="250507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2457F5"/>
                </a:solidFill>
                <a:latin typeface="Helvetica Neue"/>
                <a:ea typeface="Helvetica Neue"/>
                <a:cs typeface="Helvetica Neue"/>
              </a:defRPr>
            </a:pPr>
            <a:r>
              <a:rPr sz="1800" b="1">
                <a:solidFill>
                  <a:srgbClr val="2457F5"/>
                </a:solidFill>
                <a:latin typeface="Helvetica Neue"/>
                <a:ea typeface="Helvetica Neue"/>
                <a:cs typeface="Helvetica Neue"/>
              </a:rPr>
              <a:t>Liquidity markets</a:t>
            </a:r>
          </a:p>
        </p:txBody>
      </p:sp>
      <p:sp>
        <p:nvSpPr>
          <p:cNvPr id="8" name="">
            <a:extLst xmlns:a="http://schemas.openxmlformats.org/drawingml/2006/main">
              <a:ext uri="{FF2B5EF4-FFF2-40B4-BE49-F238E27FC236}">
                <a16:creationId xmlns:a16="http://schemas.microsoft.com/office/drawing/2014/main" id="{4CD6C9B8-056E-451B-AE6E-D4AAD348E365}"/>
              </a:ext>
            </a:extLst>
          </p:cNvPr>
          <p:cNvSpPr>
            <a:spLocks xmlns:a="http://schemas.openxmlformats.org/drawingml/2006/main" noGrp="1"/>
          </p:cNvSpPr>
          <p:nvPr/>
        </p:nvSpPr>
        <p:spPr>
          <a:xfrm xmlns:a="http://schemas.openxmlformats.org/drawingml/2006/main">
            <a:off x="5476875" y="250507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Raydium tested. Meteora proposed.</a:t>
            </a:r>
          </a:p>
        </p:txBody>
      </p:sp>
      <p:sp>
        <p:nvSpPr>
          <p:cNvPr id="9" name="">
            <a:extLst xmlns:a="http://schemas.openxmlformats.org/drawingml/2006/main">
              <a:ext uri="{FF2B5EF4-FFF2-40B4-BE49-F238E27FC236}">
                <a16:creationId xmlns:a16="http://schemas.microsoft.com/office/drawing/2014/main" id="{3162BD11-A50C-4273-8CE3-8EA59EA4E4FB}"/>
              </a:ext>
            </a:extLst>
          </p:cNvPr>
          <p:cNvSpPr>
            <a:spLocks xmlns:a="http://schemas.openxmlformats.org/drawingml/2006/main" noGrp="1"/>
          </p:cNvSpPr>
          <p:nvPr/>
        </p:nvSpPr>
        <p:spPr>
          <a:xfrm xmlns:a="http://schemas.openxmlformats.org/drawingml/2006/main">
            <a:off x="762000" y="311467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020FE3-2FE6-4967-881E-FBF3BCED213B}"/>
              </a:ext>
            </a:extLst>
          </p:cNvPr>
          <p:cNvSpPr>
            <a:spLocks xmlns:a="http://schemas.openxmlformats.org/drawingml/2006/main" noGrp="1"/>
          </p:cNvSpPr>
          <p:nvPr/>
        </p:nvSpPr>
        <p:spPr>
          <a:xfrm xmlns:a="http://schemas.openxmlformats.org/drawingml/2006/main">
            <a:off x="762000" y="32766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Routing and orders</a:t>
            </a:r>
          </a:p>
        </p:txBody>
      </p:sp>
      <p:sp>
        <p:nvSpPr>
          <p:cNvPr id="11" name="">
            <a:extLst xmlns:a="http://schemas.openxmlformats.org/drawingml/2006/main">
              <a:ext uri="{FF2B5EF4-FFF2-40B4-BE49-F238E27FC236}">
                <a16:creationId xmlns:a16="http://schemas.microsoft.com/office/drawing/2014/main" id="{E8DAE95F-686A-4D20-8677-C27AC0AB98D1}"/>
              </a:ext>
            </a:extLst>
          </p:cNvPr>
          <p:cNvSpPr>
            <a:spLocks xmlns:a="http://schemas.openxmlformats.org/drawingml/2006/main" noGrp="1"/>
          </p:cNvSpPr>
          <p:nvPr/>
        </p:nvSpPr>
        <p:spPr>
          <a:xfrm xmlns:a="http://schemas.openxmlformats.org/drawingml/2006/main">
            <a:off x="5476875" y="327660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Jupiter: aggregation, recurring buys and limit orders.</a:t>
            </a:r>
          </a:p>
        </p:txBody>
      </p:sp>
      <p:sp>
        <p:nvSpPr>
          <p:cNvPr id="12" name="">
            <a:extLst xmlns:a="http://schemas.openxmlformats.org/drawingml/2006/main">
              <a:ext uri="{FF2B5EF4-FFF2-40B4-BE49-F238E27FC236}">
                <a16:creationId xmlns:a16="http://schemas.microsoft.com/office/drawing/2014/main" id="{09AE8190-217B-4CB2-912D-58A239B9BE22}"/>
              </a:ext>
            </a:extLst>
          </p:cNvPr>
          <p:cNvSpPr>
            <a:spLocks xmlns:a="http://schemas.openxmlformats.org/drawingml/2006/main" noGrp="1"/>
          </p:cNvSpPr>
          <p:nvPr/>
        </p:nvSpPr>
        <p:spPr>
          <a:xfrm xmlns:a="http://schemas.openxmlformats.org/drawingml/2006/main">
            <a:off x="762000" y="38862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0C1C8F-0E17-4040-9D6C-7B874376AEFE}"/>
              </a:ext>
            </a:extLst>
          </p:cNvPr>
          <p:cNvSpPr>
            <a:spLocks xmlns:a="http://schemas.openxmlformats.org/drawingml/2006/main" noGrp="1"/>
          </p:cNvSpPr>
          <p:nvPr/>
        </p:nvSpPr>
        <p:spPr>
          <a:xfrm xmlns:a="http://schemas.openxmlformats.org/drawingml/2006/main">
            <a:off x="762000" y="404812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Sales and vesting</a:t>
            </a:r>
          </a:p>
        </p:txBody>
      </p:sp>
      <p:sp>
        <p:nvSpPr>
          <p:cNvPr id="14" name="">
            <a:extLst xmlns:a="http://schemas.openxmlformats.org/drawingml/2006/main">
              <a:ext uri="{FF2B5EF4-FFF2-40B4-BE49-F238E27FC236}">
                <a16:creationId xmlns:a16="http://schemas.microsoft.com/office/drawing/2014/main" id="{81CF10B5-ED77-4E15-9EEB-3E31A48E2EAF}"/>
              </a:ext>
            </a:extLst>
          </p:cNvPr>
          <p:cNvSpPr>
            <a:spLocks xmlns:a="http://schemas.openxmlformats.org/drawingml/2006/main" noGrp="1"/>
          </p:cNvSpPr>
          <p:nvPr/>
        </p:nvSpPr>
        <p:spPr>
          <a:xfrm xmlns:a="http://schemas.openxmlformats.org/drawingml/2006/main">
            <a:off x="5476875" y="404812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Streamflow escrow and vesting; Jupiter Lock.</a:t>
            </a:r>
          </a:p>
        </p:txBody>
      </p:sp>
      <p:sp>
        <p:nvSpPr>
          <p:cNvPr id="15" name="">
            <a:extLst xmlns:a="http://schemas.openxmlformats.org/drawingml/2006/main">
              <a:ext uri="{FF2B5EF4-FFF2-40B4-BE49-F238E27FC236}">
                <a16:creationId xmlns:a16="http://schemas.microsoft.com/office/drawing/2014/main" id="{D1E23F5F-6D0B-4514-8AFE-287BDD34DE85}"/>
              </a:ext>
            </a:extLst>
          </p:cNvPr>
          <p:cNvSpPr>
            <a:spLocks xmlns:a="http://schemas.openxmlformats.org/drawingml/2006/main" noGrp="1"/>
          </p:cNvSpPr>
          <p:nvPr/>
        </p:nvSpPr>
        <p:spPr>
          <a:xfrm xmlns:a="http://schemas.openxmlformats.org/drawingml/2006/main">
            <a:off x="762000" y="46577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135E9C7-73A1-4C6D-878E-0D11F9B5D593}"/>
              </a:ext>
            </a:extLst>
          </p:cNvPr>
          <p:cNvSpPr>
            <a:spLocks xmlns:a="http://schemas.openxmlformats.org/drawingml/2006/main" noGrp="1"/>
          </p:cNvSpPr>
          <p:nvPr/>
        </p:nvSpPr>
        <p:spPr>
          <a:xfrm xmlns:a="http://schemas.openxmlformats.org/drawingml/2006/main">
            <a:off x="762000" y="481965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Treasuries and strategies</a:t>
            </a:r>
          </a:p>
        </p:txBody>
      </p:sp>
      <p:sp>
        <p:nvSpPr>
          <p:cNvPr id="17" name="">
            <a:extLst xmlns:a="http://schemas.openxmlformats.org/drawingml/2006/main">
              <a:ext uri="{FF2B5EF4-FFF2-40B4-BE49-F238E27FC236}">
                <a16:creationId xmlns:a16="http://schemas.microsoft.com/office/drawing/2014/main" id="{EDD67867-F181-4EDE-B0FC-A61235DD3AB3}"/>
              </a:ext>
            </a:extLst>
          </p:cNvPr>
          <p:cNvSpPr>
            <a:spLocks xmlns:a="http://schemas.openxmlformats.org/drawingml/2006/main" noGrp="1"/>
          </p:cNvSpPr>
          <p:nvPr/>
        </p:nvSpPr>
        <p:spPr>
          <a:xfrm xmlns:a="http://schemas.openxmlformats.org/drawingml/2006/main">
            <a:off x="5476875" y="481965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Squads multisig; dividend baskets and rolling strategies.</a:t>
            </a:r>
          </a:p>
        </p:txBody>
      </p:sp>
      <p:sp>
        <p:nvSpPr>
          <p:cNvPr id="18" name="">
            <a:extLst xmlns:a="http://schemas.openxmlformats.org/drawingml/2006/main">
              <a:ext uri="{FF2B5EF4-FFF2-40B4-BE49-F238E27FC236}">
                <a16:creationId xmlns:a16="http://schemas.microsoft.com/office/drawing/2014/main" id="{59F83F8D-483A-488E-95F2-6612B1A92350}"/>
              </a:ext>
            </a:extLst>
          </p:cNvPr>
          <p:cNvSpPr>
            <a:spLocks xmlns:a="http://schemas.openxmlformats.org/drawingml/2006/main" noGrp="1"/>
          </p:cNvSpPr>
          <p:nvPr/>
        </p:nvSpPr>
        <p:spPr>
          <a:xfrm xmlns:a="http://schemas.openxmlformats.org/drawingml/2006/main">
            <a:off x="762000" y="54292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EA964E-410F-458C-8543-CFB65AAF07EB}"/>
              </a:ext>
            </a:extLst>
          </p:cNvPr>
          <p:cNvSpPr>
            <a:spLocks xmlns:a="http://schemas.openxmlformats.org/drawingml/2006/main" noGrp="1"/>
          </p:cNvSpPr>
          <p:nvPr/>
        </p:nvSpPr>
        <p:spPr>
          <a:xfrm xmlns:a="http://schemas.openxmlformats.org/drawingml/2006/main">
            <a:off x="762000" y="583882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Lending later: reliable prices, liquidity and maturity rules first.</a:t>
            </a:r>
          </a:p>
        </p:txBody>
      </p:sp>
      <p:sp>
        <p:nvSpPr>
          <p:cNvPr id="20" name="">
            <a:extLst xmlns:a="http://schemas.openxmlformats.org/drawingml/2006/main">
              <a:ext uri="{FF2B5EF4-FFF2-40B4-BE49-F238E27FC236}">
                <a16:creationId xmlns:a16="http://schemas.microsoft.com/office/drawing/2014/main" id="{54D1E27A-F778-496B-82F4-FE94ED1B129E}"/>
              </a:ext>
            </a:extLst>
          </p:cNvPr>
          <p:cNvSpPr>
            <a:spLocks xmlns:a="http://schemas.openxmlformats.org/drawingml/2006/main" noGrp="1"/>
          </p:cNvSpPr>
          <p:nvPr/>
        </p:nvSpPr>
        <p:spPr>
          <a:xfrm xmlns:a="http://schemas.openxmlformats.org/drawingml/2006/main">
            <a:off x="762000" y="63246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Beyond Raydium, these are proposed uses, subject to protocol compatibility and market support.</a:t>
            </a:r>
          </a:p>
        </p:txBody>
      </p:sp>
    </p:spTree>
    <p:extLst>
      <p:ext uri="{BB962C8B-B14F-4D97-AF65-F5344CB8AC3E}">
        <p14:creationId xmlns:p14="http://schemas.microsoft.com/office/powerpoint/2010/main" val="1204431957"/>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9AD2F1-B3BD-4858-A06E-C3E44E541BE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B487C5-E00B-41BB-B176-B034F5416A3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942C3C-3ACF-4898-B7C6-33B53425FFA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9EEBC91-DE3E-41BF-82E1-DA7A8C4E9C2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working guided demo</a:t>
            </a:r>
          </a:p>
        </p:txBody>
      </p:sp>
      <p:sp>
        <p:nvSpPr>
          <p:cNvPr id="5" name="">
            <a:extLst xmlns:a="http://schemas.openxmlformats.org/drawingml/2006/main">
              <a:ext uri="{FF2B5EF4-FFF2-40B4-BE49-F238E27FC236}">
                <a16:creationId xmlns:a16="http://schemas.microsoft.com/office/drawing/2014/main" id="{CE81C59F-D324-421E-AD5C-25DE2FB987D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b51eb5c69984651"/>
          <a:stretch xmlns:a="http://schemas.openxmlformats.org/drawingml/2006/main"/>
        </p:blipFill>
        <p:spPr>
          <a:xfrm xmlns:a="http://schemas.openxmlformats.org/drawingml/2006/main">
            <a:off x="571500" y="2011442"/>
            <a:ext cx="7486650" cy="39304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141716E-9959-4E75-A6E5-68D104F18930}"/>
              </a:ext>
            </a:extLst>
          </p:cNvPr>
          <p:cNvSpPr>
            <a:spLocks xmlns:a="http://schemas.openxmlformats.org/drawingml/2006/main" noGrp="1"/>
          </p:cNvSpPr>
          <p:nvPr/>
        </p:nvSpPr>
        <p:spPr>
          <a:xfrm xmlns:a="http://schemas.openxmlformats.org/drawingml/2006/main">
            <a:off x="8467725" y="21145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62ED4054-B1AD-4336-B250-0073C69A5F15}"/>
              </a:ext>
            </a:extLst>
          </p:cNvPr>
          <p:cNvSpPr>
            <a:spLocks xmlns:a="http://schemas.openxmlformats.org/drawingml/2006/main" noGrp="1"/>
          </p:cNvSpPr>
          <p:nvPr/>
        </p:nvSpPr>
        <p:spPr>
          <a:xfrm xmlns:a="http://schemas.openxmlformats.org/drawingml/2006/main">
            <a:off x="8467725" y="23907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Split and recombine</a:t>
            </a:r>
          </a:p>
        </p:txBody>
      </p:sp>
      <p:sp>
        <p:nvSpPr>
          <p:cNvPr id="9" name="">
            <a:extLst xmlns:a="http://schemas.openxmlformats.org/drawingml/2006/main">
              <a:ext uri="{FF2B5EF4-FFF2-40B4-BE49-F238E27FC236}">
                <a16:creationId xmlns:a16="http://schemas.microsoft.com/office/drawing/2014/main" id="{7225D032-EB91-4BD1-9908-877DE802C532}"/>
              </a:ext>
            </a:extLst>
          </p:cNvPr>
          <p:cNvSpPr>
            <a:spLocks xmlns:a="http://schemas.openxmlformats.org/drawingml/2006/main" noGrp="1"/>
          </p:cNvSpPr>
          <p:nvPr/>
        </p:nvSpPr>
        <p:spPr>
          <a:xfrm xmlns:a="http://schemas.openxmlformats.org/drawingml/2006/main">
            <a:off x="8467725" y="3105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3F788298-1535-483A-B712-CC907505DE13}"/>
              </a:ext>
            </a:extLst>
          </p:cNvPr>
          <p:cNvSpPr>
            <a:spLocks xmlns:a="http://schemas.openxmlformats.org/drawingml/2006/main" noGrp="1"/>
          </p:cNvSpPr>
          <p:nvPr/>
        </p:nvSpPr>
        <p:spPr>
          <a:xfrm xmlns:a="http://schemas.openxmlformats.org/drawingml/2006/main">
            <a:off x="8467725" y="33813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See dividends build up</a:t>
            </a:r>
          </a:p>
        </p:txBody>
      </p:sp>
      <p:sp>
        <p:nvSpPr>
          <p:cNvPr id="11" name="">
            <a:extLst xmlns:a="http://schemas.openxmlformats.org/drawingml/2006/main">
              <a:ext uri="{FF2B5EF4-FFF2-40B4-BE49-F238E27FC236}">
                <a16:creationId xmlns:a16="http://schemas.microsoft.com/office/drawing/2014/main" id="{474A3BF7-4C24-4116-A7A8-FCFDEFA9BB1E}"/>
              </a:ext>
            </a:extLst>
          </p:cNvPr>
          <p:cNvSpPr>
            <a:spLocks xmlns:a="http://schemas.openxmlformats.org/drawingml/2006/main" noGrp="1"/>
          </p:cNvSpPr>
          <p:nvPr/>
        </p:nvSpPr>
        <p:spPr>
          <a:xfrm xmlns:a="http://schemas.openxmlformats.org/drawingml/2006/main">
            <a:off x="8467725" y="40957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A63E160D-8F66-4B02-BDAC-2735C4542A6E}"/>
              </a:ext>
            </a:extLst>
          </p:cNvPr>
          <p:cNvSpPr>
            <a:spLocks xmlns:a="http://schemas.openxmlformats.org/drawingml/2006/main" noGrp="1"/>
          </p:cNvSpPr>
          <p:nvPr/>
        </p:nvSpPr>
        <p:spPr>
          <a:xfrm xmlns:a="http://schemas.openxmlformats.org/drawingml/2006/main">
            <a:off x="8467725" y="43719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Trade DR and redeem</a:t>
            </a:r>
          </a:p>
        </p:txBody>
      </p:sp>
      <p:sp>
        <p:nvSpPr>
          <p:cNvPr id="13" name="">
            <a:extLst xmlns:a="http://schemas.openxmlformats.org/drawingml/2006/main">
              <a:ext uri="{FF2B5EF4-FFF2-40B4-BE49-F238E27FC236}">
                <a16:creationId xmlns:a16="http://schemas.microsoft.com/office/drawing/2014/main" id="{9CACFCF5-73B2-48F0-9DF0-1E8AA825AFB4}"/>
              </a:ext>
            </a:extLst>
          </p:cNvPr>
          <p:cNvSpPr>
            <a:spLocks xmlns:a="http://schemas.openxmlformats.org/drawingml/2006/main" noGrp="1"/>
          </p:cNvSpPr>
          <p:nvPr/>
        </p:nvSpPr>
        <p:spPr>
          <a:xfrm xmlns:a="http://schemas.openxmlformats.org/drawingml/2006/main">
            <a:off x="8467725" y="527685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Selected stock profiles from</a:t>
            </a:r>
          </a:p>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Ondo · Backpack · xStocks</a:t>
            </a:r>
          </a:p>
        </p:txBody>
      </p:sp>
      <p:sp>
        <p:nvSpPr>
          <p:cNvPr id="14" name="">
            <a:extLst xmlns:a="http://schemas.openxmlformats.org/drawingml/2006/main">
              <a:ext uri="{FF2B5EF4-FFF2-40B4-BE49-F238E27FC236}">
                <a16:creationId xmlns:a16="http://schemas.microsoft.com/office/drawing/2014/main" id="{61445DF5-A2B0-42E0-9F48-34B3389BBB8C}"/>
              </a:ext>
            </a:extLst>
          </p:cNvPr>
          <p:cNvSpPr>
            <a:spLocks xmlns:a="http://schemas.openxmlformats.org/drawingml/2006/main" noGrp="1"/>
          </p:cNvSpPr>
          <p:nvPr/>
        </p:nvSpPr>
        <p:spPr>
          <a:xfrm xmlns:a="http://schemas.openxmlformats.org/drawingml/2006/main">
            <a:off x="762000" y="62960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Public devnet: real calendar. Guided sandbox: accelerated year. Both use test assets.</a:t>
            </a:r>
          </a:p>
        </p:txBody>
      </p:sp>
    </p:spTree>
    <p:extLst>
      <p:ext uri="{BB962C8B-B14F-4D97-AF65-F5344CB8AC3E}">
        <p14:creationId xmlns:p14="http://schemas.microsoft.com/office/powerpoint/2010/main" val="704744169"/>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D821BB-B0F2-4D52-8127-87BE1109E61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CC938E-6991-44F2-AD2B-1B96F54AC5F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E402EA-7B64-422E-963C-A92B121E684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4A9C352-69E6-48CE-A683-2EBBD4FE98E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From prototype to mainnet</a:t>
            </a:r>
          </a:p>
        </p:txBody>
      </p:sp>
      <p:sp>
        <p:nvSpPr>
          <p:cNvPr id="5" name="">
            <a:extLst xmlns:a="http://schemas.openxmlformats.org/drawingml/2006/main">
              <a:ext uri="{FF2B5EF4-FFF2-40B4-BE49-F238E27FC236}">
                <a16:creationId xmlns:a16="http://schemas.microsoft.com/office/drawing/2014/main" id="{229B2765-2433-4E5C-9B65-2E53BC430F2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A494EADC-814E-4E22-8A84-C85D9363EC03}"/>
              </a:ext>
            </a:extLst>
          </p:cNvPr>
          <p:cNvSpPr>
            <a:spLocks xmlns:a="http://schemas.openxmlformats.org/drawingml/2006/main" noGrp="1"/>
          </p:cNvSpPr>
          <p:nvPr/>
        </p:nvSpPr>
        <p:spPr>
          <a:xfrm xmlns:a="http://schemas.openxmlformats.org/drawingml/2006/main">
            <a:off x="762000" y="18859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WORKING TODAY</a:t>
            </a:r>
          </a:p>
        </p:txBody>
      </p:sp>
      <p:sp>
        <p:nvSpPr>
          <p:cNvPr id="7" name="">
            <a:extLst xmlns:a="http://schemas.openxmlformats.org/drawingml/2006/main">
              <a:ext uri="{FF2B5EF4-FFF2-40B4-BE49-F238E27FC236}">
                <a16:creationId xmlns:a16="http://schemas.microsoft.com/office/drawing/2014/main" id="{1FE951A2-3249-41C6-9544-06B85455FED7}"/>
              </a:ext>
            </a:extLst>
          </p:cNvPr>
          <p:cNvSpPr>
            <a:spLocks xmlns:a="http://schemas.openxmlformats.org/drawingml/2006/main" noGrp="1"/>
          </p:cNvSpPr>
          <p:nvPr/>
        </p:nvSpPr>
        <p:spPr>
          <a:xfrm xmlns:a="http://schemas.openxmlformats.org/drawingml/2006/main">
            <a:off x="762000" y="2305050"/>
            <a:ext cx="5143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Annual program and SDK</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Public devnet app</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Guided split, trade and redemption</a:t>
            </a:r>
          </a:p>
        </p:txBody>
      </p:sp>
      <p:sp>
        <p:nvSpPr>
          <p:cNvPr id="8" name="">
            <a:extLst xmlns:a="http://schemas.openxmlformats.org/drawingml/2006/main">
              <a:ext uri="{FF2B5EF4-FFF2-40B4-BE49-F238E27FC236}">
                <a16:creationId xmlns:a16="http://schemas.microsoft.com/office/drawing/2014/main" id="{2DF49F1E-7BE0-48EC-958A-1FEFEAF897D4}"/>
              </a:ext>
            </a:extLst>
          </p:cNvPr>
          <p:cNvSpPr>
            <a:spLocks xmlns:a="http://schemas.openxmlformats.org/drawingml/2006/main" noGrp="1"/>
          </p:cNvSpPr>
          <p:nvPr/>
        </p:nvSpPr>
        <p:spPr>
          <a:xfrm xmlns:a="http://schemas.openxmlformats.org/drawingml/2006/main">
            <a:off x="6153150" y="1857375"/>
            <a:ext cx="9525" cy="204787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A23CAA3-CA8B-4C2B-AF34-B36310F9D2DE}"/>
              </a:ext>
            </a:extLst>
          </p:cNvPr>
          <p:cNvSpPr>
            <a:spLocks xmlns:a="http://schemas.openxmlformats.org/drawingml/2006/main" noGrp="1"/>
          </p:cNvSpPr>
          <p:nvPr/>
        </p:nvSpPr>
        <p:spPr>
          <a:xfrm xmlns:a="http://schemas.openxmlformats.org/drawingml/2006/main">
            <a:off x="6667500" y="1885950"/>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BEFORE REAL ASSETS</a:t>
            </a:r>
          </a:p>
        </p:txBody>
      </p:sp>
      <p:sp>
        <p:nvSpPr>
          <p:cNvPr id="10" name="">
            <a:extLst xmlns:a="http://schemas.openxmlformats.org/drawingml/2006/main">
              <a:ext uri="{FF2B5EF4-FFF2-40B4-BE49-F238E27FC236}">
                <a16:creationId xmlns:a16="http://schemas.microsoft.com/office/drawing/2014/main" id="{24B2F1AB-783B-44BC-9940-263844491F7B}"/>
              </a:ext>
            </a:extLst>
          </p:cNvPr>
          <p:cNvSpPr>
            <a:spLocks xmlns:a="http://schemas.openxmlformats.org/drawingml/2006/main" noGrp="1"/>
          </p:cNvSpPr>
          <p:nvPr/>
        </p:nvSpPr>
        <p:spPr>
          <a:xfrm xmlns:a="http://schemas.openxmlformats.org/drawingml/2006/main">
            <a:off x="6667500" y="2305050"/>
            <a:ext cx="46863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Qualified issuer records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Verified custody and payouts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Security and legal review</a:t>
            </a:r>
          </a:p>
        </p:txBody>
      </p:sp>
      <p:sp>
        <p:nvSpPr>
          <p:cNvPr id="11" name="">
            <a:extLst xmlns:a="http://schemas.openxmlformats.org/drawingml/2006/main">
              <a:ext uri="{FF2B5EF4-FFF2-40B4-BE49-F238E27FC236}">
                <a16:creationId xmlns:a16="http://schemas.microsoft.com/office/drawing/2014/main" id="{62389484-007C-4A8A-AB3E-05EDC4095A05}"/>
              </a:ext>
            </a:extLst>
          </p:cNvPr>
          <p:cNvSpPr>
            <a:spLocks xmlns:a="http://schemas.openxmlformats.org/drawingml/2006/main" noGrp="1"/>
          </p:cNvSpPr>
          <p:nvPr/>
        </p:nvSpPr>
        <p:spPr>
          <a:xfrm xmlns:a="http://schemas.openxmlformats.org/drawingml/2006/main">
            <a:off x="762000" y="4438650"/>
            <a:ext cx="10525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Then: more liquidity, rolling dividend strategies and other networks.</a:t>
            </a:r>
          </a:p>
        </p:txBody>
      </p:sp>
      <p:sp>
        <p:nvSpPr>
          <p:cNvPr id="12" name="">
            <a:extLst xmlns:a="http://schemas.openxmlformats.org/drawingml/2006/main">
              <a:ext uri="{FF2B5EF4-FFF2-40B4-BE49-F238E27FC236}">
                <a16:creationId xmlns:a16="http://schemas.microsoft.com/office/drawing/2014/main" id="{70F2C8BD-1A6A-4A75-AA33-C4FE8DE9E7B5}"/>
              </a:ext>
            </a:extLst>
          </p:cNvPr>
          <p:cNvSpPr>
            <a:spLocks xmlns:a="http://schemas.openxmlformats.org/drawingml/2006/main" noGrp="1"/>
          </p:cNvSpPr>
          <p:nvPr/>
        </p:nvSpPr>
        <p:spPr>
          <a:xfrm xmlns:a="http://schemas.openxmlformats.org/drawingml/2006/main">
            <a:off x="762000" y="52673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C925B8-1FB6-4F4B-A27F-87443A9D15EE}"/>
              </a:ext>
            </a:extLst>
          </p:cNvPr>
          <p:cNvSpPr>
            <a:spLocks xmlns:a="http://schemas.openxmlformats.org/drawingml/2006/main" noGrp="1"/>
          </p:cNvSpPr>
          <p:nvPr/>
        </p:nvSpPr>
        <p:spPr>
          <a:xfrm xmlns:a="http://schemas.openxmlformats.org/drawingml/2006/main">
            <a:off x="762000" y="5553075"/>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850" b="1">
                <a:solidFill>
                  <a:srgbClr val="101820"/>
                </a:solidFill>
                <a:latin typeface="Helvetica Neue"/>
                <a:ea typeface="Helvetica Neue"/>
                <a:cs typeface="Helvetica Neue"/>
              </a:defRPr>
            </a:pPr>
            <a:r>
              <a:rPr sz="2850" b="1">
                <a:solidFill>
                  <a:srgbClr val="101820"/>
                </a:solidFill>
                <a:latin typeface="Helvetica Neue"/>
                <a:ea typeface="Helvetica Neue"/>
                <a:cs typeface="Helvetica Neue"/>
              </a:rPr>
              <a:t>Try DivX</a:t>
            </a:r>
          </a:p>
        </p:txBody>
      </p:sp>
      <p:sp>
        <p:nvSpPr>
          <p:cNvPr id="14" name="">
            <a:extLst xmlns:a="http://schemas.openxmlformats.org/drawingml/2006/main">
              <a:ext uri="{FF2B5EF4-FFF2-40B4-BE49-F238E27FC236}">
                <a16:creationId xmlns:a16="http://schemas.microsoft.com/office/drawing/2014/main" id="{1552F4E2-D237-4C19-BD6C-0B198D106F19}"/>
              </a:ext>
            </a:extLst>
          </p:cNvPr>
          <p:cNvSpPr>
            <a:spLocks xmlns:a="http://schemas.openxmlformats.org/drawingml/2006/main" noGrp="1"/>
          </p:cNvSpPr>
          <p:nvPr/>
        </p:nvSpPr>
        <p:spPr>
          <a:xfrm xmlns:a="http://schemas.openxmlformats.org/drawingml/2006/main">
            <a:off x="6019800" y="5572125"/>
            <a:ext cx="5286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475" b="1">
                <a:solidFill>
                  <a:srgbClr val="2457F5"/>
                </a:solidFill>
                <a:latin typeface="Helvetica Neue"/>
                <a:ea typeface="Helvetica Neue"/>
                <a:cs typeface="Helvetica Neue"/>
              </a:defRPr>
            </a:pPr>
            <a:r>
              <a:rPr sz="2475" b="1">
                <a:solidFill>
                  <a:srgbClr val="2457F5"/>
                </a:solidFill>
                <a:latin typeface="Helvetica Neue"/>
                <a:ea typeface="Helvetica Neue"/>
                <a:cs typeface="Helvetica Neue"/>
              </a:rPr>
              <a:t>divx.payai.network</a:t>
            </a:r>
          </a:p>
        </p:txBody>
      </p:sp>
      <p:sp>
        <p:nvSpPr>
          <p:cNvPr id="15" name="">
            <a:extLst xmlns:a="http://schemas.openxmlformats.org/drawingml/2006/main">
              <a:ext uri="{FF2B5EF4-FFF2-40B4-BE49-F238E27FC236}">
                <a16:creationId xmlns:a16="http://schemas.microsoft.com/office/drawing/2014/main" id="{E6B0DD01-290D-4CBE-9AA0-FB6B341A14BD}"/>
              </a:ext>
            </a:extLst>
          </p:cNvPr>
          <p:cNvSpPr>
            <a:spLocks xmlns:a="http://schemas.openxmlformats.org/drawingml/2006/main" noGrp="1"/>
          </p:cNvSpPr>
          <p:nvPr/>
        </p:nvSpPr>
        <p:spPr>
          <a:xfrm xmlns:a="http://schemas.openxmlformats.org/drawingml/2006/main">
            <a:off x="762000" y="62674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Stocklana hackathon · No wallet or real funds needed for the guided demo.</a:t>
            </a:r>
          </a:p>
        </p:txBody>
      </p:sp>
    </p:spTree>
    <p:extLst>
      <p:ext uri="{BB962C8B-B14F-4D97-AF65-F5344CB8AC3E}">
        <p14:creationId xmlns:p14="http://schemas.microsoft.com/office/powerpoint/2010/main" val="964827560"/>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2026-09-25T03:30:27.2970000Z</dcterms:created>
  <dcterms:modified xsi:type="dcterms:W3CDTF">2026-09-25T03:30:27.2970000Z</dcterms:modified>
</coreProperties>
</file>