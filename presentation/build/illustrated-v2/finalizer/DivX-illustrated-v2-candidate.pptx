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02ef6da1c74611" /><Relationship Type="http://schemas.openxmlformats.org/officeDocument/2006/relationships/extended-properties" Target="/docProps/app.xml" Id="Rc6f49353d03e444e" /><Relationship Type="http://schemas.openxmlformats.org/officeDocument/2006/relationships/officeDocument" Target="/ppt/presentation.xml" Id="R78755deb2c444bf6" /></Relationships>
</file>

<file path=ppt/presentation.xml><?xml version="1.0" encoding="utf-8"?>
<p:presentation xmlns:p="http://schemas.openxmlformats.org/presentationml/2006/main">
  <p:sldMasterIdLst>
    <p:sldMasterId xmlns:r="http://schemas.openxmlformats.org/officeDocument/2006/relationships" id="2147483648" r:id="R11038b83aab54d58"/>
  </p:sldMasterIdLst>
  <p:notesMasterIdLst>
    <p:notesMasterId xmlns:r="http://schemas.openxmlformats.org/officeDocument/2006/relationships" r:id="R86da6626503c4e10"/>
  </p:notesMasterIdLst>
  <p:sldIdLst>
    <p:sldId xmlns:r="http://schemas.openxmlformats.org/officeDocument/2006/relationships" id="256" r:id="Rc54710eab96a46b7"/>
    <p:sldId xmlns:r="http://schemas.openxmlformats.org/officeDocument/2006/relationships" id="257" r:id="R5b5846b55f654551"/>
    <p:sldId xmlns:r="http://schemas.openxmlformats.org/officeDocument/2006/relationships" id="258" r:id="Rdcab3806ca854f9e"/>
    <p:sldId xmlns:r="http://schemas.openxmlformats.org/officeDocument/2006/relationships" id="259" r:id="R95dd0e96ac924927"/>
    <p:sldId xmlns:r="http://schemas.openxmlformats.org/officeDocument/2006/relationships" id="260" r:id="R91afaef9df70441c"/>
    <p:sldId xmlns:r="http://schemas.openxmlformats.org/officeDocument/2006/relationships" id="261" r:id="Rbecacddf09b64d59"/>
    <p:sldId xmlns:r="http://schemas.openxmlformats.org/officeDocument/2006/relationships" id="262" r:id="Rccd7e330770749cf"/>
    <p:sldId xmlns:r="http://schemas.openxmlformats.org/officeDocument/2006/relationships" id="263" r:id="R4c0d4aa65c744cc4"/>
    <p:sldId xmlns:r="http://schemas.openxmlformats.org/officeDocument/2006/relationships" id="264" r:id="R00b7ee5902f249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71d0acaca4b4ca1" /><Relationship Type="http://schemas.openxmlformats.org/officeDocument/2006/relationships/slideMaster" Target="/ppt/slideMasters/slideMaster1.xml" Id="R11038b83aab54d58" /><Relationship Type="http://schemas.openxmlformats.org/officeDocument/2006/relationships/notesMaster" Target="/ppt/notesMasters/notesMaster1.xml" Id="R86da6626503c4e10" /><Relationship Type="http://schemas.openxmlformats.org/officeDocument/2006/relationships/presProps" Target="/ppt/presProps.xml" Id="R4561e56364304efc" /><Relationship Type="http://schemas.openxmlformats.org/officeDocument/2006/relationships/tableStyles" Target="/ppt/tableStyles.xml" Id="R953874909bdb4720" /><Relationship Type="http://schemas.openxmlformats.org/officeDocument/2006/relationships/slide" Target="/ppt/slides/slide1.xml" Id="Rc54710eab96a46b7" /><Relationship Type="http://schemas.openxmlformats.org/officeDocument/2006/relationships/slide" Target="/ppt/slides/slide2.xml" Id="R5b5846b55f654551" /><Relationship Type="http://schemas.openxmlformats.org/officeDocument/2006/relationships/slide" Target="/ppt/slides/slide3.xml" Id="Rdcab3806ca854f9e" /><Relationship Type="http://schemas.openxmlformats.org/officeDocument/2006/relationships/slide" Target="/ppt/slides/slide4.xml" Id="R95dd0e96ac924927" /><Relationship Type="http://schemas.openxmlformats.org/officeDocument/2006/relationships/slide" Target="/ppt/slides/slide5.xml" Id="R91afaef9df70441c" /><Relationship Type="http://schemas.openxmlformats.org/officeDocument/2006/relationships/slide" Target="/ppt/slides/slide6.xml" Id="Rbecacddf09b64d59" /><Relationship Type="http://schemas.openxmlformats.org/officeDocument/2006/relationships/slide" Target="/ppt/slides/slide7.xml" Id="Rccd7e330770749cf" /><Relationship Type="http://schemas.openxmlformats.org/officeDocument/2006/relationships/slide" Target="/ppt/slides/slide8.xml" Id="R4c0d4aa65c744cc4" /><Relationship Type="http://schemas.openxmlformats.org/officeDocument/2006/relationships/slide" Target="/ppt/slides/slide9.xml" Id="R00b7ee5902f249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64d7be24ed45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00def2fbe14d13" /><Relationship Type="http://schemas.openxmlformats.org/officeDocument/2006/relationships/notesMaster" Target="/ppt/notesMasters/notesMaster1.xml" Id="R744a3ee720a74a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9be08e998b4b44" /><Relationship Type="http://schemas.openxmlformats.org/officeDocument/2006/relationships/notesMaster" Target="/ppt/notesMasters/notesMaster1.xml" Id="R52a4acce212249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b04c5ac46c4a15" /><Relationship Type="http://schemas.openxmlformats.org/officeDocument/2006/relationships/notesMaster" Target="/ppt/notesMasters/notesMaster1.xml" Id="Rda7d531792674b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5a2b4b50d946cc" /><Relationship Type="http://schemas.openxmlformats.org/officeDocument/2006/relationships/notesMaster" Target="/ppt/notesMasters/notesMaster1.xml" Id="R2a8f72ac757849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9be08c8c3f44c6" /><Relationship Type="http://schemas.openxmlformats.org/officeDocument/2006/relationships/notesMaster" Target="/ppt/notesMasters/notesMaster1.xml" Id="R46c4c25a699a44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044d5cbd6d4903" /><Relationship Type="http://schemas.openxmlformats.org/officeDocument/2006/relationships/notesMaster" Target="/ppt/notesMasters/notesMaster1.xml" Id="R92d140997d604e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3c86083fdf44d4" /><Relationship Type="http://schemas.openxmlformats.org/officeDocument/2006/relationships/notesMaster" Target="/ppt/notesMasters/notesMaster1.xml" Id="R59c1236ad17c40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8c1154a637426a" /><Relationship Type="http://schemas.openxmlformats.org/officeDocument/2006/relationships/notesMaster" Target="/ppt/notesMasters/notesMaster1.xml" Id="Rbd238dd5304142d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56e350e1a6d401b" /><Relationship Type="http://schemas.openxmlformats.org/officeDocument/2006/relationships/notesMaster" Target="/ppt/notesMasters/notesMaster1.xml" Id="R35eb28f3a5ff49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DivX lets you stay invested in a stock and sell the right to a future dividend. A dividend is a payment a company makes to its shareholders. Sell that claim, and you get paid today. In exchange, the buyer gets the right to that dividend.</a:t>
            </a:r>
          </a:p>
          <a:p xmlns:a="http://schemas.openxmlformats.org/drawingml/2006/main">
            <a:r>
              <a:t>Presenter notes: The protocol is not launched. Current software is an approved interface and working historical calculator. Selected integration scope does not mean every token from these issuers is eligible or already integrated.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People already trade dividends separately from stocks in traditional finance. Banks sell contracts tied to future dividends to reduce risk. Investment funds such as Survista buy them at a discount. DivX brings that established market to people who hold tokenized stocks.</a:t>
            </a:r>
          </a:p>
          <a:p xmlns:a="http://schemas.openxmlformats.org/drawingml/2006/main">
            <a:r>
              <a:t>Presenter notes: The institutions shown are participants in traditional dividend markets, not DivX users. Bank direction varies by book and tenor; hedge funds can buy or sell. Traditional dividend futures and swaps are generally cash-settled. DivX allocates collateral in the deposited stock token, and proceeds require a willing buyer at an agreed price.</a:t>
            </a:r>
          </a:p>
          <a:p xmlns:a="http://schemas.openxmlformats.org/drawingml/2006/main">
            <a:r>
              <a:t>Sources (accessed/observed 16 September 2026 unless stated): Eurex 2025 whitepaper, pp. 31–32: https://www.eurex.com/resource/blob/4418754/f90fd622a278beb08757729864e93925/data/whitepaper-derivatives-forum-frankfurt-2025.pdf | CME, Trading Dividend Uncertainty, 2024: https://www.cmegroup.com/articles/2024/trading-dividend-uncertainty.html | CME dividend-futures primer, 2024: https://www.cmegroup.com/articles/2024/equity-index-dividend-futures-a-primer.html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Deposit a stock token into our vault. The vault creates two tokens: PT for the stock position and DR for the dividend. Keep the stock side and sell the dividend side. Each can be later exchanged for its share of the stock tokens held in the vault.</a:t>
            </a:r>
          </a:p>
          <a:p xmlns:a="http://schemas.openxmlformats.org/drawingml/2006/main">
            <a:r>
              <a:t>Presenter notes: This describes product mechanics, not deployed execution. Each vault isolates one issuer, mint and event. The supported Scaled UI reinvestment model shares raw-unit allocation rules across qualified xStocks, Backpack and Ondo tokens. Reinvested-token settlement stays in the deposited token. No third circulating wrapper exists. Deposit must precede the supported event, and claim receipt units differ from raw redemption allocations.</a:t>
            </a:r>
          </a:p>
          <a:p xmlns:a="http://schemas.openxmlformats.org/drawingml/2006/main">
            <a:r>
              <a:t>Sources (accessed/observed 16 September 2026 unless stated): xStocks multipliers: https://docs.xstocks.fi/developers/multipliers | Backpack MU: https://learn.backpack.exchange/blog/tokenized-micron-mu | Ondo corporate actions: https://docs.ondo.finance/ondo-stocks/corporate-actions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In traditional finance, more than 21 million dividend contracts traded on Eurex in 2024. In crypto, Pendle lets people trade the future income from their tokens (yield). Pendle reported an average of about 96 million dollars traded per day that year.</a:t>
            </a:r>
          </a:p>
          <a:p xmlns:a="http://schemas.openxmlformats.org/drawingml/2006/main">
            <a:r>
              <a:t>Presenter notes: Contracts and dollars are different measures. These figures establish precedents; they do not prove demand for DivX or forecast future volume.</a:t>
            </a:r>
          </a:p>
          <a:p xmlns:a="http://schemas.openxmlformats.org/drawingml/2006/main">
            <a:r>
              <a:t>Sources (accessed/observed 16 September 2026 unless stated): Eurex release, published 6 January 2025: https://www.eurex.com/ex-en/find/news-center/news/Eurex-dividend-options-received-CFTC-approval-for-trading-in-the-U.S.--4248358 | Pendle team review, published 4 February 2025: https://medium.com/pendle/pendle-2025-zenith-cf1a91e6e23f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Companies paid 1.75 trillion dollars in dividends in 2024. Tokenized stocks now bring stock investments into crypto wallets. Names like Apple, Microsoft and Coca-Cola already have tokens on Solana. That gives us the assets to build this dividend market onchain.</a:t>
            </a:r>
          </a:p>
          <a:p xmlns:a="http://schemas.openxmlformats.org/drawingml/2006/main">
            <a:r>
              <a:t>Presenter notes: The RWA.xyz total is global and includes stocks, ETFs, native instruments, and synthetic representations. Eligible Solana dividend collateral is only a subset. Initial scope names issuer families under review, not a supported-token inventory or partnership announcement. The two measures are not additive TAM and do not support a growth estimate. The selected package contains 15 candidate mints across six companies: all six from xStocks and Ondo, and Micron, Nike and IBM from Backpack; this is not 15 completed integrations.</a:t>
            </a:r>
          </a:p>
          <a:p xmlns:a="http://schemas.openxmlformats.org/drawingml/2006/main">
            <a:r>
              <a:t>Sources (accessed/observed 16 September 2026 unless stated): Janus Henderson, published 2025: https://www.janushenderson.com/en-dk/advisor/press-releases/global-dividends-jumped-to-a-record-1-75-trillion-in-2024/ | RWA.xyz Stocks dashboard, observed and reconfirmed 16 September 2026: https://app.rwa.xyz/stocks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Solana lets trades settle quickly. The buyer gets the dividend claim and the seller gets paid in one transaction. We're building for tokenized stocks from Backpack, xStocks and Ondo.</a:t>
            </a:r>
          </a:p>
          <a:p xmlns:a="http://schemas.openxmlformats.org/drawingml/2006/main">
            <a:r>
              <a:t>Presenter notes: Fast settlement describes the designed secondary trade: payment and the dividend claim move atomically in one transaction or the trade reverts. It does not claim deployed execution, an immediate future dividend payout, or completed issuer integration. All three observed families use Token-2022 Scaled UI Amount, so qualified reinvested-dividend accounting can share one engine. Each issuer still needs its own event reader and custody checks. Exact mint, decimals, event source, extensions and issuer controls stay pinned per series. The engine never pools collateral, makes claims across issuers fungible, or guarantees liquidity. Permissioned holder or approved-vault products, no-dividend products and fee-bearing products are outside scope, not an upcoming integration track. Permissionless means no DivX holder allowlist or issuer-specific approved-vault onboarding for admitted assets; underlying issuer controls and product restrictions remain. Ondo documents secondary transferability outside the United States subject to restrictions; issuer KYC for primary issuance or redemption is separate. Exact mint checks, event evidence and execution tests are required before a series opens. xStocks has public event history. Backpack MU has a fully bracketed sourced onchain reconstruction around its DividendDistribute transaction and later ordinary mint/redeem multiplier recomputations; an official event ledger and finality semantics remain unverified. Today's multiplier must not be used as an event factor. Ondo's keyed multiplier history still needs classified event joins, and no Ondo event is source-complete.</a:t>
            </a:r>
          </a:p>
          <a:p xmlns:a="http://schemas.openxmlformats.org/drawingml/2006/main">
            <a:r>
              <a:t>Sources (accessed/observed 16 September 2026 unless stated): Solana transactions: https://solana.com/docs/core/transactions | Solana institutional payments: https://solana.com/solutions/institutional-payments | xStocks multipliers: https://docs.xstocks.fi/developers/multipliers | xStocks corporate actions: https://docs.xstocks.fi/apis/openapi/corporate-actions | Backpack MU: https://learn.backpack.exchange/blog/tokenized-micron-mu | Backpack MU finalized DividendDistribute transaction: https://explorer.solana.com/tx/39vTkahE7rUnFypAkKpaHUxwMyuC1nG4nJ12GEm3y9V1Kqep6ijvcX4isqsNXB63s3vsGNDjfi7uFFgH32Te59R | Local Backpack audit: planning/evidence/backpack-scope-mu-raw-transactions-2026-09-16.json | Ondo corporate actions: https://docs.ondo.finance/ondo-stocks/corporate-actions | Ondo multiplier history API: https://docs.ondo.finance/api-reference/assets/get-shares-multiplier-history-for-an-asset | Ondo transferability: https://docs.ondo.finance/ondo-stocks/transferability | Ondo Solana repository: https://github.com/ondoprotocol/global-markets-solana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You can even buy or sell a tiny (fractional) part of a dividend claim. Anyone can check the vault's holdings and see which claims have been paid out. Other Solana apps can use these claims too, so wallets and trading apps can build on the same market.</a:t>
            </a:r>
          </a:p>
          <a:p xmlns:a="http://schemas.openxmlformats.org/drawingml/2006/main">
            <a:r>
              <a:t>Presenter notes: PT and DR may be used by compatible Solana applications subject to each eligible series' rules. Backing stays in the series vault while either claim moves or connects to an app. The illustration shows conceptual compatibility, not deployed integrations. Onchain auditability covers held collateral and program records. It does not independently prove issuer reserves, correct issuer data, correct program code, or audit certification. Corporate-action handling remains technical Q&amp;A: the verified KOx dividend is accepted, while the exact HONx reverse split and later spinoff are unsupported dividend events.</a:t>
            </a:r>
          </a:p>
          <a:p xmlns:a="http://schemas.openxmlformats.org/drawingml/2006/main">
            <a:r>
              <a:t>Sources (accessed/observed 16 September 2026 unless stated): Approved local illustration and provenance: design/illustrations/assets/stock-and-dividend-composability-v1.png; design/illustrations/assets/manifest.json; design/illustrations/prompts/stock-and-dividend-composability-v1.md | Solana tokens: https://solana.com/docs/tokens | Solana accounts: https://solana.com/docs/core/accounts | Solana transactions: https://solana.com/docs/core/transactions | Token supply RPC: https://solana.com/docs/rpc/http/gettokensupply | KOx history: https://api.xstocks.fi/api/v2/public/corporate-actions/history?page=1&amp;pageSize=100&amp;symbol=KOx&amp;sortBy=createdTimeUtc&amp;sortOrder=asc | HONx history: https://api.xstocks.fi/api/v2/public/corporate-actions/history?page=1&amp;pageSize=100&amp;symbol=HONx&amp;sortBy=createdTimeUtc&amp;sortOrder=asc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Take Coca-Cola. Our calculator uses a real dividend event for KOx, its xStocks token. For KOx tokens representing 100 shares before the dividend, it shows about 8,935 dollars of stock value and 37.10 dollars in reinvested dividends. Those two separate assets can be built upon.</a:t>
            </a:r>
          </a:p>
          <a:p xmlns:a="http://schemas.openxmlformats.org/drawingml/2006/main">
            <a:r>
              <a:t>Presenter notes: KOx is the first source-verified reference example, not the only intended issuer. No Backpack or Ondo event is fabricated. Valuation basis: P = $0.371 / (1.0225601246249238 / 1.0183317967386898 - 1) = $89.349999989, approximately $89.35/share. The $37.10 is the event's net reinvestment reference value, not cash paid by DivX, a DR sale price, or a guaranteed payout. Both claims redeem in KOx units and their dollar value changes. Screenshot is a historical scenario, not a wallet position or proof that a vault captured the event. Exact raw Q=9,819,982,084; PT=9,779,376,057; DR=40,606,027; decimals=8; event 75c0c70e-1ae4-4ccd-ace6-d8990e1e8f9e v2. Coca-Cola company payment date is 1 October 2026; issuer adjustment is 15 September.</a:t>
            </a:r>
          </a:p>
          <a:p xmlns:a="http://schemas.openxmlformats.org/drawingml/2006/main">
            <a:r>
              <a:t>Sources (accessed/observed 16 September 2026 unless stated): KOx history: https://api.xstocks.fi/api/v2/public/corporate-actions/history?page=1&amp;pageSize=100&amp;symbol=KOx&amp;sortBy=createdTimeUtc&amp;sortOrder=asc | xStocks multiplier mechanics: https://docs.xstocks.fi/developers/multipliers | Coca-Cola announcement, published 15 July 2026: https://investors.coca-colacompany.com/news-events/press-releases/detail/1165/board-of-directors-of-the-coca-cola-company-elects-new-officer-and-declares-regular-quarterly-dividend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For the hackathon, we're building the full trade: deposit, split, sell the dividend, then redeem each side separately. We start with selected stocks from Backpack, xStocks and Ondo on Solana. More networks come later, with Solana as the home for dividend trading.</a:t>
            </a:r>
          </a:p>
          <a:p xmlns:a="http://schemas.openxmlformats.org/drawingml/2006/main">
            <a:r>
              <a:t>Presenter notes: This is build scope and roadmap, not a claim of completed integration or partnership. The package contains 15 candidate mints across six companies: xStocks and Ondo each include Coca-Cola, Apple, Microsoft, Micron, Nike and IBM; Backpack includes Micron, Nike and IBM only. The six companies are not all available from all three issuers. KOx has a complete source-verified replay fixture; Backpack MU has a fully bracketed sourced onchain reconstruction; Ondo event binding still needs authenticated source data. One event per issuer is the first execution target. All vault execution remains planned. Excluded restricted, no-dividend, discontinued and fee-bearing families are outside scope. Coinbase collateral is on Base. The roadmap refers to Robinhood's new wallet-held Stock Tokens on Robinhood Chain. Cross-chain custody, settlement and messaging remain future design work.</a:t>
            </a:r>
          </a:p>
          <a:p xmlns:a="http://schemas.openxmlformats.org/drawingml/2006/main">
            <a:r>
              <a:t>Sources (accessed/observed 16 September 2026 unless stated): Selected asset package: planning/research/initial-asset-package.md | xStocks: https://xstocks.fi/ | xStocks docs: https://docs.xstocks.fi/docs | Backpack assets registry: https://api.backpack.exchange/api/v1/assets | Backpack MU: https://learn.backpack.exchange/blog/tokenized-micron-mu | Ondo corporate actions: https://docs.ondo.finance/ondo-stocks/corporate-actions | Ondo Solana registry: https://github.com/ondoprotocol/gm-solana-simulator/blob/0688add3c64aadc7006712989e9ec0592b5b10f8/constants.rs | Coinbase Tokenized Stocks: https://www.coinbase.com/tokenize | Robinhood Stock Tokens: https://robinhood.com/rhj/stocktokens/ | Robinhood Chain: https://robinhood.com/us/en/support/articles/robinhood-chain-testnet/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b50d08259e45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0f8343bb8d4dfe" /><Relationship Type="http://schemas.openxmlformats.org/officeDocument/2006/relationships/slideLayout" Target="/ppt/slideLayouts/slideLayout1.xml" Id="Rff3e637c296c49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3e637c296c49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eb0d1089894c0b" /><Relationship Type="http://schemas.openxmlformats.org/officeDocument/2006/relationships/notesSlide" Target="/ppt/notesSlides/notesSlide1.xml" Id="Ra44bebcf53ca49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34fd9b82c4b4eab" /><Relationship Type="http://schemas.openxmlformats.org/officeDocument/2006/relationships/notesSlide" Target="/ppt/notesSlides/notesSlide2.xml" Id="R717d9c3122f44b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7b14713e1a24a86" /><Relationship Type="http://schemas.openxmlformats.org/officeDocument/2006/relationships/image" Target="/ppt/media/image.png" Id="Rb79d9049701a4b41" /><Relationship Type="http://schemas.openxmlformats.org/officeDocument/2006/relationships/notesSlide" Target="/ppt/notesSlides/notesSlide3.xml" Id="R19191c14b1a144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4b9b3dab4b34947" /><Relationship Type="http://schemas.openxmlformats.org/officeDocument/2006/relationships/notesSlide" Target="/ppt/notesSlides/notesSlide4.xml" Id="R64c92a564e0c46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609aba4b0a64bd2" /><Relationship Type="http://schemas.openxmlformats.org/officeDocument/2006/relationships/notesSlide" Target="/ppt/notesSlides/notesSlide5.xml" Id="R5c28a2f737aa4b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956bf8781624a1e" /><Relationship Type="http://schemas.openxmlformats.org/officeDocument/2006/relationships/notesSlide" Target="/ppt/notesSlides/notesSlide6.xml" Id="Rda7e063382ac4b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2be560189c546c2" /><Relationship Type="http://schemas.openxmlformats.org/officeDocument/2006/relationships/image" Target="/ppt/media/image2.png" Id="Rbc4603c59b8f4c35" /><Relationship Type="http://schemas.openxmlformats.org/officeDocument/2006/relationships/notesSlide" Target="/ppt/notesSlides/notesSlide7.xml" Id="R457bcb43392e4ee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94d6a5858ab49c9" /><Relationship Type="http://schemas.openxmlformats.org/officeDocument/2006/relationships/image" Target="/ppt/media/image3.png" Id="R38fb270931e6494c" /><Relationship Type="http://schemas.openxmlformats.org/officeDocument/2006/relationships/notesSlide" Target="/ppt/notesSlides/notesSlide8.xml" Id="Rde559a6283bb4e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91ef3b31b99429d" /><Relationship Type="http://schemas.openxmlformats.org/officeDocument/2006/relationships/notesSlide" Target="/ppt/notesSlides/notesSlide9.xml" Id="Rfc3856f83f484839"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7DC28C-6B6B-4A6F-8165-B56AEC774B07}"/>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82698BA-14BE-4258-BC72-5D239C41998C}"/>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DE91DF0-1AB4-4ED5-A6BF-54720FE4A661}"/>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56E32F30-88B6-45B6-AB66-2CE8B90593F9}"/>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46B82992-6DE2-4987-867A-678956F95C04}"/>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8AEB2C2A-0143-4EE4-86C1-D72B4223CBC6}"/>
              </a:ext>
            </a:extLst>
          </p:cNvPr>
          <p:cNvSpPr>
            <a:spLocks xmlns:a="http://schemas.openxmlformats.org/drawingml/2006/main" noGrp="1"/>
          </p:cNvSpPr>
          <p:nvPr/>
        </p:nvSpPr>
        <p:spPr>
          <a:xfrm xmlns:a="http://schemas.openxmlformats.org/drawingml/2006/main">
            <a:off x="800100" y="4695825"/>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dividend market for tokenized stocks on Solana.</a:t>
            </a:r>
          </a:p>
        </p:txBody>
      </p:sp>
      <p:sp>
        <p:nvSpPr>
          <p:cNvPr id="7" name="">
            <a:extLst xmlns:a="http://schemas.openxmlformats.org/drawingml/2006/main">
              <a:ext uri="{FF2B5EF4-FFF2-40B4-BE49-F238E27FC236}">
                <a16:creationId xmlns:a16="http://schemas.microsoft.com/office/drawing/2014/main" id="{0ACDD8F3-FBD8-4CD5-98D3-CA6EF1DF7EF9}"/>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EE879F0-C0C1-46E8-ABBE-2A5BF38EA45E}"/>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CONCEPT + WORKING HISTORICAL CALCULATOR</a:t>
            </a:r>
          </a:p>
        </p:txBody>
      </p:sp>
    </p:spTree>
    <p:extLst>
      <p:ext uri="{BB962C8B-B14F-4D97-AF65-F5344CB8AC3E}">
        <p14:creationId xmlns:p14="http://schemas.microsoft.com/office/powerpoint/2010/main" val="1525979103"/>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59207E7-E5E9-4723-8AB7-C3A627869923}"/>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9183021-3E25-4610-8B52-82605BBE3389}"/>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B20C9FD-338C-40DB-8D6D-CED59B385A40}"/>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77061405-9346-4FA1-B819-FD762EBD29A5}"/>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CD014F0B-9E26-459F-A41D-73DFFE25B95B}"/>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1BB44A01-D0B3-4F7D-88CC-2AA4B84D1F38}"/>
              </a:ext>
            </a:extLst>
          </p:cNvPr>
          <p:cNvSpPr>
            <a:spLocks xmlns:a="http://schemas.openxmlformats.org/drawingml/2006/main" noGrp="1"/>
          </p:cNvSpPr>
          <p:nvPr/>
        </p:nvSpPr>
        <p:spPr>
          <a:xfrm xmlns:a="http://schemas.openxmlformats.org/drawingml/2006/main">
            <a:off x="762000" y="17145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TRADITIONAL DIVIDEND MARKET</a:t>
            </a:r>
          </a:p>
        </p:txBody>
      </p:sp>
      <p:sp>
        <p:nvSpPr>
          <p:cNvPr id="7" name="">
            <a:extLst xmlns:a="http://schemas.openxmlformats.org/drawingml/2006/main">
              <a:ext uri="{FF2B5EF4-FFF2-40B4-BE49-F238E27FC236}">
                <a16:creationId xmlns:a16="http://schemas.microsoft.com/office/drawing/2014/main" id="{CAA14B47-8FDB-413D-AE8D-5DD5A59E59C2}"/>
              </a:ext>
            </a:extLst>
          </p:cNvPr>
          <p:cNvSpPr>
            <a:spLocks xmlns:a="http://schemas.openxmlformats.org/drawingml/2006/main" noGrp="1"/>
          </p:cNvSpPr>
          <p:nvPr/>
        </p:nvSpPr>
        <p:spPr>
          <a:xfrm xmlns:a="http://schemas.openxmlformats.org/drawingml/2006/main">
            <a:off x="7620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SELLERS</a:t>
            </a:r>
          </a:p>
        </p:txBody>
      </p:sp>
      <p:sp>
        <p:nvSpPr>
          <p:cNvPr id="8" name="">
            <a:extLst xmlns:a="http://schemas.openxmlformats.org/drawingml/2006/main">
              <a:ext uri="{FF2B5EF4-FFF2-40B4-BE49-F238E27FC236}">
                <a16:creationId xmlns:a16="http://schemas.microsoft.com/office/drawing/2014/main" id="{163BD4DF-0B48-46F5-BF28-FC6BA1C5DFF8}"/>
              </a:ext>
            </a:extLst>
          </p:cNvPr>
          <p:cNvSpPr>
            <a:spLocks xmlns:a="http://schemas.openxmlformats.org/drawingml/2006/main" noGrp="1"/>
          </p:cNvSpPr>
          <p:nvPr/>
        </p:nvSpPr>
        <p:spPr>
          <a:xfrm xmlns:a="http://schemas.openxmlformats.org/drawingml/2006/main">
            <a:off x="762000" y="2362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Bank trading desks</a:t>
            </a:r>
          </a:p>
        </p:txBody>
      </p:sp>
      <p:sp>
        <p:nvSpPr>
          <p:cNvPr id="9" name="">
            <a:extLst xmlns:a="http://schemas.openxmlformats.org/drawingml/2006/main">
              <a:ext uri="{FF2B5EF4-FFF2-40B4-BE49-F238E27FC236}">
                <a16:creationId xmlns:a16="http://schemas.microsoft.com/office/drawing/2014/main" id="{9F6527FE-4523-43B3-8B8F-E019AB4FE0FA}"/>
              </a:ext>
            </a:extLst>
          </p:cNvPr>
          <p:cNvSpPr>
            <a:spLocks xmlns:a="http://schemas.openxmlformats.org/drawingml/2006/main" noGrp="1"/>
          </p:cNvSpPr>
          <p:nvPr/>
        </p:nvSpPr>
        <p:spPr>
          <a:xfrm xmlns:a="http://schemas.openxmlformats.org/drawingml/2006/main">
            <a:off x="762000" y="2781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Manage dividend risk from structured products.</a:t>
            </a:r>
          </a:p>
        </p:txBody>
      </p:sp>
      <p:sp>
        <p:nvSpPr>
          <p:cNvPr id="10" name="">
            <a:extLst xmlns:a="http://schemas.openxmlformats.org/drawingml/2006/main">
              <a:ext uri="{FF2B5EF4-FFF2-40B4-BE49-F238E27FC236}">
                <a16:creationId xmlns:a16="http://schemas.microsoft.com/office/drawing/2014/main" id="{E083C641-A8A5-4BC7-98B8-377244975B09}"/>
              </a:ext>
            </a:extLst>
          </p:cNvPr>
          <p:cNvSpPr>
            <a:spLocks xmlns:a="http://schemas.openxmlformats.org/drawingml/2006/main" noGrp="1"/>
          </p:cNvSpPr>
          <p:nvPr/>
        </p:nvSpPr>
        <p:spPr>
          <a:xfrm xmlns:a="http://schemas.openxmlformats.org/drawingml/2006/main">
            <a:off x="67056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BUYERS</a:t>
            </a:r>
          </a:p>
        </p:txBody>
      </p:sp>
      <p:sp>
        <p:nvSpPr>
          <p:cNvPr id="11" name="">
            <a:extLst xmlns:a="http://schemas.openxmlformats.org/drawingml/2006/main">
              <a:ext uri="{FF2B5EF4-FFF2-40B4-BE49-F238E27FC236}">
                <a16:creationId xmlns:a16="http://schemas.microsoft.com/office/drawing/2014/main" id="{5FCE9B36-E13F-477A-B0F5-2943F42BB83B}"/>
              </a:ext>
            </a:extLst>
          </p:cNvPr>
          <p:cNvSpPr>
            <a:spLocks xmlns:a="http://schemas.openxmlformats.org/drawingml/2006/main" noGrp="1"/>
          </p:cNvSpPr>
          <p:nvPr/>
        </p:nvSpPr>
        <p:spPr>
          <a:xfrm xmlns:a="http://schemas.openxmlformats.org/drawingml/2006/main">
            <a:off x="6705600" y="236220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Asset managers and hedge funds</a:t>
            </a:r>
          </a:p>
        </p:txBody>
      </p:sp>
      <p:sp>
        <p:nvSpPr>
          <p:cNvPr id="12" name="">
            <a:extLst xmlns:a="http://schemas.openxmlformats.org/drawingml/2006/main">
              <a:ext uri="{FF2B5EF4-FFF2-40B4-BE49-F238E27FC236}">
                <a16:creationId xmlns:a16="http://schemas.microsoft.com/office/drawing/2014/main" id="{ED5BD418-A643-4097-8C9C-C32152A60840}"/>
              </a:ext>
            </a:extLst>
          </p:cNvPr>
          <p:cNvSpPr>
            <a:spLocks xmlns:a="http://schemas.openxmlformats.org/drawingml/2006/main" noGrp="1"/>
          </p:cNvSpPr>
          <p:nvPr/>
        </p:nvSpPr>
        <p:spPr>
          <a:xfrm xmlns:a="http://schemas.openxmlformats.org/drawingml/2006/main">
            <a:off x="6705600" y="27813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Trade expected payouts. Survista is one documented buyer.</a:t>
            </a:r>
          </a:p>
        </p:txBody>
      </p:sp>
      <p:sp>
        <p:nvSpPr>
          <p:cNvPr id="13" name="">
            <a:extLst xmlns:a="http://schemas.openxmlformats.org/drawingml/2006/main">
              <a:ext uri="{FF2B5EF4-FFF2-40B4-BE49-F238E27FC236}">
                <a16:creationId xmlns:a16="http://schemas.microsoft.com/office/drawing/2014/main" id="{732FA05D-CE9D-49A3-879B-F47F6BE503B5}"/>
              </a:ext>
            </a:extLst>
          </p:cNvPr>
          <p:cNvSpPr>
            <a:spLocks xmlns:a="http://schemas.openxmlformats.org/drawingml/2006/main" noGrp="1"/>
          </p:cNvSpPr>
          <p:nvPr/>
        </p:nvSpPr>
        <p:spPr>
          <a:xfrm xmlns:a="http://schemas.openxmlformats.org/drawingml/2006/main">
            <a:off x="762000" y="33718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9529509-6C8B-4945-8A3E-DECEE4D3BA98}"/>
              </a:ext>
            </a:extLst>
          </p:cNvPr>
          <p:cNvSpPr>
            <a:spLocks xmlns:a="http://schemas.openxmlformats.org/drawingml/2006/main" noGrp="1"/>
          </p:cNvSpPr>
          <p:nvPr/>
        </p:nvSpPr>
        <p:spPr>
          <a:xfrm xmlns:a="http://schemas.openxmlformats.org/drawingml/2006/main">
            <a:off x="762000" y="35909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DIVX FLOW</a:t>
            </a:r>
          </a:p>
        </p:txBody>
      </p:sp>
      <p:sp>
        <p:nvSpPr>
          <p:cNvPr id="15" name="Stock holder">
            <a:extLst xmlns:a="http://schemas.openxmlformats.org/drawingml/2006/main">
              <a:ext uri="{FF2B5EF4-FFF2-40B4-BE49-F238E27FC236}">
                <a16:creationId xmlns:a16="http://schemas.microsoft.com/office/drawing/2014/main" id="{C42F8292-3D78-4F11-9192-5E65CBB738A6}"/>
              </a:ext>
            </a:extLst>
          </p:cNvPr>
          <p:cNvSpPr>
            <a:spLocks xmlns:a="http://schemas.openxmlformats.org/drawingml/2006/main" noGrp="1"/>
          </p:cNvSpPr>
          <p:nvPr/>
        </p:nvSpPr>
        <p:spPr>
          <a:xfrm xmlns:a="http://schemas.openxmlformats.org/drawingml/2006/main">
            <a:off x="85725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6" name="">
            <a:extLst xmlns:a="http://schemas.openxmlformats.org/drawingml/2006/main">
              <a:ext uri="{FF2B5EF4-FFF2-40B4-BE49-F238E27FC236}">
                <a16:creationId xmlns:a16="http://schemas.microsoft.com/office/drawing/2014/main" id="{4C86F0F4-ED04-46FB-BA6B-040B750045E9}"/>
              </a:ext>
            </a:extLst>
          </p:cNvPr>
          <p:cNvSpPr>
            <a:spLocks xmlns:a="http://schemas.openxmlformats.org/drawingml/2006/main" noGrp="1"/>
          </p:cNvSpPr>
          <p:nvPr/>
        </p:nvSpPr>
        <p:spPr>
          <a:xfrm xmlns:a="http://schemas.openxmlformats.org/drawingml/2006/main">
            <a:off x="106680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STOCK HOLDER</a:t>
            </a:r>
          </a:p>
        </p:txBody>
      </p:sp>
      <p:sp>
        <p:nvSpPr>
          <p:cNvPr id="17" name="Buyer">
            <a:extLst xmlns:a="http://schemas.openxmlformats.org/drawingml/2006/main">
              <a:ext uri="{FF2B5EF4-FFF2-40B4-BE49-F238E27FC236}">
                <a16:creationId xmlns:a16="http://schemas.microsoft.com/office/drawing/2014/main" id="{E27D12E7-F4E9-4D19-AC4D-2DF8B1826713}"/>
              </a:ext>
            </a:extLst>
          </p:cNvPr>
          <p:cNvSpPr>
            <a:spLocks xmlns:a="http://schemas.openxmlformats.org/drawingml/2006/main" noGrp="1"/>
          </p:cNvSpPr>
          <p:nvPr/>
        </p:nvSpPr>
        <p:spPr>
          <a:xfrm xmlns:a="http://schemas.openxmlformats.org/drawingml/2006/main">
            <a:off x="952500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8" name="">
            <a:extLst xmlns:a="http://schemas.openxmlformats.org/drawingml/2006/main">
              <a:ext uri="{FF2B5EF4-FFF2-40B4-BE49-F238E27FC236}">
                <a16:creationId xmlns:a16="http://schemas.microsoft.com/office/drawing/2014/main" id="{196177C0-EBD2-4AC6-9C26-704EAE237067}"/>
              </a:ext>
            </a:extLst>
          </p:cNvPr>
          <p:cNvSpPr>
            <a:spLocks xmlns:a="http://schemas.openxmlformats.org/drawingml/2006/main" noGrp="1"/>
          </p:cNvSpPr>
          <p:nvPr/>
        </p:nvSpPr>
        <p:spPr>
          <a:xfrm xmlns:a="http://schemas.openxmlformats.org/drawingml/2006/main">
            <a:off x="973455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BUYER</a:t>
            </a:r>
          </a:p>
        </p:txBody>
      </p:sp>
      <p:sp>
        <p:nvSpPr>
          <p:cNvPr id="19" name="Dividend right label">
            <a:extLst xmlns:a="http://schemas.openxmlformats.org/drawingml/2006/main">
              <a:ext uri="{FF2B5EF4-FFF2-40B4-BE49-F238E27FC236}">
                <a16:creationId xmlns:a16="http://schemas.microsoft.com/office/drawing/2014/main" id="{123D87E9-68B3-4D46-8ED9-7FD156604113}"/>
              </a:ext>
            </a:extLst>
          </p:cNvPr>
          <p:cNvSpPr>
            <a:spLocks xmlns:a="http://schemas.openxmlformats.org/drawingml/2006/main" noGrp="1"/>
          </p:cNvSpPr>
          <p:nvPr/>
        </p:nvSpPr>
        <p:spPr>
          <a:xfrm xmlns:a="http://schemas.openxmlformats.org/drawingml/2006/main">
            <a:off x="4667250" y="3876675"/>
            <a:ext cx="2857500" cy="476250"/>
          </a:xfrm>
          <a:prstGeom xmlns:a="http://schemas.openxmlformats.org/drawingml/2006/main" prst="roundRect">
            <a:avLst>
              <a:gd name="adj" fmla="val 24000"/>
            </a:avLst>
          </a:prstGeom>
          <a:solidFill xmlns:a="http://schemas.openxmlformats.org/drawingml/2006/main">
            <a:srgbClr val="F8E8D4"/>
          </a:solidFill>
          <a:ln xmlns:a="http://schemas.openxmlformats.org/drawingml/2006/main" w="9525">
            <a:solidFill>
              <a:srgbClr val="C46A00"/>
            </a:solidFill>
            <a:prstDash val="solid"/>
          </a:ln>
        </p:spPr>
      </p:sp>
      <p:sp>
        <p:nvSpPr>
          <p:cNvPr id="20" name="">
            <a:extLst xmlns:a="http://schemas.openxmlformats.org/drawingml/2006/main">
              <a:ext uri="{FF2B5EF4-FFF2-40B4-BE49-F238E27FC236}">
                <a16:creationId xmlns:a16="http://schemas.microsoft.com/office/drawing/2014/main" id="{B1F2B925-C06B-4DEF-8C7D-7B5CB89E3DF7}"/>
              </a:ext>
            </a:extLst>
          </p:cNvPr>
          <p:cNvSpPr>
            <a:spLocks xmlns:a="http://schemas.openxmlformats.org/drawingml/2006/main" noGrp="1"/>
          </p:cNvSpPr>
          <p:nvPr/>
        </p:nvSpPr>
        <p:spPr>
          <a:xfrm xmlns:a="http://schemas.openxmlformats.org/drawingml/2006/main">
            <a:off x="5010150" y="4000500"/>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DIVIDEND RIGHT</a:t>
            </a:r>
          </a:p>
        </p:txBody>
      </p:sp>
      <p:sp>
        <p:nvSpPr>
          <p:cNvPr id="21" name="Payment label">
            <a:extLst xmlns:a="http://schemas.openxmlformats.org/drawingml/2006/main">
              <a:ext uri="{FF2B5EF4-FFF2-40B4-BE49-F238E27FC236}">
                <a16:creationId xmlns:a16="http://schemas.microsoft.com/office/drawing/2014/main" id="{CF273AED-32F2-4E51-ABC2-206E99F7D175}"/>
              </a:ext>
            </a:extLst>
          </p:cNvPr>
          <p:cNvSpPr>
            <a:spLocks xmlns:a="http://schemas.openxmlformats.org/drawingml/2006/main" noGrp="1"/>
          </p:cNvSpPr>
          <p:nvPr/>
        </p:nvSpPr>
        <p:spPr>
          <a:xfrm xmlns:a="http://schemas.openxmlformats.org/drawingml/2006/main">
            <a:off x="4667250" y="5010150"/>
            <a:ext cx="2857500" cy="476250"/>
          </a:xfrm>
          <a:prstGeom xmlns:a="http://schemas.openxmlformats.org/drawingml/2006/main" prst="roundRect">
            <a:avLst>
              <a:gd name="adj" fmla="val 24000"/>
            </a:avLst>
          </a:prstGeom>
          <a:solidFill xmlns:a="http://schemas.openxmlformats.org/drawingml/2006/main">
            <a:srgbClr val="EAF0FF"/>
          </a:solidFill>
          <a:ln xmlns:a="http://schemas.openxmlformats.org/drawingml/2006/main" w="9525">
            <a:solidFill>
              <a:srgbClr val="2457F5"/>
            </a:solidFill>
            <a:prstDash val="solid"/>
          </a:ln>
        </p:spPr>
      </p:sp>
      <p:sp>
        <p:nvSpPr>
          <p:cNvPr id="22" name="">
            <a:extLst xmlns:a="http://schemas.openxmlformats.org/drawingml/2006/main">
              <a:ext uri="{FF2B5EF4-FFF2-40B4-BE49-F238E27FC236}">
                <a16:creationId xmlns:a16="http://schemas.microsoft.com/office/drawing/2014/main" id="{8D605C7E-076A-48D9-B6A4-AEBE87F433F5}"/>
              </a:ext>
            </a:extLst>
          </p:cNvPr>
          <p:cNvSpPr>
            <a:spLocks xmlns:a="http://schemas.openxmlformats.org/drawingml/2006/main" noGrp="1"/>
          </p:cNvSpPr>
          <p:nvPr/>
        </p:nvSpPr>
        <p:spPr>
          <a:xfrm xmlns:a="http://schemas.openxmlformats.org/drawingml/2006/main">
            <a:off x="5010150" y="513397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PAYMENT</a:t>
            </a:r>
          </a:p>
        </p:txBody>
      </p:sp>
      <p:cxnSp>
        <p:nvCxnSpPr>
          <p:cNvPr id="52" name=""/>
          <p:cNvCxnSpPr>
            <a:stCxn xmlns:a="http://schemas.openxmlformats.org/drawingml/2006/main" id="15" idx="0"/>
            <a:endCxn xmlns:a="http://schemas.openxmlformats.org/drawingml/2006/main" id="19" idx="1"/>
          </p:cNvCxnSpPr>
          <p:nvPr/>
        </p:nvCxnSpPr>
        <p:spPr>
          <a:xfrm xmlns:a="http://schemas.openxmlformats.org/drawingml/2006/main" flipV="1">
            <a:off x="1762125" y="4095750"/>
            <a:ext cx="2905125" cy="228600"/>
          </a:xfrm>
          <a:prstGeom xmlns:a="http://schemas.openxmlformats.org/drawingml/2006/main" prst="bentConnector4">
            <a:avLst/>
          </a:prstGeom>
          <a:ln xmlns:a="http://schemas.openxmlformats.org/drawingml/2006/main" w="19050">
            <a:solidFill>
              <a:srgbClr val="C46A00"/>
            </a:solidFill>
            <a:prstDash val="solid"/>
          </a:ln>
        </p:spPr>
      </p:cxnSp>
      <p:cxnSp>
        <p:nvCxnSpPr>
          <p:cNvPr id="53" name=""/>
          <p:cNvCxnSpPr>
            <a:stCxn xmlns:a="http://schemas.openxmlformats.org/drawingml/2006/main" id="19" idx="3"/>
            <a:endCxn xmlns:a="http://schemas.openxmlformats.org/drawingml/2006/main" id="17" idx="0"/>
          </p:cNvCxnSpPr>
          <p:nvPr/>
        </p:nvCxnSpPr>
        <p:spPr>
          <a:xfrm xmlns:a="http://schemas.openxmlformats.org/drawingml/2006/main">
            <a:off x="7524750" y="4095750"/>
            <a:ext cx="2905125" cy="228600"/>
          </a:xfrm>
          <a:prstGeom xmlns:a="http://schemas.openxmlformats.org/drawingml/2006/main" prst="bentConnector4">
            <a:avLst/>
          </a:prstGeom>
          <a:ln xmlns:a="http://schemas.openxmlformats.org/drawingml/2006/main" w="19050">
            <a:solidFill>
              <a:srgbClr val="C46A00"/>
            </a:solidFill>
            <a:prstDash val="solid"/>
            <a:tailEnd type="triangle" w="sm" len="sm"/>
          </a:ln>
        </p:spPr>
      </p:cxnSp>
      <p:cxnSp>
        <p:nvCxnSpPr>
          <p:cNvPr id="54" name=""/>
          <p:cNvCxnSpPr>
            <a:stCxn xmlns:a="http://schemas.openxmlformats.org/drawingml/2006/main" id="17" idx="2"/>
            <a:endCxn xmlns:a="http://schemas.openxmlformats.org/drawingml/2006/main" id="21" idx="3"/>
          </p:cNvCxnSpPr>
          <p:nvPr/>
        </p:nvCxnSpPr>
        <p:spPr>
          <a:xfrm xmlns:a="http://schemas.openxmlformats.org/drawingml/2006/main" flipH="1">
            <a:off x="7524750" y="5029200"/>
            <a:ext cx="2905125" cy="228600"/>
          </a:xfrm>
          <a:prstGeom xmlns:a="http://schemas.openxmlformats.org/drawingml/2006/main" prst="bentConnector4">
            <a:avLst/>
          </a:prstGeom>
          <a:ln xmlns:a="http://schemas.openxmlformats.org/drawingml/2006/main" w="19050">
            <a:solidFill>
              <a:srgbClr val="2457F5"/>
            </a:solidFill>
            <a:prstDash val="solid"/>
          </a:ln>
        </p:spPr>
      </p:cxnSp>
      <p:cxnSp>
        <p:nvCxnSpPr>
          <p:cNvPr id="55" name=""/>
          <p:cNvCxnSpPr>
            <a:stCxn xmlns:a="http://schemas.openxmlformats.org/drawingml/2006/main" id="21" idx="1"/>
            <a:endCxn xmlns:a="http://schemas.openxmlformats.org/drawingml/2006/main" id="15" idx="2"/>
          </p:cNvCxnSpPr>
          <p:nvPr/>
        </p:nvCxnSpPr>
        <p:spPr>
          <a:xfrm xmlns:a="http://schemas.openxmlformats.org/drawingml/2006/main" flipH="1" flipV="1">
            <a:off x="1762125" y="5029200"/>
            <a:ext cx="2905125" cy="228600"/>
          </a:xfrm>
          <a:prstGeom xmlns:a="http://schemas.openxmlformats.org/drawingml/2006/main" prst="bentConnector4">
            <a:avLst/>
          </a:prstGeom>
          <a:ln xmlns:a="http://schemas.openxmlformats.org/drawingml/2006/main" w="19050">
            <a:solidFill>
              <a:srgbClr val="2457F5"/>
            </a:solidFill>
            <a:prstDash val="solid"/>
            <a:tailEnd type="triangle" w="sm" len="sm"/>
          </a:ln>
        </p:spPr>
      </p:cxnSp>
      <p:sp>
        <p:nvSpPr>
          <p:cNvPr id="27" name="Retained PT">
            <a:extLst xmlns:a="http://schemas.openxmlformats.org/drawingml/2006/main">
              <a:ext uri="{FF2B5EF4-FFF2-40B4-BE49-F238E27FC236}">
                <a16:creationId xmlns:a16="http://schemas.microsoft.com/office/drawing/2014/main" id="{D0160C7C-ECCB-427A-9889-6106B4DFB7D8}"/>
              </a:ext>
            </a:extLst>
          </p:cNvPr>
          <p:cNvSpPr>
            <a:spLocks xmlns:a="http://schemas.openxmlformats.org/drawingml/2006/main" noGrp="1"/>
          </p:cNvSpPr>
          <p:nvPr/>
        </p:nvSpPr>
        <p:spPr>
          <a:xfrm xmlns:a="http://schemas.openxmlformats.org/drawingml/2006/main">
            <a:off x="857250" y="5438775"/>
            <a:ext cx="1809750" cy="400050"/>
          </a:xfrm>
          <a:prstGeom xmlns:a="http://schemas.openxmlformats.org/drawingml/2006/main" prst="roundRect">
            <a:avLst>
              <a:gd name="adj" fmla="val 19048"/>
            </a:avLst>
          </a:prstGeom>
          <a:solidFill xmlns:a="http://schemas.openxmlformats.org/drawingml/2006/main">
            <a:srgbClr val="EAF0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DE2214D-D91E-405D-8FA0-7766D7B0B720}"/>
              </a:ext>
            </a:extLst>
          </p:cNvPr>
          <p:cNvSpPr>
            <a:spLocks xmlns:a="http://schemas.openxmlformats.org/drawingml/2006/main" noGrp="1"/>
          </p:cNvSpPr>
          <p:nvPr/>
        </p:nvSpPr>
        <p:spPr>
          <a:xfrm xmlns:a="http://schemas.openxmlformats.org/drawingml/2006/main">
            <a:off x="1066800" y="5534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PT retained</a:t>
            </a:r>
          </a:p>
        </p:txBody>
      </p:sp>
      <p:sp>
        <p:nvSpPr>
          <p:cNvPr id="29" name="">
            <a:extLst xmlns:a="http://schemas.openxmlformats.org/drawingml/2006/main">
              <a:ext uri="{FF2B5EF4-FFF2-40B4-BE49-F238E27FC236}">
                <a16:creationId xmlns:a16="http://schemas.microsoft.com/office/drawing/2014/main" id="{187B8DFC-D8F7-40A6-9F53-0ED08B77E8E9}"/>
              </a:ext>
            </a:extLst>
          </p:cNvPr>
          <p:cNvSpPr>
            <a:spLocks xmlns:a="http://schemas.openxmlformats.org/drawingml/2006/main" noGrp="1"/>
          </p:cNvSpPr>
          <p:nvPr/>
        </p:nvSpPr>
        <p:spPr>
          <a:xfrm xmlns:a="http://schemas.openxmlformats.org/drawingml/2006/main">
            <a:off x="762000" y="60769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Stock exposure stays with the holder.</a:t>
            </a:r>
          </a:p>
        </p:txBody>
      </p:sp>
    </p:spTree>
    <p:extLst>
      <p:ext uri="{BB962C8B-B14F-4D97-AF65-F5344CB8AC3E}">
        <p14:creationId xmlns:p14="http://schemas.microsoft.com/office/powerpoint/2010/main" val="1791854484"/>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2DE541B-0090-4998-BB14-D58569B85C5C}"/>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D6DD1C9-F87D-4A23-A13C-665111A91705}"/>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61C88CE-0273-4B8C-AF7E-2D3E944D7F8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0650FF99-3ABA-4242-A808-A82501CABCD6}"/>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claims</a:t>
            </a:r>
          </a:p>
        </p:txBody>
      </p:sp>
      <p:sp>
        <p:nvSpPr>
          <p:cNvPr id="5" name="">
            <a:extLst xmlns:a="http://schemas.openxmlformats.org/drawingml/2006/main">
              <a:ext uri="{FF2B5EF4-FFF2-40B4-BE49-F238E27FC236}">
                <a16:creationId xmlns:a16="http://schemas.microsoft.com/office/drawing/2014/main" id="{808966ED-E080-47E8-941B-37E6BC072825}"/>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b79d9049701a4b41"/>
          <a:stretch xmlns:a="http://schemas.openxmlformats.org/drawingml/2006/main"/>
        </p:blipFill>
        <p:spPr>
          <a:xfrm xmlns:a="http://schemas.openxmlformats.org/drawingml/2006/main">
            <a:off x="661988" y="1847850"/>
            <a:ext cx="3238500" cy="3238500"/>
          </a:xfrm>
          <a:prstGeom xmlns:a="http://schemas.openxmlformats.org/drawingml/2006/main" prst="rect">
            <a:avLst/>
          </a:prstGeom>
        </p:spPr>
      </p:pic>
      <p:sp>
        <p:nvSpPr>
          <p:cNvPr id="7" name="Stock token">
            <a:extLst xmlns:a="http://schemas.openxmlformats.org/drawingml/2006/main">
              <a:ext uri="{FF2B5EF4-FFF2-40B4-BE49-F238E27FC236}">
                <a16:creationId xmlns:a16="http://schemas.microsoft.com/office/drawing/2014/main" id="{B7A926DA-3239-4A8D-8B52-85ADFD72897E}"/>
              </a:ext>
            </a:extLst>
          </p:cNvPr>
          <p:cNvSpPr>
            <a:spLocks xmlns:a="http://schemas.openxmlformats.org/drawingml/2006/main" noGrp="1"/>
          </p:cNvSpPr>
          <p:nvPr/>
        </p:nvSpPr>
        <p:spPr>
          <a:xfrm xmlns:a="http://schemas.openxmlformats.org/drawingml/2006/main">
            <a:off x="4324350" y="2800350"/>
            <a:ext cx="1428750" cy="838200"/>
          </a:xfrm>
          <a:prstGeom xmlns:a="http://schemas.openxmlformats.org/drawingml/2006/main" prst="roundRect">
            <a:avLst>
              <a:gd name="adj" fmla="val 15909"/>
            </a:avLst>
          </a:prstGeom>
          <a:solidFill xmlns:a="http://schemas.openxmlformats.org/drawingml/2006/main">
            <a:srgbClr val="101820"/>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9B22CA8D-2014-4C7A-97CC-721CCFAA0CC7}"/>
              </a:ext>
            </a:extLst>
          </p:cNvPr>
          <p:cNvSpPr>
            <a:spLocks xmlns:a="http://schemas.openxmlformats.org/drawingml/2006/main" noGrp="1"/>
          </p:cNvSpPr>
          <p:nvPr/>
        </p:nvSpPr>
        <p:spPr>
          <a:xfrm xmlns:a="http://schemas.openxmlformats.org/drawingml/2006/main">
            <a:off x="4495800" y="2990850"/>
            <a:ext cx="1085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Stock token</a:t>
            </a:r>
          </a:p>
        </p:txBody>
      </p:sp>
      <p:sp>
        <p:nvSpPr>
          <p:cNvPr id="9" name="Vault">
            <a:extLst xmlns:a="http://schemas.openxmlformats.org/drawingml/2006/main">
              <a:ext uri="{FF2B5EF4-FFF2-40B4-BE49-F238E27FC236}">
                <a16:creationId xmlns:a16="http://schemas.microsoft.com/office/drawing/2014/main" id="{F992679F-8EE2-418C-A603-A0797DB08328}"/>
              </a:ext>
            </a:extLst>
          </p:cNvPr>
          <p:cNvSpPr>
            <a:spLocks xmlns:a="http://schemas.openxmlformats.org/drawingml/2006/main" noGrp="1"/>
          </p:cNvSpPr>
          <p:nvPr/>
        </p:nvSpPr>
        <p:spPr>
          <a:xfrm xmlns:a="http://schemas.openxmlformats.org/drawingml/2006/main">
            <a:off x="6172200" y="2647950"/>
            <a:ext cx="1600200" cy="1143000"/>
          </a:xfrm>
          <a:prstGeom xmlns:a="http://schemas.openxmlformats.org/drawingml/2006/main" prst="roundRect">
            <a:avLst>
              <a:gd name="adj" fmla="val 13333"/>
            </a:avLst>
          </a:prstGeom>
          <a:solidFill xmlns:a="http://schemas.openxmlformats.org/drawingml/2006/main">
            <a:srgbClr val="FFFEFB"/>
          </a:solidFill>
          <a:ln xmlns:a="http://schemas.openxmlformats.org/drawingml/2006/main" w="9525">
            <a:solidFill>
              <a:srgbClr val="D7D2C8"/>
            </a:solidFill>
            <a:prstDash val="solid"/>
          </a:ln>
        </p:spPr>
      </p:sp>
      <p:sp>
        <p:nvSpPr>
          <p:cNvPr id="10" name="">
            <a:extLst xmlns:a="http://schemas.openxmlformats.org/drawingml/2006/main">
              <a:ext uri="{FF2B5EF4-FFF2-40B4-BE49-F238E27FC236}">
                <a16:creationId xmlns:a16="http://schemas.microsoft.com/office/drawing/2014/main" id="{0ECC2A5F-F931-4A61-8439-F7CAE9FD5DA2}"/>
              </a:ext>
            </a:extLst>
          </p:cNvPr>
          <p:cNvSpPr>
            <a:spLocks xmlns:a="http://schemas.openxmlformats.org/drawingml/2006/main" noGrp="1"/>
          </p:cNvSpPr>
          <p:nvPr/>
        </p:nvSpPr>
        <p:spPr>
          <a:xfrm xmlns:a="http://schemas.openxmlformats.org/drawingml/2006/main">
            <a:off x="6400800" y="28194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LOCKED</a:t>
            </a:r>
          </a:p>
        </p:txBody>
      </p:sp>
      <p:sp>
        <p:nvSpPr>
          <p:cNvPr id="11" name="">
            <a:extLst xmlns:a="http://schemas.openxmlformats.org/drawingml/2006/main">
              <a:ext uri="{FF2B5EF4-FFF2-40B4-BE49-F238E27FC236}">
                <a16:creationId xmlns:a16="http://schemas.microsoft.com/office/drawing/2014/main" id="{DEE53711-58E0-477F-A1AE-A22E21A7567F}"/>
              </a:ext>
            </a:extLst>
          </p:cNvPr>
          <p:cNvSpPr>
            <a:spLocks xmlns:a="http://schemas.openxmlformats.org/drawingml/2006/main" noGrp="1"/>
          </p:cNvSpPr>
          <p:nvPr/>
        </p:nvSpPr>
        <p:spPr>
          <a:xfrm xmlns:a="http://schemas.openxmlformats.org/drawingml/2006/main">
            <a:off x="6400800" y="3133725"/>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025" b="1">
                <a:solidFill>
                  <a:srgbClr val="101820"/>
                </a:solidFill>
                <a:latin typeface="Helvetica Neue"/>
                <a:ea typeface="Helvetica Neue"/>
                <a:cs typeface="Helvetica Neue"/>
              </a:defRPr>
            </a:pPr>
            <a:r>
              <a:rPr sz="2025" b="1">
                <a:solidFill>
                  <a:srgbClr val="101820"/>
                </a:solidFill>
                <a:latin typeface="Helvetica Neue"/>
                <a:ea typeface="Helvetica Neue"/>
                <a:cs typeface="Helvetica Neue"/>
              </a:rPr>
              <a:t>VAULT</a:t>
            </a:r>
          </a:p>
        </p:txBody>
      </p:sp>
      <p:sp>
        <p:nvSpPr>
          <p:cNvPr id="12" name="Stock exposure PT">
            <a:extLst xmlns:a="http://schemas.openxmlformats.org/drawingml/2006/main">
              <a:ext uri="{FF2B5EF4-FFF2-40B4-BE49-F238E27FC236}">
                <a16:creationId xmlns:a16="http://schemas.microsoft.com/office/drawing/2014/main" id="{462A2FE6-319F-43C2-94D0-3E202FD0E843}"/>
              </a:ext>
            </a:extLst>
          </p:cNvPr>
          <p:cNvSpPr>
            <a:spLocks xmlns:a="http://schemas.openxmlformats.org/drawingml/2006/main" noGrp="1"/>
          </p:cNvSpPr>
          <p:nvPr/>
        </p:nvSpPr>
        <p:spPr>
          <a:xfrm xmlns:a="http://schemas.openxmlformats.org/drawingml/2006/main">
            <a:off x="8382000" y="1809750"/>
            <a:ext cx="2905125" cy="1285875"/>
          </a:xfrm>
          <a:prstGeom xmlns:a="http://schemas.openxmlformats.org/drawingml/2006/main" prst="roundRect">
            <a:avLst>
              <a:gd name="adj" fmla="val 10370"/>
            </a:avLst>
          </a:prstGeom>
          <a:solidFill xmlns:a="http://schemas.openxmlformats.org/drawingml/2006/main">
            <a:srgbClr val="EAF0FF"/>
          </a:solidFill>
          <a:ln xmlns:a="http://schemas.openxmlformats.org/drawingml/2006/main" w="9525">
            <a:solidFill>
              <a:srgbClr val="2457F5"/>
            </a:solidFill>
            <a:prstDash val="solid"/>
          </a:ln>
        </p:spPr>
      </p:sp>
      <p:sp>
        <p:nvSpPr>
          <p:cNvPr id="13" name="">
            <a:extLst xmlns:a="http://schemas.openxmlformats.org/drawingml/2006/main">
              <a:ext uri="{FF2B5EF4-FFF2-40B4-BE49-F238E27FC236}">
                <a16:creationId xmlns:a16="http://schemas.microsoft.com/office/drawing/2014/main" id="{CB5541B9-17E0-40A2-9AC2-29D70AD04C2A}"/>
              </a:ext>
            </a:extLst>
          </p:cNvPr>
          <p:cNvSpPr>
            <a:spLocks xmlns:a="http://schemas.openxmlformats.org/drawingml/2006/main" noGrp="1"/>
          </p:cNvSpPr>
          <p:nvPr/>
        </p:nvSpPr>
        <p:spPr>
          <a:xfrm xmlns:a="http://schemas.openxmlformats.org/drawingml/2006/main">
            <a:off x="8629650" y="20097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PT</a:t>
            </a:r>
          </a:p>
        </p:txBody>
      </p:sp>
      <p:sp>
        <p:nvSpPr>
          <p:cNvPr id="14" name="">
            <a:extLst xmlns:a="http://schemas.openxmlformats.org/drawingml/2006/main">
              <a:ext uri="{FF2B5EF4-FFF2-40B4-BE49-F238E27FC236}">
                <a16:creationId xmlns:a16="http://schemas.microsoft.com/office/drawing/2014/main" id="{08200053-F5F1-4AA8-AF79-49701C927D93}"/>
              </a:ext>
            </a:extLst>
          </p:cNvPr>
          <p:cNvSpPr>
            <a:spLocks xmlns:a="http://schemas.openxmlformats.org/drawingml/2006/main" noGrp="1"/>
          </p:cNvSpPr>
          <p:nvPr/>
        </p:nvSpPr>
        <p:spPr>
          <a:xfrm xmlns:a="http://schemas.openxmlformats.org/drawingml/2006/main">
            <a:off x="8629650" y="23145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639A6"/>
                </a:solidFill>
                <a:latin typeface="Helvetica Neue"/>
                <a:ea typeface="Helvetica Neue"/>
                <a:cs typeface="Helvetica Neue"/>
              </a:defRPr>
            </a:pPr>
            <a:r>
              <a:rPr sz="1800" b="1">
                <a:solidFill>
                  <a:srgbClr val="1639A6"/>
                </a:solidFill>
                <a:latin typeface="Helvetica Neue"/>
                <a:ea typeface="Helvetica Neue"/>
                <a:cs typeface="Helvetica Neue"/>
              </a:rPr>
              <a:t>Stock exposure</a:t>
            </a:r>
          </a:p>
        </p:txBody>
      </p:sp>
      <p:sp>
        <p:nvSpPr>
          <p:cNvPr id="15" name="">
            <a:extLst xmlns:a="http://schemas.openxmlformats.org/drawingml/2006/main">
              <a:ext uri="{FF2B5EF4-FFF2-40B4-BE49-F238E27FC236}">
                <a16:creationId xmlns:a16="http://schemas.microsoft.com/office/drawing/2014/main" id="{FA4253A0-D390-409B-BC73-08B2DA0DC115}"/>
              </a:ext>
            </a:extLst>
          </p:cNvPr>
          <p:cNvSpPr>
            <a:spLocks xmlns:a="http://schemas.openxmlformats.org/drawingml/2006/main" noGrp="1"/>
          </p:cNvSpPr>
          <p:nvPr/>
        </p:nvSpPr>
        <p:spPr>
          <a:xfrm xmlns:a="http://schemas.openxmlformats.org/drawingml/2006/main">
            <a:off x="8629650" y="2676525"/>
            <a:ext cx="2343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0">
                <a:solidFill>
                  <a:srgbClr val="53606B"/>
                </a:solidFill>
                <a:latin typeface="Helvetica Neue"/>
                <a:ea typeface="Helvetica Neue"/>
                <a:cs typeface="Helvetica Neue"/>
              </a:defRPr>
            </a:pPr>
            <a:r>
              <a:rPr sz="1050" b="0">
                <a:solidFill>
                  <a:srgbClr val="53606B"/>
                </a:solidFill>
                <a:latin typeface="Helvetica Neue"/>
                <a:ea typeface="Helvetica Neue"/>
                <a:cs typeface="Helvetica Neue"/>
              </a:rPr>
              <a:t>Stock exposure after dividend allocation</a:t>
            </a:r>
          </a:p>
        </p:txBody>
      </p:sp>
      <p:sp>
        <p:nvSpPr>
          <p:cNvPr id="16" name="Dividend rights DR">
            <a:extLst xmlns:a="http://schemas.openxmlformats.org/drawingml/2006/main">
              <a:ext uri="{FF2B5EF4-FFF2-40B4-BE49-F238E27FC236}">
                <a16:creationId xmlns:a16="http://schemas.microsoft.com/office/drawing/2014/main" id="{B6087BB7-A51D-4EE9-8BE9-523244B4CE50}"/>
              </a:ext>
            </a:extLst>
          </p:cNvPr>
          <p:cNvSpPr>
            <a:spLocks xmlns:a="http://schemas.openxmlformats.org/drawingml/2006/main" noGrp="1"/>
          </p:cNvSpPr>
          <p:nvPr/>
        </p:nvSpPr>
        <p:spPr>
          <a:xfrm xmlns:a="http://schemas.openxmlformats.org/drawingml/2006/main">
            <a:off x="8382000" y="3514725"/>
            <a:ext cx="2905125" cy="1285875"/>
          </a:xfrm>
          <a:prstGeom xmlns:a="http://schemas.openxmlformats.org/drawingml/2006/main" prst="roundRect">
            <a:avLst>
              <a:gd name="adj" fmla="val 10370"/>
            </a:avLst>
          </a:prstGeom>
          <a:solidFill xmlns:a="http://schemas.openxmlformats.org/drawingml/2006/main">
            <a:srgbClr val="F8E8D4"/>
          </a:solidFill>
          <a:ln xmlns:a="http://schemas.openxmlformats.org/drawingml/2006/main" w="9525">
            <a:solidFill>
              <a:srgbClr val="C46A00"/>
            </a:solidFill>
            <a:prstDash val="solid"/>
          </a:ln>
        </p:spPr>
      </p:sp>
      <p:sp>
        <p:nvSpPr>
          <p:cNvPr id="17" name="">
            <a:extLst xmlns:a="http://schemas.openxmlformats.org/drawingml/2006/main">
              <a:ext uri="{FF2B5EF4-FFF2-40B4-BE49-F238E27FC236}">
                <a16:creationId xmlns:a16="http://schemas.microsoft.com/office/drawing/2014/main" id="{38726726-12F8-498A-829C-5234CA7B53F1}"/>
              </a:ext>
            </a:extLst>
          </p:cNvPr>
          <p:cNvSpPr>
            <a:spLocks xmlns:a="http://schemas.openxmlformats.org/drawingml/2006/main" noGrp="1"/>
          </p:cNvSpPr>
          <p:nvPr/>
        </p:nvSpPr>
        <p:spPr>
          <a:xfrm xmlns:a="http://schemas.openxmlformats.org/drawingml/2006/main">
            <a:off x="8629650" y="3714750"/>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DR</a:t>
            </a:r>
          </a:p>
        </p:txBody>
      </p:sp>
      <p:sp>
        <p:nvSpPr>
          <p:cNvPr id="18" name="">
            <a:extLst xmlns:a="http://schemas.openxmlformats.org/drawingml/2006/main">
              <a:ext uri="{FF2B5EF4-FFF2-40B4-BE49-F238E27FC236}">
                <a16:creationId xmlns:a16="http://schemas.microsoft.com/office/drawing/2014/main" id="{DA58A933-60E2-49DE-8711-ADCB8531CF59}"/>
              </a:ext>
            </a:extLst>
          </p:cNvPr>
          <p:cNvSpPr>
            <a:spLocks xmlns:a="http://schemas.openxmlformats.org/drawingml/2006/main" noGrp="1"/>
          </p:cNvSpPr>
          <p:nvPr/>
        </p:nvSpPr>
        <p:spPr>
          <a:xfrm xmlns:a="http://schemas.openxmlformats.org/drawingml/2006/main">
            <a:off x="8629650" y="40195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7A4000"/>
                </a:solidFill>
                <a:latin typeface="Helvetica Neue"/>
                <a:ea typeface="Helvetica Neue"/>
                <a:cs typeface="Helvetica Neue"/>
              </a:defRPr>
            </a:pPr>
            <a:r>
              <a:rPr sz="1800" b="1">
                <a:solidFill>
                  <a:srgbClr val="7A4000"/>
                </a:solidFill>
                <a:latin typeface="Helvetica Neue"/>
                <a:ea typeface="Helvetica Neue"/>
                <a:cs typeface="Helvetica Neue"/>
              </a:rPr>
              <a:t>Dividend rights</a:t>
            </a:r>
          </a:p>
        </p:txBody>
      </p:sp>
      <p:sp>
        <p:nvSpPr>
          <p:cNvPr id="19" name="">
            <a:extLst xmlns:a="http://schemas.openxmlformats.org/drawingml/2006/main">
              <a:ext uri="{FF2B5EF4-FFF2-40B4-BE49-F238E27FC236}">
                <a16:creationId xmlns:a16="http://schemas.microsoft.com/office/drawing/2014/main" id="{E136064E-B00E-4D94-81D7-FFDC640F6EA3}"/>
              </a:ext>
            </a:extLst>
          </p:cNvPr>
          <p:cNvSpPr>
            <a:spLocks xmlns:a="http://schemas.openxmlformats.org/drawingml/2006/main" noGrp="1"/>
          </p:cNvSpPr>
          <p:nvPr/>
        </p:nvSpPr>
        <p:spPr>
          <a:xfrm xmlns:a="http://schemas.openxmlformats.org/drawingml/2006/main">
            <a:off x="8629650" y="4381500"/>
            <a:ext cx="2343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0">
                <a:solidFill>
                  <a:srgbClr val="53606B"/>
                </a:solidFill>
                <a:latin typeface="Helvetica Neue"/>
                <a:ea typeface="Helvetica Neue"/>
                <a:cs typeface="Helvetica Neue"/>
              </a:defRPr>
            </a:pPr>
            <a:r>
              <a:rPr sz="1050" b="0">
                <a:solidFill>
                  <a:srgbClr val="53606B"/>
                </a:solidFill>
                <a:latin typeface="Helvetica Neue"/>
                <a:ea typeface="Helvetica Neue"/>
                <a:cs typeface="Helvetica Neue"/>
              </a:rPr>
              <a:t>This event’s dividend share</a:t>
            </a:r>
          </a:p>
        </p:txBody>
      </p:sp>
      <p:cxnSp>
        <p:nvCxnSpPr>
          <p:cNvPr id="45" name=""/>
          <p:cNvCxnSpPr>
            <a:stCxn xmlns:a="http://schemas.openxmlformats.org/drawingml/2006/main" id="7" idx="3"/>
            <a:endCxn xmlns:a="http://schemas.openxmlformats.org/drawingml/2006/main" id="9" idx="1"/>
          </p:cNvCxnSpPr>
          <p:nvPr/>
        </p:nvCxnSpPr>
        <p:spPr>
          <a:xfrm xmlns:a="http://schemas.openxmlformats.org/drawingml/2006/main">
            <a:off x="5753100" y="3219450"/>
            <a:ext cx="419100" cy="0"/>
          </a:xfrm>
          <a:prstGeom xmlns:a="http://schemas.openxmlformats.org/drawingml/2006/main" prst="straightConnector1">
            <a:avLst/>
          </a:prstGeom>
          <a:ln xmlns:a="http://schemas.openxmlformats.org/drawingml/2006/main" w="19050">
            <a:solidFill>
              <a:srgbClr val="101820"/>
            </a:solidFill>
            <a:prstDash val="solid"/>
            <a:tailEnd type="triangle" w="sm" len="sm"/>
          </a:ln>
        </p:spPr>
      </p:cxnSp>
      <p:cxnSp>
        <p:nvCxnSpPr>
          <p:cNvPr id="46" name=""/>
          <p:cNvCxnSpPr>
            <a:stCxn xmlns:a="http://schemas.openxmlformats.org/drawingml/2006/main" id="9" idx="3"/>
            <a:endCxn xmlns:a="http://schemas.openxmlformats.org/drawingml/2006/main" id="12" idx="1"/>
          </p:cNvCxnSpPr>
          <p:nvPr/>
        </p:nvCxnSpPr>
        <p:spPr>
          <a:xfrm xmlns:a="http://schemas.openxmlformats.org/drawingml/2006/main" flipV="1">
            <a:off x="7772400" y="2452688"/>
            <a:ext cx="609600" cy="766763"/>
          </a:xfrm>
          <a:prstGeom xmlns:a="http://schemas.openxmlformats.org/drawingml/2006/main" prst="straightConnector1">
            <a:avLst/>
          </a:prstGeom>
          <a:ln xmlns:a="http://schemas.openxmlformats.org/drawingml/2006/main" w="19050">
            <a:solidFill>
              <a:srgbClr val="2457F5"/>
            </a:solidFill>
            <a:prstDash val="solid"/>
            <a:tailEnd type="triangle" w="sm" len="sm"/>
          </a:ln>
        </p:spPr>
      </p:cxnSp>
      <p:cxnSp>
        <p:nvCxnSpPr>
          <p:cNvPr id="47" name=""/>
          <p:cNvCxnSpPr>
            <a:stCxn xmlns:a="http://schemas.openxmlformats.org/drawingml/2006/main" id="9" idx="3"/>
            <a:endCxn xmlns:a="http://schemas.openxmlformats.org/drawingml/2006/main" id="16" idx="1"/>
          </p:cNvCxnSpPr>
          <p:nvPr/>
        </p:nvCxnSpPr>
        <p:spPr>
          <a:xfrm xmlns:a="http://schemas.openxmlformats.org/drawingml/2006/main">
            <a:off x="7772400" y="3219450"/>
            <a:ext cx="609600" cy="938213"/>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23" name="">
            <a:extLst xmlns:a="http://schemas.openxmlformats.org/drawingml/2006/main">
              <a:ext uri="{FF2B5EF4-FFF2-40B4-BE49-F238E27FC236}">
                <a16:creationId xmlns:a16="http://schemas.microsoft.com/office/drawing/2014/main" id="{198DE5D8-3D93-4620-A70A-741CFFD7223F}"/>
              </a:ext>
            </a:extLst>
          </p:cNvPr>
          <p:cNvSpPr>
            <a:spLocks xmlns:a="http://schemas.openxmlformats.org/drawingml/2006/main" noGrp="1"/>
          </p:cNvSpPr>
          <p:nvPr/>
        </p:nvSpPr>
        <p:spPr>
          <a:xfrm xmlns:a="http://schemas.openxmlformats.org/drawingml/2006/main">
            <a:off x="742950" y="5438775"/>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Each pair of claims has its own locked collateral.</a:t>
            </a:r>
          </a:p>
        </p:txBody>
      </p:sp>
      <p:sp>
        <p:nvSpPr>
          <p:cNvPr id="24" name="">
            <a:extLst xmlns:a="http://schemas.openxmlformats.org/drawingml/2006/main">
              <a:ext uri="{FF2B5EF4-FFF2-40B4-BE49-F238E27FC236}">
                <a16:creationId xmlns:a16="http://schemas.microsoft.com/office/drawing/2014/main" id="{ECFB3C62-CC24-4813-B8FD-EEEB212E8B35}"/>
              </a:ext>
            </a:extLst>
          </p:cNvPr>
          <p:cNvSpPr>
            <a:spLocks xmlns:a="http://schemas.openxmlformats.org/drawingml/2006/main" noGrp="1"/>
          </p:cNvSpPr>
          <p:nvPr/>
        </p:nvSpPr>
        <p:spPr>
          <a:xfrm xmlns:a="http://schemas.openxmlformats.org/drawingml/2006/main">
            <a:off x="742950" y="5915025"/>
            <a:ext cx="771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Redeems in the deposited stock token. Dollar value can change.</a:t>
            </a:r>
          </a:p>
        </p:txBody>
      </p:sp>
      <p:sp>
        <p:nvSpPr>
          <p:cNvPr id="25" name="">
            <a:extLst xmlns:a="http://schemas.openxmlformats.org/drawingml/2006/main">
              <a:ext uri="{FF2B5EF4-FFF2-40B4-BE49-F238E27FC236}">
                <a16:creationId xmlns:a16="http://schemas.microsoft.com/office/drawing/2014/main" id="{4C3E29D0-3D02-4DE1-84F8-3E77729B31B5}"/>
              </a:ext>
            </a:extLst>
          </p:cNvPr>
          <p:cNvSpPr>
            <a:spLocks xmlns:a="http://schemas.openxmlformats.org/drawingml/2006/main" noGrp="1"/>
          </p:cNvSpPr>
          <p:nvPr/>
        </p:nvSpPr>
        <p:spPr>
          <a:xfrm xmlns:a="http://schemas.openxmlformats.org/drawingml/2006/main">
            <a:off x="8801100" y="604837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SCHEMATIC, NOT A 50/50 ALLOCATION</a:t>
            </a:r>
          </a:p>
        </p:txBody>
      </p:sp>
    </p:spTree>
    <p:extLst>
      <p:ext uri="{BB962C8B-B14F-4D97-AF65-F5344CB8AC3E}">
        <p14:creationId xmlns:p14="http://schemas.microsoft.com/office/powerpoint/2010/main" val="1856541628"/>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9EFC0C1-673B-43D8-AD1B-D5A8FBC5D7F9}"/>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0410BEC-0B1A-4ECF-BD4B-199F05497BED}"/>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AD22B6B-72B2-47FD-9D9B-6A848F16ED49}"/>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DF221A9F-B6E1-494B-A8F6-0FB7377356DC}"/>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0B81850D-9385-4BE4-A949-57CDB8B73151}"/>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FEA70756-1257-4040-9D04-0038B067AAD5}"/>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9B99F755-1920-48DA-BA5C-B6324EC24008}"/>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36340FE6-8D2E-4B66-A6CA-96557E20F2B2}"/>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48163076-8A00-4BF7-9B9F-8D2B46ED71FD}"/>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1B5B233-678F-42F2-9FC0-FEB3B38EFC58}"/>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0DC2585C-960B-4F18-BB74-B8EF10FAE200}"/>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$96.4M</a:t>
            </a:r>
          </a:p>
        </p:txBody>
      </p:sp>
      <p:sp>
        <p:nvSpPr>
          <p:cNvPr id="12" name="">
            <a:extLst xmlns:a="http://schemas.openxmlformats.org/drawingml/2006/main">
              <a:ext uri="{FF2B5EF4-FFF2-40B4-BE49-F238E27FC236}">
                <a16:creationId xmlns:a16="http://schemas.microsoft.com/office/drawing/2014/main" id="{6DC64F7B-CBD5-4AF0-8076-29DB95C44C86}"/>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average daily trading volume in 2024, reported by Pendle</a:t>
            </a:r>
          </a:p>
        </p:txBody>
      </p:sp>
      <p:sp>
        <p:nvSpPr>
          <p:cNvPr id="13" name="">
            <a:extLst xmlns:a="http://schemas.openxmlformats.org/drawingml/2006/main">
              <a:ext uri="{FF2B5EF4-FFF2-40B4-BE49-F238E27FC236}">
                <a16:creationId xmlns:a16="http://schemas.microsoft.com/office/drawing/2014/main" id="{07BA500D-51A2-4E8F-A0DD-170EFECE3626}"/>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
        <p:nvSpPr>
          <p:cNvPr id="14" name="">
            <a:extLst xmlns:a="http://schemas.openxmlformats.org/drawingml/2006/main">
              <a:ext uri="{FF2B5EF4-FFF2-40B4-BE49-F238E27FC236}">
                <a16:creationId xmlns:a16="http://schemas.microsoft.com/office/drawing/2014/main" id="{7BCDC7F8-2339-4FEC-AA3A-EF47ADB03875}"/>
              </a:ext>
            </a:extLst>
          </p:cNvPr>
          <p:cNvSpPr>
            <a:spLocks xmlns:a="http://schemas.openxmlformats.org/drawingml/2006/main" noGrp="1"/>
          </p:cNvSpPr>
          <p:nvPr/>
        </p:nvSpPr>
        <p:spPr>
          <a:xfrm xmlns:a="http://schemas.openxmlformats.org/drawingml/2006/main">
            <a:off x="762000" y="59626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0">
                <a:solidFill>
                  <a:srgbClr val="53606B"/>
                </a:solidFill>
                <a:latin typeface="Helvetica Neue"/>
                <a:ea typeface="Helvetica Neue"/>
                <a:cs typeface="Helvetica Neue"/>
              </a:defRPr>
            </a:pPr>
            <a:r>
              <a:rPr sz="1200" b="0">
                <a:solidFill>
                  <a:srgbClr val="53606B"/>
                </a:solidFill>
                <a:latin typeface="Helvetica Neue"/>
                <a:ea typeface="Helvetica Neue"/>
                <a:cs typeface="Helvetica Neue"/>
              </a:rPr>
              <a:t>Established markets for trading dividends and separating yield.</a:t>
            </a:r>
          </a:p>
        </p:txBody>
      </p:sp>
    </p:spTree>
    <p:extLst>
      <p:ext uri="{BB962C8B-B14F-4D97-AF65-F5344CB8AC3E}">
        <p14:creationId xmlns:p14="http://schemas.microsoft.com/office/powerpoint/2010/main" val="1286291345"/>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7F1FE1A-004E-4399-BE8A-71E152015C6B}"/>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F2AE42E-DDC1-4579-9D4C-53331902F5BC}"/>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D134B34-731B-45A8-873E-F596735B6DB3}"/>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EDF89511-1696-416C-BDC9-A0BD0494AFE5}"/>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Tokenized stocks bring the collateral onchain</a:t>
            </a:r>
          </a:p>
        </p:txBody>
      </p:sp>
      <p:sp>
        <p:nvSpPr>
          <p:cNvPr id="5" name="">
            <a:extLst xmlns:a="http://schemas.openxmlformats.org/drawingml/2006/main">
              <a:ext uri="{FF2B5EF4-FFF2-40B4-BE49-F238E27FC236}">
                <a16:creationId xmlns:a16="http://schemas.microsoft.com/office/drawing/2014/main" id="{B7827C27-5341-40B6-973D-FAC5DBC2D017}"/>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EB33180A-3DE9-47D4-8ACF-1B426A003003}"/>
              </a:ext>
            </a:extLst>
          </p:cNvPr>
          <p:cNvSpPr>
            <a:spLocks xmlns:a="http://schemas.openxmlformats.org/drawingml/2006/main" noGrp="1"/>
          </p:cNvSpPr>
          <p:nvPr/>
        </p:nvSpPr>
        <p:spPr>
          <a:xfrm xmlns:a="http://schemas.openxmlformats.org/drawingml/2006/main">
            <a:off x="762000" y="198120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ANNUAL GLOBAL DIVIDENDS</a:t>
            </a:r>
          </a:p>
        </p:txBody>
      </p:sp>
      <p:sp>
        <p:nvSpPr>
          <p:cNvPr id="7" name="">
            <a:extLst xmlns:a="http://schemas.openxmlformats.org/drawingml/2006/main">
              <a:ext uri="{FF2B5EF4-FFF2-40B4-BE49-F238E27FC236}">
                <a16:creationId xmlns:a16="http://schemas.microsoft.com/office/drawing/2014/main" id="{542C6468-A41F-4FE9-96AA-5EF4710E8979}"/>
              </a:ext>
            </a:extLst>
          </p:cNvPr>
          <p:cNvSpPr>
            <a:spLocks xmlns:a="http://schemas.openxmlformats.org/drawingml/2006/main" noGrp="1"/>
          </p:cNvSpPr>
          <p:nvPr/>
        </p:nvSpPr>
        <p:spPr>
          <a:xfrm xmlns:a="http://schemas.openxmlformats.org/drawingml/2006/main">
            <a:off x="762000" y="2333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C46A00"/>
                </a:solidFill>
                <a:latin typeface="Helvetica Neue"/>
                <a:ea typeface="Helvetica Neue"/>
                <a:cs typeface="Helvetica Neue"/>
              </a:defRPr>
            </a:pPr>
            <a:r>
              <a:rPr sz="5400" b="1">
                <a:solidFill>
                  <a:srgbClr val="C46A00"/>
                </a:solidFill>
                <a:latin typeface="Helvetica Neue"/>
                <a:ea typeface="Helvetica Neue"/>
                <a:cs typeface="Helvetica Neue"/>
              </a:rPr>
              <a:t>$1.75T</a:t>
            </a:r>
          </a:p>
        </p:txBody>
      </p:sp>
      <p:sp>
        <p:nvSpPr>
          <p:cNvPr id="8" name="">
            <a:extLst xmlns:a="http://schemas.openxmlformats.org/drawingml/2006/main">
              <a:ext uri="{FF2B5EF4-FFF2-40B4-BE49-F238E27FC236}">
                <a16:creationId xmlns:a16="http://schemas.microsoft.com/office/drawing/2014/main" id="{A15B30B8-05D5-4D0B-81EF-BF0B2448E6AA}"/>
              </a:ext>
            </a:extLst>
          </p:cNvPr>
          <p:cNvSpPr>
            <a:spLocks xmlns:a="http://schemas.openxmlformats.org/drawingml/2006/main" noGrp="1"/>
          </p:cNvSpPr>
          <p:nvPr/>
        </p:nvSpPr>
        <p:spPr>
          <a:xfrm xmlns:a="http://schemas.openxmlformats.org/drawingml/2006/main">
            <a:off x="781050" y="32861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paid in 2024</a:t>
            </a:r>
          </a:p>
        </p:txBody>
      </p:sp>
      <p:sp>
        <p:nvSpPr>
          <p:cNvPr id="9" name="">
            <a:extLst xmlns:a="http://schemas.openxmlformats.org/drawingml/2006/main">
              <a:ext uri="{FF2B5EF4-FFF2-40B4-BE49-F238E27FC236}">
                <a16:creationId xmlns:a16="http://schemas.microsoft.com/office/drawing/2014/main" id="{DFE0CC5A-A54E-459C-B48D-5D13FC9B0B12}"/>
              </a:ext>
            </a:extLst>
          </p:cNvPr>
          <p:cNvSpPr>
            <a:spLocks xmlns:a="http://schemas.openxmlformats.org/drawingml/2006/main" noGrp="1"/>
          </p:cNvSpPr>
          <p:nvPr/>
        </p:nvSpPr>
        <p:spPr>
          <a:xfrm xmlns:a="http://schemas.openxmlformats.org/drawingml/2006/main">
            <a:off x="59436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259EDA9-BE46-4F30-BA1D-896D813435FE}"/>
              </a:ext>
            </a:extLst>
          </p:cNvPr>
          <p:cNvSpPr>
            <a:spLocks xmlns:a="http://schemas.openxmlformats.org/drawingml/2006/main" noGrp="1"/>
          </p:cNvSpPr>
          <p:nvPr/>
        </p:nvSpPr>
        <p:spPr>
          <a:xfrm xmlns:a="http://schemas.openxmlformats.org/drawingml/2006/main">
            <a:off x="6572250" y="19812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DISTRIBUTED TOKENIZED-STOCK VALUE</a:t>
            </a:r>
          </a:p>
        </p:txBody>
      </p:sp>
      <p:sp>
        <p:nvSpPr>
          <p:cNvPr id="11" name="">
            <a:extLst xmlns:a="http://schemas.openxmlformats.org/drawingml/2006/main">
              <a:ext uri="{FF2B5EF4-FFF2-40B4-BE49-F238E27FC236}">
                <a16:creationId xmlns:a16="http://schemas.microsoft.com/office/drawing/2014/main" id="{445162A0-18DE-4465-92E9-93D61CE6FEBD}"/>
              </a:ext>
            </a:extLst>
          </p:cNvPr>
          <p:cNvSpPr>
            <a:spLocks xmlns:a="http://schemas.openxmlformats.org/drawingml/2006/main" noGrp="1"/>
          </p:cNvSpPr>
          <p:nvPr/>
        </p:nvSpPr>
        <p:spPr>
          <a:xfrm xmlns:a="http://schemas.openxmlformats.org/drawingml/2006/main">
            <a:off x="6572250" y="2333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2457F5"/>
                </a:solidFill>
                <a:latin typeface="Helvetica Neue"/>
                <a:ea typeface="Helvetica Neue"/>
                <a:cs typeface="Helvetica Neue"/>
              </a:defRPr>
            </a:pPr>
            <a:r>
              <a:rPr sz="5400" b="1">
                <a:solidFill>
                  <a:srgbClr val="2457F5"/>
                </a:solidFill>
                <a:latin typeface="Helvetica Neue"/>
                <a:ea typeface="Helvetica Neue"/>
                <a:cs typeface="Helvetica Neue"/>
              </a:rPr>
              <a:t>$2.92B</a:t>
            </a:r>
          </a:p>
        </p:txBody>
      </p:sp>
      <p:sp>
        <p:nvSpPr>
          <p:cNvPr id="12" name="">
            <a:extLst xmlns:a="http://schemas.openxmlformats.org/drawingml/2006/main">
              <a:ext uri="{FF2B5EF4-FFF2-40B4-BE49-F238E27FC236}">
                <a16:creationId xmlns:a16="http://schemas.microsoft.com/office/drawing/2014/main" id="{5B202649-C796-48E4-A5F4-D41E69E7CC5A}"/>
              </a:ext>
            </a:extLst>
          </p:cNvPr>
          <p:cNvSpPr>
            <a:spLocks xmlns:a="http://schemas.openxmlformats.org/drawingml/2006/main" noGrp="1"/>
          </p:cNvSpPr>
          <p:nvPr/>
        </p:nvSpPr>
        <p:spPr>
          <a:xfrm xmlns:a="http://schemas.openxmlformats.org/drawingml/2006/main">
            <a:off x="6591300" y="3286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observed 16 September 2026</a:t>
            </a:r>
          </a:p>
        </p:txBody>
      </p:sp>
      <p:sp>
        <p:nvSpPr>
          <p:cNvPr id="13" name="">
            <a:extLst xmlns:a="http://schemas.openxmlformats.org/drawingml/2006/main">
              <a:ext uri="{FF2B5EF4-FFF2-40B4-BE49-F238E27FC236}">
                <a16:creationId xmlns:a16="http://schemas.microsoft.com/office/drawing/2014/main" id="{A9378AAA-4E99-47D7-BFCE-6ACDC04F2EEB}"/>
              </a:ext>
            </a:extLst>
          </p:cNvPr>
          <p:cNvSpPr>
            <a:spLocks xmlns:a="http://schemas.openxmlformats.org/drawingml/2006/main" noGrp="1"/>
          </p:cNvSpPr>
          <p:nvPr/>
        </p:nvSpPr>
        <p:spPr>
          <a:xfrm xmlns:a="http://schemas.openxmlformats.org/drawingml/2006/main">
            <a:off x="762000" y="4371975"/>
            <a:ext cx="10572750" cy="190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A811E7C-3D8A-4211-B8BC-C167A7D0AB6F}"/>
              </a:ext>
            </a:extLst>
          </p:cNvPr>
          <p:cNvSpPr>
            <a:spLocks xmlns:a="http://schemas.openxmlformats.org/drawingml/2006/main" noGrp="1"/>
          </p:cNvSpPr>
          <p:nvPr/>
        </p:nvSpPr>
        <p:spPr>
          <a:xfrm xmlns:a="http://schemas.openxmlformats.org/drawingml/2006/main">
            <a:off x="762000" y="46958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3606B"/>
                </a:solidFill>
                <a:latin typeface="Helvetica Neue"/>
                <a:ea typeface="Helvetica Neue"/>
                <a:cs typeface="Helvetica Neue"/>
              </a:defRPr>
            </a:pPr>
            <a:r>
              <a:rPr sz="1125" b="1">
                <a:solidFill>
                  <a:srgbClr val="53606B"/>
                </a:solidFill>
                <a:latin typeface="Helvetica Neue"/>
                <a:ea typeface="Helvetica Neue"/>
                <a:cs typeface="Helvetica Neue"/>
              </a:rPr>
              <a:t>Starting market</a:t>
            </a:r>
          </a:p>
        </p:txBody>
      </p:sp>
      <p:sp>
        <p:nvSpPr>
          <p:cNvPr id="15" name="">
            <a:extLst xmlns:a="http://schemas.openxmlformats.org/drawingml/2006/main">
              <a:ext uri="{FF2B5EF4-FFF2-40B4-BE49-F238E27FC236}">
                <a16:creationId xmlns:a16="http://schemas.microsoft.com/office/drawing/2014/main" id="{FBCE9D31-9038-4B23-91E8-3B27A5BC902C}"/>
              </a:ext>
            </a:extLst>
          </p:cNvPr>
          <p:cNvSpPr>
            <a:spLocks xmlns:a="http://schemas.openxmlformats.org/drawingml/2006/main" noGrp="1"/>
          </p:cNvSpPr>
          <p:nvPr/>
        </p:nvSpPr>
        <p:spPr>
          <a:xfrm xmlns:a="http://schemas.openxmlformats.org/drawingml/2006/main">
            <a:off x="2971800" y="461010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Selected dividend stocks on Solana</a:t>
            </a:r>
          </a:p>
        </p:txBody>
      </p:sp>
      <p:sp>
        <p:nvSpPr>
          <p:cNvPr id="16" name="">
            <a:extLst xmlns:a="http://schemas.openxmlformats.org/drawingml/2006/main">
              <a:ext uri="{FF2B5EF4-FFF2-40B4-BE49-F238E27FC236}">
                <a16:creationId xmlns:a16="http://schemas.microsoft.com/office/drawing/2014/main" id="{01A25D24-B9EC-4028-B908-8A9F6A23B08F}"/>
              </a:ext>
            </a:extLst>
          </p:cNvPr>
          <p:cNvSpPr>
            <a:spLocks xmlns:a="http://schemas.openxmlformats.org/drawingml/2006/main" noGrp="1"/>
          </p:cNvSpPr>
          <p:nvPr/>
        </p:nvSpPr>
        <p:spPr>
          <a:xfrm xmlns:a="http://schemas.openxmlformats.org/drawingml/2006/main">
            <a:off x="2971800" y="51244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639A6"/>
                </a:solidFill>
                <a:latin typeface="Helvetica Neue"/>
                <a:ea typeface="Helvetica Neue"/>
                <a:cs typeface="Helvetica Neue"/>
              </a:defRPr>
            </a:pPr>
            <a:r>
              <a:rPr sz="1350" b="1">
                <a:solidFill>
                  <a:srgbClr val="1639A6"/>
                </a:solidFill>
                <a:latin typeface="Helvetica Neue"/>
                <a:ea typeface="Helvetica Neue"/>
                <a:cs typeface="Helvetica Neue"/>
              </a:rPr>
              <a:t>Initial scope: xStocks, Backpack and Ondo</a:t>
            </a:r>
          </a:p>
        </p:txBody>
      </p:sp>
      <p:sp>
        <p:nvSpPr>
          <p:cNvPr id="17" name="">
            <a:extLst xmlns:a="http://schemas.openxmlformats.org/drawingml/2006/main">
              <a:ext uri="{FF2B5EF4-FFF2-40B4-BE49-F238E27FC236}">
                <a16:creationId xmlns:a16="http://schemas.microsoft.com/office/drawing/2014/main" id="{9B2FD09A-FBF6-4155-8BD6-DF16C61C1513}"/>
              </a:ext>
            </a:extLst>
          </p:cNvPr>
          <p:cNvSpPr>
            <a:spLocks xmlns:a="http://schemas.openxmlformats.org/drawingml/2006/main" noGrp="1"/>
          </p:cNvSpPr>
          <p:nvPr/>
        </p:nvSpPr>
        <p:spPr>
          <a:xfrm xmlns:a="http://schemas.openxmlformats.org/drawingml/2006/main">
            <a:off x="762000"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RWA.xyz includes stocks and ETFs represented natively or synthetically.</a:t>
            </a:r>
          </a:p>
        </p:txBody>
      </p:sp>
    </p:spTree>
    <p:extLst>
      <p:ext uri="{BB962C8B-B14F-4D97-AF65-F5344CB8AC3E}">
        <p14:creationId xmlns:p14="http://schemas.microsoft.com/office/powerpoint/2010/main" val="1038894911"/>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4F79FF6-440C-4A94-9D75-76C91A30062A}"/>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957C6A9-E351-42E2-921F-2D3132296A46}"/>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C3A5897-13A0-430A-B5BE-C46399F0BCEC}"/>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5ACC7F88-44FE-49F1-A205-C8077C020CE7}"/>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workflow across issuers</a:t>
            </a:r>
          </a:p>
        </p:txBody>
      </p:sp>
      <p:sp>
        <p:nvSpPr>
          <p:cNvPr id="5" name="">
            <a:extLst xmlns:a="http://schemas.openxmlformats.org/drawingml/2006/main">
              <a:ext uri="{FF2B5EF4-FFF2-40B4-BE49-F238E27FC236}">
                <a16:creationId xmlns:a16="http://schemas.microsoft.com/office/drawing/2014/main" id="{8866D6D9-ABB2-4814-92A0-57247F420125}"/>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1E430C71-205F-46CA-9F8F-1855F71D5E14}"/>
              </a:ext>
            </a:extLst>
          </p:cNvPr>
          <p:cNvSpPr>
            <a:spLocks xmlns:a="http://schemas.openxmlformats.org/drawingml/2006/main" noGrp="1"/>
          </p:cNvSpPr>
          <p:nvPr/>
        </p:nvSpPr>
        <p:spPr>
          <a:xfrm xmlns:a="http://schemas.openxmlformats.org/drawingml/2006/main">
            <a:off x="762000" y="1924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F2392BB4-99CE-4C6F-8ABE-CA506A84B820}"/>
              </a:ext>
            </a:extLst>
          </p:cNvPr>
          <p:cNvSpPr>
            <a:spLocks xmlns:a="http://schemas.openxmlformats.org/drawingml/2006/main" noGrp="1"/>
          </p:cNvSpPr>
          <p:nvPr/>
        </p:nvSpPr>
        <p:spPr>
          <a:xfrm xmlns:a="http://schemas.openxmlformats.org/drawingml/2006/main">
            <a:off x="15049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2457F5"/>
                </a:solidFill>
                <a:latin typeface="Helvetica Neue"/>
                <a:ea typeface="Helvetica Neue"/>
                <a:cs typeface="Helvetica Neue"/>
              </a:defRPr>
            </a:pPr>
            <a:r>
              <a:rPr sz="2100" b="1">
                <a:solidFill>
                  <a:srgbClr val="2457F5"/>
                </a:solidFill>
                <a:latin typeface="Helvetica Neue"/>
                <a:ea typeface="Helvetica Neue"/>
                <a:cs typeface="Helvetica Neue"/>
              </a:rPr>
              <a:t>Multiple issuers</a:t>
            </a:r>
          </a:p>
        </p:txBody>
      </p:sp>
      <p:sp>
        <p:nvSpPr>
          <p:cNvPr id="8" name="">
            <a:extLst xmlns:a="http://schemas.openxmlformats.org/drawingml/2006/main">
              <a:ext uri="{FF2B5EF4-FFF2-40B4-BE49-F238E27FC236}">
                <a16:creationId xmlns:a16="http://schemas.microsoft.com/office/drawing/2014/main" id="{023A3ACA-42AE-40AC-9063-D41934BAAE45}"/>
              </a:ext>
            </a:extLst>
          </p:cNvPr>
          <p:cNvSpPr>
            <a:spLocks xmlns:a="http://schemas.openxmlformats.org/drawingml/2006/main" noGrp="1"/>
          </p:cNvSpPr>
          <p:nvPr/>
        </p:nvSpPr>
        <p:spPr>
          <a:xfrm xmlns:a="http://schemas.openxmlformats.org/drawingml/2006/main">
            <a:off x="4838700" y="19240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xStocks, Backpack and Ondo feed one vault design.</a:t>
            </a:r>
          </a:p>
        </p:txBody>
      </p:sp>
      <p:sp>
        <p:nvSpPr>
          <p:cNvPr id="9" name="">
            <a:extLst xmlns:a="http://schemas.openxmlformats.org/drawingml/2006/main">
              <a:ext uri="{FF2B5EF4-FFF2-40B4-BE49-F238E27FC236}">
                <a16:creationId xmlns:a16="http://schemas.microsoft.com/office/drawing/2014/main" id="{FFA01BA3-5D1A-4D01-9E21-BA8E59428A60}"/>
              </a:ext>
            </a:extLst>
          </p:cNvPr>
          <p:cNvSpPr>
            <a:spLocks xmlns:a="http://schemas.openxmlformats.org/drawingml/2006/main" noGrp="1"/>
          </p:cNvSpPr>
          <p:nvPr/>
        </p:nvSpPr>
        <p:spPr>
          <a:xfrm xmlns:a="http://schemas.openxmlformats.org/drawingml/2006/main">
            <a:off x="762000" y="26193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3865400-C4EC-49E8-BF0D-FAAF158010E6}"/>
              </a:ext>
            </a:extLst>
          </p:cNvPr>
          <p:cNvSpPr>
            <a:spLocks xmlns:a="http://schemas.openxmlformats.org/drawingml/2006/main" noGrp="1"/>
          </p:cNvSpPr>
          <p:nvPr/>
        </p:nvSpPr>
        <p:spPr>
          <a:xfrm xmlns:a="http://schemas.openxmlformats.org/drawingml/2006/main">
            <a:off x="762000" y="29908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C3EE9F35-C010-466F-891D-239DDBD7F5C6}"/>
              </a:ext>
            </a:extLst>
          </p:cNvPr>
          <p:cNvSpPr>
            <a:spLocks xmlns:a="http://schemas.openxmlformats.org/drawingml/2006/main" noGrp="1"/>
          </p:cNvSpPr>
          <p:nvPr/>
        </p:nvSpPr>
        <p:spPr>
          <a:xfrm xmlns:a="http://schemas.openxmlformats.org/drawingml/2006/main">
            <a:off x="1504950" y="2952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Fast settlement</a:t>
            </a:r>
          </a:p>
        </p:txBody>
      </p:sp>
      <p:sp>
        <p:nvSpPr>
          <p:cNvPr id="12" name="">
            <a:extLst xmlns:a="http://schemas.openxmlformats.org/drawingml/2006/main">
              <a:ext uri="{FF2B5EF4-FFF2-40B4-BE49-F238E27FC236}">
                <a16:creationId xmlns:a16="http://schemas.microsoft.com/office/drawing/2014/main" id="{D373CF3B-CB5C-41C1-85EE-F47BBF8C74E5}"/>
              </a:ext>
            </a:extLst>
          </p:cNvPr>
          <p:cNvSpPr>
            <a:spLocks xmlns:a="http://schemas.openxmlformats.org/drawingml/2006/main" noGrp="1"/>
          </p:cNvSpPr>
          <p:nvPr/>
        </p:nvSpPr>
        <p:spPr>
          <a:xfrm xmlns:a="http://schemas.openxmlformats.org/drawingml/2006/main">
            <a:off x="4838700" y="2990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Payment and the dividend claim move together.</a:t>
            </a:r>
          </a:p>
        </p:txBody>
      </p:sp>
      <p:sp>
        <p:nvSpPr>
          <p:cNvPr id="13" name="">
            <a:extLst xmlns:a="http://schemas.openxmlformats.org/drawingml/2006/main">
              <a:ext uri="{FF2B5EF4-FFF2-40B4-BE49-F238E27FC236}">
                <a16:creationId xmlns:a16="http://schemas.microsoft.com/office/drawing/2014/main" id="{DA1711EC-DD36-490D-9C33-6069AA4EBEAB}"/>
              </a:ext>
            </a:extLst>
          </p:cNvPr>
          <p:cNvSpPr>
            <a:spLocks xmlns:a="http://schemas.openxmlformats.org/drawingml/2006/main" noGrp="1"/>
          </p:cNvSpPr>
          <p:nvPr/>
        </p:nvSpPr>
        <p:spPr>
          <a:xfrm xmlns:a="http://schemas.openxmlformats.org/drawingml/2006/main">
            <a:off x="762000" y="3686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14BE75C-0429-428C-AD72-F16EC6989C6A}"/>
              </a:ext>
            </a:extLst>
          </p:cNvPr>
          <p:cNvSpPr>
            <a:spLocks xmlns:a="http://schemas.openxmlformats.org/drawingml/2006/main" noGrp="1"/>
          </p:cNvSpPr>
          <p:nvPr/>
        </p:nvSpPr>
        <p:spPr>
          <a:xfrm xmlns:a="http://schemas.openxmlformats.org/drawingml/2006/main">
            <a:off x="762000" y="4057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A8BBEC55-F904-4C0E-8D81-460948BBCC8B}"/>
              </a:ext>
            </a:extLst>
          </p:cNvPr>
          <p:cNvSpPr>
            <a:spLocks xmlns:a="http://schemas.openxmlformats.org/drawingml/2006/main" noGrp="1"/>
          </p:cNvSpPr>
          <p:nvPr/>
        </p:nvSpPr>
        <p:spPr>
          <a:xfrm xmlns:a="http://schemas.openxmlformats.org/drawingml/2006/main">
            <a:off x="1504950"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C46A00"/>
                </a:solidFill>
                <a:latin typeface="Helvetica Neue"/>
                <a:ea typeface="Helvetica Neue"/>
                <a:cs typeface="Helvetica Neue"/>
              </a:defRPr>
            </a:pPr>
            <a:r>
              <a:rPr sz="2100" b="1">
                <a:solidFill>
                  <a:srgbClr val="C46A00"/>
                </a:solidFill>
                <a:latin typeface="Helvetica Neue"/>
                <a:ea typeface="Helvetica Neue"/>
                <a:cs typeface="Helvetica Neue"/>
              </a:rPr>
              <a:t>Separate ownership</a:t>
            </a:r>
          </a:p>
        </p:txBody>
      </p:sp>
      <p:sp>
        <p:nvSpPr>
          <p:cNvPr id="16" name="">
            <a:extLst xmlns:a="http://schemas.openxmlformats.org/drawingml/2006/main">
              <a:ext uri="{FF2B5EF4-FFF2-40B4-BE49-F238E27FC236}">
                <a16:creationId xmlns:a16="http://schemas.microsoft.com/office/drawing/2014/main" id="{6F23DDCB-7503-453E-B31A-520A4B7964E6}"/>
              </a:ext>
            </a:extLst>
          </p:cNvPr>
          <p:cNvSpPr>
            <a:spLocks xmlns:a="http://schemas.openxmlformats.org/drawingml/2006/main" noGrp="1"/>
          </p:cNvSpPr>
          <p:nvPr/>
        </p:nvSpPr>
        <p:spPr>
          <a:xfrm xmlns:a="http://schemas.openxmlformats.org/drawingml/2006/main">
            <a:off x="4838700" y="40576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Transfer and redeem each claim under common rules.</a:t>
            </a:r>
          </a:p>
        </p:txBody>
      </p:sp>
      <p:sp>
        <p:nvSpPr>
          <p:cNvPr id="17" name="">
            <a:extLst xmlns:a="http://schemas.openxmlformats.org/drawingml/2006/main">
              <a:ext uri="{FF2B5EF4-FFF2-40B4-BE49-F238E27FC236}">
                <a16:creationId xmlns:a16="http://schemas.microsoft.com/office/drawing/2014/main" id="{31B72043-8E42-4344-99CE-2DFCA570527D}"/>
              </a:ext>
            </a:extLst>
          </p:cNvPr>
          <p:cNvSpPr>
            <a:spLocks xmlns:a="http://schemas.openxmlformats.org/drawingml/2006/main" noGrp="1"/>
          </p:cNvSpPr>
          <p:nvPr/>
        </p:nvSpPr>
        <p:spPr>
          <a:xfrm xmlns:a="http://schemas.openxmlformats.org/drawingml/2006/main">
            <a:off x="762000" y="47529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D7118B7-C985-4C38-BAAA-DCE4B7FE8E71}"/>
              </a:ext>
            </a:extLst>
          </p:cNvPr>
          <p:cNvSpPr>
            <a:spLocks xmlns:a="http://schemas.openxmlformats.org/drawingml/2006/main" noGrp="1"/>
          </p:cNvSpPr>
          <p:nvPr/>
        </p:nvSpPr>
        <p:spPr>
          <a:xfrm xmlns:a="http://schemas.openxmlformats.org/drawingml/2006/main">
            <a:off x="1504950" y="5334000"/>
            <a:ext cx="914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One shared flow. Separate collateral for each issuer.</a:t>
            </a:r>
          </a:p>
        </p:txBody>
      </p:sp>
    </p:spTree>
    <p:extLst>
      <p:ext uri="{BB962C8B-B14F-4D97-AF65-F5344CB8AC3E}">
        <p14:creationId xmlns:p14="http://schemas.microsoft.com/office/powerpoint/2010/main" val="408558546"/>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72BCB518-F6DF-476E-AC3E-DA2B8DE3079C}"/>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DE3C356-336D-4C39-B292-629A54FDC392}"/>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CA38EC7-2B04-49B7-A373-2DB9A5C50E5B}"/>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D9D70493-06FD-4370-9246-463A2A5F9B13}"/>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Both sides are composable</a:t>
            </a:r>
          </a:p>
        </p:txBody>
      </p:sp>
      <p:sp>
        <p:nvSpPr>
          <p:cNvPr id="5" name="">
            <a:extLst xmlns:a="http://schemas.openxmlformats.org/drawingml/2006/main">
              <a:ext uri="{FF2B5EF4-FFF2-40B4-BE49-F238E27FC236}">
                <a16:creationId xmlns:a16="http://schemas.microsoft.com/office/drawing/2014/main" id="{E3F6D7A2-0D90-4DCF-8A17-D20F57450041}"/>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bc4603c59b8f4c35"/>
          <a:stretch xmlns:a="http://schemas.openxmlformats.org/drawingml/2006/main"/>
        </p:blipFill>
        <p:spPr>
          <a:xfrm xmlns:a="http://schemas.openxmlformats.org/drawingml/2006/main">
            <a:off x="419100" y="1647825"/>
            <a:ext cx="5219700" cy="39147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34C106B-E503-4077-AA31-866CE90AFC14}"/>
              </a:ext>
            </a:extLst>
          </p:cNvPr>
          <p:cNvSpPr>
            <a:spLocks xmlns:a="http://schemas.openxmlformats.org/drawingml/2006/main" noGrp="1"/>
          </p:cNvSpPr>
          <p:nvPr/>
        </p:nvSpPr>
        <p:spPr>
          <a:xfrm xmlns:a="http://schemas.openxmlformats.org/drawingml/2006/main">
            <a:off x="723900" y="56388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1">
                <a:solidFill>
                  <a:srgbClr val="2457F5"/>
                </a:solidFill>
                <a:latin typeface="Helvetica Neue"/>
                <a:ea typeface="Helvetica Neue"/>
                <a:cs typeface="Helvetica Neue"/>
              </a:defRPr>
            </a:pPr>
            <a:r>
              <a:rPr sz="1275" b="1">
                <a:solidFill>
                  <a:srgbClr val="2457F5"/>
                </a:solidFill>
                <a:latin typeface="Helvetica Neue"/>
                <a:ea typeface="Helvetica Neue"/>
                <a:cs typeface="Helvetica Neue"/>
              </a:rPr>
              <a:t>Stock exposure (PT)</a:t>
            </a:r>
          </a:p>
        </p:txBody>
      </p:sp>
      <p:sp>
        <p:nvSpPr>
          <p:cNvPr id="8" name="">
            <a:extLst xmlns:a="http://schemas.openxmlformats.org/drawingml/2006/main">
              <a:ext uri="{FF2B5EF4-FFF2-40B4-BE49-F238E27FC236}">
                <a16:creationId xmlns:a16="http://schemas.microsoft.com/office/drawing/2014/main" id="{18418D30-F4D4-40B9-84DE-C993DF924A76}"/>
              </a:ext>
            </a:extLst>
          </p:cNvPr>
          <p:cNvSpPr>
            <a:spLocks xmlns:a="http://schemas.openxmlformats.org/drawingml/2006/main" noGrp="1"/>
          </p:cNvSpPr>
          <p:nvPr/>
        </p:nvSpPr>
        <p:spPr>
          <a:xfrm xmlns:a="http://schemas.openxmlformats.org/drawingml/2006/main">
            <a:off x="3314700" y="56388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1">
                <a:solidFill>
                  <a:srgbClr val="C46A00"/>
                </a:solidFill>
                <a:latin typeface="Helvetica Neue"/>
                <a:ea typeface="Helvetica Neue"/>
                <a:cs typeface="Helvetica Neue"/>
              </a:defRPr>
            </a:pPr>
            <a:r>
              <a:rPr sz="1275" b="1">
                <a:solidFill>
                  <a:srgbClr val="C46A00"/>
                </a:solidFill>
                <a:latin typeface="Helvetica Neue"/>
                <a:ea typeface="Helvetica Neue"/>
                <a:cs typeface="Helvetica Neue"/>
              </a:rPr>
              <a:t>Dividend rights (DR)</a:t>
            </a:r>
          </a:p>
        </p:txBody>
      </p:sp>
      <p:sp>
        <p:nvSpPr>
          <p:cNvPr id="9" name="">
            <a:extLst xmlns:a="http://schemas.openxmlformats.org/drawingml/2006/main">
              <a:ext uri="{FF2B5EF4-FFF2-40B4-BE49-F238E27FC236}">
                <a16:creationId xmlns:a16="http://schemas.microsoft.com/office/drawing/2014/main" id="{8919879E-DB38-4F1C-A482-3A7D0A2D805B}"/>
              </a:ext>
            </a:extLst>
          </p:cNvPr>
          <p:cNvSpPr>
            <a:spLocks xmlns:a="http://schemas.openxmlformats.org/drawingml/2006/main" noGrp="1"/>
          </p:cNvSpPr>
          <p:nvPr/>
        </p:nvSpPr>
        <p:spPr>
          <a:xfrm xmlns:a="http://schemas.openxmlformats.org/drawingml/2006/main">
            <a:off x="723900" y="5981700"/>
            <a:ext cx="4781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Use either claim in compatible wallets and trading apps.</a:t>
            </a:r>
          </a:p>
        </p:txBody>
      </p:sp>
      <p:sp>
        <p:nvSpPr>
          <p:cNvPr id="10" name="">
            <a:extLst xmlns:a="http://schemas.openxmlformats.org/drawingml/2006/main">
              <a:ext uri="{FF2B5EF4-FFF2-40B4-BE49-F238E27FC236}">
                <a16:creationId xmlns:a16="http://schemas.microsoft.com/office/drawing/2014/main" id="{C7855C3D-4D43-4A23-A636-73B332393043}"/>
              </a:ext>
            </a:extLst>
          </p:cNvPr>
          <p:cNvSpPr>
            <a:spLocks xmlns:a="http://schemas.openxmlformats.org/drawingml/2006/main" noGrp="1"/>
          </p:cNvSpPr>
          <p:nvPr/>
        </p:nvSpPr>
        <p:spPr>
          <a:xfrm xmlns:a="http://schemas.openxmlformats.org/drawingml/2006/main">
            <a:off x="5943600" y="1714500"/>
            <a:ext cx="9525" cy="449580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83390E1-0B69-4D96-8FC9-4B243EE895B8}"/>
              </a:ext>
            </a:extLst>
          </p:cNvPr>
          <p:cNvSpPr>
            <a:spLocks xmlns:a="http://schemas.openxmlformats.org/drawingml/2006/main" noGrp="1"/>
          </p:cNvSpPr>
          <p:nvPr/>
        </p:nvSpPr>
        <p:spPr>
          <a:xfrm xmlns:a="http://schemas.openxmlformats.org/drawingml/2006/main">
            <a:off x="6362700" y="1771650"/>
            <a:ext cx="457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FRACTIONAL OWNERSHIP</a:t>
            </a:r>
          </a:p>
        </p:txBody>
      </p:sp>
      <p:sp>
        <p:nvSpPr>
          <p:cNvPr id="12" name="">
            <a:extLst xmlns:a="http://schemas.openxmlformats.org/drawingml/2006/main">
              <a:ext uri="{FF2B5EF4-FFF2-40B4-BE49-F238E27FC236}">
                <a16:creationId xmlns:a16="http://schemas.microsoft.com/office/drawing/2014/main" id="{BFF9A807-A4EE-4A0C-9E3B-249BCC962180}"/>
              </a:ext>
            </a:extLst>
          </p:cNvPr>
          <p:cNvSpPr>
            <a:spLocks xmlns:a="http://schemas.openxmlformats.org/drawingml/2006/main" noGrp="1"/>
          </p:cNvSpPr>
          <p:nvPr/>
        </p:nvSpPr>
        <p:spPr>
          <a:xfrm xmlns:a="http://schemas.openxmlformats.org/drawingml/2006/main">
            <a:off x="6362700" y="2066925"/>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Buy or sell part of either claim.</a:t>
            </a:r>
          </a:p>
        </p:txBody>
      </p:sp>
      <p:sp>
        <p:nvSpPr>
          <p:cNvPr id="13" name="">
            <a:extLst xmlns:a="http://schemas.openxmlformats.org/drawingml/2006/main">
              <a:ext uri="{FF2B5EF4-FFF2-40B4-BE49-F238E27FC236}">
                <a16:creationId xmlns:a16="http://schemas.microsoft.com/office/drawing/2014/main" id="{2D8FAC6B-BE60-4CD4-8D3D-366FB836FE3D}"/>
              </a:ext>
            </a:extLst>
          </p:cNvPr>
          <p:cNvSpPr>
            <a:spLocks xmlns:a="http://schemas.openxmlformats.org/drawingml/2006/main" noGrp="1"/>
          </p:cNvSpPr>
          <p:nvPr/>
        </p:nvSpPr>
        <p:spPr>
          <a:xfrm xmlns:a="http://schemas.openxmlformats.org/drawingml/2006/main">
            <a:off x="6362700" y="293370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2457F5"/>
                </a:solidFill>
                <a:latin typeface="Helvetica Neue"/>
                <a:ea typeface="Helvetica Neue"/>
                <a:cs typeface="Helvetica Neue"/>
              </a:defRPr>
            </a:pPr>
            <a:r>
              <a:rPr sz="1200" b="1">
                <a:solidFill>
                  <a:srgbClr val="2457F5"/>
                </a:solidFill>
                <a:latin typeface="Helvetica Neue"/>
                <a:ea typeface="Helvetica Neue"/>
                <a:cs typeface="Helvetica Neue"/>
              </a:rPr>
              <a:t>Stock exposure (PT)</a:t>
            </a:r>
          </a:p>
        </p:txBody>
      </p:sp>
      <p:sp>
        <p:nvSpPr>
          <p:cNvPr id="14" name="PT fraction held">
            <a:extLst xmlns:a="http://schemas.openxmlformats.org/drawingml/2006/main">
              <a:ext uri="{FF2B5EF4-FFF2-40B4-BE49-F238E27FC236}">
                <a16:creationId xmlns:a16="http://schemas.microsoft.com/office/drawing/2014/main" id="{2898439D-B022-4E11-B384-62FDC21E1655}"/>
              </a:ext>
            </a:extLst>
          </p:cNvPr>
          <p:cNvSpPr>
            <a:spLocks xmlns:a="http://schemas.openxmlformats.org/drawingml/2006/main" noGrp="1"/>
          </p:cNvSpPr>
          <p:nvPr/>
        </p:nvSpPr>
        <p:spPr>
          <a:xfrm xmlns:a="http://schemas.openxmlformats.org/drawingml/2006/main">
            <a:off x="8420100" y="2905125"/>
            <a:ext cx="1657350" cy="295275"/>
          </a:xfrm>
          <a:prstGeom xmlns:a="http://schemas.openxmlformats.org/drawingml/2006/main" prst="roundRect">
            <a:avLst>
              <a:gd name="adj" fmla="val 22581"/>
            </a:avLst>
          </a:prstGeom>
          <a:solidFill xmlns:a="http://schemas.openxmlformats.org/drawingml/2006/main">
            <a:srgbClr val="EAF0FF"/>
          </a:solidFill>
          <a:ln xmlns:a="http://schemas.openxmlformats.org/drawingml/2006/main" w="9525">
            <a:solidFill>
              <a:srgbClr val="2457F5"/>
            </a:solidFill>
            <a:prstDash val="solid"/>
          </a:ln>
        </p:spPr>
      </p:sp>
      <p:sp>
        <p:nvSpPr>
          <p:cNvPr id="15" name="PT fraction transferred">
            <a:extLst xmlns:a="http://schemas.openxmlformats.org/drawingml/2006/main">
              <a:ext uri="{FF2B5EF4-FFF2-40B4-BE49-F238E27FC236}">
                <a16:creationId xmlns:a16="http://schemas.microsoft.com/office/drawing/2014/main" id="{FACDE666-5E8E-4405-AD63-A98EEC6F7D30}"/>
              </a:ext>
            </a:extLst>
          </p:cNvPr>
          <p:cNvSpPr>
            <a:spLocks xmlns:a="http://schemas.openxmlformats.org/drawingml/2006/main" noGrp="1"/>
          </p:cNvSpPr>
          <p:nvPr/>
        </p:nvSpPr>
        <p:spPr>
          <a:xfrm xmlns:a="http://schemas.openxmlformats.org/drawingml/2006/main">
            <a:off x="10106025" y="2905125"/>
            <a:ext cx="1009650" cy="295275"/>
          </a:xfrm>
          <a:prstGeom xmlns:a="http://schemas.openxmlformats.org/drawingml/2006/main" prst="roundRect">
            <a:avLst>
              <a:gd name="adj" fmla="val 22581"/>
            </a:avLst>
          </a:prstGeom>
          <a:solidFill xmlns:a="http://schemas.openxmlformats.org/drawingml/2006/main">
            <a:srgbClr val="FFFEFB"/>
          </a:solidFill>
          <a:ln xmlns:a="http://schemas.openxmlformats.org/drawingml/2006/main" w="9525">
            <a:solidFill>
              <a:srgbClr val="2457F5"/>
            </a:solidFill>
            <a:prstDash val="solid"/>
          </a:ln>
        </p:spPr>
      </p:sp>
      <p:sp>
        <p:nvSpPr>
          <p:cNvPr id="16" name="">
            <a:extLst xmlns:a="http://schemas.openxmlformats.org/drawingml/2006/main">
              <a:ext uri="{FF2B5EF4-FFF2-40B4-BE49-F238E27FC236}">
                <a16:creationId xmlns:a16="http://schemas.microsoft.com/office/drawing/2014/main" id="{FB931329-4B31-4EAB-9D00-5C17E7C72E42}"/>
              </a:ext>
            </a:extLst>
          </p:cNvPr>
          <p:cNvSpPr>
            <a:spLocks xmlns:a="http://schemas.openxmlformats.org/drawingml/2006/main" noGrp="1"/>
          </p:cNvSpPr>
          <p:nvPr/>
        </p:nvSpPr>
        <p:spPr>
          <a:xfrm xmlns:a="http://schemas.openxmlformats.org/drawingml/2006/main">
            <a:off x="8553450" y="2971800"/>
            <a:ext cx="1390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keep</a:t>
            </a:r>
          </a:p>
        </p:txBody>
      </p:sp>
      <p:sp>
        <p:nvSpPr>
          <p:cNvPr id="17" name="">
            <a:extLst xmlns:a="http://schemas.openxmlformats.org/drawingml/2006/main">
              <a:ext uri="{FF2B5EF4-FFF2-40B4-BE49-F238E27FC236}">
                <a16:creationId xmlns:a16="http://schemas.microsoft.com/office/drawing/2014/main" id="{9C26DE87-B84E-4018-ABED-9B248605BAF3}"/>
              </a:ext>
            </a:extLst>
          </p:cNvPr>
          <p:cNvSpPr>
            <a:spLocks xmlns:a="http://schemas.openxmlformats.org/drawingml/2006/main" noGrp="1"/>
          </p:cNvSpPr>
          <p:nvPr/>
        </p:nvSpPr>
        <p:spPr>
          <a:xfrm xmlns:a="http://schemas.openxmlformats.org/drawingml/2006/main">
            <a:off x="10229850" y="29718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a:t>
            </a:r>
          </a:p>
        </p:txBody>
      </p:sp>
      <p:sp>
        <p:nvSpPr>
          <p:cNvPr id="18" name="">
            <a:extLst xmlns:a="http://schemas.openxmlformats.org/drawingml/2006/main">
              <a:ext uri="{FF2B5EF4-FFF2-40B4-BE49-F238E27FC236}">
                <a16:creationId xmlns:a16="http://schemas.microsoft.com/office/drawing/2014/main" id="{45A357AC-8D92-49DF-BF17-BBD96D7BF3DE}"/>
              </a:ext>
            </a:extLst>
          </p:cNvPr>
          <p:cNvSpPr>
            <a:spLocks xmlns:a="http://schemas.openxmlformats.org/drawingml/2006/main" noGrp="1"/>
          </p:cNvSpPr>
          <p:nvPr/>
        </p:nvSpPr>
        <p:spPr>
          <a:xfrm xmlns:a="http://schemas.openxmlformats.org/drawingml/2006/main">
            <a:off x="6362700" y="34194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C46A00"/>
                </a:solidFill>
                <a:latin typeface="Helvetica Neue"/>
                <a:ea typeface="Helvetica Neue"/>
                <a:cs typeface="Helvetica Neue"/>
              </a:defRPr>
            </a:pPr>
            <a:r>
              <a:rPr sz="1200" b="1">
                <a:solidFill>
                  <a:srgbClr val="C46A00"/>
                </a:solidFill>
                <a:latin typeface="Helvetica Neue"/>
                <a:ea typeface="Helvetica Neue"/>
                <a:cs typeface="Helvetica Neue"/>
              </a:rPr>
              <a:t>Dividend rights (DR)</a:t>
            </a:r>
          </a:p>
        </p:txBody>
      </p:sp>
      <p:sp>
        <p:nvSpPr>
          <p:cNvPr id="19" name="DR fraction held">
            <a:extLst xmlns:a="http://schemas.openxmlformats.org/drawingml/2006/main">
              <a:ext uri="{FF2B5EF4-FFF2-40B4-BE49-F238E27FC236}">
                <a16:creationId xmlns:a16="http://schemas.microsoft.com/office/drawing/2014/main" id="{B5DFD611-1271-49EA-B725-55AC4F0ACA66}"/>
              </a:ext>
            </a:extLst>
          </p:cNvPr>
          <p:cNvSpPr>
            <a:spLocks xmlns:a="http://schemas.openxmlformats.org/drawingml/2006/main" noGrp="1"/>
          </p:cNvSpPr>
          <p:nvPr/>
        </p:nvSpPr>
        <p:spPr>
          <a:xfrm xmlns:a="http://schemas.openxmlformats.org/drawingml/2006/main">
            <a:off x="8420100" y="3390900"/>
            <a:ext cx="1047750" cy="295275"/>
          </a:xfrm>
          <a:prstGeom xmlns:a="http://schemas.openxmlformats.org/drawingml/2006/main" prst="roundRect">
            <a:avLst>
              <a:gd name="adj" fmla="val 22581"/>
            </a:avLst>
          </a:prstGeom>
          <a:solidFill xmlns:a="http://schemas.openxmlformats.org/drawingml/2006/main">
            <a:srgbClr val="FFFEFB"/>
          </a:solidFill>
          <a:ln xmlns:a="http://schemas.openxmlformats.org/drawingml/2006/main" w="9525">
            <a:solidFill>
              <a:srgbClr val="C46A00"/>
            </a:solidFill>
            <a:prstDash val="solid"/>
          </a:ln>
        </p:spPr>
      </p:sp>
      <p:sp>
        <p:nvSpPr>
          <p:cNvPr id="20" name="DR fraction transferred">
            <a:extLst xmlns:a="http://schemas.openxmlformats.org/drawingml/2006/main">
              <a:ext uri="{FF2B5EF4-FFF2-40B4-BE49-F238E27FC236}">
                <a16:creationId xmlns:a16="http://schemas.microsoft.com/office/drawing/2014/main" id="{A66285F5-B0B6-404E-8448-5692934099AA}"/>
              </a:ext>
            </a:extLst>
          </p:cNvPr>
          <p:cNvSpPr>
            <a:spLocks xmlns:a="http://schemas.openxmlformats.org/drawingml/2006/main" noGrp="1"/>
          </p:cNvSpPr>
          <p:nvPr/>
        </p:nvSpPr>
        <p:spPr>
          <a:xfrm xmlns:a="http://schemas.openxmlformats.org/drawingml/2006/main">
            <a:off x="9496425" y="3390900"/>
            <a:ext cx="1619250" cy="295275"/>
          </a:xfrm>
          <a:prstGeom xmlns:a="http://schemas.openxmlformats.org/drawingml/2006/main" prst="roundRect">
            <a:avLst>
              <a:gd name="adj" fmla="val 22581"/>
            </a:avLst>
          </a:prstGeom>
          <a:solidFill xmlns:a="http://schemas.openxmlformats.org/drawingml/2006/main">
            <a:srgbClr val="F8E8D4"/>
          </a:solidFill>
          <a:ln xmlns:a="http://schemas.openxmlformats.org/drawingml/2006/main" w="9525">
            <a:solidFill>
              <a:srgbClr val="C46A00"/>
            </a:solidFill>
            <a:prstDash val="solid"/>
          </a:ln>
        </p:spPr>
      </p:sp>
      <p:sp>
        <p:nvSpPr>
          <p:cNvPr id="21" name="">
            <a:extLst xmlns:a="http://schemas.openxmlformats.org/drawingml/2006/main">
              <a:ext uri="{FF2B5EF4-FFF2-40B4-BE49-F238E27FC236}">
                <a16:creationId xmlns:a16="http://schemas.microsoft.com/office/drawing/2014/main" id="{DB1D78A8-56EA-416C-8192-40881179B0A1}"/>
              </a:ext>
            </a:extLst>
          </p:cNvPr>
          <p:cNvSpPr>
            <a:spLocks xmlns:a="http://schemas.openxmlformats.org/drawingml/2006/main" noGrp="1"/>
          </p:cNvSpPr>
          <p:nvPr/>
        </p:nvSpPr>
        <p:spPr>
          <a:xfrm xmlns:a="http://schemas.openxmlformats.org/drawingml/2006/main">
            <a:off x="8543925" y="3457575"/>
            <a:ext cx="800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keep</a:t>
            </a:r>
          </a:p>
        </p:txBody>
      </p:sp>
      <p:sp>
        <p:nvSpPr>
          <p:cNvPr id="22" name="">
            <a:extLst xmlns:a="http://schemas.openxmlformats.org/drawingml/2006/main">
              <a:ext uri="{FF2B5EF4-FFF2-40B4-BE49-F238E27FC236}">
                <a16:creationId xmlns:a16="http://schemas.microsoft.com/office/drawing/2014/main" id="{45E54C56-E5CE-482C-95F8-65EC8F5D652C}"/>
              </a:ext>
            </a:extLst>
          </p:cNvPr>
          <p:cNvSpPr>
            <a:spLocks xmlns:a="http://schemas.openxmlformats.org/drawingml/2006/main" noGrp="1"/>
          </p:cNvSpPr>
          <p:nvPr/>
        </p:nvSpPr>
        <p:spPr>
          <a:xfrm xmlns:a="http://schemas.openxmlformats.org/drawingml/2006/main">
            <a:off x="9629775" y="3457575"/>
            <a:ext cx="1352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sell</a:t>
            </a:r>
          </a:p>
        </p:txBody>
      </p:sp>
      <p:sp>
        <p:nvSpPr>
          <p:cNvPr id="23" name="">
            <a:extLst xmlns:a="http://schemas.openxmlformats.org/drawingml/2006/main">
              <a:ext uri="{FF2B5EF4-FFF2-40B4-BE49-F238E27FC236}">
                <a16:creationId xmlns:a16="http://schemas.microsoft.com/office/drawing/2014/main" id="{1DBB640A-2668-41D3-85C4-53DEA9C201EB}"/>
              </a:ext>
            </a:extLst>
          </p:cNvPr>
          <p:cNvSpPr>
            <a:spLocks xmlns:a="http://schemas.openxmlformats.org/drawingml/2006/main" noGrp="1"/>
          </p:cNvSpPr>
          <p:nvPr/>
        </p:nvSpPr>
        <p:spPr>
          <a:xfrm xmlns:a="http://schemas.openxmlformats.org/drawingml/2006/main">
            <a:off x="6362700" y="3819525"/>
            <a:ext cx="47529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0">
                <a:solidFill>
                  <a:srgbClr val="53606B"/>
                </a:solidFill>
                <a:latin typeface="Helvetica Neue"/>
                <a:ea typeface="Helvetica Neue"/>
                <a:cs typeface="Helvetica Neue"/>
              </a:defRPr>
            </a:pPr>
            <a:r>
              <a:rPr sz="975" b="0">
                <a:solidFill>
                  <a:srgbClr val="53606B"/>
                </a:solidFill>
                <a:latin typeface="Helvetica Neue"/>
                <a:ea typeface="Helvetica Neue"/>
                <a:cs typeface="Helvetica Neue"/>
              </a:rPr>
              <a:t>Choose how much to keep or sell.</a:t>
            </a:r>
          </a:p>
        </p:txBody>
      </p:sp>
      <p:sp>
        <p:nvSpPr>
          <p:cNvPr id="24" name="">
            <a:extLst xmlns:a="http://schemas.openxmlformats.org/drawingml/2006/main">
              <a:ext uri="{FF2B5EF4-FFF2-40B4-BE49-F238E27FC236}">
                <a16:creationId xmlns:a16="http://schemas.microsoft.com/office/drawing/2014/main" id="{9CF247B3-1776-43D1-8F7A-4374B8857C82}"/>
              </a:ext>
            </a:extLst>
          </p:cNvPr>
          <p:cNvSpPr>
            <a:spLocks xmlns:a="http://schemas.openxmlformats.org/drawingml/2006/main" noGrp="1"/>
          </p:cNvSpPr>
          <p:nvPr/>
        </p:nvSpPr>
        <p:spPr>
          <a:xfrm xmlns:a="http://schemas.openxmlformats.org/drawingml/2006/main">
            <a:off x="6362700" y="4210050"/>
            <a:ext cx="47529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57C08CB-13C4-42F0-99ED-2D657D138C68}"/>
              </a:ext>
            </a:extLst>
          </p:cNvPr>
          <p:cNvSpPr>
            <a:spLocks xmlns:a="http://schemas.openxmlformats.org/drawingml/2006/main" noGrp="1"/>
          </p:cNvSpPr>
          <p:nvPr/>
        </p:nvSpPr>
        <p:spPr>
          <a:xfrm xmlns:a="http://schemas.openxmlformats.org/drawingml/2006/main">
            <a:off x="6362700" y="4410075"/>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AUDITABILITY</a:t>
            </a:r>
          </a:p>
        </p:txBody>
      </p:sp>
      <p:sp>
        <p:nvSpPr>
          <p:cNvPr id="26" name="">
            <a:extLst xmlns:a="http://schemas.openxmlformats.org/drawingml/2006/main">
              <a:ext uri="{FF2B5EF4-FFF2-40B4-BE49-F238E27FC236}">
                <a16:creationId xmlns:a16="http://schemas.microsoft.com/office/drawing/2014/main" id="{F5D3F49A-2B12-433C-A796-7F093EB68F54}"/>
              </a:ext>
            </a:extLst>
          </p:cNvPr>
          <p:cNvSpPr>
            <a:spLocks xmlns:a="http://schemas.openxmlformats.org/drawingml/2006/main" noGrp="1"/>
          </p:cNvSpPr>
          <p:nvPr/>
        </p:nvSpPr>
        <p:spPr>
          <a:xfrm xmlns:a="http://schemas.openxmlformats.org/drawingml/2006/main">
            <a:off x="6362700" y="4686300"/>
            <a:ext cx="4752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Inspect the onchain record.</a:t>
            </a:r>
          </a:p>
        </p:txBody>
      </p:sp>
      <p:sp>
        <p:nvSpPr>
          <p:cNvPr id="27" name="">
            <a:extLst xmlns:a="http://schemas.openxmlformats.org/drawingml/2006/main">
              <a:ext uri="{FF2B5EF4-FFF2-40B4-BE49-F238E27FC236}">
                <a16:creationId xmlns:a16="http://schemas.microsoft.com/office/drawing/2014/main" id="{C0ACE2DE-2527-44F5-BD8D-5E05B03FDD0B}"/>
              </a:ext>
            </a:extLst>
          </p:cNvPr>
          <p:cNvSpPr>
            <a:spLocks xmlns:a="http://schemas.openxmlformats.org/drawingml/2006/main" noGrp="1"/>
          </p:cNvSpPr>
          <p:nvPr/>
        </p:nvSpPr>
        <p:spPr>
          <a:xfrm xmlns:a="http://schemas.openxmlformats.org/drawingml/2006/main">
            <a:off x="6362700" y="51720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8" name="">
            <a:extLst xmlns:a="http://schemas.openxmlformats.org/drawingml/2006/main">
              <a:ext uri="{FF2B5EF4-FFF2-40B4-BE49-F238E27FC236}">
                <a16:creationId xmlns:a16="http://schemas.microsoft.com/office/drawing/2014/main" id="{27C9316E-EFDD-43FC-A97A-119B0449723C}"/>
              </a:ext>
            </a:extLst>
          </p:cNvPr>
          <p:cNvSpPr>
            <a:spLocks xmlns:a="http://schemas.openxmlformats.org/drawingml/2006/main" noGrp="1"/>
          </p:cNvSpPr>
          <p:nvPr/>
        </p:nvSpPr>
        <p:spPr>
          <a:xfrm xmlns:a="http://schemas.openxmlformats.org/drawingml/2006/main">
            <a:off x="6819900" y="5162550"/>
            <a:ext cx="4295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2457F5"/>
                </a:solidFill>
                <a:latin typeface="Helvetica Neue"/>
                <a:ea typeface="Helvetica Neue"/>
                <a:cs typeface="Helvetica Neue"/>
              </a:defRPr>
            </a:pPr>
            <a:r>
              <a:rPr sz="1350" b="1">
                <a:solidFill>
                  <a:srgbClr val="2457F5"/>
                </a:solidFill>
                <a:latin typeface="Helvetica Neue"/>
                <a:ea typeface="Helvetica Neue"/>
                <a:cs typeface="Helvetica Neue"/>
              </a:rPr>
              <a:t>Vault balance</a:t>
            </a:r>
          </a:p>
        </p:txBody>
      </p:sp>
      <p:sp>
        <p:nvSpPr>
          <p:cNvPr id="29" name="">
            <a:extLst xmlns:a="http://schemas.openxmlformats.org/drawingml/2006/main">
              <a:ext uri="{FF2B5EF4-FFF2-40B4-BE49-F238E27FC236}">
                <a16:creationId xmlns:a16="http://schemas.microsoft.com/office/drawing/2014/main" id="{40A205A3-6DFD-4D31-A3A7-98595B1BC52A}"/>
              </a:ext>
            </a:extLst>
          </p:cNvPr>
          <p:cNvSpPr>
            <a:spLocks xmlns:a="http://schemas.openxmlformats.org/drawingml/2006/main" noGrp="1"/>
          </p:cNvSpPr>
          <p:nvPr/>
        </p:nvSpPr>
        <p:spPr>
          <a:xfrm xmlns:a="http://schemas.openxmlformats.org/drawingml/2006/main">
            <a:off x="6362700" y="5438775"/>
            <a:ext cx="47529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DCB545B-A6A7-4C8E-B187-9737D62A4B4B}"/>
              </a:ext>
            </a:extLst>
          </p:cNvPr>
          <p:cNvSpPr>
            <a:spLocks xmlns:a="http://schemas.openxmlformats.org/drawingml/2006/main" noGrp="1"/>
          </p:cNvSpPr>
          <p:nvPr/>
        </p:nvSpPr>
        <p:spPr>
          <a:xfrm xmlns:a="http://schemas.openxmlformats.org/drawingml/2006/main">
            <a:off x="6362700" y="55149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31" name="">
            <a:extLst xmlns:a="http://schemas.openxmlformats.org/drawingml/2006/main">
              <a:ext uri="{FF2B5EF4-FFF2-40B4-BE49-F238E27FC236}">
                <a16:creationId xmlns:a16="http://schemas.microsoft.com/office/drawing/2014/main" id="{8B4EBB2E-1CEB-4104-84DC-9EA29511B2F9}"/>
              </a:ext>
            </a:extLst>
          </p:cNvPr>
          <p:cNvSpPr>
            <a:spLocks xmlns:a="http://schemas.openxmlformats.org/drawingml/2006/main" noGrp="1"/>
          </p:cNvSpPr>
          <p:nvPr/>
        </p:nvSpPr>
        <p:spPr>
          <a:xfrm xmlns:a="http://schemas.openxmlformats.org/drawingml/2006/main">
            <a:off x="6819900" y="5505450"/>
            <a:ext cx="4295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Claims outstanding</a:t>
            </a:r>
          </a:p>
        </p:txBody>
      </p:sp>
      <p:sp>
        <p:nvSpPr>
          <p:cNvPr id="32" name="">
            <a:extLst xmlns:a="http://schemas.openxmlformats.org/drawingml/2006/main">
              <a:ext uri="{FF2B5EF4-FFF2-40B4-BE49-F238E27FC236}">
                <a16:creationId xmlns:a16="http://schemas.microsoft.com/office/drawing/2014/main" id="{20D465A2-A03C-4432-BD8D-6781E5CD44DB}"/>
              </a:ext>
            </a:extLst>
          </p:cNvPr>
          <p:cNvSpPr>
            <a:spLocks xmlns:a="http://schemas.openxmlformats.org/drawingml/2006/main" noGrp="1"/>
          </p:cNvSpPr>
          <p:nvPr/>
        </p:nvSpPr>
        <p:spPr>
          <a:xfrm xmlns:a="http://schemas.openxmlformats.org/drawingml/2006/main">
            <a:off x="6362700" y="5781675"/>
            <a:ext cx="47529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4CAD1C8-D654-4C4B-BAD1-348C1418344B}"/>
              </a:ext>
            </a:extLst>
          </p:cNvPr>
          <p:cNvSpPr>
            <a:spLocks xmlns:a="http://schemas.openxmlformats.org/drawingml/2006/main" noGrp="1"/>
          </p:cNvSpPr>
          <p:nvPr/>
        </p:nvSpPr>
        <p:spPr>
          <a:xfrm xmlns:a="http://schemas.openxmlformats.org/drawingml/2006/main">
            <a:off x="6362700" y="58578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34" name="">
            <a:extLst xmlns:a="http://schemas.openxmlformats.org/drawingml/2006/main">
              <a:ext uri="{FF2B5EF4-FFF2-40B4-BE49-F238E27FC236}">
                <a16:creationId xmlns:a16="http://schemas.microsoft.com/office/drawing/2014/main" id="{EFBD83B7-AE56-41D3-A2C9-DA516803D94A}"/>
              </a:ext>
            </a:extLst>
          </p:cNvPr>
          <p:cNvSpPr>
            <a:spLocks xmlns:a="http://schemas.openxmlformats.org/drawingml/2006/main" noGrp="1"/>
          </p:cNvSpPr>
          <p:nvPr/>
        </p:nvSpPr>
        <p:spPr>
          <a:xfrm xmlns:a="http://schemas.openxmlformats.org/drawingml/2006/main">
            <a:off x="6819900" y="5848350"/>
            <a:ext cx="4295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Redemption history</a:t>
            </a:r>
          </a:p>
        </p:txBody>
      </p:sp>
    </p:spTree>
    <p:extLst>
      <p:ext uri="{BB962C8B-B14F-4D97-AF65-F5344CB8AC3E}">
        <p14:creationId xmlns:p14="http://schemas.microsoft.com/office/powerpoint/2010/main" val="1929330861"/>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1F96E3A-29A4-4542-8336-3E8B8970E792}"/>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5631CCD-5CFB-4436-ACC4-8B663774CC24}"/>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0387B80-5F3D-41BB-9447-7C092638F632}"/>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62B330E4-35F3-4A43-8E21-BFC2F94553FA}"/>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Coca-Cola, in dollars</a:t>
            </a:r>
          </a:p>
        </p:txBody>
      </p:sp>
      <p:sp>
        <p:nvSpPr>
          <p:cNvPr id="5" name="">
            <a:extLst xmlns:a="http://schemas.openxmlformats.org/drawingml/2006/main">
              <a:ext uri="{FF2B5EF4-FFF2-40B4-BE49-F238E27FC236}">
                <a16:creationId xmlns:a16="http://schemas.microsoft.com/office/drawing/2014/main" id="{D9E55382-F20D-45A0-B019-900D320B1821}"/>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38fb270931e6494c"/>
          <a:srcRect xmlns:a="http://schemas.openxmlformats.org/drawingml/2006/main" l="0" t="8194" r="0" b="8194"/>
          <a:stretch xmlns:a="http://schemas.openxmlformats.org/drawingml/2006/main">
            <a:fillRect l="0" t="0" r="0" b="0"/>
          </a:stretch>
        </p:blipFill>
        <p:spPr>
          <a:xfrm xmlns:a="http://schemas.openxmlformats.org/drawingml/2006/main">
            <a:off x="523875" y="1581150"/>
            <a:ext cx="7381875" cy="4714875"/>
          </a:xfrm>
          <a:prstGeom xmlns:a="http://schemas.openxmlformats.org/drawingml/2006/main" prst="roundRect">
            <a:avLst>
              <a:gd name="adj" fmla="val 2828"/>
            </a:avLst>
          </a:prstGeom>
        </p:spPr>
      </p:pic>
      <p:sp>
        <p:nvSpPr>
          <p:cNvPr id="7" name="">
            <a:extLst xmlns:a="http://schemas.openxmlformats.org/drawingml/2006/main">
              <a:ext uri="{FF2B5EF4-FFF2-40B4-BE49-F238E27FC236}">
                <a16:creationId xmlns:a16="http://schemas.microsoft.com/office/drawing/2014/main" id="{14E05637-F285-4970-B54E-B8BB101990DD}"/>
              </a:ext>
            </a:extLst>
          </p:cNvPr>
          <p:cNvSpPr>
            <a:spLocks xmlns:a="http://schemas.openxmlformats.org/drawingml/2006/main" noGrp="1"/>
          </p:cNvSpPr>
          <p:nvPr/>
        </p:nvSpPr>
        <p:spPr>
          <a:xfrm xmlns:a="http://schemas.openxmlformats.org/drawingml/2006/main">
            <a:off x="8334375" y="17907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HISTORICAL SCENARIO</a:t>
            </a:r>
          </a:p>
        </p:txBody>
      </p:sp>
      <p:sp>
        <p:nvSpPr>
          <p:cNvPr id="8" name="">
            <a:extLst xmlns:a="http://schemas.openxmlformats.org/drawingml/2006/main">
              <a:ext uri="{FF2B5EF4-FFF2-40B4-BE49-F238E27FC236}">
                <a16:creationId xmlns:a16="http://schemas.microsoft.com/office/drawing/2014/main" id="{13E52C99-C51D-45E7-8F6E-422317B2D2A9}"/>
              </a:ext>
            </a:extLst>
          </p:cNvPr>
          <p:cNvSpPr>
            <a:spLocks xmlns:a="http://schemas.openxmlformats.org/drawingml/2006/main" noGrp="1"/>
          </p:cNvSpPr>
          <p:nvPr/>
        </p:nvSpPr>
        <p:spPr>
          <a:xfrm xmlns:a="http://schemas.openxmlformats.org/drawingml/2006/main">
            <a:off x="8334375" y="20955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100 Coca-Cola share-equivalents</a:t>
            </a:r>
          </a:p>
        </p:txBody>
      </p:sp>
      <p:sp>
        <p:nvSpPr>
          <p:cNvPr id="9" name="">
            <a:extLst xmlns:a="http://schemas.openxmlformats.org/drawingml/2006/main">
              <a:ext uri="{FF2B5EF4-FFF2-40B4-BE49-F238E27FC236}">
                <a16:creationId xmlns:a16="http://schemas.microsoft.com/office/drawing/2014/main" id="{13CB585C-9198-426A-8878-32D52E36E21D}"/>
              </a:ext>
            </a:extLst>
          </p:cNvPr>
          <p:cNvSpPr>
            <a:spLocks xmlns:a="http://schemas.openxmlformats.org/drawingml/2006/main" noGrp="1"/>
          </p:cNvSpPr>
          <p:nvPr/>
        </p:nvSpPr>
        <p:spPr>
          <a:xfrm xmlns:a="http://schemas.openxmlformats.org/drawingml/2006/main">
            <a:off x="8334375" y="26479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KOx</a:t>
            </a:r>
          </a:p>
        </p:txBody>
      </p:sp>
      <p:sp>
        <p:nvSpPr>
          <p:cNvPr id="10" name="">
            <a:extLst xmlns:a="http://schemas.openxmlformats.org/drawingml/2006/main">
              <a:ext uri="{FF2B5EF4-FFF2-40B4-BE49-F238E27FC236}">
                <a16:creationId xmlns:a16="http://schemas.microsoft.com/office/drawing/2014/main" id="{A262737B-EFE4-482C-AA2C-F3E0AD9BD046}"/>
              </a:ext>
            </a:extLst>
          </p:cNvPr>
          <p:cNvSpPr>
            <a:spLocks xmlns:a="http://schemas.openxmlformats.org/drawingml/2006/main" noGrp="1"/>
          </p:cNvSpPr>
          <p:nvPr/>
        </p:nvSpPr>
        <p:spPr>
          <a:xfrm xmlns:a="http://schemas.openxmlformats.org/drawingml/2006/main">
            <a:off x="8334375" y="30099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2457F5"/>
                </a:solidFill>
                <a:latin typeface="Helvetica Neue"/>
                <a:ea typeface="Helvetica Neue"/>
                <a:cs typeface="Helvetica Neue"/>
              </a:defRPr>
            </a:pPr>
            <a:r>
              <a:rPr sz="2550" b="1">
                <a:solidFill>
                  <a:srgbClr val="2457F5"/>
                </a:solidFill>
                <a:latin typeface="Helvetica Neue"/>
                <a:ea typeface="Helvetica Neue"/>
                <a:cs typeface="Helvetica Neue"/>
              </a:rPr>
              <a:t>≈ $8,935</a:t>
            </a:r>
          </a:p>
        </p:txBody>
      </p:sp>
      <p:sp>
        <p:nvSpPr>
          <p:cNvPr id="11" name="">
            <a:extLst xmlns:a="http://schemas.openxmlformats.org/drawingml/2006/main">
              <a:ext uri="{FF2B5EF4-FFF2-40B4-BE49-F238E27FC236}">
                <a16:creationId xmlns:a16="http://schemas.microsoft.com/office/drawing/2014/main" id="{540B244A-FD8C-4A6F-BE79-9B69E19EF464}"/>
              </a:ext>
            </a:extLst>
          </p:cNvPr>
          <p:cNvSpPr>
            <a:spLocks xmlns:a="http://schemas.openxmlformats.org/drawingml/2006/main" noGrp="1"/>
          </p:cNvSpPr>
          <p:nvPr/>
        </p:nvSpPr>
        <p:spPr>
          <a:xfrm xmlns:a="http://schemas.openxmlformats.org/drawingml/2006/main">
            <a:off x="8334375" y="342900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100.0000 KOx · stock exposure</a:t>
            </a:r>
          </a:p>
        </p:txBody>
      </p:sp>
      <p:sp>
        <p:nvSpPr>
          <p:cNvPr id="12" name="">
            <a:extLst xmlns:a="http://schemas.openxmlformats.org/drawingml/2006/main">
              <a:ext uri="{FF2B5EF4-FFF2-40B4-BE49-F238E27FC236}">
                <a16:creationId xmlns:a16="http://schemas.microsoft.com/office/drawing/2014/main" id="{6463FEBB-B5BF-4EA5-BA31-8E87E1DA4B61}"/>
              </a:ext>
            </a:extLst>
          </p:cNvPr>
          <p:cNvSpPr>
            <a:spLocks xmlns:a="http://schemas.openxmlformats.org/drawingml/2006/main" noGrp="1"/>
          </p:cNvSpPr>
          <p:nvPr/>
        </p:nvSpPr>
        <p:spPr>
          <a:xfrm xmlns:a="http://schemas.openxmlformats.org/drawingml/2006/main">
            <a:off x="8334375" y="38766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C46A00"/>
                </a:solidFill>
                <a:latin typeface="Helvetica Neue"/>
                <a:ea typeface="Helvetica Neue"/>
                <a:cs typeface="Helvetica Neue"/>
              </a:defRPr>
            </a:pPr>
            <a:r>
              <a:rPr sz="2550" b="1">
                <a:solidFill>
                  <a:srgbClr val="C46A00"/>
                </a:solidFill>
                <a:latin typeface="Helvetica Neue"/>
                <a:ea typeface="Helvetica Neue"/>
                <a:cs typeface="Helvetica Neue"/>
              </a:rPr>
              <a:t>≈ $37.10</a:t>
            </a:r>
          </a:p>
        </p:txBody>
      </p:sp>
      <p:sp>
        <p:nvSpPr>
          <p:cNvPr id="13" name="">
            <a:extLst xmlns:a="http://schemas.openxmlformats.org/drawingml/2006/main">
              <a:ext uri="{FF2B5EF4-FFF2-40B4-BE49-F238E27FC236}">
                <a16:creationId xmlns:a16="http://schemas.microsoft.com/office/drawing/2014/main" id="{3F858E55-6066-4172-A402-64A1FC376E8C}"/>
              </a:ext>
            </a:extLst>
          </p:cNvPr>
          <p:cNvSpPr>
            <a:spLocks xmlns:a="http://schemas.openxmlformats.org/drawingml/2006/main" noGrp="1"/>
          </p:cNvSpPr>
          <p:nvPr/>
        </p:nvSpPr>
        <p:spPr>
          <a:xfrm xmlns:a="http://schemas.openxmlformats.org/drawingml/2006/main">
            <a:off x="8334375" y="429577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0.4152 KOx · dividend allocation</a:t>
            </a:r>
          </a:p>
        </p:txBody>
      </p:sp>
      <p:sp>
        <p:nvSpPr>
          <p:cNvPr id="14" name="">
            <a:extLst xmlns:a="http://schemas.openxmlformats.org/drawingml/2006/main">
              <a:ext uri="{FF2B5EF4-FFF2-40B4-BE49-F238E27FC236}">
                <a16:creationId xmlns:a16="http://schemas.microsoft.com/office/drawing/2014/main" id="{4DD5E939-C541-489F-8468-B79C352C3BA1}"/>
              </a:ext>
            </a:extLst>
          </p:cNvPr>
          <p:cNvSpPr>
            <a:spLocks xmlns:a="http://schemas.openxmlformats.org/drawingml/2006/main" noGrp="1"/>
          </p:cNvSpPr>
          <p:nvPr/>
        </p:nvSpPr>
        <p:spPr>
          <a:xfrm xmlns:a="http://schemas.openxmlformats.org/drawingml/2006/main">
            <a:off x="8334375" y="47053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101820"/>
                </a:solidFill>
                <a:latin typeface="Helvetica Neue"/>
                <a:ea typeface="Helvetica Neue"/>
                <a:cs typeface="Helvetica Neue"/>
              </a:defRPr>
            </a:pPr>
            <a:r>
              <a:rPr sz="1200" b="1">
                <a:solidFill>
                  <a:srgbClr val="101820"/>
                </a:solidFill>
                <a:latin typeface="Helvetica Neue"/>
                <a:ea typeface="Helvetica Neue"/>
                <a:cs typeface="Helvetica Neue"/>
              </a:rPr>
              <a:t>At the event-implied $89.35/share</a:t>
            </a:r>
          </a:p>
        </p:txBody>
      </p:sp>
      <p:sp>
        <p:nvSpPr>
          <p:cNvPr id="15" name="">
            <a:extLst xmlns:a="http://schemas.openxmlformats.org/drawingml/2006/main">
              <a:ext uri="{FF2B5EF4-FFF2-40B4-BE49-F238E27FC236}">
                <a16:creationId xmlns:a16="http://schemas.microsoft.com/office/drawing/2014/main" id="{3EB76E51-8E68-4131-8C53-4F9546EFC1F7}"/>
              </a:ext>
            </a:extLst>
          </p:cNvPr>
          <p:cNvSpPr>
            <a:spLocks xmlns:a="http://schemas.openxmlformats.org/drawingml/2006/main" noGrp="1"/>
          </p:cNvSpPr>
          <p:nvPr/>
        </p:nvSpPr>
        <p:spPr>
          <a:xfrm xmlns:a="http://schemas.openxmlformats.org/drawingml/2006/main">
            <a:off x="8334375" y="5048250"/>
            <a:ext cx="295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4BD6723-CD44-4301-8AB9-95E097287A64}"/>
              </a:ext>
            </a:extLst>
          </p:cNvPr>
          <p:cNvSpPr>
            <a:spLocks xmlns:a="http://schemas.openxmlformats.org/drawingml/2006/main" noGrp="1"/>
          </p:cNvSpPr>
          <p:nvPr/>
        </p:nvSpPr>
        <p:spPr>
          <a:xfrm xmlns:a="http://schemas.openxmlformats.org/drawingml/2006/main">
            <a:off x="8334375" y="5219700"/>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Event · 15 September 2026</a:t>
            </a:r>
          </a:p>
        </p:txBody>
      </p:sp>
      <p:sp>
        <p:nvSpPr>
          <p:cNvPr id="17" name="">
            <a:extLst xmlns:a="http://schemas.openxmlformats.org/drawingml/2006/main">
              <a:ext uri="{FF2B5EF4-FFF2-40B4-BE49-F238E27FC236}">
                <a16:creationId xmlns:a16="http://schemas.microsoft.com/office/drawing/2014/main" id="{01793C75-B89C-44DF-B521-524883CC6623}"/>
              </a:ext>
            </a:extLst>
          </p:cNvPr>
          <p:cNvSpPr>
            <a:spLocks xmlns:a="http://schemas.openxmlformats.org/drawingml/2006/main" noGrp="1"/>
          </p:cNvSpPr>
          <p:nvPr/>
        </p:nvSpPr>
        <p:spPr>
          <a:xfrm xmlns:a="http://schemas.openxmlformats.org/drawingml/2006/main">
            <a:off x="8334375" y="5686425"/>
            <a:ext cx="2952750" cy="552450"/>
          </a:xfrm>
          <a:prstGeom xmlns:a="http://schemas.openxmlformats.org/drawingml/2006/main" prst="roundRect">
            <a:avLst>
              <a:gd name="adj" fmla="val 13793"/>
            </a:avLst>
          </a:prstGeom>
          <a:solidFill xmlns:a="http://schemas.openxmlformats.org/drawingml/2006/main">
            <a:srgbClr val="10182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12DED62-CDDA-4F6B-8520-7399F8815A76}"/>
              </a:ext>
            </a:extLst>
          </p:cNvPr>
          <p:cNvSpPr>
            <a:spLocks xmlns:a="http://schemas.openxmlformats.org/drawingml/2006/main" noGrp="1"/>
          </p:cNvSpPr>
          <p:nvPr/>
        </p:nvSpPr>
        <p:spPr>
          <a:xfrm xmlns:a="http://schemas.openxmlformats.org/drawingml/2006/main">
            <a:off x="8505825" y="5791200"/>
            <a:ext cx="2647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now: historical calculator</a:t>
            </a:r>
          </a:p>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Next: vault execution</a:t>
            </a:r>
          </a:p>
        </p:txBody>
      </p:sp>
    </p:spTree>
    <p:extLst>
      <p:ext uri="{BB962C8B-B14F-4D97-AF65-F5344CB8AC3E}">
        <p14:creationId xmlns:p14="http://schemas.microsoft.com/office/powerpoint/2010/main" val="174227393"/>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291F632-2B4F-4CC2-93DB-C9FC6D2CE182}"/>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6C2662C-57AC-459E-95FD-87D77E368440}"/>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EB9B5D9-68FD-4125-9C3F-7D5ACBE69DA8}"/>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159B23F4-3013-44EA-BCCE-20AEF2AFA5A1}"/>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Solana issuers first</a:t>
            </a:r>
          </a:p>
        </p:txBody>
      </p:sp>
      <p:sp>
        <p:nvSpPr>
          <p:cNvPr id="5" name="">
            <a:extLst xmlns:a="http://schemas.openxmlformats.org/drawingml/2006/main">
              <a:ext uri="{FF2B5EF4-FFF2-40B4-BE49-F238E27FC236}">
                <a16:creationId xmlns:a16="http://schemas.microsoft.com/office/drawing/2014/main" id="{24FF61C9-8B17-42C5-B50F-E30EA11844B6}"/>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1D5F70DC-7B8F-4D60-AB76-EB8B593FD5AA}"/>
              </a:ext>
            </a:extLst>
          </p:cNvPr>
          <p:cNvSpPr>
            <a:spLocks xmlns:a="http://schemas.openxmlformats.org/drawingml/2006/main" noGrp="1"/>
          </p:cNvSpPr>
          <p:nvPr/>
        </p:nvSpPr>
        <p:spPr>
          <a:xfrm xmlns:a="http://schemas.openxmlformats.org/drawingml/2006/main">
            <a:off x="762000" y="18478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HACKATHON TARGET</a:t>
            </a:r>
          </a:p>
        </p:txBody>
      </p:sp>
      <p:sp>
        <p:nvSpPr>
          <p:cNvPr id="7" name="Deposit">
            <a:extLst xmlns:a="http://schemas.openxmlformats.org/drawingml/2006/main">
              <a:ext uri="{FF2B5EF4-FFF2-40B4-BE49-F238E27FC236}">
                <a16:creationId xmlns:a16="http://schemas.microsoft.com/office/drawing/2014/main" id="{579CF402-7B67-41CA-8C78-E9D74EF78894}"/>
              </a:ext>
            </a:extLst>
          </p:cNvPr>
          <p:cNvSpPr>
            <a:spLocks xmlns:a="http://schemas.openxmlformats.org/drawingml/2006/main" noGrp="1"/>
          </p:cNvSpPr>
          <p:nvPr/>
        </p:nvSpPr>
        <p:spPr>
          <a:xfrm xmlns:a="http://schemas.openxmlformats.org/drawingml/2006/main">
            <a:off x="762000"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5440A194-CC44-4C25-9A86-4C4F48C8BCCB}"/>
              </a:ext>
            </a:extLst>
          </p:cNvPr>
          <p:cNvSpPr>
            <a:spLocks xmlns:a="http://schemas.openxmlformats.org/drawingml/2006/main" noGrp="1"/>
          </p:cNvSpPr>
          <p:nvPr/>
        </p:nvSpPr>
        <p:spPr>
          <a:xfrm xmlns:a="http://schemas.openxmlformats.org/drawingml/2006/main">
            <a:off x="914400"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Deposit</a:t>
            </a:r>
          </a:p>
        </p:txBody>
      </p:sp>
      <p:sp>
        <p:nvSpPr>
          <p:cNvPr id="9" name="Split">
            <a:extLst xmlns:a="http://schemas.openxmlformats.org/drawingml/2006/main">
              <a:ext uri="{FF2B5EF4-FFF2-40B4-BE49-F238E27FC236}">
                <a16:creationId xmlns:a16="http://schemas.microsoft.com/office/drawing/2014/main" id="{590108B6-A601-4C04-A653-4B10BF4DDEB2}"/>
              </a:ext>
            </a:extLst>
          </p:cNvPr>
          <p:cNvSpPr>
            <a:spLocks xmlns:a="http://schemas.openxmlformats.org/drawingml/2006/main" noGrp="1"/>
          </p:cNvSpPr>
          <p:nvPr/>
        </p:nvSpPr>
        <p:spPr>
          <a:xfrm xmlns:a="http://schemas.openxmlformats.org/drawingml/2006/main">
            <a:off x="3476625" y="2419350"/>
            <a:ext cx="1714500" cy="838200"/>
          </a:xfrm>
          <a:prstGeom xmlns:a="http://schemas.openxmlformats.org/drawingml/2006/main" prst="roundRect">
            <a:avLst>
              <a:gd name="adj" fmla="val 13636"/>
            </a:avLst>
          </a:prstGeom>
          <a:solidFill xmlns:a="http://schemas.openxmlformats.org/drawingml/2006/main">
            <a:srgbClr val="EAF0FF"/>
          </a:solidFill>
          <a:ln xmlns:a="http://schemas.openxmlformats.org/drawingml/2006/main" w="9525">
            <a:solidFill>
              <a:srgbClr val="2457F5"/>
            </a:solidFill>
            <a:prstDash val="solid"/>
          </a:ln>
        </p:spPr>
      </p:sp>
      <p:sp>
        <p:nvSpPr>
          <p:cNvPr id="10" name="">
            <a:extLst xmlns:a="http://schemas.openxmlformats.org/drawingml/2006/main">
              <a:ext uri="{FF2B5EF4-FFF2-40B4-BE49-F238E27FC236}">
                <a16:creationId xmlns:a16="http://schemas.microsoft.com/office/drawing/2014/main" id="{C660A442-E2C7-4169-A03D-C7B833800EE6}"/>
              </a:ext>
            </a:extLst>
          </p:cNvPr>
          <p:cNvSpPr>
            <a:spLocks xmlns:a="http://schemas.openxmlformats.org/drawingml/2006/main" noGrp="1"/>
          </p:cNvSpPr>
          <p:nvPr/>
        </p:nvSpPr>
        <p:spPr>
          <a:xfrm xmlns:a="http://schemas.openxmlformats.org/drawingml/2006/main">
            <a:off x="362902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2457F5"/>
                </a:solidFill>
                <a:latin typeface="Helvetica Neue"/>
                <a:ea typeface="Helvetica Neue"/>
                <a:cs typeface="Helvetica Neue"/>
              </a:defRPr>
            </a:pPr>
            <a:r>
              <a:rPr sz="1725" b="1">
                <a:solidFill>
                  <a:srgbClr val="2457F5"/>
                </a:solidFill>
                <a:latin typeface="Helvetica Neue"/>
                <a:ea typeface="Helvetica Neue"/>
                <a:cs typeface="Helvetica Neue"/>
              </a:rPr>
              <a:t>Split</a:t>
            </a:r>
          </a:p>
        </p:txBody>
      </p:sp>
      <p:sp>
        <p:nvSpPr>
          <p:cNvPr id="11" name="Sell the dividend">
            <a:extLst xmlns:a="http://schemas.openxmlformats.org/drawingml/2006/main">
              <a:ext uri="{FF2B5EF4-FFF2-40B4-BE49-F238E27FC236}">
                <a16:creationId xmlns:a16="http://schemas.microsoft.com/office/drawing/2014/main" id="{50B67DFD-B64F-4549-B10E-090216701728}"/>
              </a:ext>
            </a:extLst>
          </p:cNvPr>
          <p:cNvSpPr>
            <a:spLocks xmlns:a="http://schemas.openxmlformats.org/drawingml/2006/main" noGrp="1"/>
          </p:cNvSpPr>
          <p:nvPr/>
        </p:nvSpPr>
        <p:spPr>
          <a:xfrm xmlns:a="http://schemas.openxmlformats.org/drawingml/2006/main">
            <a:off x="6191250" y="2419350"/>
            <a:ext cx="2143125" cy="838200"/>
          </a:xfrm>
          <a:prstGeom xmlns:a="http://schemas.openxmlformats.org/drawingml/2006/main" prst="roundRect">
            <a:avLst>
              <a:gd name="adj" fmla="val 13636"/>
            </a:avLst>
          </a:prstGeom>
          <a:solidFill xmlns:a="http://schemas.openxmlformats.org/drawingml/2006/main">
            <a:srgbClr val="F8E8D4"/>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CAF7B7D8-F5FF-4D64-93B2-E28B63DB9251}"/>
              </a:ext>
            </a:extLst>
          </p:cNvPr>
          <p:cNvSpPr>
            <a:spLocks xmlns:a="http://schemas.openxmlformats.org/drawingml/2006/main" noGrp="1"/>
          </p:cNvSpPr>
          <p:nvPr/>
        </p:nvSpPr>
        <p:spPr>
          <a:xfrm xmlns:a="http://schemas.openxmlformats.org/drawingml/2006/main">
            <a:off x="6343650" y="2609850"/>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a:solidFill>
                  <a:srgbClr val="C46A00"/>
                </a:solidFill>
                <a:latin typeface="Helvetica Neue"/>
                <a:ea typeface="Helvetica Neue"/>
                <a:cs typeface="Helvetica Neue"/>
              </a:defRPr>
            </a:pPr>
            <a:r>
              <a:rPr sz="1575" b="1">
                <a:solidFill>
                  <a:srgbClr val="C46A00"/>
                </a:solidFill>
                <a:latin typeface="Helvetica Neue"/>
                <a:ea typeface="Helvetica Neue"/>
                <a:cs typeface="Helvetica Neue"/>
              </a:rPr>
              <a:t>Sell the dividend</a:t>
            </a:r>
          </a:p>
        </p:txBody>
      </p:sp>
      <p:sp>
        <p:nvSpPr>
          <p:cNvPr id="13" name="Redeem separately">
            <a:extLst xmlns:a="http://schemas.openxmlformats.org/drawingml/2006/main">
              <a:ext uri="{FF2B5EF4-FFF2-40B4-BE49-F238E27FC236}">
                <a16:creationId xmlns:a16="http://schemas.microsoft.com/office/drawing/2014/main" id="{48361628-9D3D-4990-8CA1-1CAED50F061D}"/>
              </a:ext>
            </a:extLst>
          </p:cNvPr>
          <p:cNvSpPr>
            <a:spLocks xmlns:a="http://schemas.openxmlformats.org/drawingml/2006/main" noGrp="1"/>
          </p:cNvSpPr>
          <p:nvPr/>
        </p:nvSpPr>
        <p:spPr>
          <a:xfrm xmlns:a="http://schemas.openxmlformats.org/drawingml/2006/main">
            <a:off x="8905875"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14" name="">
            <a:extLst xmlns:a="http://schemas.openxmlformats.org/drawingml/2006/main">
              <a:ext uri="{FF2B5EF4-FFF2-40B4-BE49-F238E27FC236}">
                <a16:creationId xmlns:a16="http://schemas.microsoft.com/office/drawing/2014/main" id="{60236C77-197B-442E-A142-4FB05EB2F009}"/>
              </a:ext>
            </a:extLst>
          </p:cNvPr>
          <p:cNvSpPr>
            <a:spLocks xmlns:a="http://schemas.openxmlformats.org/drawingml/2006/main" noGrp="1"/>
          </p:cNvSpPr>
          <p:nvPr/>
        </p:nvSpPr>
        <p:spPr>
          <a:xfrm xmlns:a="http://schemas.openxmlformats.org/drawingml/2006/main">
            <a:off x="905827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Redeem separately</a:t>
            </a:r>
          </a:p>
        </p:txBody>
      </p:sp>
      <p:cxnSp>
        <p:nvCxnSpPr>
          <p:cNvPr id="46" name=""/>
          <p:cNvCxnSpPr>
            <a:stCxn xmlns:a="http://schemas.openxmlformats.org/drawingml/2006/main" id="7" idx="3"/>
            <a:endCxn xmlns:a="http://schemas.openxmlformats.org/drawingml/2006/main" id="9" idx="1"/>
          </p:cNvCxnSpPr>
          <p:nvPr/>
        </p:nvCxnSpPr>
        <p:spPr>
          <a:xfrm xmlns:a="http://schemas.openxmlformats.org/drawingml/2006/main">
            <a:off x="2476500"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7" name=""/>
          <p:cNvCxnSpPr>
            <a:stCxn xmlns:a="http://schemas.openxmlformats.org/drawingml/2006/main" id="9" idx="3"/>
            <a:endCxn xmlns:a="http://schemas.openxmlformats.org/drawingml/2006/main" id="11" idx="1"/>
          </p:cNvCxnSpPr>
          <p:nvPr/>
        </p:nvCxnSpPr>
        <p:spPr>
          <a:xfrm xmlns:a="http://schemas.openxmlformats.org/drawingml/2006/main">
            <a:off x="5191125"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8" name=""/>
          <p:cNvCxnSpPr>
            <a:stCxn xmlns:a="http://schemas.openxmlformats.org/drawingml/2006/main" id="11" idx="3"/>
            <a:endCxn xmlns:a="http://schemas.openxmlformats.org/drawingml/2006/main" id="13" idx="1"/>
          </p:cNvCxnSpPr>
          <p:nvPr/>
        </p:nvCxnSpPr>
        <p:spPr>
          <a:xfrm xmlns:a="http://schemas.openxmlformats.org/drawingml/2006/main">
            <a:off x="8334375" y="2838450"/>
            <a:ext cx="571500"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sp>
        <p:nvSpPr>
          <p:cNvPr id="18" name="">
            <a:extLst xmlns:a="http://schemas.openxmlformats.org/drawingml/2006/main">
              <a:ext uri="{FF2B5EF4-FFF2-40B4-BE49-F238E27FC236}">
                <a16:creationId xmlns:a16="http://schemas.microsoft.com/office/drawing/2014/main" id="{303E7F8B-7857-442C-9C7F-40EE9EF56E7E}"/>
              </a:ext>
            </a:extLst>
          </p:cNvPr>
          <p:cNvSpPr>
            <a:spLocks xmlns:a="http://schemas.openxmlformats.org/drawingml/2006/main" noGrp="1"/>
          </p:cNvSpPr>
          <p:nvPr/>
        </p:nvSpPr>
        <p:spPr>
          <a:xfrm xmlns:a="http://schemas.openxmlformats.org/drawingml/2006/main">
            <a:off x="762000" y="36385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BUILD SCOPE AND ROADMAP</a:t>
            </a:r>
          </a:p>
        </p:txBody>
      </p:sp>
      <p:sp>
        <p:nvSpPr>
          <p:cNvPr id="19" name="">
            <a:extLst xmlns:a="http://schemas.openxmlformats.org/drawingml/2006/main">
              <a:ext uri="{FF2B5EF4-FFF2-40B4-BE49-F238E27FC236}">
                <a16:creationId xmlns:a16="http://schemas.microsoft.com/office/drawing/2014/main" id="{321F30C3-5556-4088-A904-31132B38D89B}"/>
              </a:ext>
            </a:extLst>
          </p:cNvPr>
          <p:cNvSpPr>
            <a:spLocks xmlns:a="http://schemas.openxmlformats.org/drawingml/2006/main" noGrp="1"/>
          </p:cNvSpPr>
          <p:nvPr/>
        </p:nvSpPr>
        <p:spPr>
          <a:xfrm xmlns:a="http://schemas.openxmlformats.org/drawingml/2006/main">
            <a:off x="762000" y="394335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020CD0B-4983-4435-BC98-58A7FC031BEF}"/>
              </a:ext>
            </a:extLst>
          </p:cNvPr>
          <p:cNvSpPr>
            <a:spLocks xmlns:a="http://schemas.openxmlformats.org/drawingml/2006/main" noGrp="1"/>
          </p:cNvSpPr>
          <p:nvPr/>
        </p:nvSpPr>
        <p:spPr>
          <a:xfrm xmlns:a="http://schemas.openxmlformats.org/drawingml/2006/main">
            <a:off x="762000" y="414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1" name="">
            <a:extLst xmlns:a="http://schemas.openxmlformats.org/drawingml/2006/main">
              <a:ext uri="{FF2B5EF4-FFF2-40B4-BE49-F238E27FC236}">
                <a16:creationId xmlns:a16="http://schemas.microsoft.com/office/drawing/2014/main" id="{F40AD34B-0369-4DD0-872D-2F775C3AB938}"/>
              </a:ext>
            </a:extLst>
          </p:cNvPr>
          <p:cNvSpPr>
            <a:spLocks xmlns:a="http://schemas.openxmlformats.org/drawingml/2006/main" noGrp="1"/>
          </p:cNvSpPr>
          <p:nvPr/>
        </p:nvSpPr>
        <p:spPr>
          <a:xfrm xmlns:a="http://schemas.openxmlformats.org/drawingml/2006/main">
            <a:off x="1381125" y="41243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2457F5"/>
                </a:solidFill>
                <a:latin typeface="Helvetica Neue"/>
                <a:ea typeface="Helvetica Neue"/>
                <a:cs typeface="Helvetica Neue"/>
              </a:defRPr>
            </a:pPr>
            <a:r>
              <a:rPr sz="1500" b="1">
                <a:solidFill>
                  <a:srgbClr val="2457F5"/>
                </a:solidFill>
                <a:latin typeface="Helvetica Neue"/>
                <a:ea typeface="Helvetica Neue"/>
                <a:cs typeface="Helvetica Neue"/>
              </a:rPr>
              <a:t>Initial Solana scope</a:t>
            </a:r>
          </a:p>
        </p:txBody>
      </p:sp>
      <p:sp>
        <p:nvSpPr>
          <p:cNvPr id="22" name="">
            <a:extLst xmlns:a="http://schemas.openxmlformats.org/drawingml/2006/main">
              <a:ext uri="{FF2B5EF4-FFF2-40B4-BE49-F238E27FC236}">
                <a16:creationId xmlns:a16="http://schemas.microsoft.com/office/drawing/2014/main" id="{A8A04424-1F3B-4BD4-ADE6-F9C654C6E36E}"/>
              </a:ext>
            </a:extLst>
          </p:cNvPr>
          <p:cNvSpPr>
            <a:spLocks xmlns:a="http://schemas.openxmlformats.org/drawingml/2006/main" noGrp="1"/>
          </p:cNvSpPr>
          <p:nvPr/>
        </p:nvSpPr>
        <p:spPr>
          <a:xfrm xmlns:a="http://schemas.openxmlformats.org/drawingml/2006/main">
            <a:off x="4362450" y="412432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xStocks · Backpack · Ondo</a:t>
            </a:r>
          </a:p>
        </p:txBody>
      </p:sp>
      <p:sp>
        <p:nvSpPr>
          <p:cNvPr id="23" name="">
            <a:extLst xmlns:a="http://schemas.openxmlformats.org/drawingml/2006/main">
              <a:ext uri="{FF2B5EF4-FFF2-40B4-BE49-F238E27FC236}">
                <a16:creationId xmlns:a16="http://schemas.microsoft.com/office/drawing/2014/main" id="{824A421D-82E1-4E01-AA7A-8CBF3BEFE929}"/>
              </a:ext>
            </a:extLst>
          </p:cNvPr>
          <p:cNvSpPr>
            <a:spLocks xmlns:a="http://schemas.openxmlformats.org/drawingml/2006/main" noGrp="1"/>
          </p:cNvSpPr>
          <p:nvPr/>
        </p:nvSpPr>
        <p:spPr>
          <a:xfrm xmlns:a="http://schemas.openxmlformats.org/drawingml/2006/main">
            <a:off x="1381125" y="4514850"/>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24C9938-2ED2-41D8-8890-DD4982D4FCCF}"/>
              </a:ext>
            </a:extLst>
          </p:cNvPr>
          <p:cNvSpPr>
            <a:spLocks xmlns:a="http://schemas.openxmlformats.org/drawingml/2006/main" noGrp="1"/>
          </p:cNvSpPr>
          <p:nvPr/>
        </p:nvSpPr>
        <p:spPr>
          <a:xfrm xmlns:a="http://schemas.openxmlformats.org/drawingml/2006/main">
            <a:off x="762000" y="46863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25" name="">
            <a:extLst xmlns:a="http://schemas.openxmlformats.org/drawingml/2006/main">
              <a:ext uri="{FF2B5EF4-FFF2-40B4-BE49-F238E27FC236}">
                <a16:creationId xmlns:a16="http://schemas.microsoft.com/office/drawing/2014/main" id="{75170CF1-2E8F-4A63-918C-1F68A2D62C1A}"/>
              </a:ext>
            </a:extLst>
          </p:cNvPr>
          <p:cNvSpPr>
            <a:spLocks xmlns:a="http://schemas.openxmlformats.org/drawingml/2006/main" noGrp="1"/>
          </p:cNvSpPr>
          <p:nvPr/>
        </p:nvSpPr>
        <p:spPr>
          <a:xfrm xmlns:a="http://schemas.openxmlformats.org/drawingml/2006/main">
            <a:off x="1381125" y="46672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7A4000"/>
                </a:solidFill>
                <a:latin typeface="Helvetica Neue"/>
                <a:ea typeface="Helvetica Neue"/>
                <a:cs typeface="Helvetica Neue"/>
              </a:defRPr>
            </a:pPr>
            <a:r>
              <a:rPr sz="1500" b="1">
                <a:solidFill>
                  <a:srgbClr val="7A4000"/>
                </a:solidFill>
                <a:latin typeface="Helvetica Neue"/>
                <a:ea typeface="Helvetica Neue"/>
                <a:cs typeface="Helvetica Neue"/>
              </a:rPr>
              <a:t>Selected stocks</a:t>
            </a:r>
          </a:p>
        </p:txBody>
      </p:sp>
      <p:sp>
        <p:nvSpPr>
          <p:cNvPr id="26" name="">
            <a:extLst xmlns:a="http://schemas.openxmlformats.org/drawingml/2006/main">
              <a:ext uri="{FF2B5EF4-FFF2-40B4-BE49-F238E27FC236}">
                <a16:creationId xmlns:a16="http://schemas.microsoft.com/office/drawing/2014/main" id="{E1765228-CBFA-4164-88C5-90A6E71B5A50}"/>
              </a:ext>
            </a:extLst>
          </p:cNvPr>
          <p:cNvSpPr>
            <a:spLocks xmlns:a="http://schemas.openxmlformats.org/drawingml/2006/main" noGrp="1"/>
          </p:cNvSpPr>
          <p:nvPr/>
        </p:nvSpPr>
        <p:spPr>
          <a:xfrm xmlns:a="http://schemas.openxmlformats.org/drawingml/2006/main">
            <a:off x="4362450" y="46672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Coca-Cola · Apple · Microsoft · Micron · Nike · IBM</a:t>
            </a:r>
          </a:p>
        </p:txBody>
      </p:sp>
      <p:sp>
        <p:nvSpPr>
          <p:cNvPr id="27" name="">
            <a:extLst xmlns:a="http://schemas.openxmlformats.org/drawingml/2006/main">
              <a:ext uri="{FF2B5EF4-FFF2-40B4-BE49-F238E27FC236}">
                <a16:creationId xmlns:a16="http://schemas.microsoft.com/office/drawing/2014/main" id="{6C4486B3-CB43-4415-AC63-EEF26B730A39}"/>
              </a:ext>
            </a:extLst>
          </p:cNvPr>
          <p:cNvSpPr>
            <a:spLocks xmlns:a="http://schemas.openxmlformats.org/drawingml/2006/main" noGrp="1"/>
          </p:cNvSpPr>
          <p:nvPr/>
        </p:nvSpPr>
        <p:spPr>
          <a:xfrm xmlns:a="http://schemas.openxmlformats.org/drawingml/2006/main">
            <a:off x="1381125" y="5057775"/>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47727E9-420F-4AD0-8690-052FF5A8FDA8}"/>
              </a:ext>
            </a:extLst>
          </p:cNvPr>
          <p:cNvSpPr>
            <a:spLocks xmlns:a="http://schemas.openxmlformats.org/drawingml/2006/main" noGrp="1"/>
          </p:cNvSpPr>
          <p:nvPr/>
        </p:nvSpPr>
        <p:spPr>
          <a:xfrm xmlns:a="http://schemas.openxmlformats.org/drawingml/2006/main">
            <a:off x="762000" y="5229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29" name="">
            <a:extLst xmlns:a="http://schemas.openxmlformats.org/drawingml/2006/main">
              <a:ext uri="{FF2B5EF4-FFF2-40B4-BE49-F238E27FC236}">
                <a16:creationId xmlns:a16="http://schemas.microsoft.com/office/drawing/2014/main" id="{69D27829-1FEF-4B36-B76D-0548C442A225}"/>
              </a:ext>
            </a:extLst>
          </p:cNvPr>
          <p:cNvSpPr>
            <a:spLocks xmlns:a="http://schemas.openxmlformats.org/drawingml/2006/main" noGrp="1"/>
          </p:cNvSpPr>
          <p:nvPr/>
        </p:nvSpPr>
        <p:spPr>
          <a:xfrm xmlns:a="http://schemas.openxmlformats.org/drawingml/2006/main">
            <a:off x="1381125" y="521017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Other networks later</a:t>
            </a:r>
          </a:p>
        </p:txBody>
      </p:sp>
      <p:sp>
        <p:nvSpPr>
          <p:cNvPr id="30" name="">
            <a:extLst xmlns:a="http://schemas.openxmlformats.org/drawingml/2006/main">
              <a:ext uri="{FF2B5EF4-FFF2-40B4-BE49-F238E27FC236}">
                <a16:creationId xmlns:a16="http://schemas.microsoft.com/office/drawing/2014/main" id="{29E076BD-ACD1-45D2-BEB4-672E25E4E383}"/>
              </a:ext>
            </a:extLst>
          </p:cNvPr>
          <p:cNvSpPr>
            <a:spLocks xmlns:a="http://schemas.openxmlformats.org/drawingml/2006/main" noGrp="1"/>
          </p:cNvSpPr>
          <p:nvPr/>
        </p:nvSpPr>
        <p:spPr>
          <a:xfrm xmlns:a="http://schemas.openxmlformats.org/drawingml/2006/main">
            <a:off x="4362450" y="52101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Coinbase on Base · Robinhood Chain</a:t>
            </a:r>
          </a:p>
        </p:txBody>
      </p:sp>
      <p:sp>
        <p:nvSpPr>
          <p:cNvPr id="31" name="">
            <a:extLst xmlns:a="http://schemas.openxmlformats.org/drawingml/2006/main">
              <a:ext uri="{FF2B5EF4-FFF2-40B4-BE49-F238E27FC236}">
                <a16:creationId xmlns:a16="http://schemas.microsoft.com/office/drawing/2014/main" id="{7953C092-E91C-4B9F-9C16-8D3532A2220E}"/>
              </a:ext>
            </a:extLst>
          </p:cNvPr>
          <p:cNvSpPr>
            <a:spLocks xmlns:a="http://schemas.openxmlformats.org/drawingml/2006/main" noGrp="1"/>
          </p:cNvSpPr>
          <p:nvPr/>
        </p:nvSpPr>
        <p:spPr>
          <a:xfrm xmlns:a="http://schemas.openxmlformats.org/drawingml/2006/main">
            <a:off x="762000" y="60388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Solana as the home base for dividend liquidity.</a:t>
            </a:r>
          </a:p>
        </p:txBody>
      </p:sp>
    </p:spTree>
    <p:extLst>
      <p:ext uri="{BB962C8B-B14F-4D97-AF65-F5344CB8AC3E}">
        <p14:creationId xmlns:p14="http://schemas.microsoft.com/office/powerpoint/2010/main" val="1125464950"/>
      </p:ext>
    </p:extLst>
  </p:cSld>
</p:sld>
</file>

<file path=ppt/theme/theme1.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2026-09-16T09:25:12.0960000Z</dcterms:created>
  <dcterms:modified xsi:type="dcterms:W3CDTF">2026-09-16T09:25:12.0960000Z</dcterms:modified>
</coreProperties>
</file>