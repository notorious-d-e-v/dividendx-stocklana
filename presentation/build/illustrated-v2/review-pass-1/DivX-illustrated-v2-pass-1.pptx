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f153f748ff44e8" /><Relationship Type="http://schemas.openxmlformats.org/officeDocument/2006/relationships/extended-properties" Target="/docProps/app.xml" Id="R2e740f3bbd0f49db" /><Relationship Type="http://schemas.openxmlformats.org/officeDocument/2006/relationships/officeDocument" Target="/ppt/presentation.xml" Id="Rb088d12b74134734" /></Relationships>
</file>

<file path=ppt/presentation.xml><?xml version="1.0" encoding="utf-8"?>
<p:presentation xmlns:p="http://schemas.openxmlformats.org/presentationml/2006/main">
  <p:sldMasterIdLst>
    <p:sldMasterId xmlns:r="http://schemas.openxmlformats.org/officeDocument/2006/relationships" id="2147483648" r:id="R16c16c5bf854431c"/>
  </p:sldMasterIdLst>
  <p:notesMasterIdLst>
    <p:notesMasterId xmlns:r="http://schemas.openxmlformats.org/officeDocument/2006/relationships" r:id="R415ce840781446bb"/>
  </p:notesMasterIdLst>
  <p:sldIdLst>
    <p:sldId xmlns:r="http://schemas.openxmlformats.org/officeDocument/2006/relationships" id="256" r:id="Rf109863f0c2e43b7"/>
    <p:sldId xmlns:r="http://schemas.openxmlformats.org/officeDocument/2006/relationships" id="257" r:id="R61f7ce6c8bef44b5"/>
    <p:sldId xmlns:r="http://schemas.openxmlformats.org/officeDocument/2006/relationships" id="258" r:id="Rc4c130bdcf884acf"/>
    <p:sldId xmlns:r="http://schemas.openxmlformats.org/officeDocument/2006/relationships" id="259" r:id="R41c9690be1524023"/>
    <p:sldId xmlns:r="http://schemas.openxmlformats.org/officeDocument/2006/relationships" id="260" r:id="R4cd164aaa2724d13"/>
    <p:sldId xmlns:r="http://schemas.openxmlformats.org/officeDocument/2006/relationships" id="261" r:id="Rd2174bfe5aee4d48"/>
    <p:sldId xmlns:r="http://schemas.openxmlformats.org/officeDocument/2006/relationships" id="262" r:id="R4b71f598dee64b26"/>
    <p:sldId xmlns:r="http://schemas.openxmlformats.org/officeDocument/2006/relationships" id="263" r:id="R8c5c98dc847448d1"/>
    <p:sldId xmlns:r="http://schemas.openxmlformats.org/officeDocument/2006/relationships" id="264" r:id="R3492e828923e4b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9aa5ec4e914394" /><Relationship Type="http://schemas.openxmlformats.org/officeDocument/2006/relationships/slideMaster" Target="/ppt/slideMasters/slideMaster1.xml" Id="R16c16c5bf854431c" /><Relationship Type="http://schemas.openxmlformats.org/officeDocument/2006/relationships/notesMaster" Target="/ppt/notesMasters/notesMaster1.xml" Id="R415ce840781446bb" /><Relationship Type="http://schemas.openxmlformats.org/officeDocument/2006/relationships/presProps" Target="/ppt/presProps.xml" Id="R6a71bca46d6c48af" /><Relationship Type="http://schemas.openxmlformats.org/officeDocument/2006/relationships/tableStyles" Target="/ppt/tableStyles.xml" Id="R530d283e9b1b4b01" /><Relationship Type="http://schemas.openxmlformats.org/officeDocument/2006/relationships/slide" Target="/ppt/slides/slide1.xml" Id="Rf109863f0c2e43b7" /><Relationship Type="http://schemas.openxmlformats.org/officeDocument/2006/relationships/slide" Target="/ppt/slides/slide2.xml" Id="R61f7ce6c8bef44b5" /><Relationship Type="http://schemas.openxmlformats.org/officeDocument/2006/relationships/slide" Target="/ppt/slides/slide3.xml" Id="Rc4c130bdcf884acf" /><Relationship Type="http://schemas.openxmlformats.org/officeDocument/2006/relationships/slide" Target="/ppt/slides/slide4.xml" Id="R41c9690be1524023" /><Relationship Type="http://schemas.openxmlformats.org/officeDocument/2006/relationships/slide" Target="/ppt/slides/slide5.xml" Id="R4cd164aaa2724d13" /><Relationship Type="http://schemas.openxmlformats.org/officeDocument/2006/relationships/slide" Target="/ppt/slides/slide6.xml" Id="Rd2174bfe5aee4d48" /><Relationship Type="http://schemas.openxmlformats.org/officeDocument/2006/relationships/slide" Target="/ppt/slides/slide7.xml" Id="R4b71f598dee64b26" /><Relationship Type="http://schemas.openxmlformats.org/officeDocument/2006/relationships/slide" Target="/ppt/slides/slide8.xml" Id="R8c5c98dc847448d1" /><Relationship Type="http://schemas.openxmlformats.org/officeDocument/2006/relationships/slide" Target="/ppt/slides/slide9.xml" Id="R3492e828923e4b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36a0c5791d43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864d1e351842cd" /><Relationship Type="http://schemas.openxmlformats.org/officeDocument/2006/relationships/notesMaster" Target="/ppt/notesMasters/notesMaster1.xml" Id="R0c4bfd13466d45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1813399ebc41a3" /><Relationship Type="http://schemas.openxmlformats.org/officeDocument/2006/relationships/notesMaster" Target="/ppt/notesMasters/notesMaster1.xml" Id="Rfb483d97338146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e984660a944c8a" /><Relationship Type="http://schemas.openxmlformats.org/officeDocument/2006/relationships/notesMaster" Target="/ppt/notesMasters/notesMaster1.xml" Id="R361f736e7b9746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001e6084c54ebe" /><Relationship Type="http://schemas.openxmlformats.org/officeDocument/2006/relationships/notesMaster" Target="/ppt/notesMasters/notesMaster1.xml" Id="Rc6df5954303742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7c88df529a4077" /><Relationship Type="http://schemas.openxmlformats.org/officeDocument/2006/relationships/notesMaster" Target="/ppt/notesMasters/notesMaster1.xml" Id="Rf47b15045bec47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0656c9c6694f73" /><Relationship Type="http://schemas.openxmlformats.org/officeDocument/2006/relationships/notesMaster" Target="/ppt/notesMasters/notesMaster1.xml" Id="R61282dc4f8e246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5f25618702455f" /><Relationship Type="http://schemas.openxmlformats.org/officeDocument/2006/relationships/notesMaster" Target="/ppt/notesMasters/notesMaster1.xml" Id="Rba83a780c58d47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9605d5ae274258" /><Relationship Type="http://schemas.openxmlformats.org/officeDocument/2006/relationships/notesMaster" Target="/ppt/notesMasters/notesMaster1.xml" Id="R92db0ba117b647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6f8459f0bf84af6" /><Relationship Type="http://schemas.openxmlformats.org/officeDocument/2006/relationships/notesMaster" Target="/ppt/notesMasters/notesMaster1.xml" Id="R105048f6af954d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lets you stay invested in a stock and sell the right to a future dividend. A dividend is a payment a company makes to its shareholders. Sell that claim, and you get paid today. In exchange, the buyer gets the right to that dividend.</a:t>
            </a:r>
          </a:p>
          <a:p xmlns:a="http://schemas.openxmlformats.org/drawingml/2006/main">
            <a:r>
              <a:t>Presenter notes: The protocol is not launched. Current software is an approved interface and working historical calculator. Selected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People already trade dividends separately from stocks in traditional finance. Banks sell contracts tied to future dividends to reduce risk. Investment funds such as Survista buy them at a discount. DivX brings that established market to people who hold tokenized stocks.</a:t>
            </a:r>
          </a:p>
          <a:p xmlns:a="http://schemas.openxmlformats.org/drawingml/2006/main">
            <a:r>
              <a:t>Presenter notes: The institutions shown are participants in traditional dividend markets, not DivX users. Bank direction varies by book and tenor; hedge funds can buy or sell. Traditional dividend futures and swaps are generally cash-settled. DivX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Deposit a stock token into our vault. The vault creates two tokens: PT for the stock position and DR for the dividend. Keep the stock side and sell the dividend side. Each can be later exchanged for its share of the stock tokens held in the vault.</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In traditional finance, more than 21 million dividend contracts traded on Eurex in 2024. In crypto, Pendle lets people trade the future income from their tokens (yield). Pendle reported an average of about 96 million dollars traded per day that year.</a:t>
            </a:r>
          </a:p>
          <a:p xmlns:a="http://schemas.openxmlformats.org/drawingml/2006/main">
            <a:r>
              <a:t>Presenter notes: Contracts and dollars are different measures. These figures establish precedents; they do not prove demand for DivX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Companies paid 1.75 trillion dollars in dividends in 2024. Tokenized stocks now bring stock investments into crypto wallets. Names like Apple, Microsoft and Coca-Cola already have tokens on Solana. That gives us the assets to build this dividend market onchain.</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 The selected package contains 15 candidate mints across six companies: all six from xStocks and Ondo, and Micron, Nike and IBM from Backpack; this is not 15 completed integrations.</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trades settle quickly. The buyer gets the dividend claim and the seller gets paid in one transaction. We're building for tokenized stocks from Backpack, xStocks and Ondo.</a:t>
            </a:r>
          </a:p>
          <a:p xmlns:a="http://schemas.openxmlformats.org/drawingml/2006/main">
            <a:r>
              <a:t>Presenter notes: Fast settlement describes the designed secondary trade: payment and the dividend claim move atomically in one transaction or the trade reverts. It does not claim deployed execution, an immediate future dividend payout, or completed issuer integration.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holder or approved-vault products, no-dividend products and fee-bearing products are outside scope, not an upcoming integration track. Permissionless means no DivX holder allowlist or issuer-specific approved-vault onboarding for admitted assets; underlying issuer controls and product restrictions remain. Ondo documents secondary transferability outside the United States subject to restrictions; issuer KYC for primary issuance or redemption is separate. Exact mint checks, event evidence and execution tests are required before a series opens. xStocks has public event history. Backpack MU has a fully bracketed sourced onchain reconstruction around its DividendDistribute transaction and later ordinary mint/redeem multiplier recomputations; an official event ledger and finality semantics remain unverified. Today's multiplier must not be used as an event factor. Ondo's keyed multiplier history still needs classified event joins, and no Ondo event is source-complete.</a:t>
            </a:r>
          </a:p>
          <a:p xmlns:a="http://schemas.openxmlformats.org/drawingml/2006/main">
            <a:r>
              <a:t>Sources (accessed/observed 16 September 2026 unless stated): Solana transactions: https://solana.com/docs/core/transactions | Solana institutional payments: https://solana.com/solutions/institutional-payments | xStocks multipliers: https://docs.xstocks.fi/developers/multipliers | xStocks corporate actions: https://docs.xstocks.fi/apis/openapi/corporate-actions | Backpack MU: https://learn.backpack.exchange/blog/tokenized-micron-mu | Backpack MU finalized DividendDistribute transaction: https://explorer.solana.com/tx/39vTkahE7rUnFypAkKpaHUxwMyuC1nG4nJ12GEm3y9V1Kqep6ijvcX4isqsNXB63s3vsGNDjfi7uFFgH32Te59R | Local Backpack audit: planning/evidence/backpack-scope-mu-raw-transactions-2026-09-16.json | Ondo corporate actions: https://docs.ondo.finance/ondo-stocks/corporate-actions | Ondo multiplier history API: https://docs.ondo.finance/api-reference/assets/get-shares-multiplier-history-for-an-asset | Ondo transferability: https://docs.ondo.finance/ondo-stocks/transferability | Ondo Solana repository: https://github.com/ondoprotocol/global-markets-solana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You can even buy or sell a tiny (fractional) part of a dividend claim. Anyone can check the vault's holdings and see which claims have been paid out. Other Solana apps can use these claims too, so wallets and trading apps can build on the same market.</a:t>
            </a:r>
          </a:p>
          <a:p xmlns:a="http://schemas.openxmlformats.org/drawingml/2006/main">
            <a:r>
              <a:t>Presenter notes: PT and DR may be used by compatible Solana applications subject to each eligible series' rules. Backing stays in the series vault while either claim moves or connects to an app. The illustration shows conceptual compatibility, not deployed integrations. Onchain auditability covers held collateral and program records. It does not independently prove issuer reserves, correct issuer data, correct program code, or audit certification.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Approved local illustration and provenance: design/illustrations/assets/stock-and-dividend-composability-v1.png; design/illustrations/assets/manifest.json; design/illustrations/prompts/stock-and-dividend-composability-v1.md |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Take Coca-Cola. Our calculator uses a real dividend event for KOx, its xStocks token. For KOx tokens representing 100 shares before the dividend, it shows about 8,935 dollars of stock value and 37.10 dollars in reinvested dividends. Those two separate assets can be built upon.</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For the hackathon, we're building the full trade: deposit, split, sell the dividend, then redeem each side separately. We start with selected stocks from Backpack, xStocks and Ondo on Solana. More networks come later, with Solana as the home for dividend trading.</a:t>
            </a:r>
          </a:p>
          <a:p xmlns:a="http://schemas.openxmlformats.org/drawingml/2006/main">
            <a:r>
              <a:t>Presenter notes: This is build scope and roadmap, not a claim of completed integration or partnership. The package contains 15 candidate mints across six companies: xStocks and Ondo each include Coca-Cola, Apple, Microsoft, Micron, Nike and IBM; Backpack includes Micron, Nike and IBM only. The six companies are not all available from all three issuers. KOx has a complete source-verified replay fixture; Backpack MU has a fully bracketed sourced onchain reconstruction; Ondo event binding still needs authenticated source data. One event per issuer is the first execution target. All vault execution remains planned. Excluded restricted, no-dividend, discontinued and fee-bearing families are outside scope. Coinbase collateral is on Base. The roadmap refers to Robinhood's new wallet-held Stock Tokens on Robinhood Chain. Cross-chain custody, settlement and messaging remain future design work.</a:t>
            </a:r>
          </a:p>
          <a:p xmlns:a="http://schemas.openxmlformats.org/drawingml/2006/main">
            <a:r>
              <a:t>Sources (accessed/observed 16 September 2026 unless stated): Selected asset package: planning/research/initial-asset-package.md | xStocks: https://xstocks.fi/ | xStocks docs: https://docs.xstocks.fi/docs | Backpack assets registry: https://api.backpack.exchange/api/v1/assets | Backpack MU: https://learn.backpack.exchange/blog/tokenized-micron-mu | Ondo corporate actions: https://docs.ondo.finance/ondo-stocks/corporate-actions | Ondo Solana registry: https://github.com/ondoprotocol/gm-solana-simulator/blob/0688add3c64aadc7006712989e9ec0592b5b10f8/constants.rs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c84b3dc93f49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4da501538c43dd" /><Relationship Type="http://schemas.openxmlformats.org/officeDocument/2006/relationships/slideLayout" Target="/ppt/slideLayouts/slideLayout1.xml" Id="R4de479db347347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e479db347347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1280924aae49a1" /><Relationship Type="http://schemas.openxmlformats.org/officeDocument/2006/relationships/notesSlide" Target="/ppt/notesSlides/notesSlide1.xml" Id="Rda9fd3f9f8784b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e937e9cd124580" /><Relationship Type="http://schemas.openxmlformats.org/officeDocument/2006/relationships/notesSlide" Target="/ppt/notesSlides/notesSlide2.xml" Id="R61241e560fac4f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eb26a31bffd4fb2" /><Relationship Type="http://schemas.openxmlformats.org/officeDocument/2006/relationships/image" Target="/ppt/media/image.png" Id="Rdb78f2b1af084c41" /><Relationship Type="http://schemas.openxmlformats.org/officeDocument/2006/relationships/notesSlide" Target="/ppt/notesSlides/notesSlide3.xml" Id="R626fb1d9c8a34e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2c21c8990d54dd8" /><Relationship Type="http://schemas.openxmlformats.org/officeDocument/2006/relationships/notesSlide" Target="/ppt/notesSlides/notesSlide4.xml" Id="Rf2478605713c49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8ef7cddd4b4305" /><Relationship Type="http://schemas.openxmlformats.org/officeDocument/2006/relationships/notesSlide" Target="/ppt/notesSlides/notesSlide5.xml" Id="Radf92d94cc414f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215fa42c1a4ae2" /><Relationship Type="http://schemas.openxmlformats.org/officeDocument/2006/relationships/notesSlide" Target="/ppt/notesSlides/notesSlide6.xml" Id="R2817c3bbd5ca40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fb5255a854445f" /><Relationship Type="http://schemas.openxmlformats.org/officeDocument/2006/relationships/image" Target="/ppt/media/image2.png" Id="R3c2681a51f114cb0" /><Relationship Type="http://schemas.openxmlformats.org/officeDocument/2006/relationships/notesSlide" Target="/ppt/notesSlides/notesSlide7.xml" Id="Rd96c9f62fca34b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5b2de3b00144bca" /><Relationship Type="http://schemas.openxmlformats.org/officeDocument/2006/relationships/image" Target="/ppt/media/image3.png" Id="Rfb89be65ae2c47d6" /><Relationship Type="http://schemas.openxmlformats.org/officeDocument/2006/relationships/notesSlide" Target="/ppt/notesSlides/notesSlide8.xml" Id="Rbcd105383bc4405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012a8011e1c4f31" /><Relationship Type="http://schemas.openxmlformats.org/officeDocument/2006/relationships/notesSlide" Target="/ppt/notesSlides/notesSlide9.xml" Id="R476fefdbf86e41dd"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52DF551-A02A-4561-8579-665183E86A11}"/>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6192EFC-389F-4B67-AE74-E2B46C709D91}"/>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FA35AE5-C0DC-4320-BD11-8AD33CE0CE12}"/>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F5EDBE9A-0199-4483-9EA7-F549AF0CE5E7}"/>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EA712B9A-353D-4C3F-8AD6-AF77AD172613}"/>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7C586234-8579-4600-8CD0-4751EC74491D}"/>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CA3D994C-1BB5-4B34-A1A8-EC811A7AEEC2}"/>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D5F4E25-E283-460D-8A0D-32B84FDF0288}"/>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449259970"/>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BC0E6E7-D928-47AB-8626-82A39C98802C}"/>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5F58A40-851B-43D2-AC29-C6D75F69A43F}"/>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C328BA9-889C-4D62-AB21-4E83A012CAFF}"/>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CE0D8458-B6AA-497C-A645-5155E683570B}"/>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9B63F7C6-40CD-4735-9F58-74CE5AC2874D}"/>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E6C1E365-8C8B-4C13-B6AC-9180D3EFD9A4}"/>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B0A70A73-A0B9-4FEE-98BD-76B6A190E2FD}"/>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CD841FF0-8102-417A-923A-E851D26E59D5}"/>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A29CA88C-4558-44AC-8942-A6CA25FF2AD0}"/>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B9AD822E-EB6F-48B5-BBF5-7BC8BF8205C4}"/>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75D2EADE-57A6-4C35-88EC-916C1B6F22B3}"/>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AB8E2282-768B-4881-ACD9-B64E5B641FC8}"/>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A2759CC0-98F1-4C46-A339-06F4C48460B5}"/>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A10BAA8-FFC4-4E19-8CF7-2FD5E807BA2E}"/>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FLOW</a:t>
            </a:r>
          </a:p>
        </p:txBody>
      </p:sp>
      <p:sp>
        <p:nvSpPr>
          <p:cNvPr id="15" name="Stock holder">
            <a:extLst xmlns:a="http://schemas.openxmlformats.org/drawingml/2006/main">
              <a:ext uri="{FF2B5EF4-FFF2-40B4-BE49-F238E27FC236}">
                <a16:creationId xmlns:a16="http://schemas.microsoft.com/office/drawing/2014/main" id="{A7C5CB95-39F0-4616-91FB-19B29E6A48A1}"/>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6048FD6B-454A-4D53-B4C6-0D3029BF9FDC}"/>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F1174D00-2EEE-4538-A9FB-6D583503E354}"/>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51ED09DA-75A7-42B6-90B6-01CDBD532DED}"/>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10BEDF5C-5F61-4374-B084-A43A2BC04271}"/>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ECC2920E-B0BE-436C-8D35-F5FEBDB9203A}"/>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0ED5730E-706C-4E64-A301-5FA5DF7B1F82}"/>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4993F060-BF6D-4852-904E-8D81B45CB766}"/>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58B2B59C-F6E2-4527-B6EE-B2259471394C}"/>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77903C2-137C-488B-9807-92F28F42E877}"/>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3A0689C5-6A75-41D7-A2C8-61B905ED3987}"/>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1616823988"/>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48FEDF5-2ADB-4B14-9FE8-466D6BF6C4F2}"/>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6B7B23-0ADC-4E92-8915-F26D3003CC06}"/>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A2359C1-F5F1-4FFC-82DF-637577FE321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B259C92-A39E-468B-A215-E048D725C63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30D2394A-D915-4AEC-9157-132299D2870B}"/>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db78f2b1af084c41"/>
          <a:stretch xmlns:a="http://schemas.openxmlformats.org/drawingml/2006/main"/>
        </p:blipFill>
        <p:spPr>
          <a:xfrm xmlns:a="http://schemas.openxmlformats.org/drawingml/2006/main">
            <a:off x="661988" y="1847850"/>
            <a:ext cx="3238500" cy="3238500"/>
          </a:xfrm>
          <a:prstGeom xmlns:a="http://schemas.openxmlformats.org/drawingml/2006/main" prst="rect">
            <a:avLst/>
          </a:prstGeom>
        </p:spPr>
      </p:pic>
      <p:sp>
        <p:nvSpPr>
          <p:cNvPr id="7" name="Stock token">
            <a:extLst xmlns:a="http://schemas.openxmlformats.org/drawingml/2006/main">
              <a:ext uri="{FF2B5EF4-FFF2-40B4-BE49-F238E27FC236}">
                <a16:creationId xmlns:a16="http://schemas.microsoft.com/office/drawing/2014/main" id="{8327C71F-E258-4D0F-A524-44A7C3271AFB}"/>
              </a:ext>
            </a:extLst>
          </p:cNvPr>
          <p:cNvSpPr>
            <a:spLocks xmlns:a="http://schemas.openxmlformats.org/drawingml/2006/main" noGrp="1"/>
          </p:cNvSpPr>
          <p:nvPr/>
        </p:nvSpPr>
        <p:spPr>
          <a:xfrm xmlns:a="http://schemas.openxmlformats.org/drawingml/2006/main">
            <a:off x="4324350" y="2800350"/>
            <a:ext cx="1428750" cy="838200"/>
          </a:xfrm>
          <a:prstGeom xmlns:a="http://schemas.openxmlformats.org/drawingml/2006/main" prst="roundRect">
            <a:avLst>
              <a:gd name="adj" fmla="val 15909"/>
            </a:avLst>
          </a:prstGeom>
          <a:solidFill xmlns:a="http://schemas.openxmlformats.org/drawingml/2006/main">
            <a:srgbClr val="101820"/>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AEC1F3AE-4DA3-4BB6-AA46-60AEB07AFA9B}"/>
              </a:ext>
            </a:extLst>
          </p:cNvPr>
          <p:cNvSpPr>
            <a:spLocks xmlns:a="http://schemas.openxmlformats.org/drawingml/2006/main" noGrp="1"/>
          </p:cNvSpPr>
          <p:nvPr/>
        </p:nvSpPr>
        <p:spPr>
          <a:xfrm xmlns:a="http://schemas.openxmlformats.org/drawingml/2006/main">
            <a:off x="4495800" y="2990850"/>
            <a:ext cx="1085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Stock token</a:t>
            </a:r>
          </a:p>
        </p:txBody>
      </p:sp>
      <p:sp>
        <p:nvSpPr>
          <p:cNvPr id="9" name="Vault">
            <a:extLst xmlns:a="http://schemas.openxmlformats.org/drawingml/2006/main">
              <a:ext uri="{FF2B5EF4-FFF2-40B4-BE49-F238E27FC236}">
                <a16:creationId xmlns:a16="http://schemas.microsoft.com/office/drawing/2014/main" id="{0BBFAB3F-35AE-4635-AFB8-E9CAEC532B63}"/>
              </a:ext>
            </a:extLst>
          </p:cNvPr>
          <p:cNvSpPr>
            <a:spLocks xmlns:a="http://schemas.openxmlformats.org/drawingml/2006/main" noGrp="1"/>
          </p:cNvSpPr>
          <p:nvPr/>
        </p:nvSpPr>
        <p:spPr>
          <a:xfrm xmlns:a="http://schemas.openxmlformats.org/drawingml/2006/main">
            <a:off x="6172200" y="2647950"/>
            <a:ext cx="1600200" cy="1143000"/>
          </a:xfrm>
          <a:prstGeom xmlns:a="http://schemas.openxmlformats.org/drawingml/2006/main" prst="roundRect">
            <a:avLst>
              <a:gd name="adj" fmla="val 13333"/>
            </a:avLst>
          </a:prstGeom>
          <a:solidFill xmlns:a="http://schemas.openxmlformats.org/drawingml/2006/main">
            <a:srgbClr val="FFFEFB"/>
          </a:solidFill>
          <a:ln xmlns:a="http://schemas.openxmlformats.org/drawingml/2006/main" w="9525">
            <a:solidFill>
              <a:srgbClr val="D7D2C8"/>
            </a:solidFill>
            <a:prstDash val="solid"/>
          </a:ln>
        </p:spPr>
      </p:sp>
      <p:sp>
        <p:nvSpPr>
          <p:cNvPr id="10" name="">
            <a:extLst xmlns:a="http://schemas.openxmlformats.org/drawingml/2006/main">
              <a:ext uri="{FF2B5EF4-FFF2-40B4-BE49-F238E27FC236}">
                <a16:creationId xmlns:a16="http://schemas.microsoft.com/office/drawing/2014/main" id="{2BC8DEFA-418B-482A-A4BB-8C886E8DCBB2}"/>
              </a:ext>
            </a:extLst>
          </p:cNvPr>
          <p:cNvSpPr>
            <a:spLocks xmlns:a="http://schemas.openxmlformats.org/drawingml/2006/main" noGrp="1"/>
          </p:cNvSpPr>
          <p:nvPr/>
        </p:nvSpPr>
        <p:spPr>
          <a:xfrm xmlns:a="http://schemas.openxmlformats.org/drawingml/2006/main">
            <a:off x="6400800" y="28194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1" name="">
            <a:extLst xmlns:a="http://schemas.openxmlformats.org/drawingml/2006/main">
              <a:ext uri="{FF2B5EF4-FFF2-40B4-BE49-F238E27FC236}">
                <a16:creationId xmlns:a16="http://schemas.microsoft.com/office/drawing/2014/main" id="{11151B40-471C-4958-AF70-58506C4A9A3D}"/>
              </a:ext>
            </a:extLst>
          </p:cNvPr>
          <p:cNvSpPr>
            <a:spLocks xmlns:a="http://schemas.openxmlformats.org/drawingml/2006/main" noGrp="1"/>
          </p:cNvSpPr>
          <p:nvPr/>
        </p:nvSpPr>
        <p:spPr>
          <a:xfrm xmlns:a="http://schemas.openxmlformats.org/drawingml/2006/main">
            <a:off x="6400800" y="313372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VAULT</a:t>
            </a:r>
          </a:p>
        </p:txBody>
      </p:sp>
      <p:sp>
        <p:nvSpPr>
          <p:cNvPr id="12" name="Stock exposure PT">
            <a:extLst xmlns:a="http://schemas.openxmlformats.org/drawingml/2006/main">
              <a:ext uri="{FF2B5EF4-FFF2-40B4-BE49-F238E27FC236}">
                <a16:creationId xmlns:a16="http://schemas.microsoft.com/office/drawing/2014/main" id="{AF6AFEAF-1BDC-4C8A-93E8-9AA8966827BE}"/>
              </a:ext>
            </a:extLst>
          </p:cNvPr>
          <p:cNvSpPr>
            <a:spLocks xmlns:a="http://schemas.openxmlformats.org/drawingml/2006/main" noGrp="1"/>
          </p:cNvSpPr>
          <p:nvPr/>
        </p:nvSpPr>
        <p:spPr>
          <a:xfrm xmlns:a="http://schemas.openxmlformats.org/drawingml/2006/main">
            <a:off x="8382000" y="1809750"/>
            <a:ext cx="2905125" cy="1285875"/>
          </a:xfrm>
          <a:prstGeom xmlns:a="http://schemas.openxmlformats.org/drawingml/2006/main" prst="roundRect">
            <a:avLst>
              <a:gd name="adj" fmla="val 10370"/>
            </a:avLst>
          </a:prstGeom>
          <a:solidFill xmlns:a="http://schemas.openxmlformats.org/drawingml/2006/main">
            <a:srgbClr val="EAF0FF"/>
          </a:solidFill>
          <a:ln xmlns:a="http://schemas.openxmlformats.org/drawingml/2006/main" w="9525">
            <a:solidFill>
              <a:srgbClr val="2457F5"/>
            </a:solidFill>
            <a:prstDash val="solid"/>
          </a:ln>
        </p:spPr>
      </p:sp>
      <p:sp>
        <p:nvSpPr>
          <p:cNvPr id="13" name="">
            <a:extLst xmlns:a="http://schemas.openxmlformats.org/drawingml/2006/main">
              <a:ext uri="{FF2B5EF4-FFF2-40B4-BE49-F238E27FC236}">
                <a16:creationId xmlns:a16="http://schemas.microsoft.com/office/drawing/2014/main" id="{D7812A64-62D4-45BD-BF19-87D9BB9B8824}"/>
              </a:ext>
            </a:extLst>
          </p:cNvPr>
          <p:cNvSpPr>
            <a:spLocks xmlns:a="http://schemas.openxmlformats.org/drawingml/2006/main" noGrp="1"/>
          </p:cNvSpPr>
          <p:nvPr/>
        </p:nvSpPr>
        <p:spPr>
          <a:xfrm xmlns:a="http://schemas.openxmlformats.org/drawingml/2006/main">
            <a:off x="8629650" y="20097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4" name="">
            <a:extLst xmlns:a="http://schemas.openxmlformats.org/drawingml/2006/main">
              <a:ext uri="{FF2B5EF4-FFF2-40B4-BE49-F238E27FC236}">
                <a16:creationId xmlns:a16="http://schemas.microsoft.com/office/drawing/2014/main" id="{645D1501-2CA5-41A7-8C6F-DCD2A9CE239E}"/>
              </a:ext>
            </a:extLst>
          </p:cNvPr>
          <p:cNvSpPr>
            <a:spLocks xmlns:a="http://schemas.openxmlformats.org/drawingml/2006/main" noGrp="1"/>
          </p:cNvSpPr>
          <p:nvPr/>
        </p:nvSpPr>
        <p:spPr>
          <a:xfrm xmlns:a="http://schemas.openxmlformats.org/drawingml/2006/main">
            <a:off x="8629650" y="23145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639A6"/>
                </a:solidFill>
                <a:latin typeface="Helvetica Neue"/>
                <a:ea typeface="Helvetica Neue"/>
                <a:cs typeface="Helvetica Neue"/>
              </a:defRPr>
            </a:pPr>
            <a:r>
              <a:rPr sz="1800" b="1">
                <a:solidFill>
                  <a:srgbClr val="1639A6"/>
                </a:solidFill>
                <a:latin typeface="Helvetica Neue"/>
                <a:ea typeface="Helvetica Neue"/>
                <a:cs typeface="Helvetica Neue"/>
              </a:rPr>
              <a:t>Stock exposure</a:t>
            </a:r>
          </a:p>
        </p:txBody>
      </p:sp>
      <p:sp>
        <p:nvSpPr>
          <p:cNvPr id="15" name="">
            <a:extLst xmlns:a="http://schemas.openxmlformats.org/drawingml/2006/main">
              <a:ext uri="{FF2B5EF4-FFF2-40B4-BE49-F238E27FC236}">
                <a16:creationId xmlns:a16="http://schemas.microsoft.com/office/drawing/2014/main" id="{952908D4-FBFE-4955-BB4C-7EC718429F83}"/>
              </a:ext>
            </a:extLst>
          </p:cNvPr>
          <p:cNvSpPr>
            <a:spLocks xmlns:a="http://schemas.openxmlformats.org/drawingml/2006/main" noGrp="1"/>
          </p:cNvSpPr>
          <p:nvPr/>
        </p:nvSpPr>
        <p:spPr>
          <a:xfrm xmlns:a="http://schemas.openxmlformats.org/drawingml/2006/main">
            <a:off x="8629650" y="2676525"/>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Stock exposure after dividend allocation</a:t>
            </a:r>
          </a:p>
        </p:txBody>
      </p:sp>
      <p:sp>
        <p:nvSpPr>
          <p:cNvPr id="16" name="Dividend rights DR">
            <a:extLst xmlns:a="http://schemas.openxmlformats.org/drawingml/2006/main">
              <a:ext uri="{FF2B5EF4-FFF2-40B4-BE49-F238E27FC236}">
                <a16:creationId xmlns:a16="http://schemas.microsoft.com/office/drawing/2014/main" id="{1CCEB491-7FB4-4E3C-BC13-2393A21E4AF2}"/>
              </a:ext>
            </a:extLst>
          </p:cNvPr>
          <p:cNvSpPr>
            <a:spLocks xmlns:a="http://schemas.openxmlformats.org/drawingml/2006/main" noGrp="1"/>
          </p:cNvSpPr>
          <p:nvPr/>
        </p:nvSpPr>
        <p:spPr>
          <a:xfrm xmlns:a="http://schemas.openxmlformats.org/drawingml/2006/main">
            <a:off x="8382000" y="3514725"/>
            <a:ext cx="2905125" cy="1285875"/>
          </a:xfrm>
          <a:prstGeom xmlns:a="http://schemas.openxmlformats.org/drawingml/2006/main" prst="roundRect">
            <a:avLst>
              <a:gd name="adj" fmla="val 10370"/>
            </a:avLst>
          </a:prstGeom>
          <a:solidFill xmlns:a="http://schemas.openxmlformats.org/drawingml/2006/main">
            <a:srgbClr val="F8E8D4"/>
          </a:solidFill>
          <a:ln xmlns:a="http://schemas.openxmlformats.org/drawingml/2006/main" w="9525">
            <a:solidFill>
              <a:srgbClr val="C46A00"/>
            </a:solidFill>
            <a:prstDash val="solid"/>
          </a:ln>
        </p:spPr>
      </p:sp>
      <p:sp>
        <p:nvSpPr>
          <p:cNvPr id="17" name="">
            <a:extLst xmlns:a="http://schemas.openxmlformats.org/drawingml/2006/main">
              <a:ext uri="{FF2B5EF4-FFF2-40B4-BE49-F238E27FC236}">
                <a16:creationId xmlns:a16="http://schemas.microsoft.com/office/drawing/2014/main" id="{7EBFE11C-0A13-46A2-AF01-F2433D3BF7CD}"/>
              </a:ext>
            </a:extLst>
          </p:cNvPr>
          <p:cNvSpPr>
            <a:spLocks xmlns:a="http://schemas.openxmlformats.org/drawingml/2006/main" noGrp="1"/>
          </p:cNvSpPr>
          <p:nvPr/>
        </p:nvSpPr>
        <p:spPr>
          <a:xfrm xmlns:a="http://schemas.openxmlformats.org/drawingml/2006/main">
            <a:off x="8629650" y="37147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8" name="">
            <a:extLst xmlns:a="http://schemas.openxmlformats.org/drawingml/2006/main">
              <a:ext uri="{FF2B5EF4-FFF2-40B4-BE49-F238E27FC236}">
                <a16:creationId xmlns:a16="http://schemas.microsoft.com/office/drawing/2014/main" id="{21046A9E-5A05-4AD7-A5D7-2A05BC18F6BB}"/>
              </a:ext>
            </a:extLst>
          </p:cNvPr>
          <p:cNvSpPr>
            <a:spLocks xmlns:a="http://schemas.openxmlformats.org/drawingml/2006/main" noGrp="1"/>
          </p:cNvSpPr>
          <p:nvPr/>
        </p:nvSpPr>
        <p:spPr>
          <a:xfrm xmlns:a="http://schemas.openxmlformats.org/drawingml/2006/main">
            <a:off x="8629650" y="40195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7A4000"/>
                </a:solidFill>
                <a:latin typeface="Helvetica Neue"/>
                <a:ea typeface="Helvetica Neue"/>
                <a:cs typeface="Helvetica Neue"/>
              </a:defRPr>
            </a:pPr>
            <a:r>
              <a:rPr sz="1800" b="1">
                <a:solidFill>
                  <a:srgbClr val="7A4000"/>
                </a:solidFill>
                <a:latin typeface="Helvetica Neue"/>
                <a:ea typeface="Helvetica Neue"/>
                <a:cs typeface="Helvetica Neue"/>
              </a:rPr>
              <a:t>Dividend rights</a:t>
            </a:r>
          </a:p>
        </p:txBody>
      </p:sp>
      <p:sp>
        <p:nvSpPr>
          <p:cNvPr id="19" name="">
            <a:extLst xmlns:a="http://schemas.openxmlformats.org/drawingml/2006/main">
              <a:ext uri="{FF2B5EF4-FFF2-40B4-BE49-F238E27FC236}">
                <a16:creationId xmlns:a16="http://schemas.microsoft.com/office/drawing/2014/main" id="{D11A821F-635E-4CF1-B3F2-803085908C94}"/>
              </a:ext>
            </a:extLst>
          </p:cNvPr>
          <p:cNvSpPr>
            <a:spLocks xmlns:a="http://schemas.openxmlformats.org/drawingml/2006/main" noGrp="1"/>
          </p:cNvSpPr>
          <p:nvPr/>
        </p:nvSpPr>
        <p:spPr>
          <a:xfrm xmlns:a="http://schemas.openxmlformats.org/drawingml/2006/main">
            <a:off x="8629650" y="4381500"/>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This event’s dividend share</a:t>
            </a:r>
          </a:p>
        </p:txBody>
      </p:sp>
      <p:cxnSp>
        <p:nvCxnSpPr>
          <p:cNvPr id="45" name=""/>
          <p:cNvCxnSpPr>
            <a:stCxn xmlns:a="http://schemas.openxmlformats.org/drawingml/2006/main" id="7" idx="3"/>
            <a:endCxn xmlns:a="http://schemas.openxmlformats.org/drawingml/2006/main" id="9" idx="1"/>
          </p:cNvCxnSpPr>
          <p:nvPr/>
        </p:nvCxnSpPr>
        <p:spPr>
          <a:xfrm xmlns:a="http://schemas.openxmlformats.org/drawingml/2006/main">
            <a:off x="5753100" y="3219450"/>
            <a:ext cx="41910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6" name=""/>
          <p:cNvCxnSpPr>
            <a:stCxn xmlns:a="http://schemas.openxmlformats.org/drawingml/2006/main" id="9" idx="3"/>
            <a:endCxn xmlns:a="http://schemas.openxmlformats.org/drawingml/2006/main" id="12" idx="1"/>
          </p:cNvCxnSpPr>
          <p:nvPr/>
        </p:nvCxnSpPr>
        <p:spPr>
          <a:xfrm xmlns:a="http://schemas.openxmlformats.org/drawingml/2006/main" flipV="1">
            <a:off x="7772400" y="2452688"/>
            <a:ext cx="609600" cy="766763"/>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7" name=""/>
          <p:cNvCxnSpPr>
            <a:stCxn xmlns:a="http://schemas.openxmlformats.org/drawingml/2006/main" id="9" idx="3"/>
            <a:endCxn xmlns:a="http://schemas.openxmlformats.org/drawingml/2006/main" id="16" idx="1"/>
          </p:cNvCxnSpPr>
          <p:nvPr/>
        </p:nvCxnSpPr>
        <p:spPr>
          <a:xfrm xmlns:a="http://schemas.openxmlformats.org/drawingml/2006/main">
            <a:off x="7772400" y="3219450"/>
            <a:ext cx="609600" cy="938213"/>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3" name="">
            <a:extLst xmlns:a="http://schemas.openxmlformats.org/drawingml/2006/main">
              <a:ext uri="{FF2B5EF4-FFF2-40B4-BE49-F238E27FC236}">
                <a16:creationId xmlns:a16="http://schemas.microsoft.com/office/drawing/2014/main" id="{03F840D3-9BB1-464E-8A2E-7EF91BC2EE54}"/>
              </a:ext>
            </a:extLst>
          </p:cNvPr>
          <p:cNvSpPr>
            <a:spLocks xmlns:a="http://schemas.openxmlformats.org/drawingml/2006/main" noGrp="1"/>
          </p:cNvSpPr>
          <p:nvPr/>
        </p:nvSpPr>
        <p:spPr>
          <a:xfrm xmlns:a="http://schemas.openxmlformats.org/drawingml/2006/main">
            <a:off x="742950" y="5438775"/>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4" name="">
            <a:extLst xmlns:a="http://schemas.openxmlformats.org/drawingml/2006/main">
              <a:ext uri="{FF2B5EF4-FFF2-40B4-BE49-F238E27FC236}">
                <a16:creationId xmlns:a16="http://schemas.microsoft.com/office/drawing/2014/main" id="{9E59B91B-6137-4EB3-BDBC-E67062010DAD}"/>
              </a:ext>
            </a:extLst>
          </p:cNvPr>
          <p:cNvSpPr>
            <a:spLocks xmlns:a="http://schemas.openxmlformats.org/drawingml/2006/main" noGrp="1"/>
          </p:cNvSpPr>
          <p:nvPr/>
        </p:nvSpPr>
        <p:spPr>
          <a:xfrm xmlns:a="http://schemas.openxmlformats.org/drawingml/2006/main">
            <a:off x="742950" y="5915025"/>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5" name="">
            <a:extLst xmlns:a="http://schemas.openxmlformats.org/drawingml/2006/main">
              <a:ext uri="{FF2B5EF4-FFF2-40B4-BE49-F238E27FC236}">
                <a16:creationId xmlns:a16="http://schemas.microsoft.com/office/drawing/2014/main" id="{45D6A6D9-E795-48A0-88BA-0BDBBBF777E8}"/>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968420485"/>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C7E91CC-DDF5-457D-BD85-5E873851DE10}"/>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7DBC5A2-FA31-4687-8146-519CD840F11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AF17C71-3162-4578-89E7-6FAA552D98BF}"/>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55E10521-DA54-4A64-A1C8-485DF01C13A4}"/>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EA38CF45-2D2F-4A62-9BC8-C592BF4889A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E6301EB7-C73F-4A23-80CD-0FF93513FA5A}"/>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2919CDF7-82C6-4D88-AB1E-9B2133CD8168}"/>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23605584-50E2-4AD6-A87B-3FBF1911F48A}"/>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D39C44D8-CB27-4A3A-8E7A-14A1E1BA7F52}"/>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CF94B10-B7FE-4743-B7E2-9A0DF7215390}"/>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2B232A86-F43D-45EC-9280-B0B3D6183A18}"/>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456F27C3-7144-49BF-8CE5-09D9E3F13B9C}"/>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568DEB44-8E35-422B-B379-03CD17AB11CE}"/>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A0B5FA0E-CDE7-44C8-9D01-6B7BA4836418}"/>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529622156"/>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BDBA493-54E1-4B51-A197-BAE9BF9176AB}"/>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A99A58-05C2-47A1-AD55-1A55B0220916}"/>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596742E-86BA-4689-BB91-2F5DA903D4D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E09BD3EE-2927-479E-B6BC-06EEA034DC7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4C9700FF-293E-43A3-A069-88281D14EEC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945CD6DD-45F0-4478-A5FD-49B8A49568CF}"/>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78EFB708-3776-4CC2-BDC0-C572101A38F2}"/>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22A76936-ECF0-428A-A8CE-E0279C96BDF2}"/>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ECB0B8A1-6692-4310-B6A8-85588F4D0FA0}"/>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B7AF6DB-A185-458E-8CA9-4E5EA7FBBBC1}"/>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F5E2AC6C-D187-42E8-A26A-D5BC37C5A44E}"/>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A9DCE2DD-A9FB-444E-BE33-01BD10A35D3B}"/>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AA824D16-D8FD-4FB7-AE03-AB1AC31C0DA6}"/>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7F1336B-A8B3-489B-8E69-4BEE5FAF8D59}"/>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08D0631F-E650-4E1D-867F-583CAAEEC485}"/>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Selected dividend stocks on Solana</a:t>
            </a:r>
          </a:p>
        </p:txBody>
      </p:sp>
      <p:sp>
        <p:nvSpPr>
          <p:cNvPr id="16" name="">
            <a:extLst xmlns:a="http://schemas.openxmlformats.org/drawingml/2006/main">
              <a:ext uri="{FF2B5EF4-FFF2-40B4-BE49-F238E27FC236}">
                <a16:creationId xmlns:a16="http://schemas.microsoft.com/office/drawing/2014/main" id="{6F7D3A6B-D96A-4519-B300-B5EEBED22D4F}"/>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C5760244-4ED2-4AB4-96D8-BB56E1595ACE}"/>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561655054"/>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D9A72C2-AC34-4106-B428-10A37B70949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7A39A72-80B5-4EF4-B89E-30F4F3624BF5}"/>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139D57-3336-4D86-AD62-A2F79DF667F5}"/>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DC65B171-C8F0-4D0A-899D-5F40B5696F8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D3414C3C-3637-4F61-8FA3-B083380D522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8B8E8625-945E-4031-855F-D5176BA9CAD6}"/>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FFA445A3-7C99-4824-A3C6-0EF34039A970}"/>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C10C3640-0BCE-4E70-B0CF-EB73457F033E}"/>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F80B6031-62FD-4DA6-B2C1-B0F7647E01D5}"/>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BE7052-24BF-42DA-9236-C8F937F41175}"/>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93A00D74-EFBA-4EC1-B001-145C23256377}"/>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Fast settlement</a:t>
            </a:r>
          </a:p>
        </p:txBody>
      </p:sp>
      <p:sp>
        <p:nvSpPr>
          <p:cNvPr id="12" name="">
            <a:extLst xmlns:a="http://schemas.openxmlformats.org/drawingml/2006/main">
              <a:ext uri="{FF2B5EF4-FFF2-40B4-BE49-F238E27FC236}">
                <a16:creationId xmlns:a16="http://schemas.microsoft.com/office/drawing/2014/main" id="{A988D058-A193-4A90-AC74-8415A1114C5C}"/>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Payment and the dividend claim move together.</a:t>
            </a:r>
          </a:p>
        </p:txBody>
      </p:sp>
      <p:sp>
        <p:nvSpPr>
          <p:cNvPr id="13" name="">
            <a:extLst xmlns:a="http://schemas.openxmlformats.org/drawingml/2006/main">
              <a:ext uri="{FF2B5EF4-FFF2-40B4-BE49-F238E27FC236}">
                <a16:creationId xmlns:a16="http://schemas.microsoft.com/office/drawing/2014/main" id="{2F434BB5-34AD-460D-98A3-625E429338B1}"/>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8FE17D9-22AC-463A-AAE6-EF9C32CD0BCC}"/>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C842DC99-51DC-425E-88DA-96D2B950BFF5}"/>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7035D7CC-AE6F-4C94-90B2-F186FB1B1FC5}"/>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A59C6358-B457-4982-AF51-DCF1BF2F4536}"/>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37E7F11-34CA-4EB5-92E7-9C64CB8F0FC4}"/>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One shared flow. Separate collateral for each issuer.</a:t>
            </a:r>
          </a:p>
        </p:txBody>
      </p:sp>
    </p:spTree>
    <p:extLst>
      <p:ext uri="{BB962C8B-B14F-4D97-AF65-F5344CB8AC3E}">
        <p14:creationId xmlns:p14="http://schemas.microsoft.com/office/powerpoint/2010/main" val="1291778275"/>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B46BD92-88E8-4E13-90F0-6B1E40D3FF10}"/>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E66E2F4-1462-4AB6-88A9-63DCFAAE14EA}"/>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4B25BEA-EF9C-4F19-BDA2-C9776B3E4F8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939E1BD2-A6B9-422B-BEF7-CFD9F673502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Both sides are composable</a:t>
            </a:r>
          </a:p>
        </p:txBody>
      </p:sp>
      <p:sp>
        <p:nvSpPr>
          <p:cNvPr id="5" name="">
            <a:extLst xmlns:a="http://schemas.openxmlformats.org/drawingml/2006/main">
              <a:ext uri="{FF2B5EF4-FFF2-40B4-BE49-F238E27FC236}">
                <a16:creationId xmlns:a16="http://schemas.microsoft.com/office/drawing/2014/main" id="{32FD860B-4E32-4F66-90E5-C420BD7F414C}"/>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3c2681a51f114cb0"/>
          <a:stretch xmlns:a="http://schemas.openxmlformats.org/drawingml/2006/main"/>
        </p:blipFill>
        <p:spPr>
          <a:xfrm xmlns:a="http://schemas.openxmlformats.org/drawingml/2006/main">
            <a:off x="419100" y="1647825"/>
            <a:ext cx="5219700" cy="39147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9269CFD-8867-4833-A2A3-68A50B76640B}"/>
              </a:ext>
            </a:extLst>
          </p:cNvPr>
          <p:cNvSpPr>
            <a:spLocks xmlns:a="http://schemas.openxmlformats.org/drawingml/2006/main" noGrp="1"/>
          </p:cNvSpPr>
          <p:nvPr/>
        </p:nvSpPr>
        <p:spPr>
          <a:xfrm xmlns:a="http://schemas.openxmlformats.org/drawingml/2006/main">
            <a:off x="723900" y="56388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1">
                <a:solidFill>
                  <a:srgbClr val="2457F5"/>
                </a:solidFill>
                <a:latin typeface="Helvetica Neue"/>
                <a:ea typeface="Helvetica Neue"/>
                <a:cs typeface="Helvetica Neue"/>
              </a:defRPr>
            </a:pPr>
            <a:r>
              <a:rPr sz="1275" b="1">
                <a:solidFill>
                  <a:srgbClr val="2457F5"/>
                </a:solidFill>
                <a:latin typeface="Helvetica Neue"/>
                <a:ea typeface="Helvetica Neue"/>
                <a:cs typeface="Helvetica Neue"/>
              </a:rPr>
              <a:t>Stock exposure (PT)</a:t>
            </a:r>
          </a:p>
        </p:txBody>
      </p:sp>
      <p:sp>
        <p:nvSpPr>
          <p:cNvPr id="8" name="">
            <a:extLst xmlns:a="http://schemas.openxmlformats.org/drawingml/2006/main">
              <a:ext uri="{FF2B5EF4-FFF2-40B4-BE49-F238E27FC236}">
                <a16:creationId xmlns:a16="http://schemas.microsoft.com/office/drawing/2014/main" id="{C72C0FC8-DF48-48EF-B32E-830A7D90C6C2}"/>
              </a:ext>
            </a:extLst>
          </p:cNvPr>
          <p:cNvSpPr>
            <a:spLocks xmlns:a="http://schemas.openxmlformats.org/drawingml/2006/main" noGrp="1"/>
          </p:cNvSpPr>
          <p:nvPr/>
        </p:nvSpPr>
        <p:spPr>
          <a:xfrm xmlns:a="http://schemas.openxmlformats.org/drawingml/2006/main">
            <a:off x="3314700" y="56388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1">
                <a:solidFill>
                  <a:srgbClr val="C46A00"/>
                </a:solidFill>
                <a:latin typeface="Helvetica Neue"/>
                <a:ea typeface="Helvetica Neue"/>
                <a:cs typeface="Helvetica Neue"/>
              </a:defRPr>
            </a:pPr>
            <a:r>
              <a:rPr sz="1275" b="1">
                <a:solidFill>
                  <a:srgbClr val="C46A00"/>
                </a:solidFill>
                <a:latin typeface="Helvetica Neue"/>
                <a:ea typeface="Helvetica Neue"/>
                <a:cs typeface="Helvetica Neue"/>
              </a:rPr>
              <a:t>Dividend rights (DR)</a:t>
            </a:r>
          </a:p>
        </p:txBody>
      </p:sp>
      <p:sp>
        <p:nvSpPr>
          <p:cNvPr id="9" name="">
            <a:extLst xmlns:a="http://schemas.openxmlformats.org/drawingml/2006/main">
              <a:ext uri="{FF2B5EF4-FFF2-40B4-BE49-F238E27FC236}">
                <a16:creationId xmlns:a16="http://schemas.microsoft.com/office/drawing/2014/main" id="{030469FD-FE74-4A2C-AAFA-445264575914}"/>
              </a:ext>
            </a:extLst>
          </p:cNvPr>
          <p:cNvSpPr>
            <a:spLocks xmlns:a="http://schemas.openxmlformats.org/drawingml/2006/main" noGrp="1"/>
          </p:cNvSpPr>
          <p:nvPr/>
        </p:nvSpPr>
        <p:spPr>
          <a:xfrm xmlns:a="http://schemas.openxmlformats.org/drawingml/2006/main">
            <a:off x="723900" y="5981700"/>
            <a:ext cx="4781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Both claims may connect to compatible Solana apps.</a:t>
            </a:r>
          </a:p>
        </p:txBody>
      </p:sp>
      <p:sp>
        <p:nvSpPr>
          <p:cNvPr id="10" name="">
            <a:extLst xmlns:a="http://schemas.openxmlformats.org/drawingml/2006/main">
              <a:ext uri="{FF2B5EF4-FFF2-40B4-BE49-F238E27FC236}">
                <a16:creationId xmlns:a16="http://schemas.microsoft.com/office/drawing/2014/main" id="{A6F6A665-6A5C-4E32-9F8D-0A17F1E341A6}"/>
              </a:ext>
            </a:extLst>
          </p:cNvPr>
          <p:cNvSpPr>
            <a:spLocks xmlns:a="http://schemas.openxmlformats.org/drawingml/2006/main" noGrp="1"/>
          </p:cNvSpPr>
          <p:nvPr/>
        </p:nvSpPr>
        <p:spPr>
          <a:xfrm xmlns:a="http://schemas.openxmlformats.org/drawingml/2006/main">
            <a:off x="5943600" y="1714500"/>
            <a:ext cx="9525" cy="44958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426DF2E-F63B-4C69-8046-1038AA348351}"/>
              </a:ext>
            </a:extLst>
          </p:cNvPr>
          <p:cNvSpPr>
            <a:spLocks xmlns:a="http://schemas.openxmlformats.org/drawingml/2006/main" noGrp="1"/>
          </p:cNvSpPr>
          <p:nvPr/>
        </p:nvSpPr>
        <p:spPr>
          <a:xfrm xmlns:a="http://schemas.openxmlformats.org/drawingml/2006/main">
            <a:off x="6362700" y="177165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FRACTIONAL OWNERSHIP</a:t>
            </a:r>
          </a:p>
        </p:txBody>
      </p:sp>
      <p:sp>
        <p:nvSpPr>
          <p:cNvPr id="12" name="">
            <a:extLst xmlns:a="http://schemas.openxmlformats.org/drawingml/2006/main">
              <a:ext uri="{FF2B5EF4-FFF2-40B4-BE49-F238E27FC236}">
                <a16:creationId xmlns:a16="http://schemas.microsoft.com/office/drawing/2014/main" id="{C1BD1F85-41C1-4535-82F9-ED37A13150AF}"/>
              </a:ext>
            </a:extLst>
          </p:cNvPr>
          <p:cNvSpPr>
            <a:spLocks xmlns:a="http://schemas.openxmlformats.org/drawingml/2006/main" noGrp="1"/>
          </p:cNvSpPr>
          <p:nvPr/>
        </p:nvSpPr>
        <p:spPr>
          <a:xfrm xmlns:a="http://schemas.openxmlformats.org/drawingml/2006/main">
            <a:off x="6362700" y="206692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Buy or sell part of either claim.</a:t>
            </a:r>
          </a:p>
        </p:txBody>
      </p:sp>
      <p:sp>
        <p:nvSpPr>
          <p:cNvPr id="13" name="">
            <a:extLst xmlns:a="http://schemas.openxmlformats.org/drawingml/2006/main">
              <a:ext uri="{FF2B5EF4-FFF2-40B4-BE49-F238E27FC236}">
                <a16:creationId xmlns:a16="http://schemas.microsoft.com/office/drawing/2014/main" id="{7F24328A-10D1-43F6-BBEB-398E7ACDAE7F}"/>
              </a:ext>
            </a:extLst>
          </p:cNvPr>
          <p:cNvSpPr>
            <a:spLocks xmlns:a="http://schemas.openxmlformats.org/drawingml/2006/main" noGrp="1"/>
          </p:cNvSpPr>
          <p:nvPr/>
        </p:nvSpPr>
        <p:spPr>
          <a:xfrm xmlns:a="http://schemas.openxmlformats.org/drawingml/2006/main">
            <a:off x="6362700" y="293370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2457F5"/>
                </a:solidFill>
                <a:latin typeface="Helvetica Neue"/>
                <a:ea typeface="Helvetica Neue"/>
                <a:cs typeface="Helvetica Neue"/>
              </a:defRPr>
            </a:pPr>
            <a:r>
              <a:rPr sz="1200" b="1">
                <a:solidFill>
                  <a:srgbClr val="2457F5"/>
                </a:solidFill>
                <a:latin typeface="Helvetica Neue"/>
                <a:ea typeface="Helvetica Neue"/>
                <a:cs typeface="Helvetica Neue"/>
              </a:rPr>
              <a:t>Stock exposure (PT)</a:t>
            </a:r>
          </a:p>
        </p:txBody>
      </p:sp>
      <p:sp>
        <p:nvSpPr>
          <p:cNvPr id="14" name="PT fraction held">
            <a:extLst xmlns:a="http://schemas.openxmlformats.org/drawingml/2006/main">
              <a:ext uri="{FF2B5EF4-FFF2-40B4-BE49-F238E27FC236}">
                <a16:creationId xmlns:a16="http://schemas.microsoft.com/office/drawing/2014/main" id="{7C80F72E-8F7E-441C-B44C-4F95281FDA84}"/>
              </a:ext>
            </a:extLst>
          </p:cNvPr>
          <p:cNvSpPr>
            <a:spLocks xmlns:a="http://schemas.openxmlformats.org/drawingml/2006/main" noGrp="1"/>
          </p:cNvSpPr>
          <p:nvPr/>
        </p:nvSpPr>
        <p:spPr>
          <a:xfrm xmlns:a="http://schemas.openxmlformats.org/drawingml/2006/main">
            <a:off x="8420100" y="2905125"/>
            <a:ext cx="1657350" cy="295275"/>
          </a:xfrm>
          <a:prstGeom xmlns:a="http://schemas.openxmlformats.org/drawingml/2006/main" prst="roundRect">
            <a:avLst>
              <a:gd name="adj" fmla="val 22581"/>
            </a:avLst>
          </a:prstGeom>
          <a:solidFill xmlns:a="http://schemas.openxmlformats.org/drawingml/2006/main">
            <a:srgbClr val="EAF0FF"/>
          </a:solidFill>
          <a:ln xmlns:a="http://schemas.openxmlformats.org/drawingml/2006/main" w="9525">
            <a:solidFill>
              <a:srgbClr val="2457F5"/>
            </a:solidFill>
            <a:prstDash val="solid"/>
          </a:ln>
        </p:spPr>
      </p:sp>
      <p:sp>
        <p:nvSpPr>
          <p:cNvPr id="15" name="PT fraction transferred">
            <a:extLst xmlns:a="http://schemas.openxmlformats.org/drawingml/2006/main">
              <a:ext uri="{FF2B5EF4-FFF2-40B4-BE49-F238E27FC236}">
                <a16:creationId xmlns:a16="http://schemas.microsoft.com/office/drawing/2014/main" id="{28F97CC6-05D1-455F-81E6-E28E900F8FE7}"/>
              </a:ext>
            </a:extLst>
          </p:cNvPr>
          <p:cNvSpPr>
            <a:spLocks xmlns:a="http://schemas.openxmlformats.org/drawingml/2006/main" noGrp="1"/>
          </p:cNvSpPr>
          <p:nvPr/>
        </p:nvSpPr>
        <p:spPr>
          <a:xfrm xmlns:a="http://schemas.openxmlformats.org/drawingml/2006/main">
            <a:off x="10106025" y="2905125"/>
            <a:ext cx="1009650" cy="295275"/>
          </a:xfrm>
          <a:prstGeom xmlns:a="http://schemas.openxmlformats.org/drawingml/2006/main" prst="roundRect">
            <a:avLst>
              <a:gd name="adj" fmla="val 22581"/>
            </a:avLst>
          </a:prstGeom>
          <a:solidFill xmlns:a="http://schemas.openxmlformats.org/drawingml/2006/main">
            <a:srgbClr val="FFFEFB"/>
          </a:solidFill>
          <a:ln xmlns:a="http://schemas.openxmlformats.org/drawingml/2006/main" w="9525">
            <a:solidFill>
              <a:srgbClr val="2457F5"/>
            </a:solidFill>
            <a:prstDash val="solid"/>
          </a:ln>
        </p:spPr>
      </p:sp>
      <p:sp>
        <p:nvSpPr>
          <p:cNvPr id="16" name="">
            <a:extLst xmlns:a="http://schemas.openxmlformats.org/drawingml/2006/main">
              <a:ext uri="{FF2B5EF4-FFF2-40B4-BE49-F238E27FC236}">
                <a16:creationId xmlns:a16="http://schemas.microsoft.com/office/drawing/2014/main" id="{B50523B9-0C6F-4BCC-915F-E23CA0702401}"/>
              </a:ext>
            </a:extLst>
          </p:cNvPr>
          <p:cNvSpPr>
            <a:spLocks xmlns:a="http://schemas.openxmlformats.org/drawingml/2006/main" noGrp="1"/>
          </p:cNvSpPr>
          <p:nvPr/>
        </p:nvSpPr>
        <p:spPr>
          <a:xfrm xmlns:a="http://schemas.openxmlformats.org/drawingml/2006/main">
            <a:off x="8553450" y="2971800"/>
            <a:ext cx="1390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held</a:t>
            </a:r>
          </a:p>
        </p:txBody>
      </p:sp>
      <p:sp>
        <p:nvSpPr>
          <p:cNvPr id="17" name="">
            <a:extLst xmlns:a="http://schemas.openxmlformats.org/drawingml/2006/main">
              <a:ext uri="{FF2B5EF4-FFF2-40B4-BE49-F238E27FC236}">
                <a16:creationId xmlns:a16="http://schemas.microsoft.com/office/drawing/2014/main" id="{D540BCB5-C67B-4808-9EF9-BCAE10334EB6}"/>
              </a:ext>
            </a:extLst>
          </p:cNvPr>
          <p:cNvSpPr>
            <a:spLocks xmlns:a="http://schemas.openxmlformats.org/drawingml/2006/main" noGrp="1"/>
          </p:cNvSpPr>
          <p:nvPr/>
        </p:nvSpPr>
        <p:spPr>
          <a:xfrm xmlns:a="http://schemas.openxmlformats.org/drawingml/2006/main">
            <a:off x="10229850" y="29718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part</a:t>
            </a:r>
          </a:p>
        </p:txBody>
      </p:sp>
      <p:sp>
        <p:nvSpPr>
          <p:cNvPr id="18" name="">
            <a:extLst xmlns:a="http://schemas.openxmlformats.org/drawingml/2006/main">
              <a:ext uri="{FF2B5EF4-FFF2-40B4-BE49-F238E27FC236}">
                <a16:creationId xmlns:a16="http://schemas.microsoft.com/office/drawing/2014/main" id="{52112F87-E778-49A1-9C84-25FECA653B18}"/>
              </a:ext>
            </a:extLst>
          </p:cNvPr>
          <p:cNvSpPr>
            <a:spLocks xmlns:a="http://schemas.openxmlformats.org/drawingml/2006/main" noGrp="1"/>
          </p:cNvSpPr>
          <p:nvPr/>
        </p:nvSpPr>
        <p:spPr>
          <a:xfrm xmlns:a="http://schemas.openxmlformats.org/drawingml/2006/main">
            <a:off x="6362700" y="34194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C46A00"/>
                </a:solidFill>
                <a:latin typeface="Helvetica Neue"/>
                <a:ea typeface="Helvetica Neue"/>
                <a:cs typeface="Helvetica Neue"/>
              </a:defRPr>
            </a:pPr>
            <a:r>
              <a:rPr sz="1200" b="1">
                <a:solidFill>
                  <a:srgbClr val="C46A00"/>
                </a:solidFill>
                <a:latin typeface="Helvetica Neue"/>
                <a:ea typeface="Helvetica Neue"/>
                <a:cs typeface="Helvetica Neue"/>
              </a:rPr>
              <a:t>Dividend rights (DR)</a:t>
            </a:r>
          </a:p>
        </p:txBody>
      </p:sp>
      <p:sp>
        <p:nvSpPr>
          <p:cNvPr id="19" name="DR fraction held">
            <a:extLst xmlns:a="http://schemas.openxmlformats.org/drawingml/2006/main">
              <a:ext uri="{FF2B5EF4-FFF2-40B4-BE49-F238E27FC236}">
                <a16:creationId xmlns:a16="http://schemas.microsoft.com/office/drawing/2014/main" id="{E3515A7A-D170-4028-B78D-531FD063441E}"/>
              </a:ext>
            </a:extLst>
          </p:cNvPr>
          <p:cNvSpPr>
            <a:spLocks xmlns:a="http://schemas.openxmlformats.org/drawingml/2006/main" noGrp="1"/>
          </p:cNvSpPr>
          <p:nvPr/>
        </p:nvSpPr>
        <p:spPr>
          <a:xfrm xmlns:a="http://schemas.openxmlformats.org/drawingml/2006/main">
            <a:off x="8420100" y="3390900"/>
            <a:ext cx="1047750" cy="295275"/>
          </a:xfrm>
          <a:prstGeom xmlns:a="http://schemas.openxmlformats.org/drawingml/2006/main" prst="roundRect">
            <a:avLst>
              <a:gd name="adj" fmla="val 22581"/>
            </a:avLst>
          </a:prstGeom>
          <a:solidFill xmlns:a="http://schemas.openxmlformats.org/drawingml/2006/main">
            <a:srgbClr val="FFFEFB"/>
          </a:solidFill>
          <a:ln xmlns:a="http://schemas.openxmlformats.org/drawingml/2006/main" w="9525">
            <a:solidFill>
              <a:srgbClr val="C46A00"/>
            </a:solidFill>
            <a:prstDash val="solid"/>
          </a:ln>
        </p:spPr>
      </p:sp>
      <p:sp>
        <p:nvSpPr>
          <p:cNvPr id="20" name="DR fraction transferred">
            <a:extLst xmlns:a="http://schemas.openxmlformats.org/drawingml/2006/main">
              <a:ext uri="{FF2B5EF4-FFF2-40B4-BE49-F238E27FC236}">
                <a16:creationId xmlns:a16="http://schemas.microsoft.com/office/drawing/2014/main" id="{DEB6F63E-31E1-4B3D-B438-49C43DE8F7E5}"/>
              </a:ext>
            </a:extLst>
          </p:cNvPr>
          <p:cNvSpPr>
            <a:spLocks xmlns:a="http://schemas.openxmlformats.org/drawingml/2006/main" noGrp="1"/>
          </p:cNvSpPr>
          <p:nvPr/>
        </p:nvSpPr>
        <p:spPr>
          <a:xfrm xmlns:a="http://schemas.openxmlformats.org/drawingml/2006/main">
            <a:off x="9496425" y="3390900"/>
            <a:ext cx="1619250" cy="295275"/>
          </a:xfrm>
          <a:prstGeom xmlns:a="http://schemas.openxmlformats.org/drawingml/2006/main" prst="roundRect">
            <a:avLst>
              <a:gd name="adj" fmla="val 22581"/>
            </a:avLst>
          </a:prstGeom>
          <a:solidFill xmlns:a="http://schemas.openxmlformats.org/drawingml/2006/main">
            <a:srgbClr val="F8E8D4"/>
          </a:solidFill>
          <a:ln xmlns:a="http://schemas.openxmlformats.org/drawingml/2006/main" w="9525">
            <a:solidFill>
              <a:srgbClr val="C46A00"/>
            </a:solidFill>
            <a:prstDash val="solid"/>
          </a:ln>
        </p:spPr>
      </p:sp>
      <p:sp>
        <p:nvSpPr>
          <p:cNvPr id="21" name="">
            <a:extLst xmlns:a="http://schemas.openxmlformats.org/drawingml/2006/main">
              <a:ext uri="{FF2B5EF4-FFF2-40B4-BE49-F238E27FC236}">
                <a16:creationId xmlns:a16="http://schemas.microsoft.com/office/drawing/2014/main" id="{54BD1C79-0BA8-434A-A5CA-317653C7CBFD}"/>
              </a:ext>
            </a:extLst>
          </p:cNvPr>
          <p:cNvSpPr>
            <a:spLocks xmlns:a="http://schemas.openxmlformats.org/drawingml/2006/main" noGrp="1"/>
          </p:cNvSpPr>
          <p:nvPr/>
        </p:nvSpPr>
        <p:spPr>
          <a:xfrm xmlns:a="http://schemas.openxmlformats.org/drawingml/2006/main">
            <a:off x="8543925" y="3457575"/>
            <a:ext cx="800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held</a:t>
            </a:r>
          </a:p>
        </p:txBody>
      </p:sp>
      <p:sp>
        <p:nvSpPr>
          <p:cNvPr id="22" name="">
            <a:extLst xmlns:a="http://schemas.openxmlformats.org/drawingml/2006/main">
              <a:ext uri="{FF2B5EF4-FFF2-40B4-BE49-F238E27FC236}">
                <a16:creationId xmlns:a16="http://schemas.microsoft.com/office/drawing/2014/main" id="{D9FABB9E-99FE-46FD-99E1-5CC6C16E3341}"/>
              </a:ext>
            </a:extLst>
          </p:cNvPr>
          <p:cNvSpPr>
            <a:spLocks xmlns:a="http://schemas.openxmlformats.org/drawingml/2006/main" noGrp="1"/>
          </p:cNvSpPr>
          <p:nvPr/>
        </p:nvSpPr>
        <p:spPr>
          <a:xfrm xmlns:a="http://schemas.openxmlformats.org/drawingml/2006/main">
            <a:off x="9629775" y="3457575"/>
            <a:ext cx="1352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part</a:t>
            </a:r>
          </a:p>
        </p:txBody>
      </p:sp>
      <p:sp>
        <p:nvSpPr>
          <p:cNvPr id="23" name="">
            <a:extLst xmlns:a="http://schemas.openxmlformats.org/drawingml/2006/main">
              <a:ext uri="{FF2B5EF4-FFF2-40B4-BE49-F238E27FC236}">
                <a16:creationId xmlns:a16="http://schemas.microsoft.com/office/drawing/2014/main" id="{CAF4293E-4E97-4DFF-9C71-ED6D79981292}"/>
              </a:ext>
            </a:extLst>
          </p:cNvPr>
          <p:cNvSpPr>
            <a:spLocks xmlns:a="http://schemas.openxmlformats.org/drawingml/2006/main" noGrp="1"/>
          </p:cNvSpPr>
          <p:nvPr/>
        </p:nvSpPr>
        <p:spPr>
          <a:xfrm xmlns:a="http://schemas.openxmlformats.org/drawingml/2006/main">
            <a:off x="6362700" y="3819525"/>
            <a:ext cx="4752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0">
                <a:solidFill>
                  <a:srgbClr val="53606B"/>
                </a:solidFill>
                <a:latin typeface="Helvetica Neue"/>
                <a:ea typeface="Helvetica Neue"/>
                <a:cs typeface="Helvetica Neue"/>
              </a:defRPr>
            </a:pPr>
            <a:r>
              <a:rPr sz="975" b="0">
                <a:solidFill>
                  <a:srgbClr val="53606B"/>
                </a:solidFill>
                <a:latin typeface="Helvetica Neue"/>
                <a:ea typeface="Helvetica Neue"/>
                <a:cs typeface="Helvetica Neue"/>
              </a:rPr>
              <a:t>Illustrative fractions, not allocation values.</a:t>
            </a:r>
          </a:p>
        </p:txBody>
      </p:sp>
      <p:sp>
        <p:nvSpPr>
          <p:cNvPr id="24" name="">
            <a:extLst xmlns:a="http://schemas.openxmlformats.org/drawingml/2006/main">
              <a:ext uri="{FF2B5EF4-FFF2-40B4-BE49-F238E27FC236}">
                <a16:creationId xmlns:a16="http://schemas.microsoft.com/office/drawing/2014/main" id="{2754A83C-8DB6-47CC-AA01-C98AF043DEF7}"/>
              </a:ext>
            </a:extLst>
          </p:cNvPr>
          <p:cNvSpPr>
            <a:spLocks xmlns:a="http://schemas.openxmlformats.org/drawingml/2006/main" noGrp="1"/>
          </p:cNvSpPr>
          <p:nvPr/>
        </p:nvSpPr>
        <p:spPr>
          <a:xfrm xmlns:a="http://schemas.openxmlformats.org/drawingml/2006/main">
            <a:off x="6362700" y="4210050"/>
            <a:ext cx="47529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27936FC-67D4-4751-BF8F-23E7B4C83515}"/>
              </a:ext>
            </a:extLst>
          </p:cNvPr>
          <p:cNvSpPr>
            <a:spLocks xmlns:a="http://schemas.openxmlformats.org/drawingml/2006/main" noGrp="1"/>
          </p:cNvSpPr>
          <p:nvPr/>
        </p:nvSpPr>
        <p:spPr>
          <a:xfrm xmlns:a="http://schemas.openxmlformats.org/drawingml/2006/main">
            <a:off x="6362700" y="441007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26" name="">
            <a:extLst xmlns:a="http://schemas.openxmlformats.org/drawingml/2006/main">
              <a:ext uri="{FF2B5EF4-FFF2-40B4-BE49-F238E27FC236}">
                <a16:creationId xmlns:a16="http://schemas.microsoft.com/office/drawing/2014/main" id="{3BFF7E45-4801-459B-AD11-D28307D088BB}"/>
              </a:ext>
            </a:extLst>
          </p:cNvPr>
          <p:cNvSpPr>
            <a:spLocks xmlns:a="http://schemas.openxmlformats.org/drawingml/2006/main" noGrp="1"/>
          </p:cNvSpPr>
          <p:nvPr/>
        </p:nvSpPr>
        <p:spPr>
          <a:xfrm xmlns:a="http://schemas.openxmlformats.org/drawingml/2006/main">
            <a:off x="6362700" y="4686300"/>
            <a:ext cx="4752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Inspect the onchain record.</a:t>
            </a:r>
          </a:p>
        </p:txBody>
      </p:sp>
      <p:sp>
        <p:nvSpPr>
          <p:cNvPr id="27" name="">
            <a:extLst xmlns:a="http://schemas.openxmlformats.org/drawingml/2006/main">
              <a:ext uri="{FF2B5EF4-FFF2-40B4-BE49-F238E27FC236}">
                <a16:creationId xmlns:a16="http://schemas.microsoft.com/office/drawing/2014/main" id="{0BF63C44-E6B8-476A-9BBF-65102B21F588}"/>
              </a:ext>
            </a:extLst>
          </p:cNvPr>
          <p:cNvSpPr>
            <a:spLocks xmlns:a="http://schemas.openxmlformats.org/drawingml/2006/main" noGrp="1"/>
          </p:cNvSpPr>
          <p:nvPr/>
        </p:nvSpPr>
        <p:spPr>
          <a:xfrm xmlns:a="http://schemas.openxmlformats.org/drawingml/2006/main">
            <a:off x="6362700" y="51720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8" name="">
            <a:extLst xmlns:a="http://schemas.openxmlformats.org/drawingml/2006/main">
              <a:ext uri="{FF2B5EF4-FFF2-40B4-BE49-F238E27FC236}">
                <a16:creationId xmlns:a16="http://schemas.microsoft.com/office/drawing/2014/main" id="{1A9D223A-48E8-4511-989F-2E3E4E59331E}"/>
              </a:ext>
            </a:extLst>
          </p:cNvPr>
          <p:cNvSpPr>
            <a:spLocks xmlns:a="http://schemas.openxmlformats.org/drawingml/2006/main" noGrp="1"/>
          </p:cNvSpPr>
          <p:nvPr/>
        </p:nvSpPr>
        <p:spPr>
          <a:xfrm xmlns:a="http://schemas.openxmlformats.org/drawingml/2006/main">
            <a:off x="6819900" y="5162550"/>
            <a:ext cx="4295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2457F5"/>
                </a:solidFill>
                <a:latin typeface="Helvetica Neue"/>
                <a:ea typeface="Helvetica Neue"/>
                <a:cs typeface="Helvetica Neue"/>
              </a:defRPr>
            </a:pPr>
            <a:r>
              <a:rPr sz="1350" b="1">
                <a:solidFill>
                  <a:srgbClr val="2457F5"/>
                </a:solidFill>
                <a:latin typeface="Helvetica Neue"/>
                <a:ea typeface="Helvetica Neue"/>
                <a:cs typeface="Helvetica Neue"/>
              </a:rPr>
              <a:t>Vault balance</a:t>
            </a:r>
          </a:p>
        </p:txBody>
      </p:sp>
      <p:sp>
        <p:nvSpPr>
          <p:cNvPr id="29" name="">
            <a:extLst xmlns:a="http://schemas.openxmlformats.org/drawingml/2006/main">
              <a:ext uri="{FF2B5EF4-FFF2-40B4-BE49-F238E27FC236}">
                <a16:creationId xmlns:a16="http://schemas.microsoft.com/office/drawing/2014/main" id="{393C90ED-BB1A-4D28-A283-FC6B9B65927C}"/>
              </a:ext>
            </a:extLst>
          </p:cNvPr>
          <p:cNvSpPr>
            <a:spLocks xmlns:a="http://schemas.openxmlformats.org/drawingml/2006/main" noGrp="1"/>
          </p:cNvSpPr>
          <p:nvPr/>
        </p:nvSpPr>
        <p:spPr>
          <a:xfrm xmlns:a="http://schemas.openxmlformats.org/drawingml/2006/main">
            <a:off x="6362700" y="5438775"/>
            <a:ext cx="47529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CA0E74D-CCCC-4FD4-A1DD-5A5A8D287E06}"/>
              </a:ext>
            </a:extLst>
          </p:cNvPr>
          <p:cNvSpPr>
            <a:spLocks xmlns:a="http://schemas.openxmlformats.org/drawingml/2006/main" noGrp="1"/>
          </p:cNvSpPr>
          <p:nvPr/>
        </p:nvSpPr>
        <p:spPr>
          <a:xfrm xmlns:a="http://schemas.openxmlformats.org/drawingml/2006/main">
            <a:off x="6362700" y="55149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31" name="">
            <a:extLst xmlns:a="http://schemas.openxmlformats.org/drawingml/2006/main">
              <a:ext uri="{FF2B5EF4-FFF2-40B4-BE49-F238E27FC236}">
                <a16:creationId xmlns:a16="http://schemas.microsoft.com/office/drawing/2014/main" id="{F3113D1C-BF94-4D35-A925-41DDD20CA612}"/>
              </a:ext>
            </a:extLst>
          </p:cNvPr>
          <p:cNvSpPr>
            <a:spLocks xmlns:a="http://schemas.openxmlformats.org/drawingml/2006/main" noGrp="1"/>
          </p:cNvSpPr>
          <p:nvPr/>
        </p:nvSpPr>
        <p:spPr>
          <a:xfrm xmlns:a="http://schemas.openxmlformats.org/drawingml/2006/main">
            <a:off x="6819900" y="5505450"/>
            <a:ext cx="4295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Claims outstanding</a:t>
            </a:r>
          </a:p>
        </p:txBody>
      </p:sp>
      <p:sp>
        <p:nvSpPr>
          <p:cNvPr id="32" name="">
            <a:extLst xmlns:a="http://schemas.openxmlformats.org/drawingml/2006/main">
              <a:ext uri="{FF2B5EF4-FFF2-40B4-BE49-F238E27FC236}">
                <a16:creationId xmlns:a16="http://schemas.microsoft.com/office/drawing/2014/main" id="{0389894E-3887-467C-867C-A7B7D79124ED}"/>
              </a:ext>
            </a:extLst>
          </p:cNvPr>
          <p:cNvSpPr>
            <a:spLocks xmlns:a="http://schemas.openxmlformats.org/drawingml/2006/main" noGrp="1"/>
          </p:cNvSpPr>
          <p:nvPr/>
        </p:nvSpPr>
        <p:spPr>
          <a:xfrm xmlns:a="http://schemas.openxmlformats.org/drawingml/2006/main">
            <a:off x="6362700" y="5781675"/>
            <a:ext cx="47529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EC4A179-8094-4E02-B2FF-AEBFB702DB26}"/>
              </a:ext>
            </a:extLst>
          </p:cNvPr>
          <p:cNvSpPr>
            <a:spLocks xmlns:a="http://schemas.openxmlformats.org/drawingml/2006/main" noGrp="1"/>
          </p:cNvSpPr>
          <p:nvPr/>
        </p:nvSpPr>
        <p:spPr>
          <a:xfrm xmlns:a="http://schemas.openxmlformats.org/drawingml/2006/main">
            <a:off x="6362700" y="58578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34" name="">
            <a:extLst xmlns:a="http://schemas.openxmlformats.org/drawingml/2006/main">
              <a:ext uri="{FF2B5EF4-FFF2-40B4-BE49-F238E27FC236}">
                <a16:creationId xmlns:a16="http://schemas.microsoft.com/office/drawing/2014/main" id="{7797FDCD-1891-439A-B5AF-FA3710CCB05A}"/>
              </a:ext>
            </a:extLst>
          </p:cNvPr>
          <p:cNvSpPr>
            <a:spLocks xmlns:a="http://schemas.openxmlformats.org/drawingml/2006/main" noGrp="1"/>
          </p:cNvSpPr>
          <p:nvPr/>
        </p:nvSpPr>
        <p:spPr>
          <a:xfrm xmlns:a="http://schemas.openxmlformats.org/drawingml/2006/main">
            <a:off x="6819900" y="5848350"/>
            <a:ext cx="4295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Redemption history</a:t>
            </a:r>
          </a:p>
        </p:txBody>
      </p:sp>
    </p:spTree>
    <p:extLst>
      <p:ext uri="{BB962C8B-B14F-4D97-AF65-F5344CB8AC3E}">
        <p14:creationId xmlns:p14="http://schemas.microsoft.com/office/powerpoint/2010/main" val="4172507"/>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24316F1-30C2-4D6E-9A26-6D16FD365DA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6011BB9-2E4A-4B9E-8D74-6D3A5B3861D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381BCDE-F976-4E6D-840D-703F7E40259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8F83D706-54CC-4393-87E8-3CBFD3EDB5C9}"/>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89F85AEA-D71D-48AA-AE28-D3394C43BB33}"/>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b89be65ae2c47d6"/>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67FB6557-A54F-4334-9901-EC375ADB55F5}"/>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9B59F337-D90C-4653-9126-F75DB5E09E1F}"/>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2DC2B682-8A79-45B7-BF51-85B8F5D3394F}"/>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19280A65-9BA8-4822-B07C-2F18D6438B00}"/>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E1F10F63-AD24-4DFE-8B3D-1694D418FB39}"/>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1492E70B-FF16-4F25-B674-3CE6DF2B94F7}"/>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695378F9-4149-46CA-B32B-857B95866161}"/>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70145549-AED8-4D5F-892B-2BE8D75DCF1F}"/>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61AEA5D7-3A31-4F05-B1FE-B2C565A9F89C}"/>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EE6A07C-50F4-4489-82F3-7977F028DF8C}"/>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5131EE76-388E-4B53-B6A0-F67010CEEAC7}"/>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104DD67-E63E-4E0D-BDF2-52679372F3CC}"/>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1309839621"/>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FB0B81D-0CD7-4CB1-96AF-262271954F2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14ECC7-008B-44CF-B3AF-FF5713D8B5EF}"/>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EEE0491-9FCF-4439-9BA6-D10EF0B32D88}"/>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877357D4-EB5B-495F-97C5-3AABD87C259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F92883D0-CE83-43A5-A6CB-AAC5964820B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FE092845-2CFA-4975-AA11-0F4E7406F0B5}"/>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BED93447-823F-4938-8D5B-E5C889140532}"/>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AF285CCD-8A52-4349-AC4A-777E29CFB30D}"/>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D6D9BA76-F9E1-46C9-8157-4AE46E6F119B}"/>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027C7BC3-6DCF-479D-A1C6-35E5EA8D5B2E}"/>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F29D46E2-8EE2-4E4F-9694-83287314A297}"/>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CF05F617-7DEF-4AB4-B3D0-46A14ED9059F}"/>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C8ED80EE-59E0-4CB9-A94F-1560555303D8}"/>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3E602FA4-486E-4EA9-83FB-BA6471CF37CE}"/>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CBAD0E19-9D5D-490B-A1E3-BD0B6AF08BFA}"/>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9618945C-AF69-444E-BEC1-292E0BF61154}"/>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42BB15D-D007-4D46-ABD5-6309A4AACAE6}"/>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E9592CFB-9AE8-4AF1-B535-C55DFF6127B4}"/>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9BA689CE-8813-4B7E-A623-E8BCCD7ACEE2}"/>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D500E312-7490-45EC-B732-8CEC6B31D8EB}"/>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D2AB351-45A1-414E-973A-DCEC7D6B7B67}"/>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6BD6C968-7065-4E52-BBAC-6E4B46CCDB3E}"/>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Selected stocks</a:t>
            </a:r>
          </a:p>
        </p:txBody>
      </p:sp>
      <p:sp>
        <p:nvSpPr>
          <p:cNvPr id="26" name="">
            <a:extLst xmlns:a="http://schemas.openxmlformats.org/drawingml/2006/main">
              <a:ext uri="{FF2B5EF4-FFF2-40B4-BE49-F238E27FC236}">
                <a16:creationId xmlns:a16="http://schemas.microsoft.com/office/drawing/2014/main" id="{55411FCC-53CE-4C2C-AD7B-76A27E2B8FBE}"/>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Coca-Cola · Apple · Microsoft · Micron · Nike · IBM</a:t>
            </a:r>
          </a:p>
        </p:txBody>
      </p:sp>
      <p:sp>
        <p:nvSpPr>
          <p:cNvPr id="27" name="">
            <a:extLst xmlns:a="http://schemas.openxmlformats.org/drawingml/2006/main">
              <a:ext uri="{FF2B5EF4-FFF2-40B4-BE49-F238E27FC236}">
                <a16:creationId xmlns:a16="http://schemas.microsoft.com/office/drawing/2014/main" id="{2E9F4EBB-EF3C-4E2A-BCEC-0BCF21E7D3A1}"/>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926E370-BBD7-4113-802D-334DDA12F6E9}"/>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221161D0-6A0C-4424-8347-D54227AA1B4C}"/>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F50B0EB0-1A0E-4F84-9F0C-9C50E988F8B7}"/>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8C46E6EF-D0FF-43BD-9E19-A6F59C9D0C4C}"/>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362091703"/>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2026-09-16T09:22:21.9630000Z</dcterms:created>
  <dcterms:modified xsi:type="dcterms:W3CDTF">2026-09-16T09:22:21.9630000Z</dcterms:modified>
</coreProperties>
</file>