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153f748ff44e8" /><Relationship Type="http://schemas.openxmlformats.org/officeDocument/2006/relationships/extended-properties" Target="/docProps/app.xml" Id="R2e740f3bbd0f49db" /><Relationship Type="http://schemas.openxmlformats.org/officeDocument/2006/relationships/officeDocument" Target="/ppt/presentation.xml" Id="Rb088d12b74134734" /></Relationships>
</file>

<file path=ppt/presentation.xml><?xml version="1.0" encoding="utf-8"?>
<p:presentation xmlns:p="http://schemas.openxmlformats.org/presentationml/2006/main">
  <p:sldMasterIdLst>
    <p:sldMasterId xmlns:r="http://schemas.openxmlformats.org/officeDocument/2006/relationships" id="2147483648" r:id="R16c16c5bf854431c"/>
  </p:sldMasterIdLst>
  <p:notesMasterIdLst>
    <p:notesMasterId xmlns:r="http://schemas.openxmlformats.org/officeDocument/2006/relationships" r:id="R415ce840781446bb"/>
  </p:notesMasterIdLst>
  <p:sldIdLst>
    <p:sldId xmlns:r="http://schemas.openxmlformats.org/officeDocument/2006/relationships" id="256" r:id="Rf109863f0c2e43b7"/>
    <p:sldId xmlns:r="http://schemas.openxmlformats.org/officeDocument/2006/relationships" id="257" r:id="R61f7ce6c8bef44b5"/>
    <p:sldId xmlns:r="http://schemas.openxmlformats.org/officeDocument/2006/relationships" id="258" r:id="Rc4c130bdcf884acf"/>
    <p:sldId xmlns:r="http://schemas.openxmlformats.org/officeDocument/2006/relationships" id="259" r:id="R41c9690be1524023"/>
    <p:sldId xmlns:r="http://schemas.openxmlformats.org/officeDocument/2006/relationships" id="260" r:id="R4cd164aaa2724d13"/>
    <p:sldId xmlns:r="http://schemas.openxmlformats.org/officeDocument/2006/relationships" id="261" r:id="Rd2174bfe5aee4d48"/>
    <p:sldId xmlns:r="http://schemas.openxmlformats.org/officeDocument/2006/relationships" id="262" r:id="R4b71f598dee64b26"/>
    <p:sldId xmlns:r="http://schemas.openxmlformats.org/officeDocument/2006/relationships" id="263" r:id="R8c5c98dc847448d1"/>
    <p:sldId xmlns:r="http://schemas.openxmlformats.org/officeDocument/2006/relationships" id="264" r:id="R3492e828923e4b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9aa5ec4e914394" /><Relationship Type="http://schemas.openxmlformats.org/officeDocument/2006/relationships/slideMaster" Target="/ppt/slideMasters/slideMaster1.xml" Id="R16c16c5bf854431c" /><Relationship Type="http://schemas.openxmlformats.org/officeDocument/2006/relationships/notesMaster" Target="/ppt/notesMasters/notesMaster1.xml" Id="R415ce840781446bb" /><Relationship Type="http://schemas.openxmlformats.org/officeDocument/2006/relationships/presProps" Target="/ppt/presProps.xml" Id="R6a71bca46d6c48af" /><Relationship Type="http://schemas.openxmlformats.org/officeDocument/2006/relationships/tableStyles" Target="/ppt/tableStyles.xml" Id="R530d283e9b1b4b01" /><Relationship Type="http://schemas.openxmlformats.org/officeDocument/2006/relationships/slide" Target="/ppt/slides/slide1.xml" Id="Rf109863f0c2e43b7" /><Relationship Type="http://schemas.openxmlformats.org/officeDocument/2006/relationships/slide" Target="/ppt/slides/slide2.xml" Id="R61f7ce6c8bef44b5" /><Relationship Type="http://schemas.openxmlformats.org/officeDocument/2006/relationships/slide" Target="/ppt/slides/slide3.xml" Id="Rc4c130bdcf884acf" /><Relationship Type="http://schemas.openxmlformats.org/officeDocument/2006/relationships/slide" Target="/ppt/slides/slide4.xml" Id="R41c9690be1524023" /><Relationship Type="http://schemas.openxmlformats.org/officeDocument/2006/relationships/slide" Target="/ppt/slides/slide5.xml" Id="R4cd164aaa2724d13" /><Relationship Type="http://schemas.openxmlformats.org/officeDocument/2006/relationships/slide" Target="/ppt/slides/slide6.xml" Id="Rd2174bfe5aee4d48" /><Relationship Type="http://schemas.openxmlformats.org/officeDocument/2006/relationships/slide" Target="/ppt/slides/slide7.xml" Id="R4b71f598dee64b26" /><Relationship Type="http://schemas.openxmlformats.org/officeDocument/2006/relationships/slide" Target="/ppt/slides/slide8.xml" Id="R8c5c98dc847448d1" /><Relationship Type="http://schemas.openxmlformats.org/officeDocument/2006/relationships/slide" Target="/ppt/slides/slide9.xml" Id="R3492e828923e4b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36a0c5791d43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864d1e351842cd" /><Relationship Type="http://schemas.openxmlformats.org/officeDocument/2006/relationships/notesMaster" Target="/ppt/notesMasters/notesMaster1.xml" Id="R0c4bfd13466d45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1813399ebc41a3" /><Relationship Type="http://schemas.openxmlformats.org/officeDocument/2006/relationships/notesMaster" Target="/ppt/notesMasters/notesMaster1.xml" Id="Rfb483d97338146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e984660a944c8a" /><Relationship Type="http://schemas.openxmlformats.org/officeDocument/2006/relationships/notesMaster" Target="/ppt/notesMasters/notesMaster1.xml" Id="R361f736e7b9746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001e6084c54ebe" /><Relationship Type="http://schemas.openxmlformats.org/officeDocument/2006/relationships/notesMaster" Target="/ppt/notesMasters/notesMaster1.xml" Id="Rc6df5954303742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7c88df529a4077" /><Relationship Type="http://schemas.openxmlformats.org/officeDocument/2006/relationships/notesMaster" Target="/ppt/notesMasters/notesMaster1.xml" Id="Rf47b15045bec47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0656c9c6694f73" /><Relationship Type="http://schemas.openxmlformats.org/officeDocument/2006/relationships/notesMaster" Target="/ppt/notesMasters/notesMaster1.xml" Id="R61282dc4f8e246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5f25618702455f" /><Relationship Type="http://schemas.openxmlformats.org/officeDocument/2006/relationships/notesMaster" Target="/ppt/notesMasters/notesMaster1.xml" Id="Rba83a780c58d47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9605d5ae274258" /><Relationship Type="http://schemas.openxmlformats.org/officeDocument/2006/relationships/notesMaster" Target="/ppt/notesMasters/notesMaster1.xml" Id="R92db0ba117b647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f8459f0bf84af6" /><Relationship Type="http://schemas.openxmlformats.org/officeDocument/2006/relationships/notesMaster" Target="/ppt/notesMasters/notesMaster1.xml" Id="R105048f6af954d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DividendX brings that established market to people who hold tokenized stocks.</a:t>
            </a:r>
          </a:p>
          <a:p xmlns:a="http://schemas.openxmlformats.org/drawingml/2006/main">
            <a:r>
              <a:t>Presenter notes: The institutions shown are participants in traditional dividend markets, not DividendX users. Bank direction varies by book and tenor; hedge funds can buy or sell. Traditional dividend futures and swaps are generally cash-settled. DividendX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DividendX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DividendX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PT and DR may be used by compatible Solana applications subject to each eligible series' rules. Backing stays in the series vault while either claim moves or connects to an app. The illustration shows conceptual compatibility, not deployed integrations. Onchain auditability covers held collateral and program records. It does not independently prove issuer reserves, correct issuer data, correct program code, or audit certification.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Approved local illustration and provenance: design/illustrations/assets/stock-and-dividend-composability-v1.png; design/illustrations/assets/manifest.json; design/illustrations/prompts/stock-and-dividend-composability-v1.md |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DividendX,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c84b3dc93f49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da501538c43dd" /><Relationship Type="http://schemas.openxmlformats.org/officeDocument/2006/relationships/slideLayout" Target="/ppt/slideLayouts/slideLayout1.xml" Id="R4de479db347347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e479db347347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1280924aae49a1" /><Relationship Type="http://schemas.openxmlformats.org/officeDocument/2006/relationships/notesSlide" Target="/ppt/notesSlides/notesSlide1.xml" Id="Rda9fd3f9f8784b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e937e9cd124580" /><Relationship Type="http://schemas.openxmlformats.org/officeDocument/2006/relationships/notesSlide" Target="/ppt/notesSlides/notesSlide2.xml" Id="R61241e560fac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b26a31bffd4fb2" /><Relationship Type="http://schemas.openxmlformats.org/officeDocument/2006/relationships/image" Target="/ppt/media/image.png" Id="Rdb78f2b1af084c41" /><Relationship Type="http://schemas.openxmlformats.org/officeDocument/2006/relationships/notesSlide" Target="/ppt/notesSlides/notesSlide3.xml" Id="R626fb1d9c8a34e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c21c8990d54dd8" /><Relationship Type="http://schemas.openxmlformats.org/officeDocument/2006/relationships/notesSlide" Target="/ppt/notesSlides/notesSlide4.xml" Id="Rf2478605713c49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8ef7cddd4b4305" /><Relationship Type="http://schemas.openxmlformats.org/officeDocument/2006/relationships/notesSlide" Target="/ppt/notesSlides/notesSlide5.xml" Id="Radf92d94cc414f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215fa42c1a4ae2" /><Relationship Type="http://schemas.openxmlformats.org/officeDocument/2006/relationships/notesSlide" Target="/ppt/notesSlides/notesSlide6.xml" Id="R2817c3bbd5ca40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fb5255a854445f" /><Relationship Type="http://schemas.openxmlformats.org/officeDocument/2006/relationships/image" Target="/ppt/media/image2.png" Id="R3c2681a51f114cb0" /><Relationship Type="http://schemas.openxmlformats.org/officeDocument/2006/relationships/notesSlide" Target="/ppt/notesSlides/notesSlide7.xml" Id="Rd96c9f62fca34b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b2de3b00144bca" /><Relationship Type="http://schemas.openxmlformats.org/officeDocument/2006/relationships/image" Target="/ppt/media/image3.png" Id="Rfb89be65ae2c47d6" /><Relationship Type="http://schemas.openxmlformats.org/officeDocument/2006/relationships/notesSlide" Target="/ppt/notesSlides/notesSlide8.xml" Id="Rbcd105383bc440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12a8011e1c4f31" /><Relationship Type="http://schemas.openxmlformats.org/officeDocument/2006/relationships/notesSlide" Target="/ppt/notesSlides/notesSlide9.xml" Id="R476fefdbf86e41dd"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2DF551-A02A-4561-8579-665183E86A11}"/>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192EFC-389F-4B67-AE74-E2B46C709D91}"/>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A35AE5-C0DC-4320-BD11-8AD33CE0CE12}"/>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F5EDBE9A-0199-4483-9EA7-F549AF0CE5E7}"/>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EA712B9A-353D-4C3F-8AD6-AF77AD172613}"/>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7C586234-8579-4600-8CD0-4751EC74491D}"/>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CA3D994C-1BB5-4B34-A1A8-EC811A7AEEC2}"/>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5F4E25-E283-460D-8A0D-32B84FDF0288}"/>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449259970"/>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BC0E6E7-D928-47AB-8626-82A39C98802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F58A40-851B-43D2-AC29-C6D75F69A43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328BA9-889C-4D62-AB21-4E83A012CAF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CE0D8458-B6AA-497C-A645-5155E683570B}"/>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9B63F7C6-40CD-4735-9F58-74CE5AC2874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E6C1E365-8C8B-4C13-B6AC-9180D3EFD9A4}"/>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B0A70A73-A0B9-4FEE-98BD-76B6A190E2FD}"/>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CD841FF0-8102-417A-923A-E851D26E59D5}"/>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A29CA88C-4558-44AC-8942-A6CA25FF2AD0}"/>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B9AD822E-EB6F-48B5-BBF5-7BC8BF8205C4}"/>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75D2EADE-57A6-4C35-88EC-916C1B6F22B3}"/>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AB8E2282-768B-4881-ACD9-B64E5B641FC8}"/>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A2759CC0-98F1-4C46-A339-06F4C48460B5}"/>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10BAA8-FFC4-4E19-8CF7-2FD5E807BA2E}"/>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A7C5CB95-39F0-4616-91FB-19B29E6A48A1}"/>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6048FD6B-454A-4D53-B4C6-0D3029BF9FDC}"/>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F1174D00-2EEE-4538-A9FB-6D583503E354}"/>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51ED09DA-75A7-42B6-90B6-01CDBD532DED}"/>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10BEDF5C-5F61-4374-B084-A43A2BC04271}"/>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ECC2920E-B0BE-436C-8D35-F5FEBDB9203A}"/>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0ED5730E-706C-4E64-A301-5FA5DF7B1F82}"/>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4993F060-BF6D-4852-904E-8D81B45CB766}"/>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58B2B59C-F6E2-4527-B6EE-B2259471394C}"/>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77903C2-137C-488B-9807-92F28F42E877}"/>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3A0689C5-6A75-41D7-A2C8-61B905ED3987}"/>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1616823988"/>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48FEDF5-2ADB-4B14-9FE8-466D6BF6C4F2}"/>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6B7B23-0ADC-4E92-8915-F26D3003CC0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2359C1-F5F1-4FFC-82DF-637577FE321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4B259C92-A39E-468B-A215-E048D725C63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30D2394A-D915-4AEC-9157-132299D2870B}"/>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b78f2b1af084c41"/>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8327C71F-E258-4D0F-A524-44A7C3271AFB}"/>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EC1F3AE-4DA3-4BB6-AA46-60AEB07AFA9B}"/>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0BBFAB3F-35AE-4635-AFB8-E9CAEC532B63}"/>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2BC8DEFA-418B-482A-A4BB-8C886E8DCBB2}"/>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11151B40-471C-4958-AF70-58506C4A9A3D}"/>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AF6AFEAF-1BDC-4C8A-93E8-9AA8966827BE}"/>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D7812A64-62D4-45BD-BF19-87D9BB9B8824}"/>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645D1501-2CA5-41A7-8C6F-DCD2A9CE239E}"/>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952908D4-FBFE-4955-BB4C-7EC718429F83}"/>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1CCEB491-7FB4-4E3C-BC13-2393A21E4AF2}"/>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7EBFE11C-0A13-46A2-AF01-F2433D3BF7CD}"/>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21046A9E-5A05-4AD7-A5D7-2A05BC18F6BB}"/>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D11A821F-635E-4CF1-B3F2-803085908C94}"/>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03F840D3-9BB1-464E-8A2E-7EF91BC2EE54}"/>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9E59B91B-6137-4EB3-BDBC-E67062010DAD}"/>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45D6A6D9-E795-48A0-88BA-0BDBBBF777E8}"/>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968420485"/>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7E91CC-DDF5-457D-BD85-5E873851DE1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DBC5A2-FA31-4687-8146-519CD840F11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F17C71-3162-4578-89E7-6FAA552D98B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55E10521-DA54-4A64-A1C8-485DF01C13A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EA38CF45-2D2F-4A62-9BC8-C592BF4889A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E6301EB7-C73F-4A23-80CD-0FF93513FA5A}"/>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2919CDF7-82C6-4D88-AB1E-9B2133CD816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23605584-50E2-4AD6-A87B-3FBF1911F48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D39C44D8-CB27-4A3A-8E7A-14A1E1BA7F52}"/>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CF94B10-B7FE-4743-B7E2-9A0DF7215390}"/>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2B232A86-F43D-45EC-9280-B0B3D6183A18}"/>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456F27C3-7144-49BF-8CE5-09D9E3F13B9C}"/>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568DEB44-8E35-422B-B379-03CD17AB11CE}"/>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A0B5FA0E-CDE7-44C8-9D01-6B7BA4836418}"/>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529622156"/>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DBA493-54E1-4B51-A197-BAE9BF9176A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A99A58-05C2-47A1-AD55-1A55B0220916}"/>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96742E-86BA-4689-BB91-2F5DA903D4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E09BD3EE-2927-479E-B6BC-06EEA034DC7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4C9700FF-293E-43A3-A069-88281D14EEC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945CD6DD-45F0-4478-A5FD-49B8A49568CF}"/>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78EFB708-3776-4CC2-BDC0-C572101A38F2}"/>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22A76936-ECF0-428A-A8CE-E0279C96BDF2}"/>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ECB0B8A1-6692-4310-B6A8-85588F4D0FA0}"/>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B7AF6DB-A185-458E-8CA9-4E5EA7FBBBC1}"/>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F5E2AC6C-D187-42E8-A26A-D5BC37C5A44E}"/>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A9DCE2DD-A9FB-444E-BE33-01BD10A35D3B}"/>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AA824D16-D8FD-4FB7-AE03-AB1AC31C0DA6}"/>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F1336B-A8B3-489B-8E69-4BEE5FAF8D59}"/>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08D0631F-E650-4E1D-867F-583CAAEEC485}"/>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6F7D3A6B-D96A-4519-B300-B5EEBED22D4F}"/>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C5760244-4ED2-4AB4-96D8-BB56E1595ACE}"/>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561655054"/>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9A72C2-AC34-4106-B428-10A37B70949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A39A72-80B5-4EF4-B89E-30F4F3624BF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139D57-3336-4D86-AD62-A2F79DF667F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DC65B171-C8F0-4D0A-899D-5F40B5696F8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D3414C3C-3637-4F61-8FA3-B083380D522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8B8E8625-945E-4031-855F-D5176BA9CAD6}"/>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FA445A3-7C99-4824-A3C6-0EF34039A970}"/>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C10C3640-0BCE-4E70-B0CF-EB73457F033E}"/>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F80B6031-62FD-4DA6-B2C1-B0F7647E01D5}"/>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BE7052-24BF-42DA-9236-C8F937F41175}"/>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3A00D74-EFBA-4EC1-B001-145C23256377}"/>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A988D058-A193-4A90-AC74-8415A1114C5C}"/>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2F434BB5-34AD-460D-98A3-625E429338B1}"/>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FE17D9-22AC-463A-AAE6-EF9C32CD0BCC}"/>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C842DC99-51DC-425E-88DA-96D2B950BFF5}"/>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7035D7CC-AE6F-4C94-90B2-F186FB1B1FC5}"/>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A59C6358-B457-4982-AF51-DCF1BF2F4536}"/>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7E7F11-34CA-4EB5-92E7-9C64CB8F0FC4}"/>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1291778275"/>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B46BD92-88E8-4E13-90F0-6B1E40D3FF10}"/>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66E2F4-1462-4AB6-88A9-63DCFAAE14E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B25BEA-EF9C-4F19-BDA2-C9776B3E4F8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939E1BD2-A6B9-422B-BEF7-CFD9F673502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Both sides are composable</a:t>
            </a:r>
          </a:p>
        </p:txBody>
      </p:sp>
      <p:sp>
        <p:nvSpPr>
          <p:cNvPr id="5" name="">
            <a:extLst xmlns:a="http://schemas.openxmlformats.org/drawingml/2006/main">
              <a:ext uri="{FF2B5EF4-FFF2-40B4-BE49-F238E27FC236}">
                <a16:creationId xmlns:a16="http://schemas.microsoft.com/office/drawing/2014/main" id="{32FD860B-4E32-4F66-90E5-C420BD7F414C}"/>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c2681a51f114cb0"/>
          <a:stretch xmlns:a="http://schemas.openxmlformats.org/drawingml/2006/main"/>
        </p:blipFill>
        <p:spPr>
          <a:xfrm xmlns:a="http://schemas.openxmlformats.org/drawingml/2006/main">
            <a:off x="419100" y="1647825"/>
            <a:ext cx="5219700" cy="3914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9269CFD-8867-4833-A2A3-68A50B76640B}"/>
              </a:ext>
            </a:extLst>
          </p:cNvPr>
          <p:cNvSpPr>
            <a:spLocks xmlns:a="http://schemas.openxmlformats.org/drawingml/2006/main" noGrp="1"/>
          </p:cNvSpPr>
          <p:nvPr/>
        </p:nvSpPr>
        <p:spPr>
          <a:xfrm xmlns:a="http://schemas.openxmlformats.org/drawingml/2006/main">
            <a:off x="7239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2457F5"/>
                </a:solidFill>
                <a:latin typeface="Helvetica Neue"/>
                <a:ea typeface="Helvetica Neue"/>
                <a:cs typeface="Helvetica Neue"/>
              </a:defRPr>
            </a:pPr>
            <a:r>
              <a:rPr sz="1275" b="1">
                <a:solidFill>
                  <a:srgbClr val="2457F5"/>
                </a:solidFill>
                <a:latin typeface="Helvetica Neue"/>
                <a:ea typeface="Helvetica Neue"/>
                <a:cs typeface="Helvetica Neue"/>
              </a:rPr>
              <a:t>Stock exposure (PT)</a:t>
            </a:r>
          </a:p>
        </p:txBody>
      </p:sp>
      <p:sp>
        <p:nvSpPr>
          <p:cNvPr id="8" name="">
            <a:extLst xmlns:a="http://schemas.openxmlformats.org/drawingml/2006/main">
              <a:ext uri="{FF2B5EF4-FFF2-40B4-BE49-F238E27FC236}">
                <a16:creationId xmlns:a16="http://schemas.microsoft.com/office/drawing/2014/main" id="{C72C0FC8-DF48-48EF-B32E-830A7D90C6C2}"/>
              </a:ext>
            </a:extLst>
          </p:cNvPr>
          <p:cNvSpPr>
            <a:spLocks xmlns:a="http://schemas.openxmlformats.org/drawingml/2006/main" noGrp="1"/>
          </p:cNvSpPr>
          <p:nvPr/>
        </p:nvSpPr>
        <p:spPr>
          <a:xfrm xmlns:a="http://schemas.openxmlformats.org/drawingml/2006/main">
            <a:off x="3314700" y="56388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1275" b="1">
                <a:solidFill>
                  <a:srgbClr val="C46A00"/>
                </a:solidFill>
                <a:latin typeface="Helvetica Neue"/>
                <a:ea typeface="Helvetica Neue"/>
                <a:cs typeface="Helvetica Neue"/>
              </a:defRPr>
            </a:pPr>
            <a:r>
              <a:rPr sz="1275" b="1">
                <a:solidFill>
                  <a:srgbClr val="C46A00"/>
                </a:solidFill>
                <a:latin typeface="Helvetica Neue"/>
                <a:ea typeface="Helvetica Neue"/>
                <a:cs typeface="Helvetica Neue"/>
              </a:rPr>
              <a:t>Dividend rights (DR)</a:t>
            </a:r>
          </a:p>
        </p:txBody>
      </p:sp>
      <p:sp>
        <p:nvSpPr>
          <p:cNvPr id="9" name="">
            <a:extLst xmlns:a="http://schemas.openxmlformats.org/drawingml/2006/main">
              <a:ext uri="{FF2B5EF4-FFF2-40B4-BE49-F238E27FC236}">
                <a16:creationId xmlns:a16="http://schemas.microsoft.com/office/drawing/2014/main" id="{030469FD-FE74-4A2C-AAFA-445264575914}"/>
              </a:ext>
            </a:extLst>
          </p:cNvPr>
          <p:cNvSpPr>
            <a:spLocks xmlns:a="http://schemas.openxmlformats.org/drawingml/2006/main" noGrp="1"/>
          </p:cNvSpPr>
          <p:nvPr/>
        </p:nvSpPr>
        <p:spPr>
          <a:xfrm xmlns:a="http://schemas.openxmlformats.org/drawingml/2006/main">
            <a:off x="723900" y="5981700"/>
            <a:ext cx="4781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Both claims may connect to compatible Solana apps.</a:t>
            </a:r>
          </a:p>
        </p:txBody>
      </p:sp>
      <p:sp>
        <p:nvSpPr>
          <p:cNvPr id="10" name="">
            <a:extLst xmlns:a="http://schemas.openxmlformats.org/drawingml/2006/main">
              <a:ext uri="{FF2B5EF4-FFF2-40B4-BE49-F238E27FC236}">
                <a16:creationId xmlns:a16="http://schemas.microsoft.com/office/drawing/2014/main" id="{A6F6A665-6A5C-4E32-9F8D-0A17F1E341A6}"/>
              </a:ext>
            </a:extLst>
          </p:cNvPr>
          <p:cNvSpPr>
            <a:spLocks xmlns:a="http://schemas.openxmlformats.org/drawingml/2006/main" noGrp="1"/>
          </p:cNvSpPr>
          <p:nvPr/>
        </p:nvSpPr>
        <p:spPr>
          <a:xfrm xmlns:a="http://schemas.openxmlformats.org/drawingml/2006/main">
            <a:off x="5943600" y="1714500"/>
            <a:ext cx="9525" cy="44958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426DF2E-F63B-4C69-8046-1038AA348351}"/>
              </a:ext>
            </a:extLst>
          </p:cNvPr>
          <p:cNvSpPr>
            <a:spLocks xmlns:a="http://schemas.openxmlformats.org/drawingml/2006/main" noGrp="1"/>
          </p:cNvSpPr>
          <p:nvPr/>
        </p:nvSpPr>
        <p:spPr>
          <a:xfrm xmlns:a="http://schemas.openxmlformats.org/drawingml/2006/main">
            <a:off x="6362700" y="177165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FRACTIONAL OWNERSHIP</a:t>
            </a:r>
          </a:p>
        </p:txBody>
      </p:sp>
      <p:sp>
        <p:nvSpPr>
          <p:cNvPr id="12" name="">
            <a:extLst xmlns:a="http://schemas.openxmlformats.org/drawingml/2006/main">
              <a:ext uri="{FF2B5EF4-FFF2-40B4-BE49-F238E27FC236}">
                <a16:creationId xmlns:a16="http://schemas.microsoft.com/office/drawing/2014/main" id="{C1BD1F85-41C1-4535-82F9-ED37A13150AF}"/>
              </a:ext>
            </a:extLst>
          </p:cNvPr>
          <p:cNvSpPr>
            <a:spLocks xmlns:a="http://schemas.openxmlformats.org/drawingml/2006/main" noGrp="1"/>
          </p:cNvSpPr>
          <p:nvPr/>
        </p:nvSpPr>
        <p:spPr>
          <a:xfrm xmlns:a="http://schemas.openxmlformats.org/drawingml/2006/main">
            <a:off x="6362700" y="20669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Buy or sell part of either claim.</a:t>
            </a:r>
          </a:p>
        </p:txBody>
      </p:sp>
      <p:sp>
        <p:nvSpPr>
          <p:cNvPr id="13" name="">
            <a:extLst xmlns:a="http://schemas.openxmlformats.org/drawingml/2006/main">
              <a:ext uri="{FF2B5EF4-FFF2-40B4-BE49-F238E27FC236}">
                <a16:creationId xmlns:a16="http://schemas.microsoft.com/office/drawing/2014/main" id="{7F24328A-10D1-43F6-BBEB-398E7ACDAE7F}"/>
              </a:ext>
            </a:extLst>
          </p:cNvPr>
          <p:cNvSpPr>
            <a:spLocks xmlns:a="http://schemas.openxmlformats.org/drawingml/2006/main" noGrp="1"/>
          </p:cNvSpPr>
          <p:nvPr/>
        </p:nvSpPr>
        <p:spPr>
          <a:xfrm xmlns:a="http://schemas.openxmlformats.org/drawingml/2006/main">
            <a:off x="6362700" y="29337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2457F5"/>
                </a:solidFill>
                <a:latin typeface="Helvetica Neue"/>
                <a:ea typeface="Helvetica Neue"/>
                <a:cs typeface="Helvetica Neue"/>
              </a:defRPr>
            </a:pPr>
            <a:r>
              <a:rPr sz="1200" b="1">
                <a:solidFill>
                  <a:srgbClr val="2457F5"/>
                </a:solidFill>
                <a:latin typeface="Helvetica Neue"/>
                <a:ea typeface="Helvetica Neue"/>
                <a:cs typeface="Helvetica Neue"/>
              </a:rPr>
              <a:t>Stock exposure (PT)</a:t>
            </a:r>
          </a:p>
        </p:txBody>
      </p:sp>
      <p:sp>
        <p:nvSpPr>
          <p:cNvPr id="14" name="PT fraction held">
            <a:extLst xmlns:a="http://schemas.openxmlformats.org/drawingml/2006/main">
              <a:ext uri="{FF2B5EF4-FFF2-40B4-BE49-F238E27FC236}">
                <a16:creationId xmlns:a16="http://schemas.microsoft.com/office/drawing/2014/main" id="{7C80F72E-8F7E-441C-B44C-4F95281FDA84}"/>
              </a:ext>
            </a:extLst>
          </p:cNvPr>
          <p:cNvSpPr>
            <a:spLocks xmlns:a="http://schemas.openxmlformats.org/drawingml/2006/main" noGrp="1"/>
          </p:cNvSpPr>
          <p:nvPr/>
        </p:nvSpPr>
        <p:spPr>
          <a:xfrm xmlns:a="http://schemas.openxmlformats.org/drawingml/2006/main">
            <a:off x="8420100" y="2905125"/>
            <a:ext cx="1657350" cy="295275"/>
          </a:xfrm>
          <a:prstGeom xmlns:a="http://schemas.openxmlformats.org/drawingml/2006/main" prst="roundRect">
            <a:avLst>
              <a:gd name="adj" fmla="val 22581"/>
            </a:avLst>
          </a:prstGeom>
          <a:solidFill xmlns:a="http://schemas.openxmlformats.org/drawingml/2006/main">
            <a:srgbClr val="EAF0FF"/>
          </a:solidFill>
          <a:ln xmlns:a="http://schemas.openxmlformats.org/drawingml/2006/main" w="9525">
            <a:solidFill>
              <a:srgbClr val="2457F5"/>
            </a:solidFill>
            <a:prstDash val="solid"/>
          </a:ln>
        </p:spPr>
      </p:sp>
      <p:sp>
        <p:nvSpPr>
          <p:cNvPr id="15" name="PT fraction transferred">
            <a:extLst xmlns:a="http://schemas.openxmlformats.org/drawingml/2006/main">
              <a:ext uri="{FF2B5EF4-FFF2-40B4-BE49-F238E27FC236}">
                <a16:creationId xmlns:a16="http://schemas.microsoft.com/office/drawing/2014/main" id="{28F97CC6-05D1-455F-81E6-E28E900F8FE7}"/>
              </a:ext>
            </a:extLst>
          </p:cNvPr>
          <p:cNvSpPr>
            <a:spLocks xmlns:a="http://schemas.openxmlformats.org/drawingml/2006/main" noGrp="1"/>
          </p:cNvSpPr>
          <p:nvPr/>
        </p:nvSpPr>
        <p:spPr>
          <a:xfrm xmlns:a="http://schemas.openxmlformats.org/drawingml/2006/main">
            <a:off x="10106025" y="2905125"/>
            <a:ext cx="10096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2457F5"/>
            </a:solidFill>
            <a:prstDash val="solid"/>
          </a:ln>
        </p:spPr>
      </p:sp>
      <p:sp>
        <p:nvSpPr>
          <p:cNvPr id="16" name="">
            <a:extLst xmlns:a="http://schemas.openxmlformats.org/drawingml/2006/main">
              <a:ext uri="{FF2B5EF4-FFF2-40B4-BE49-F238E27FC236}">
                <a16:creationId xmlns:a16="http://schemas.microsoft.com/office/drawing/2014/main" id="{B50523B9-0C6F-4BCC-915F-E23CA0702401}"/>
              </a:ext>
            </a:extLst>
          </p:cNvPr>
          <p:cNvSpPr>
            <a:spLocks xmlns:a="http://schemas.openxmlformats.org/drawingml/2006/main" noGrp="1"/>
          </p:cNvSpPr>
          <p:nvPr/>
        </p:nvSpPr>
        <p:spPr>
          <a:xfrm xmlns:a="http://schemas.openxmlformats.org/drawingml/2006/main">
            <a:off x="8553450" y="29718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held</a:t>
            </a:r>
          </a:p>
        </p:txBody>
      </p:sp>
      <p:sp>
        <p:nvSpPr>
          <p:cNvPr id="17" name="">
            <a:extLst xmlns:a="http://schemas.openxmlformats.org/drawingml/2006/main">
              <a:ext uri="{FF2B5EF4-FFF2-40B4-BE49-F238E27FC236}">
                <a16:creationId xmlns:a16="http://schemas.microsoft.com/office/drawing/2014/main" id="{D540BCB5-C67B-4808-9EF9-BCAE10334EB6}"/>
              </a:ext>
            </a:extLst>
          </p:cNvPr>
          <p:cNvSpPr>
            <a:spLocks xmlns:a="http://schemas.openxmlformats.org/drawingml/2006/main" noGrp="1"/>
          </p:cNvSpPr>
          <p:nvPr/>
        </p:nvSpPr>
        <p:spPr>
          <a:xfrm xmlns:a="http://schemas.openxmlformats.org/drawingml/2006/main">
            <a:off x="10229850" y="29718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part</a:t>
            </a:r>
          </a:p>
        </p:txBody>
      </p:sp>
      <p:sp>
        <p:nvSpPr>
          <p:cNvPr id="18" name="">
            <a:extLst xmlns:a="http://schemas.openxmlformats.org/drawingml/2006/main">
              <a:ext uri="{FF2B5EF4-FFF2-40B4-BE49-F238E27FC236}">
                <a16:creationId xmlns:a16="http://schemas.microsoft.com/office/drawing/2014/main" id="{52112F87-E778-49A1-9C84-25FECA653B18}"/>
              </a:ext>
            </a:extLst>
          </p:cNvPr>
          <p:cNvSpPr>
            <a:spLocks xmlns:a="http://schemas.openxmlformats.org/drawingml/2006/main" noGrp="1"/>
          </p:cNvSpPr>
          <p:nvPr/>
        </p:nvSpPr>
        <p:spPr>
          <a:xfrm xmlns:a="http://schemas.openxmlformats.org/drawingml/2006/main">
            <a:off x="6362700" y="34194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C46A00"/>
                </a:solidFill>
                <a:latin typeface="Helvetica Neue"/>
                <a:ea typeface="Helvetica Neue"/>
                <a:cs typeface="Helvetica Neue"/>
              </a:defRPr>
            </a:pPr>
            <a:r>
              <a:rPr sz="1200" b="1">
                <a:solidFill>
                  <a:srgbClr val="C46A00"/>
                </a:solidFill>
                <a:latin typeface="Helvetica Neue"/>
                <a:ea typeface="Helvetica Neue"/>
                <a:cs typeface="Helvetica Neue"/>
              </a:rPr>
              <a:t>Dividend rights (DR)</a:t>
            </a:r>
          </a:p>
        </p:txBody>
      </p:sp>
      <p:sp>
        <p:nvSpPr>
          <p:cNvPr id="19" name="DR fraction held">
            <a:extLst xmlns:a="http://schemas.openxmlformats.org/drawingml/2006/main">
              <a:ext uri="{FF2B5EF4-FFF2-40B4-BE49-F238E27FC236}">
                <a16:creationId xmlns:a16="http://schemas.microsoft.com/office/drawing/2014/main" id="{E3515A7A-D170-4028-B78D-531FD063441E}"/>
              </a:ext>
            </a:extLst>
          </p:cNvPr>
          <p:cNvSpPr>
            <a:spLocks xmlns:a="http://schemas.openxmlformats.org/drawingml/2006/main" noGrp="1"/>
          </p:cNvSpPr>
          <p:nvPr/>
        </p:nvSpPr>
        <p:spPr>
          <a:xfrm xmlns:a="http://schemas.openxmlformats.org/drawingml/2006/main">
            <a:off x="8420100" y="3390900"/>
            <a:ext cx="1047750" cy="295275"/>
          </a:xfrm>
          <a:prstGeom xmlns:a="http://schemas.openxmlformats.org/drawingml/2006/main" prst="roundRect">
            <a:avLst>
              <a:gd name="adj" fmla="val 22581"/>
            </a:avLst>
          </a:prstGeom>
          <a:solidFill xmlns:a="http://schemas.openxmlformats.org/drawingml/2006/main">
            <a:srgbClr val="FFFEFB"/>
          </a:solidFill>
          <a:ln xmlns:a="http://schemas.openxmlformats.org/drawingml/2006/main" w="9525">
            <a:solidFill>
              <a:srgbClr val="C46A00"/>
            </a:solidFill>
            <a:prstDash val="solid"/>
          </a:ln>
        </p:spPr>
      </p:sp>
      <p:sp>
        <p:nvSpPr>
          <p:cNvPr id="20" name="DR fraction transferred">
            <a:extLst xmlns:a="http://schemas.openxmlformats.org/drawingml/2006/main">
              <a:ext uri="{FF2B5EF4-FFF2-40B4-BE49-F238E27FC236}">
                <a16:creationId xmlns:a16="http://schemas.microsoft.com/office/drawing/2014/main" id="{DEB6F63E-31E1-4B3D-B438-49C43DE8F7E5}"/>
              </a:ext>
            </a:extLst>
          </p:cNvPr>
          <p:cNvSpPr>
            <a:spLocks xmlns:a="http://schemas.openxmlformats.org/drawingml/2006/main" noGrp="1"/>
          </p:cNvSpPr>
          <p:nvPr/>
        </p:nvSpPr>
        <p:spPr>
          <a:xfrm xmlns:a="http://schemas.openxmlformats.org/drawingml/2006/main">
            <a:off x="9496425" y="3390900"/>
            <a:ext cx="1619250" cy="295275"/>
          </a:xfrm>
          <a:prstGeom xmlns:a="http://schemas.openxmlformats.org/drawingml/2006/main" prst="roundRect">
            <a:avLst>
              <a:gd name="adj" fmla="val 22581"/>
            </a:avLst>
          </a:prstGeom>
          <a:solidFill xmlns:a="http://schemas.openxmlformats.org/drawingml/2006/main">
            <a:srgbClr val="F8E8D4"/>
          </a:solidFill>
          <a:ln xmlns:a="http://schemas.openxmlformats.org/drawingml/2006/main" w="9525">
            <a:solidFill>
              <a:srgbClr val="C46A00"/>
            </a:solidFill>
            <a:prstDash val="solid"/>
          </a:ln>
        </p:spPr>
      </p:sp>
      <p:sp>
        <p:nvSpPr>
          <p:cNvPr id="21" name="">
            <a:extLst xmlns:a="http://schemas.openxmlformats.org/drawingml/2006/main">
              <a:ext uri="{FF2B5EF4-FFF2-40B4-BE49-F238E27FC236}">
                <a16:creationId xmlns:a16="http://schemas.microsoft.com/office/drawing/2014/main" id="{54BD1C79-0BA8-434A-A5CA-317653C7CBFD}"/>
              </a:ext>
            </a:extLst>
          </p:cNvPr>
          <p:cNvSpPr>
            <a:spLocks xmlns:a="http://schemas.openxmlformats.org/drawingml/2006/main" noGrp="1"/>
          </p:cNvSpPr>
          <p:nvPr/>
        </p:nvSpPr>
        <p:spPr>
          <a:xfrm xmlns:a="http://schemas.openxmlformats.org/drawingml/2006/main">
            <a:off x="8543925" y="3457575"/>
            <a:ext cx="800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held</a:t>
            </a:r>
          </a:p>
        </p:txBody>
      </p:sp>
      <p:sp>
        <p:nvSpPr>
          <p:cNvPr id="22" name="">
            <a:extLst xmlns:a="http://schemas.openxmlformats.org/drawingml/2006/main">
              <a:ext uri="{FF2B5EF4-FFF2-40B4-BE49-F238E27FC236}">
                <a16:creationId xmlns:a16="http://schemas.microsoft.com/office/drawing/2014/main" id="{D9FABB9E-99FE-46FD-99E1-5CC6C16E3341}"/>
              </a:ext>
            </a:extLst>
          </p:cNvPr>
          <p:cNvSpPr>
            <a:spLocks xmlns:a="http://schemas.openxmlformats.org/drawingml/2006/main" noGrp="1"/>
          </p:cNvSpPr>
          <p:nvPr/>
        </p:nvSpPr>
        <p:spPr>
          <a:xfrm xmlns:a="http://schemas.openxmlformats.org/drawingml/2006/main">
            <a:off x="9629775" y="3457575"/>
            <a:ext cx="1352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part</a:t>
            </a:r>
          </a:p>
        </p:txBody>
      </p:sp>
      <p:sp>
        <p:nvSpPr>
          <p:cNvPr id="23" name="">
            <a:extLst xmlns:a="http://schemas.openxmlformats.org/drawingml/2006/main">
              <a:ext uri="{FF2B5EF4-FFF2-40B4-BE49-F238E27FC236}">
                <a16:creationId xmlns:a16="http://schemas.microsoft.com/office/drawing/2014/main" id="{CAF4293E-4E97-4DFF-9C71-ED6D79981292}"/>
              </a:ext>
            </a:extLst>
          </p:cNvPr>
          <p:cNvSpPr>
            <a:spLocks xmlns:a="http://schemas.openxmlformats.org/drawingml/2006/main" noGrp="1"/>
          </p:cNvSpPr>
          <p:nvPr/>
        </p:nvSpPr>
        <p:spPr>
          <a:xfrm xmlns:a="http://schemas.openxmlformats.org/drawingml/2006/main">
            <a:off x="6362700" y="3819525"/>
            <a:ext cx="47529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0">
                <a:solidFill>
                  <a:srgbClr val="53606B"/>
                </a:solidFill>
                <a:latin typeface="Helvetica Neue"/>
                <a:ea typeface="Helvetica Neue"/>
                <a:cs typeface="Helvetica Neue"/>
              </a:defRPr>
            </a:pPr>
            <a:r>
              <a:rPr sz="975" b="0">
                <a:solidFill>
                  <a:srgbClr val="53606B"/>
                </a:solidFill>
                <a:latin typeface="Helvetica Neue"/>
                <a:ea typeface="Helvetica Neue"/>
                <a:cs typeface="Helvetica Neue"/>
              </a:rPr>
              <a:t>Illustrative fractions, not allocation values.</a:t>
            </a:r>
          </a:p>
        </p:txBody>
      </p:sp>
      <p:sp>
        <p:nvSpPr>
          <p:cNvPr id="24" name="">
            <a:extLst xmlns:a="http://schemas.openxmlformats.org/drawingml/2006/main">
              <a:ext uri="{FF2B5EF4-FFF2-40B4-BE49-F238E27FC236}">
                <a16:creationId xmlns:a16="http://schemas.microsoft.com/office/drawing/2014/main" id="{2754A83C-8DB6-47CC-AA01-C98AF043DEF7}"/>
              </a:ext>
            </a:extLst>
          </p:cNvPr>
          <p:cNvSpPr>
            <a:spLocks xmlns:a="http://schemas.openxmlformats.org/drawingml/2006/main" noGrp="1"/>
          </p:cNvSpPr>
          <p:nvPr/>
        </p:nvSpPr>
        <p:spPr>
          <a:xfrm xmlns:a="http://schemas.openxmlformats.org/drawingml/2006/main">
            <a:off x="6362700" y="4210050"/>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27936FC-67D4-4751-BF8F-23E7B4C83515}"/>
              </a:ext>
            </a:extLst>
          </p:cNvPr>
          <p:cNvSpPr>
            <a:spLocks xmlns:a="http://schemas.openxmlformats.org/drawingml/2006/main" noGrp="1"/>
          </p:cNvSpPr>
          <p:nvPr/>
        </p:nvSpPr>
        <p:spPr>
          <a:xfrm xmlns:a="http://schemas.openxmlformats.org/drawingml/2006/main">
            <a:off x="6362700" y="4410075"/>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26" name="">
            <a:extLst xmlns:a="http://schemas.openxmlformats.org/drawingml/2006/main">
              <a:ext uri="{FF2B5EF4-FFF2-40B4-BE49-F238E27FC236}">
                <a16:creationId xmlns:a16="http://schemas.microsoft.com/office/drawing/2014/main" id="{3BFF7E45-4801-459B-AD11-D28307D088BB}"/>
              </a:ext>
            </a:extLst>
          </p:cNvPr>
          <p:cNvSpPr>
            <a:spLocks xmlns:a="http://schemas.openxmlformats.org/drawingml/2006/main" noGrp="1"/>
          </p:cNvSpPr>
          <p:nvPr/>
        </p:nvSpPr>
        <p:spPr>
          <a:xfrm xmlns:a="http://schemas.openxmlformats.org/drawingml/2006/main">
            <a:off x="6362700" y="46863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Inspect the onchain record.</a:t>
            </a:r>
          </a:p>
        </p:txBody>
      </p:sp>
      <p:sp>
        <p:nvSpPr>
          <p:cNvPr id="27" name="">
            <a:extLst xmlns:a="http://schemas.openxmlformats.org/drawingml/2006/main">
              <a:ext uri="{FF2B5EF4-FFF2-40B4-BE49-F238E27FC236}">
                <a16:creationId xmlns:a16="http://schemas.microsoft.com/office/drawing/2014/main" id="{0BF63C44-E6B8-476A-9BBF-65102B21F588}"/>
              </a:ext>
            </a:extLst>
          </p:cNvPr>
          <p:cNvSpPr>
            <a:spLocks xmlns:a="http://schemas.openxmlformats.org/drawingml/2006/main" noGrp="1"/>
          </p:cNvSpPr>
          <p:nvPr/>
        </p:nvSpPr>
        <p:spPr>
          <a:xfrm xmlns:a="http://schemas.openxmlformats.org/drawingml/2006/main">
            <a:off x="6362700" y="51720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8" name="">
            <a:extLst xmlns:a="http://schemas.openxmlformats.org/drawingml/2006/main">
              <a:ext uri="{FF2B5EF4-FFF2-40B4-BE49-F238E27FC236}">
                <a16:creationId xmlns:a16="http://schemas.microsoft.com/office/drawing/2014/main" id="{1A9D223A-48E8-4511-989F-2E3E4E59331E}"/>
              </a:ext>
            </a:extLst>
          </p:cNvPr>
          <p:cNvSpPr>
            <a:spLocks xmlns:a="http://schemas.openxmlformats.org/drawingml/2006/main" noGrp="1"/>
          </p:cNvSpPr>
          <p:nvPr/>
        </p:nvSpPr>
        <p:spPr>
          <a:xfrm xmlns:a="http://schemas.openxmlformats.org/drawingml/2006/main">
            <a:off x="6819900" y="51625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2457F5"/>
                </a:solidFill>
                <a:latin typeface="Helvetica Neue"/>
                <a:ea typeface="Helvetica Neue"/>
                <a:cs typeface="Helvetica Neue"/>
              </a:defRPr>
            </a:pPr>
            <a:r>
              <a:rPr sz="1350" b="1">
                <a:solidFill>
                  <a:srgbClr val="2457F5"/>
                </a:solidFill>
                <a:latin typeface="Helvetica Neue"/>
                <a:ea typeface="Helvetica Neue"/>
                <a:cs typeface="Helvetica Neue"/>
              </a:rPr>
              <a:t>Vault balance</a:t>
            </a:r>
          </a:p>
        </p:txBody>
      </p:sp>
      <p:sp>
        <p:nvSpPr>
          <p:cNvPr id="29" name="">
            <a:extLst xmlns:a="http://schemas.openxmlformats.org/drawingml/2006/main">
              <a:ext uri="{FF2B5EF4-FFF2-40B4-BE49-F238E27FC236}">
                <a16:creationId xmlns:a16="http://schemas.microsoft.com/office/drawing/2014/main" id="{393C90ED-BB1A-4D28-A283-FC6B9B65927C}"/>
              </a:ext>
            </a:extLst>
          </p:cNvPr>
          <p:cNvSpPr>
            <a:spLocks xmlns:a="http://schemas.openxmlformats.org/drawingml/2006/main" noGrp="1"/>
          </p:cNvSpPr>
          <p:nvPr/>
        </p:nvSpPr>
        <p:spPr>
          <a:xfrm xmlns:a="http://schemas.openxmlformats.org/drawingml/2006/main">
            <a:off x="6362700" y="54387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CA0E74D-CCCC-4FD4-A1DD-5A5A8D287E06}"/>
              </a:ext>
            </a:extLst>
          </p:cNvPr>
          <p:cNvSpPr>
            <a:spLocks xmlns:a="http://schemas.openxmlformats.org/drawingml/2006/main" noGrp="1"/>
          </p:cNvSpPr>
          <p:nvPr/>
        </p:nvSpPr>
        <p:spPr>
          <a:xfrm xmlns:a="http://schemas.openxmlformats.org/drawingml/2006/main">
            <a:off x="6362700" y="55149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31" name="">
            <a:extLst xmlns:a="http://schemas.openxmlformats.org/drawingml/2006/main">
              <a:ext uri="{FF2B5EF4-FFF2-40B4-BE49-F238E27FC236}">
                <a16:creationId xmlns:a16="http://schemas.microsoft.com/office/drawing/2014/main" id="{F3113D1C-BF94-4D35-A925-41DDD20CA612}"/>
              </a:ext>
            </a:extLst>
          </p:cNvPr>
          <p:cNvSpPr>
            <a:spLocks xmlns:a="http://schemas.openxmlformats.org/drawingml/2006/main" noGrp="1"/>
          </p:cNvSpPr>
          <p:nvPr/>
        </p:nvSpPr>
        <p:spPr>
          <a:xfrm xmlns:a="http://schemas.openxmlformats.org/drawingml/2006/main">
            <a:off x="6819900" y="55054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Claims outstanding</a:t>
            </a:r>
          </a:p>
        </p:txBody>
      </p:sp>
      <p:sp>
        <p:nvSpPr>
          <p:cNvPr id="32" name="">
            <a:extLst xmlns:a="http://schemas.openxmlformats.org/drawingml/2006/main">
              <a:ext uri="{FF2B5EF4-FFF2-40B4-BE49-F238E27FC236}">
                <a16:creationId xmlns:a16="http://schemas.microsoft.com/office/drawing/2014/main" id="{0389894E-3887-467C-867C-A7B7D79124ED}"/>
              </a:ext>
            </a:extLst>
          </p:cNvPr>
          <p:cNvSpPr>
            <a:spLocks xmlns:a="http://schemas.openxmlformats.org/drawingml/2006/main" noGrp="1"/>
          </p:cNvSpPr>
          <p:nvPr/>
        </p:nvSpPr>
        <p:spPr>
          <a:xfrm xmlns:a="http://schemas.openxmlformats.org/drawingml/2006/main">
            <a:off x="6362700" y="5781675"/>
            <a:ext cx="47529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EC4A179-8094-4E02-B2FF-AEBFB702DB26}"/>
              </a:ext>
            </a:extLst>
          </p:cNvPr>
          <p:cNvSpPr>
            <a:spLocks xmlns:a="http://schemas.openxmlformats.org/drawingml/2006/main" noGrp="1"/>
          </p:cNvSpPr>
          <p:nvPr/>
        </p:nvSpPr>
        <p:spPr>
          <a:xfrm xmlns:a="http://schemas.openxmlformats.org/drawingml/2006/main">
            <a:off x="6362700" y="5857875"/>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34" name="">
            <a:extLst xmlns:a="http://schemas.openxmlformats.org/drawingml/2006/main">
              <a:ext uri="{FF2B5EF4-FFF2-40B4-BE49-F238E27FC236}">
                <a16:creationId xmlns:a16="http://schemas.microsoft.com/office/drawing/2014/main" id="{7797FDCD-1891-439A-B5AF-FA3710CCB05A}"/>
              </a:ext>
            </a:extLst>
          </p:cNvPr>
          <p:cNvSpPr>
            <a:spLocks xmlns:a="http://schemas.openxmlformats.org/drawingml/2006/main" noGrp="1"/>
          </p:cNvSpPr>
          <p:nvPr/>
        </p:nvSpPr>
        <p:spPr>
          <a:xfrm xmlns:a="http://schemas.openxmlformats.org/drawingml/2006/main">
            <a:off x="6819900" y="5848350"/>
            <a:ext cx="4295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Redemption history</a:t>
            </a:r>
          </a:p>
        </p:txBody>
      </p:sp>
    </p:spTree>
    <p:extLst>
      <p:ext uri="{BB962C8B-B14F-4D97-AF65-F5344CB8AC3E}">
        <p14:creationId xmlns:p14="http://schemas.microsoft.com/office/powerpoint/2010/main" val="4172507"/>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24316F1-30C2-4D6E-9A26-6D16FD365DA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011BB9-2E4A-4B9E-8D74-6D3A5B3861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81BCDE-F976-4E6D-840D-703F7E40259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F83D706-54CC-4393-87E8-3CBFD3EDB5C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89F85AEA-D71D-48AA-AE28-D3394C43BB3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b89be65ae2c47d6"/>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67FB6557-A54F-4334-9901-EC375ADB55F5}"/>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9B59F337-D90C-4653-9126-F75DB5E09E1F}"/>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2DC2B682-8A79-45B7-BF51-85B8F5D3394F}"/>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19280A65-9BA8-4822-B07C-2F18D6438B00}"/>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E1F10F63-AD24-4DFE-8B3D-1694D418FB39}"/>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1492E70B-FF16-4F25-B674-3CE6DF2B94F7}"/>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695378F9-4149-46CA-B32B-857B95866161}"/>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70145549-AED8-4D5F-892B-2BE8D75DCF1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61AEA5D7-3A31-4F05-B1FE-B2C565A9F89C}"/>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EE6A07C-50F4-4489-82F3-7977F028DF8C}"/>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5131EE76-388E-4B53-B6A0-F67010CEEAC7}"/>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104DD67-E63E-4E0D-BDF2-52679372F3CC}"/>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130983962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FB0B81D-0CD7-4CB1-96AF-262271954F2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14ECC7-008B-44CF-B3AF-FF5713D8B5E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EE0491-9FCF-4439-9BA6-D10EF0B32D8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DividendX</a:t>
            </a:r>
          </a:p>
        </p:txBody>
      </p:sp>
      <p:sp>
        <p:nvSpPr>
          <p:cNvPr id="4" name="">
            <a:extLst xmlns:a="http://schemas.openxmlformats.org/drawingml/2006/main">
              <a:ext uri="{FF2B5EF4-FFF2-40B4-BE49-F238E27FC236}">
                <a16:creationId xmlns:a16="http://schemas.microsoft.com/office/drawing/2014/main" id="{877357D4-EB5B-495F-97C5-3AABD87C259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F92883D0-CE83-43A5-A6CB-AAC5964820B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FE092845-2CFA-4975-AA11-0F4E7406F0B5}"/>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BED93447-823F-4938-8D5B-E5C889140532}"/>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F285CCD-8A52-4349-AC4A-777E29CFB30D}"/>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6D9BA76-F9E1-46C9-8157-4AE46E6F119B}"/>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027C7BC3-6DCF-479D-A1C6-35E5EA8D5B2E}"/>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F29D46E2-8EE2-4E4F-9694-83287314A297}"/>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CF05F617-7DEF-4AB4-B3D0-46A14ED9059F}"/>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C8ED80EE-59E0-4CB9-A94F-1560555303D8}"/>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3E602FA4-486E-4EA9-83FB-BA6471CF37CE}"/>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CBAD0E19-9D5D-490B-A1E3-BD0B6AF08BFA}"/>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9618945C-AF69-444E-BEC1-292E0BF61154}"/>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2BB15D-D007-4D46-ABD5-6309A4AACAE6}"/>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E9592CFB-9AE8-4AF1-B535-C55DFF6127B4}"/>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9BA689CE-8813-4B7E-A623-E8BCCD7ACEE2}"/>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D500E312-7490-45EC-B732-8CEC6B31D8EB}"/>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D2AB351-45A1-414E-973A-DCEC7D6B7B67}"/>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6BD6C968-7065-4E52-BBAC-6E4B46CCDB3E}"/>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55411FCC-53CE-4C2C-AD7B-76A27E2B8FBE}"/>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2E9F4EBB-EF3C-4E2A-BCEC-0BCF21E7D3A1}"/>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26E370-BBD7-4113-802D-334DDA12F6E9}"/>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221161D0-6A0C-4424-8347-D54227AA1B4C}"/>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F50B0EB0-1A0E-4F84-9F0C-9C50E988F8B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8C46E6EF-D0FF-43BD-9E19-A6F59C9D0C4C}"/>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362091703"/>
      </p:ext>
    </p:extLst>
  </p:cSld>
</p:sld>
</file>

<file path=ppt/theme/theme1.xml><?xml version="1.0" encoding="utf-8"?>
<a:theme xmlns:a="http://schemas.openxmlformats.org/drawingml/2006/main" name="ChatGPT">
  <a:themeElements>
    <a:clrScheme name="Dividend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idend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2026-09-16T09:22:21.9630000Z</dcterms:created>
  <dcterms:modified xsi:type="dcterms:W3CDTF">2026-09-16T09:22:21.9630000Z</dcterms:modified>
</coreProperties>
</file>