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f4358604f947d7" /><Relationship Type="http://schemas.openxmlformats.org/officeDocument/2006/relationships/extended-properties" Target="/docProps/app.xml" Id="Rc5f3f5c5b5fe4158" /><Relationship Type="http://schemas.openxmlformats.org/officeDocument/2006/relationships/officeDocument" Target="/ppt/presentation.xml" Id="R83667df8abd64da2" /></Relationships>
</file>

<file path=ppt/presentation.xml><?xml version="1.0" encoding="utf-8"?>
<p:presentation xmlns:p="http://schemas.openxmlformats.org/presentationml/2006/main">
  <p:sldMasterIdLst>
    <p:sldMasterId xmlns:r="http://schemas.openxmlformats.org/officeDocument/2006/relationships" id="2147483648" r:id="R264d4678cbea49b4"/>
  </p:sldMasterIdLst>
  <p:notesMasterIdLst>
    <p:notesMasterId xmlns:r="http://schemas.openxmlformats.org/officeDocument/2006/relationships" r:id="R770caba60e414869"/>
  </p:notesMasterIdLst>
  <p:sldIdLst>
    <p:sldId xmlns:r="http://schemas.openxmlformats.org/officeDocument/2006/relationships" id="256" r:id="Rdc1fda8c1a77443c"/>
    <p:sldId xmlns:r="http://schemas.openxmlformats.org/officeDocument/2006/relationships" id="257" r:id="R58172248dfbe45dd"/>
    <p:sldId xmlns:r="http://schemas.openxmlformats.org/officeDocument/2006/relationships" id="258" r:id="Rfd04b4934a4641d9"/>
    <p:sldId xmlns:r="http://schemas.openxmlformats.org/officeDocument/2006/relationships" id="259" r:id="Rd5ef452416fe465e"/>
    <p:sldId xmlns:r="http://schemas.openxmlformats.org/officeDocument/2006/relationships" id="260" r:id="R44c0a31ef9774f7d"/>
    <p:sldId xmlns:r="http://schemas.openxmlformats.org/officeDocument/2006/relationships" id="261" r:id="R144ee0690aa84c8e"/>
    <p:sldId xmlns:r="http://schemas.openxmlformats.org/officeDocument/2006/relationships" id="262" r:id="Rddc2221b712b4052"/>
    <p:sldId xmlns:r="http://schemas.openxmlformats.org/officeDocument/2006/relationships" id="263" r:id="Rfd8225effc8e4b78"/>
    <p:sldId xmlns:r="http://schemas.openxmlformats.org/officeDocument/2006/relationships" id="264" r:id="R38be72e59bff47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9ba79cb7c4df6" /><Relationship Type="http://schemas.openxmlformats.org/officeDocument/2006/relationships/slideMaster" Target="/ppt/slideMasters/slideMaster1.xml" Id="R264d4678cbea49b4" /><Relationship Type="http://schemas.openxmlformats.org/officeDocument/2006/relationships/notesMaster" Target="/ppt/notesMasters/notesMaster1.xml" Id="R770caba60e414869" /><Relationship Type="http://schemas.openxmlformats.org/officeDocument/2006/relationships/presProps" Target="/ppt/presProps.xml" Id="R0549ad8c4d4c4a3d" /><Relationship Type="http://schemas.openxmlformats.org/officeDocument/2006/relationships/tableStyles" Target="/ppt/tableStyles.xml" Id="R044575aa8c534c19" /><Relationship Type="http://schemas.openxmlformats.org/officeDocument/2006/relationships/slide" Target="/ppt/slides/slide1.xml" Id="Rdc1fda8c1a77443c" /><Relationship Type="http://schemas.openxmlformats.org/officeDocument/2006/relationships/slide" Target="/ppt/slides/slide2.xml" Id="R58172248dfbe45dd" /><Relationship Type="http://schemas.openxmlformats.org/officeDocument/2006/relationships/slide" Target="/ppt/slides/slide3.xml" Id="Rfd04b4934a4641d9" /><Relationship Type="http://schemas.openxmlformats.org/officeDocument/2006/relationships/slide" Target="/ppt/slides/slide4.xml" Id="Rd5ef452416fe465e" /><Relationship Type="http://schemas.openxmlformats.org/officeDocument/2006/relationships/slide" Target="/ppt/slides/slide5.xml" Id="R44c0a31ef9774f7d" /><Relationship Type="http://schemas.openxmlformats.org/officeDocument/2006/relationships/slide" Target="/ppt/slides/slide6.xml" Id="R144ee0690aa84c8e" /><Relationship Type="http://schemas.openxmlformats.org/officeDocument/2006/relationships/slide" Target="/ppt/slides/slide7.xml" Id="Rddc2221b712b4052" /><Relationship Type="http://schemas.openxmlformats.org/officeDocument/2006/relationships/slide" Target="/ppt/slides/slide8.xml" Id="Rfd8225effc8e4b78" /><Relationship Type="http://schemas.openxmlformats.org/officeDocument/2006/relationships/slide" Target="/ppt/slides/slide9.xml" Id="R38be72e59bff47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7a339d8e0d41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7af529915438c" /><Relationship Type="http://schemas.openxmlformats.org/officeDocument/2006/relationships/notesMaster" Target="/ppt/notesMasters/notesMaster1.xml" Id="R1d6bc13710b245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cff9ec7f7441e" /><Relationship Type="http://schemas.openxmlformats.org/officeDocument/2006/relationships/notesMaster" Target="/ppt/notesMasters/notesMaster1.xml" Id="R02e2e89b9c0242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7716edef16408c" /><Relationship Type="http://schemas.openxmlformats.org/officeDocument/2006/relationships/notesMaster" Target="/ppt/notesMasters/notesMaster1.xml" Id="Rbd1344bfcce5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993c44e68a4951" /><Relationship Type="http://schemas.openxmlformats.org/officeDocument/2006/relationships/notesMaster" Target="/ppt/notesMasters/notesMaster1.xml" Id="Rf1ccd0adef4044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0c04625eac404a" /><Relationship Type="http://schemas.openxmlformats.org/officeDocument/2006/relationships/notesMaster" Target="/ppt/notesMasters/notesMaster1.xml" Id="R119a1b228ed440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b23b2e437a4e2f" /><Relationship Type="http://schemas.openxmlformats.org/officeDocument/2006/relationships/notesMaster" Target="/ppt/notesMasters/notesMaster1.xml" Id="Rc243e80558c049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7ca3a10ef4662" /><Relationship Type="http://schemas.openxmlformats.org/officeDocument/2006/relationships/notesMaster" Target="/ppt/notesMasters/notesMaster1.xml" Id="Rb1c424e7424447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fbba3cde2b4239" /><Relationship Type="http://schemas.openxmlformats.org/officeDocument/2006/relationships/notesMaster" Target="/ppt/notesMasters/notesMaster1.xml" Id="R591279a1a6304b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a46fb166584966" /><Relationship Type="http://schemas.openxmlformats.org/officeDocument/2006/relationships/notesMaster" Target="/ppt/notesMasters/notesMaster1.xml" Id="Ref449f4d61d9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 holder could sell a dividend claim for cash while retaining stock exposure. A buyer could take the other side for the next verified dividend allocation.</a:t>
            </a:r>
          </a:p>
          <a:p xmlns:a="http://schemas.openxmlformats.org/drawingml/2006/main">
            <a:r>
              <a:t>Presenter notes: These are hypothetical personas. Proceeds require a willing buyer and an agreed market price. DR settles in reinvested xStock units, so its dollar value still moves with the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proposed program issues two paired claims: PT for the stock exposure and DR for this event’s dividend-derived share.</a:t>
            </a:r>
          </a:p>
          <a:p xmlns:a="http://schemas.openxmlformats.org/drawingml/2006/main">
            <a:r>
              <a:t>Presenter notes: The diagram is schematic. Deposit must precede the supported event. Claim receipt units differ from raw redemption allocations. Both claims reconcile to one locked xStock balance.</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trading already has precedent. Eurex handled more than 21 million dividend contracts in 2024, while Pendle reported 96.4 million dollars of average daily trading volume for onchain yield markets.</a:t>
            </a:r>
          </a:p>
          <a:p xmlns:a="http://schemas.openxmlformats.org/drawingml/2006/main">
            <a:r>
              <a:t>Presenter notes: Contracts and dollars are different measures. Neither figure proves demand for DividendX.</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wider category is large, but our starting point stays narrow: dividend-paying xStocks on Solana. Global dividends totaled 1.75 trillion dollars in 2024, and RWA.xyz displayed 2.92 billion dollars of distributed tokenized-stock value on September 16.</a:t>
            </a:r>
          </a:p>
          <a:p xmlns:a="http://schemas.openxmlformats.org/drawingml/2006/main">
            <a:r>
              <a:t>Presenter notes: The RWA.xyz total includes stocks, ETFs, native instruments, and synthetic representations. Eligible DividendX collateral is only a subset. These figures cannot be added into a market-size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gives the proposed vault a shared state for collateral, paired issuance, ownership, and redemption. That can replace manual reconciliation between the two claims.</a:t>
            </a:r>
          </a:p>
          <a:p xmlns:a="http://schemas.openxmlformats.org/drawingml/2006/main">
            <a:r>
              <a:t>Presenter notes: These are planned transaction flows, not completed program behavior. The current demonstration is the historical calculator. Solana does not remove issuer control, data trust, access restrictions, or the need for actual liquidity.</a:t>
            </a:r>
          </a:p>
          <a:p xmlns:a="http://schemas.openxmlformats.org/drawingml/2006/main">
            <a:r>
              <a:t>Sources (accessed/observed 16 September 2026 unless stated): Solana Token Extensions: https://solana.com/docs/tokens/extensions | Scaled UI Amount: https://solana.com/docs/tokens/extensions/scaled-ui-amount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Equity accounting is the core distinction. The KOx event is a verified cash dividend. The exact HONx reverse-split event is rejected, because a multiplier change alone cannot identify dividend yield.</a:t>
            </a:r>
          </a:p>
          <a:p xmlns:a="http://schemas.openxmlformats.org/drawingml/2006/main">
            <a:r>
              <a:t>Presenter notes: xStocks dividends and splits share Scaled UI Amount. Raw balances stay fixed. Issuer classification is a trusted attestation cross-checked against the multiplier. A later HONx spinoff on 29 June is a separate unsupported event. Pendle can normalize rebasing assets; DividendX contributes Solana vault accounting for equity events.</a:t>
            </a:r>
          </a:p>
          <a:p xmlns:a="http://schemas.openxmlformats.org/drawingml/2006/main">
            <a:r>
              <a:t>Sources (accessed/observed 16 September 2026 unless stated): xStocks multiplier guide: https://docs.xstocks.fi/developers/multipliers | KOx history: https://api.xstocks.fi/api/v2/public/corporate-actions/history?page=1&amp;pageSize=100&amp;symbol=KOx&amp;sortBy=createdTimeUtc&amp;sortOrder=asc | HONx history: https://api.xstocks.fi/api/v2/public/corporate-actions/history?page=1&amp;pageSize=100&amp;symbol=HONx&amp;sortBy=createdTimeUtc&amp;sortOrder=asc | Pendle SY docs: https://docs.pendle.finance/pendle-v2-dev/Contracts/StandardizedYield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working software already lets anyone inspect a real historical KOx dividend and calculate its allocation. For one hundred pre-event displayed KOx, it shows one hundred KOx of stock exposure plus 0.4152 KOx of dividend allocation.</a:t>
            </a:r>
          </a:p>
          <a:p xmlns:a="http://schemas.openxmlformats.org/drawingml/2006/main">
            <a:r>
              <a:t>Presenter notes: This is a historical scenario from a source snapshot, not a wallet position or proof that a vault captured the event. The xStocks issuer adjustment occurred 15 September 2026; Coca-Cola's cash payment date is 1 October. Exact input raw Q=9,819,982,084; PT=9,779,376,057; DR=40,606,027; decimals=8; M0=1.0183317967386898; M1=1.0225601246249238; event 75c0c70e-1ae4-4ccd-ace6-d8990e1e8f9e v2. Displayed results are rounded equivalents. No onchain claim issuance exists yet.</a:t>
            </a:r>
          </a:p>
          <a:p xmlns:a="http://schemas.openxmlformats.org/drawingml/2006/main">
            <a:r>
              <a:t>Sources (accessed/observed 16 September 2026 unless stated): KOx history: https://api.xstocks.fi/api/v2/public/corporate-actions/history?page=1&amp;pageSize=100&amp;symbol=KOx&amp;sortBy=createdTimeUtc&amp;sortOrder=asc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with test assets and the real historical event: deposit, split, sell the dividend claim, then redeem each side separately.</a:t>
            </a:r>
          </a:p>
          <a:p xmlns:a="http://schemas.openxmlformats.org/drawingml/2006/main">
            <a:r>
              <a:t>Presenter notes: This is the next build phase. After that, a genuinely future live series can validate the operational path before expansion to other stocks or issuers. Backpack is only a candidate pending corporate-action verification; no partnership or supported integration exists.</a:t>
            </a:r>
          </a:p>
          <a:p xmlns:a="http://schemas.openxmlformats.org/drawingml/2006/main">
            <a:r>
              <a:t>Sources (accessed/observed 16 September 2026 unless stated): Backpack corporate-actions explainer: https://learn.backpack.exchange/articles/what-are-corporate-actions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0abc7284a944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071fb5f9e64316" /><Relationship Type="http://schemas.openxmlformats.org/officeDocument/2006/relationships/slideLayout" Target="/ppt/slideLayouts/slideLayout1.xml" Id="R2e1690494a5645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690494a5645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d8d68aac814119" /><Relationship Type="http://schemas.openxmlformats.org/officeDocument/2006/relationships/notesSlide" Target="/ppt/notesSlides/notesSlide1.xml" Id="Rc792b2adc0c747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21c56d28144176" /><Relationship Type="http://schemas.openxmlformats.org/officeDocument/2006/relationships/notesSlide" Target="/ppt/notesSlides/notesSlide2.xml" Id="R77c7e75525ef45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75fa19585f4e09" /><Relationship Type="http://schemas.openxmlformats.org/officeDocument/2006/relationships/notesSlide" Target="/ppt/notesSlides/notesSlide3.xml" Id="Rccc69ec36f4b4e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c16536e73a40d7" /><Relationship Type="http://schemas.openxmlformats.org/officeDocument/2006/relationships/notesSlide" Target="/ppt/notesSlides/notesSlide4.xml" Id="R39fde536644e4c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3e3deca51543be" /><Relationship Type="http://schemas.openxmlformats.org/officeDocument/2006/relationships/notesSlide" Target="/ppt/notesSlides/notesSlide5.xml" Id="R6ed219fad2fa4e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7faa50c64b4355" /><Relationship Type="http://schemas.openxmlformats.org/officeDocument/2006/relationships/notesSlide" Target="/ppt/notesSlides/notesSlide6.xml" Id="Re51d637825fb4d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51b5edb53a425d" /><Relationship Type="http://schemas.openxmlformats.org/officeDocument/2006/relationships/notesSlide" Target="/ppt/notesSlides/notesSlide7.xml" Id="Rcb237878ebe74d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6d2f671fd84f15" /><Relationship Type="http://schemas.openxmlformats.org/officeDocument/2006/relationships/image" Target="/ppt/media/image.png" Id="Rac3646dff7eb470a" /><Relationship Type="http://schemas.openxmlformats.org/officeDocument/2006/relationships/notesSlide" Target="/ppt/notesSlides/notesSlide8.xml" Id="Re9dd91b21deb4a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e7cf2330004c1a" /><Relationship Type="http://schemas.openxmlformats.org/officeDocument/2006/relationships/notesSlide" Target="/ppt/notesSlides/notesSlide9.xml" Id="Rf82cc87fac8d40b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BAC168-6D07-4BD0-9E25-E9CD6A342DEB}"/>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E85EBC-315A-4549-B4AE-C5814008A9B0}"/>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9B5F72-69C6-4E75-9654-272796D7F4A1}"/>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13738F2-500A-4C53-8C6A-3A0FB6E64E4C}"/>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1BF12207-4F67-4A7B-AF0C-ACEAE17AC0F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2457F5"/>
                </a:solidFill>
                <a:latin typeface="Helvetica Neue"/>
                <a:ea typeface="Helvetica Neue"/>
                <a:cs typeface="Helvetica Neue"/>
              </a:rPr>
              <a:t>Keep the stock exposure.</a:t>
            </a:r>
            <a:r>
              <a:rPr b="1">
                <a:solidFill>
                  <a:srgbClr val="E39535"/>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FCC99325-F08F-4877-BAA4-735FEF699CA5}"/>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7C87F1F5-DF1F-4742-B7FF-E9BCDCD0636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07A8C7-375E-4CBD-9A9A-06B5B525D547}"/>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21310692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E2F677B-D62F-48F5-8E41-779AF6C33C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0F083F-A186-41CD-BE78-AAD8C755AB8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9C3CED-531E-4845-AD36-DDD6091AF7C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7507F563-5087-4DEF-A4F9-4440C81EFB9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DECE9888-1A38-48D0-A2DF-4EEF456E416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66159EE-D613-4EE7-886B-B4D9F213582C}"/>
              </a:ext>
            </a:extLst>
          </p:cNvPr>
          <p:cNvSpPr>
            <a:spLocks xmlns:a="http://schemas.openxmlformats.org/drawingml/2006/main" noGrp="1"/>
          </p:cNvSpPr>
          <p:nvPr/>
        </p:nvSpPr>
        <p:spPr>
          <a:xfrm xmlns:a="http://schemas.openxmlformats.org/drawingml/2006/main">
            <a:off x="819150"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HOLDER</a:t>
            </a:r>
          </a:p>
        </p:txBody>
      </p:sp>
      <p:sp>
        <p:nvSpPr>
          <p:cNvPr id="7" name="">
            <a:extLst xmlns:a="http://schemas.openxmlformats.org/drawingml/2006/main">
              <a:ext uri="{FF2B5EF4-FFF2-40B4-BE49-F238E27FC236}">
                <a16:creationId xmlns:a16="http://schemas.microsoft.com/office/drawing/2014/main" id="{5FFBC165-D9E1-421B-8C9E-CAD42A1693DF}"/>
              </a:ext>
            </a:extLst>
          </p:cNvPr>
          <p:cNvSpPr>
            <a:spLocks xmlns:a="http://schemas.openxmlformats.org/drawingml/2006/main" noGrp="1"/>
          </p:cNvSpPr>
          <p:nvPr/>
        </p:nvSpPr>
        <p:spPr>
          <a:xfrm xmlns:a="http://schemas.openxmlformats.org/drawingml/2006/main">
            <a:off x="819150" y="220980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cash today</a:t>
            </a:r>
            <a:r>
              <a:rPr>
                <a:solidFill>
                  <a:srgbClr val="53606B"/>
                </a:solidFill>
                <a:latin typeface="Helvetica Neue"/>
                <a:ea typeface="Helvetica Neue"/>
                <a:cs typeface="Helvetica Neue"/>
              </a:rPr>
              <a:t>
while keeping my stock exposure.”</a:t>
            </a:r>
          </a:p>
        </p:txBody>
      </p:sp>
      <p:sp>
        <p:nvSpPr>
          <p:cNvPr id="8" name="">
            <a:extLst xmlns:a="http://schemas.openxmlformats.org/drawingml/2006/main">
              <a:ext uri="{FF2B5EF4-FFF2-40B4-BE49-F238E27FC236}">
                <a16:creationId xmlns:a16="http://schemas.microsoft.com/office/drawing/2014/main" id="{694662C2-AE69-4065-8C2E-3FFE5E61A940}"/>
              </a:ext>
            </a:extLst>
          </p:cNvPr>
          <p:cNvSpPr>
            <a:spLocks xmlns:a="http://schemas.openxmlformats.org/drawingml/2006/main" noGrp="1"/>
          </p:cNvSpPr>
          <p:nvPr/>
        </p:nvSpPr>
        <p:spPr>
          <a:xfrm xmlns:a="http://schemas.openxmlformats.org/drawingml/2006/main">
            <a:off x="78390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a:t>
            </a:r>
          </a:p>
        </p:txBody>
      </p:sp>
      <p:sp>
        <p:nvSpPr>
          <p:cNvPr id="9" name="">
            <a:extLst xmlns:a="http://schemas.openxmlformats.org/drawingml/2006/main">
              <a:ext uri="{FF2B5EF4-FFF2-40B4-BE49-F238E27FC236}">
                <a16:creationId xmlns:a16="http://schemas.microsoft.com/office/drawing/2014/main" id="{DFDD2E79-DD4A-4B09-8846-D335EDFCBA78}"/>
              </a:ext>
            </a:extLst>
          </p:cNvPr>
          <p:cNvSpPr>
            <a:spLocks xmlns:a="http://schemas.openxmlformats.org/drawingml/2006/main" noGrp="1"/>
          </p:cNvSpPr>
          <p:nvPr/>
        </p:nvSpPr>
        <p:spPr>
          <a:xfrm xmlns:a="http://schemas.openxmlformats.org/drawingml/2006/main">
            <a:off x="7839075" y="22098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the next dividend.”</a:t>
            </a:r>
          </a:p>
        </p:txBody>
      </p:sp>
      <p:sp>
        <p:nvSpPr>
          <p:cNvPr id="10" name="Holder claim">
            <a:extLst xmlns:a="http://schemas.openxmlformats.org/drawingml/2006/main">
              <a:ext uri="{FF2B5EF4-FFF2-40B4-BE49-F238E27FC236}">
                <a16:creationId xmlns:a16="http://schemas.microsoft.com/office/drawing/2014/main" id="{B39F2526-E0B4-49F7-8A00-EF88670D500C}"/>
              </a:ext>
            </a:extLst>
          </p:cNvPr>
          <p:cNvSpPr>
            <a:spLocks xmlns:a="http://schemas.openxmlformats.org/drawingml/2006/main" noGrp="1"/>
          </p:cNvSpPr>
          <p:nvPr/>
        </p:nvSpPr>
        <p:spPr>
          <a:xfrm xmlns:a="http://schemas.openxmlformats.org/drawingml/2006/main">
            <a:off x="857250" y="3905250"/>
            <a:ext cx="1809750" cy="685800"/>
          </a:xfrm>
          <a:prstGeom xmlns:a="http://schemas.openxmlformats.org/drawingml/2006/main" prst="roundRect">
            <a:avLst>
              <a:gd name="adj" fmla="val 16667"/>
            </a:avLst>
          </a:prstGeom>
          <a:solidFill xmlns:a="http://schemas.openxmlformats.org/drawingml/2006/main">
            <a:srgbClr val="EAF0FF"/>
          </a:solidFill>
          <a:ln xmlns:a="http://schemas.openxmlformats.org/drawingml/2006/main" w="9525">
            <a:solidFill>
              <a:srgbClr val="2457F5"/>
            </a:solidFill>
            <a:prstDash val="solid"/>
          </a:ln>
        </p:spPr>
      </p:sp>
      <p:sp>
        <p:nvSpPr>
          <p:cNvPr id="11" name="">
            <a:extLst xmlns:a="http://schemas.openxmlformats.org/drawingml/2006/main">
              <a:ext uri="{FF2B5EF4-FFF2-40B4-BE49-F238E27FC236}">
                <a16:creationId xmlns:a16="http://schemas.microsoft.com/office/drawing/2014/main" id="{3094E25A-302C-488A-A5C7-D2450397BE1D}"/>
              </a:ext>
            </a:extLst>
          </p:cNvPr>
          <p:cNvSpPr>
            <a:spLocks xmlns:a="http://schemas.openxmlformats.org/drawingml/2006/main" noGrp="1"/>
          </p:cNvSpPr>
          <p:nvPr/>
        </p:nvSpPr>
        <p:spPr>
          <a:xfrm xmlns:a="http://schemas.openxmlformats.org/drawingml/2006/main">
            <a:off x="1066800" y="4067175"/>
            <a:ext cx="139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1639A6"/>
                </a:solidFill>
                <a:latin typeface="Helvetica Neue"/>
                <a:ea typeface="Helvetica Neue"/>
                <a:cs typeface="Helvetica Neue"/>
              </a:defRPr>
            </a:pPr>
            <a:r>
              <a:rPr sz="1650" b="1">
                <a:solidFill>
                  <a:srgbClr val="1639A6"/>
                </a:solidFill>
                <a:latin typeface="Helvetica Neue"/>
                <a:ea typeface="Helvetica Neue"/>
                <a:cs typeface="Helvetica Neue"/>
              </a:rPr>
              <a:t>Stock exposure</a:t>
            </a:r>
          </a:p>
        </p:txBody>
      </p:sp>
      <p:sp>
        <p:nvSpPr>
          <p:cNvPr id="12" name="Buyer claim">
            <a:extLst xmlns:a="http://schemas.openxmlformats.org/drawingml/2006/main">
              <a:ext uri="{FF2B5EF4-FFF2-40B4-BE49-F238E27FC236}">
                <a16:creationId xmlns:a16="http://schemas.microsoft.com/office/drawing/2014/main" id="{A71AA5FC-BB06-4955-9924-3606159B5CB0}"/>
              </a:ext>
            </a:extLst>
          </p:cNvPr>
          <p:cNvSpPr>
            <a:spLocks xmlns:a="http://schemas.openxmlformats.org/drawingml/2006/main" noGrp="1"/>
          </p:cNvSpPr>
          <p:nvPr/>
        </p:nvSpPr>
        <p:spPr>
          <a:xfrm xmlns:a="http://schemas.openxmlformats.org/drawingml/2006/main">
            <a:off x="9525000" y="3905250"/>
            <a:ext cx="1809750" cy="685800"/>
          </a:xfrm>
          <a:prstGeom xmlns:a="http://schemas.openxmlformats.org/drawingml/2006/main" prst="roundRect">
            <a:avLst>
              <a:gd name="adj" fmla="val 16667"/>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F091089F-4141-4BE7-A643-6C0D5EDF8AAB}"/>
              </a:ext>
            </a:extLst>
          </p:cNvPr>
          <p:cNvSpPr>
            <a:spLocks xmlns:a="http://schemas.openxmlformats.org/drawingml/2006/main" noGrp="1"/>
          </p:cNvSpPr>
          <p:nvPr/>
        </p:nvSpPr>
        <p:spPr>
          <a:xfrm xmlns:a="http://schemas.openxmlformats.org/drawingml/2006/main">
            <a:off x="9734550" y="4067175"/>
            <a:ext cx="139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7A4000"/>
                </a:solidFill>
                <a:latin typeface="Helvetica Neue"/>
                <a:ea typeface="Helvetica Neue"/>
                <a:cs typeface="Helvetica Neue"/>
              </a:defRPr>
            </a:pPr>
            <a:r>
              <a:rPr sz="1650" b="1">
                <a:solidFill>
                  <a:srgbClr val="7A4000"/>
                </a:solidFill>
                <a:latin typeface="Helvetica Neue"/>
                <a:ea typeface="Helvetica Neue"/>
                <a:cs typeface="Helvetica Neue"/>
              </a:rPr>
              <a:t>Dividend right</a:t>
            </a:r>
          </a:p>
        </p:txBody>
      </p:sp>
      <p:sp>
        <p:nvSpPr>
          <p:cNvPr id="14" name="Trade">
            <a:extLst xmlns:a="http://schemas.openxmlformats.org/drawingml/2006/main">
              <a:ext uri="{FF2B5EF4-FFF2-40B4-BE49-F238E27FC236}">
                <a16:creationId xmlns:a16="http://schemas.microsoft.com/office/drawing/2014/main" id="{C8504093-EB97-44D9-84E9-1309C3104AF3}"/>
              </a:ext>
            </a:extLst>
          </p:cNvPr>
          <p:cNvSpPr>
            <a:spLocks xmlns:a="http://schemas.openxmlformats.org/drawingml/2006/main" noGrp="1"/>
          </p:cNvSpPr>
          <p:nvPr/>
        </p:nvSpPr>
        <p:spPr>
          <a:xfrm xmlns:a="http://schemas.openxmlformats.org/drawingml/2006/main">
            <a:off x="4667250" y="3714750"/>
            <a:ext cx="2857500" cy="1066800"/>
          </a:xfrm>
          <a:prstGeom xmlns:a="http://schemas.openxmlformats.org/drawingml/2006/main" prst="roundRect">
            <a:avLst>
              <a:gd name="adj" fmla="val 10714"/>
            </a:avLst>
          </a:prstGeom>
          <a:solidFill xmlns:a="http://schemas.openxmlformats.org/drawingml/2006/main">
            <a:srgbClr val="FFFEFB"/>
          </a:solidFill>
          <a:ln xmlns:a="http://schemas.openxmlformats.org/drawingml/2006/main" w="9525">
            <a:solidFill>
              <a:srgbClr val="D7D2C8"/>
            </a:solidFill>
            <a:prstDash val="solid"/>
          </a:ln>
        </p:spPr>
      </p:sp>
      <p:sp>
        <p:nvSpPr>
          <p:cNvPr id="15" name="">
            <a:extLst xmlns:a="http://schemas.openxmlformats.org/drawingml/2006/main">
              <a:ext uri="{FF2B5EF4-FFF2-40B4-BE49-F238E27FC236}">
                <a16:creationId xmlns:a16="http://schemas.microsoft.com/office/drawing/2014/main" id="{10E5B1E2-7FE2-4F95-B5DA-83801941135E}"/>
              </a:ext>
            </a:extLst>
          </p:cNvPr>
          <p:cNvSpPr>
            <a:spLocks xmlns:a="http://schemas.openxmlformats.org/drawingml/2006/main" noGrp="1"/>
          </p:cNvSpPr>
          <p:nvPr/>
        </p:nvSpPr>
        <p:spPr>
          <a:xfrm xmlns:a="http://schemas.openxmlformats.org/drawingml/2006/main">
            <a:off x="5010150" y="3867150"/>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AGREED TRADE</a:t>
            </a:r>
          </a:p>
        </p:txBody>
      </p:sp>
      <p:sp>
        <p:nvSpPr>
          <p:cNvPr id="16" name="">
            <a:extLst xmlns:a="http://schemas.openxmlformats.org/drawingml/2006/main">
              <a:ext uri="{FF2B5EF4-FFF2-40B4-BE49-F238E27FC236}">
                <a16:creationId xmlns:a16="http://schemas.microsoft.com/office/drawing/2014/main" id="{D58A5BE4-B590-476D-A97C-9AC844DF980B}"/>
              </a:ext>
            </a:extLst>
          </p:cNvPr>
          <p:cNvSpPr>
            <a:spLocks xmlns:a="http://schemas.openxmlformats.org/drawingml/2006/main" noGrp="1"/>
          </p:cNvSpPr>
          <p:nvPr/>
        </p:nvSpPr>
        <p:spPr>
          <a:xfrm xmlns:a="http://schemas.openxmlformats.org/drawingml/2006/main">
            <a:off x="50101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claim for payment</a:t>
            </a:r>
          </a:p>
        </p:txBody>
      </p:sp>
      <p:cxnSp>
        <p:nvCxnSpPr>
          <p:cNvPr id="39" name=""/>
          <p:cNvCxnSpPr>
            <a:stCxn xmlns:a="http://schemas.openxmlformats.org/drawingml/2006/main" id="10" idx="3"/>
            <a:endCxn xmlns:a="http://schemas.openxmlformats.org/drawingml/2006/main" id="14" idx="1"/>
          </p:cNvCxnSpPr>
          <p:nvPr/>
        </p:nvCxnSpPr>
        <p:spPr>
          <a:xfrm xmlns:a="http://schemas.openxmlformats.org/drawingml/2006/main">
            <a:off x="2667000" y="4248150"/>
            <a:ext cx="2000250" cy="0"/>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cxnSp>
        <p:nvCxnSpPr>
          <p:cNvPr id="40" name=""/>
          <p:cNvCxnSpPr>
            <a:stCxn xmlns:a="http://schemas.openxmlformats.org/drawingml/2006/main" id="14" idx="3"/>
            <a:endCxn xmlns:a="http://schemas.openxmlformats.org/drawingml/2006/main" id="12" idx="1"/>
          </p:cNvCxnSpPr>
          <p:nvPr/>
        </p:nvCxnSpPr>
        <p:spPr>
          <a:xfrm xmlns:a="http://schemas.openxmlformats.org/drawingml/2006/main">
            <a:off x="7524750" y="4248150"/>
            <a:ext cx="2000250" cy="0"/>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sp>
        <p:nvSpPr>
          <p:cNvPr id="19" name="Payment label">
            <a:extLst xmlns:a="http://schemas.openxmlformats.org/drawingml/2006/main">
              <a:ext uri="{FF2B5EF4-FFF2-40B4-BE49-F238E27FC236}">
                <a16:creationId xmlns:a16="http://schemas.microsoft.com/office/drawing/2014/main" id="{F2A19C1B-07F8-4E72-A3A4-0D5F5E2A8F70}"/>
              </a:ext>
            </a:extLst>
          </p:cNvPr>
          <p:cNvSpPr>
            <a:spLocks xmlns:a="http://schemas.openxmlformats.org/drawingml/2006/main" noGrp="1"/>
          </p:cNvSpPr>
          <p:nvPr/>
        </p:nvSpPr>
        <p:spPr>
          <a:xfrm xmlns:a="http://schemas.openxmlformats.org/drawingml/2006/main">
            <a:off x="4667250" y="5181600"/>
            <a:ext cx="2857500" cy="476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0B1BC1-BEA2-406B-8474-911B067545E1}"/>
              </a:ext>
            </a:extLst>
          </p:cNvPr>
          <p:cNvSpPr>
            <a:spLocks xmlns:a="http://schemas.openxmlformats.org/drawingml/2006/main" noGrp="1"/>
          </p:cNvSpPr>
          <p:nvPr/>
        </p:nvSpPr>
        <p:spPr>
          <a:xfrm xmlns:a="http://schemas.openxmlformats.org/drawingml/2006/main">
            <a:off x="5010150" y="5219700"/>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1639A6"/>
                </a:solidFill>
                <a:latin typeface="Helvetica Neue"/>
                <a:ea typeface="Helvetica Neue"/>
                <a:cs typeface="Helvetica Neue"/>
              </a:defRPr>
            </a:pPr>
            <a:r>
              <a:rPr sz="1200" b="1">
                <a:solidFill>
                  <a:srgbClr val="1639A6"/>
                </a:solidFill>
                <a:latin typeface="Helvetica Neue"/>
                <a:ea typeface="Helvetica Neue"/>
                <a:cs typeface="Helvetica Neue"/>
              </a:rPr>
              <a:t>payment</a:t>
            </a:r>
          </a:p>
        </p:txBody>
      </p:sp>
      <p:cxnSp>
        <p:nvCxnSpPr>
          <p:cNvPr id="43" name=""/>
          <p:cNvCxnSpPr>
            <a:stCxn xmlns:a="http://schemas.openxmlformats.org/drawingml/2006/main" id="12" idx="2"/>
            <a:endCxn xmlns:a="http://schemas.openxmlformats.org/drawingml/2006/main" id="10" idx="2"/>
          </p:cNvCxnSpPr>
          <p:nvPr/>
        </p:nvCxnSpPr>
        <p:spPr>
          <a:xfrm xmlns:a="http://schemas.openxmlformats.org/drawingml/2006/main" flipH="1">
            <a:off x="1762125" y="4591050"/>
            <a:ext cx="8667750" cy="0"/>
          </a:xfrm>
          <a:prstGeom xmlns:a="http://schemas.openxmlformats.org/drawingml/2006/main" prst="straightConnector1">
            <a:avLst/>
          </a:prstGeom>
          <a:ln xmlns:a="http://schemas.openxmlformats.org/drawingml/2006/main" w="19050">
            <a:solidFill>
              <a:srgbClr val="2457F5"/>
            </a:solidFill>
            <a:prstDash val="solid"/>
            <a:headEnd type="triangle" w="sm" len="sm"/>
          </a:ln>
        </p:spPr>
      </p:cxnSp>
      <p:sp>
        <p:nvSpPr>
          <p:cNvPr id="22" name="">
            <a:extLst xmlns:a="http://schemas.openxmlformats.org/drawingml/2006/main">
              <a:ext uri="{FF2B5EF4-FFF2-40B4-BE49-F238E27FC236}">
                <a16:creationId xmlns:a16="http://schemas.microsoft.com/office/drawing/2014/main" id="{6F56D097-10E5-4649-A43C-E3879548F59A}"/>
              </a:ext>
            </a:extLst>
          </p:cNvPr>
          <p:cNvSpPr>
            <a:spLocks xmlns:a="http://schemas.openxmlformats.org/drawingml/2006/main" noGrp="1"/>
          </p:cNvSpPr>
          <p:nvPr/>
        </p:nvSpPr>
        <p:spPr>
          <a:xfrm xmlns:a="http://schemas.openxmlformats.org/drawingml/2006/main">
            <a:off x="2524125" y="599122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holder sells the dividend claim. The buyer pays its agreed price.</a:t>
            </a:r>
          </a:p>
        </p:txBody>
      </p:sp>
    </p:spTree>
    <p:extLst>
      <p:ext uri="{BB962C8B-B14F-4D97-AF65-F5344CB8AC3E}">
        <p14:creationId xmlns:p14="http://schemas.microsoft.com/office/powerpoint/2010/main" val="173895236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29FD1F-BED8-432A-9B58-62C4F872E5C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18B2E6-5509-461A-906D-272E9B7CEBE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0AABA4-F25F-441B-80C9-A044F8B3C3E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3B1162D-6189-4AD8-946C-A02A39BEF2A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5B8CBBCD-443B-44A4-AB05-FED61AE4A66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33B943B8-4C7F-4845-90EE-65988E6F29B4}"/>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7F4CED9-68BE-4B7F-BD20-C27AF5396B60}"/>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362AF050-64C3-434D-A754-A8E24FC30F47}"/>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CA6D40BB-3AF2-418A-90F5-24F143E62411}"/>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C5BD2B1-3AE6-4F4F-B8E7-0C1C0841AF2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ADB8B4B6-375A-4A09-9EA1-40FCFABFB179}"/>
              </a:ext>
            </a:extLst>
          </p:cNvPr>
          <p:cNvSpPr>
            <a:spLocks xmlns:a="http://schemas.openxmlformats.org/drawingml/2006/main" noGrp="1"/>
          </p:cNvSpPr>
          <p:nvPr/>
        </p:nvSpPr>
        <p:spPr>
          <a:xfrm xmlns:a="http://schemas.openxmlformats.org/drawingml/2006/main">
            <a:off x="7477125" y="1809750"/>
            <a:ext cx="3714750" cy="1238250"/>
          </a:xfrm>
          <a:prstGeom xmlns:a="http://schemas.openxmlformats.org/drawingml/2006/main" prst="roundRect">
            <a:avLst>
              <a:gd name="adj" fmla="val 10769"/>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26BB30D7-8A88-4138-BB38-6DAAA9949F81}"/>
              </a:ext>
            </a:extLst>
          </p:cNvPr>
          <p:cNvSpPr>
            <a:spLocks xmlns:a="http://schemas.openxmlformats.org/drawingml/2006/main" noGrp="1"/>
          </p:cNvSpPr>
          <p:nvPr/>
        </p:nvSpPr>
        <p:spPr>
          <a:xfrm xmlns:a="http://schemas.openxmlformats.org/drawingml/2006/main">
            <a:off x="7753350" y="20193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0925D0C5-F27A-4DF7-BE21-2127CDC58ABC}"/>
              </a:ext>
            </a:extLst>
          </p:cNvPr>
          <p:cNvSpPr>
            <a:spLocks xmlns:a="http://schemas.openxmlformats.org/drawingml/2006/main" noGrp="1"/>
          </p:cNvSpPr>
          <p:nvPr/>
        </p:nvSpPr>
        <p:spPr>
          <a:xfrm xmlns:a="http://schemas.openxmlformats.org/drawingml/2006/main">
            <a:off x="7753350" y="2324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359A9C25-8AB1-41DC-97FF-C302DAACC016}"/>
              </a:ext>
            </a:extLst>
          </p:cNvPr>
          <p:cNvSpPr>
            <a:spLocks xmlns:a="http://schemas.openxmlformats.org/drawingml/2006/main" noGrp="1"/>
          </p:cNvSpPr>
          <p:nvPr/>
        </p:nvSpPr>
        <p:spPr>
          <a:xfrm xmlns:a="http://schemas.openxmlformats.org/drawingml/2006/main">
            <a:off x="7753350" y="272415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A248787B-5C0D-4CA3-8C4B-A66FF50FD17A}"/>
              </a:ext>
            </a:extLst>
          </p:cNvPr>
          <p:cNvSpPr>
            <a:spLocks xmlns:a="http://schemas.openxmlformats.org/drawingml/2006/main" noGrp="1"/>
          </p:cNvSpPr>
          <p:nvPr/>
        </p:nvSpPr>
        <p:spPr>
          <a:xfrm xmlns:a="http://schemas.openxmlformats.org/drawingml/2006/main">
            <a:off x="7477125" y="3657600"/>
            <a:ext cx="3714750" cy="1238250"/>
          </a:xfrm>
          <a:prstGeom xmlns:a="http://schemas.openxmlformats.org/drawingml/2006/main" prst="roundRect">
            <a:avLst>
              <a:gd name="adj" fmla="val 10769"/>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67FBAC3F-5927-4E89-80D1-C3BC862CDDE1}"/>
              </a:ext>
            </a:extLst>
          </p:cNvPr>
          <p:cNvSpPr>
            <a:spLocks xmlns:a="http://schemas.openxmlformats.org/drawingml/2006/main" noGrp="1"/>
          </p:cNvSpPr>
          <p:nvPr/>
        </p:nvSpPr>
        <p:spPr>
          <a:xfrm xmlns:a="http://schemas.openxmlformats.org/drawingml/2006/main">
            <a:off x="7753350" y="3867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A82E6C69-BA41-4DBB-BDB9-EA5D213A8E5B}"/>
              </a:ext>
            </a:extLst>
          </p:cNvPr>
          <p:cNvSpPr>
            <a:spLocks xmlns:a="http://schemas.openxmlformats.org/drawingml/2006/main" noGrp="1"/>
          </p:cNvSpPr>
          <p:nvPr/>
        </p:nvSpPr>
        <p:spPr>
          <a:xfrm xmlns:a="http://schemas.openxmlformats.org/drawingml/2006/main">
            <a:off x="7753350" y="41719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BF47CD9C-5BD6-40F6-969B-4B5EE0B37D42}"/>
              </a:ext>
            </a:extLst>
          </p:cNvPr>
          <p:cNvSpPr>
            <a:spLocks xmlns:a="http://schemas.openxmlformats.org/drawingml/2006/main" noGrp="1"/>
          </p:cNvSpPr>
          <p:nvPr/>
        </p:nvSpPr>
        <p:spPr>
          <a:xfrm xmlns:a="http://schemas.openxmlformats.org/drawingml/2006/main">
            <a:off x="7753350" y="457200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head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head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sp>
        <p:nvSpPr>
          <p:cNvPr id="22" name="">
            <a:extLst xmlns:a="http://schemas.openxmlformats.org/drawingml/2006/main">
              <a:ext uri="{FF2B5EF4-FFF2-40B4-BE49-F238E27FC236}">
                <a16:creationId xmlns:a16="http://schemas.microsoft.com/office/drawing/2014/main" id="{C46FC9AD-44F8-44CB-83FB-E3CBBF373CDD}"/>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910AFEDB-D756-4085-BCAB-0FCC26704426}"/>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AC277ED6-1266-4CB6-AC1F-86B31C3CAA21}"/>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877454526"/>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BBCCD2-9BAE-4D9E-856C-06759E9C913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58B60D-9957-4260-84AA-9DC0926362F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BEDEEE-693A-4AE2-A553-5BEF0211448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A5CAF73-A77B-4E5D-AE3A-9C0054904E6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1493209E-F5BF-43AB-ADFB-83A1A92E296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236091C-B727-43BA-8057-B62174BC3F99}"/>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C0A7ED72-4B43-4D82-A62D-9629BFB9BC40}"/>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17E7DD89-CCB6-403F-AC6A-2824E243FC22}"/>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8373C5C3-09E3-4DD7-BF9F-99394088567F}"/>
              </a:ext>
            </a:extLst>
          </p:cNvPr>
          <p:cNvSpPr>
            <a:spLocks xmlns:a="http://schemas.openxmlformats.org/drawingml/2006/main" noGrp="1"/>
          </p:cNvSpPr>
          <p:nvPr/>
        </p:nvSpPr>
        <p:spPr>
          <a:xfrm xmlns:a="http://schemas.openxmlformats.org/drawingml/2006/main">
            <a:off x="6096000" y="1885950"/>
            <a:ext cx="9525" cy="34290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744D31-2240-477A-9A70-DBE5BBA67B5D}"/>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1F0040D4-F718-45A0-AE70-56B852401B6F}"/>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4114EA04-5BDC-4721-BE8B-956631A16A57}"/>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D4BECF0B-77B1-4B04-AFE1-FCEDCADA523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4E2CE9BC-5DB8-40F0-A406-47AB954588DB}"/>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Different units and markets. These figures show precedents, not demand for DividendX.</a:t>
            </a:r>
          </a:p>
        </p:txBody>
      </p:sp>
    </p:spTree>
    <p:extLst>
      <p:ext uri="{BB962C8B-B14F-4D97-AF65-F5344CB8AC3E}">
        <p14:creationId xmlns:p14="http://schemas.microsoft.com/office/powerpoint/2010/main" val="2085547358"/>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E3945E1-5809-4D54-B35C-976CD9B4895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CA3920-5B34-4788-B0E5-72DBE64069B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F8B0BB-B9F4-4BF1-9F76-41827284D44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7173720D-3D51-4CCB-8615-A0C82AC07C8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B5EA886-4E17-4CFC-B359-1844A695530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1C7B7B6C-297D-4772-8E14-101F3D83D17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DCDAFA30-D775-4ECA-9FEB-BC824CCA5E64}"/>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6710EB13-4C64-4756-A0B5-263B3F8AEC7C}"/>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C2D9B759-BAE3-4ABB-90B9-FE3EAB43A1BD}"/>
              </a:ext>
            </a:extLst>
          </p:cNvPr>
          <p:cNvSpPr>
            <a:spLocks xmlns:a="http://schemas.openxmlformats.org/drawingml/2006/main" noGrp="1"/>
          </p:cNvSpPr>
          <p:nvPr/>
        </p:nvSpPr>
        <p:spPr>
          <a:xfrm xmlns:a="http://schemas.openxmlformats.org/drawingml/2006/main">
            <a:off x="5943600" y="1885950"/>
            <a:ext cx="9525" cy="34861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10F8D0-9AD2-47BD-9312-AD4B24562C4A}"/>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0BF05720-4E9A-4C21-95FD-BC2BE744BA5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060AF0AE-A9C0-462F-9E6B-A13810E21364}"/>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50413C66-623E-4065-B5E6-FFAFC58C7034}"/>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5F1149-9444-46FE-840F-9431BE7DAEDA}"/>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CB1C7DAA-E486-440A-A661-B4F66A1EFAF5}"/>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C8581246-CA5D-44E5-8CFC-357C82F9DCB9}"/>
              </a:ext>
            </a:extLst>
          </p:cNvPr>
          <p:cNvSpPr>
            <a:spLocks xmlns:a="http://schemas.openxmlformats.org/drawingml/2006/main" noGrp="1"/>
          </p:cNvSpPr>
          <p:nvPr/>
        </p:nvSpPr>
        <p:spPr>
          <a:xfrm xmlns:a="http://schemas.openxmlformats.org/drawingml/2006/main">
            <a:off x="2971800" y="51244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Eligible xStocks are a subset of the broader dashboard measure.</a:t>
            </a:r>
          </a:p>
        </p:txBody>
      </p:sp>
      <p:sp>
        <p:nvSpPr>
          <p:cNvPr id="17" name="">
            <a:extLst xmlns:a="http://schemas.openxmlformats.org/drawingml/2006/main">
              <a:ext uri="{FF2B5EF4-FFF2-40B4-BE49-F238E27FC236}">
                <a16:creationId xmlns:a16="http://schemas.microsoft.com/office/drawing/2014/main" id="{10014814-86BE-414B-BFFE-72727F75CFDA}"/>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 The measures above are not additive TAM.</a:t>
            </a:r>
          </a:p>
        </p:txBody>
      </p:sp>
    </p:spTree>
    <p:extLst>
      <p:ext uri="{BB962C8B-B14F-4D97-AF65-F5344CB8AC3E}">
        <p14:creationId xmlns:p14="http://schemas.microsoft.com/office/powerpoint/2010/main" val="214385419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D9E9B2C-B7C7-4376-BFED-FD32B0C64C3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14AB7E-927F-4AB9-B64F-2BDB9E84689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C69A53-BD01-4A45-97AE-B4DAA00A743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5E2AE8E-ADDA-4A47-98F0-83ED3866191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ABD0C355-F7A6-4737-A5F3-283CB93AFCB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F451FDDA-A246-48DA-81D8-510785AA2F65}"/>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424D5711-03C8-4429-8A26-24AD3EB4D192}"/>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C7241863-7CB3-4307-A4A2-60FE4BE51FB9}"/>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DAEBA05E-1859-4DC6-983C-FE63CFA95ECF}"/>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73CB6ED-76B8-4579-95DD-02471C6EBB3D}"/>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4471A3EC-13DA-4A36-9F1F-0BA9DF70A26E}"/>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663C9B56-05D3-49A8-9E11-B14AE7C50AF6}"/>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D3FF684E-8F97-4B93-84C3-812ABD0D2870}"/>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DCCB11-5C92-4C37-9643-97BCC1A416A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6A2EC27D-AB2B-4448-8007-5C33A8FD936F}"/>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FA6D907-075C-402A-862C-FE1F75CC8CD4}"/>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D55CABBD-FA99-4CBE-A25D-218EA20DF71E}"/>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5488EC-E390-4B61-98E8-B3DB192002DE}"/>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Shared program state replaces manual reconciliation of these claims.</a:t>
            </a:r>
          </a:p>
        </p:txBody>
      </p:sp>
      <p:sp>
        <p:nvSpPr>
          <p:cNvPr id="19" name="">
            <a:extLst xmlns:a="http://schemas.openxmlformats.org/drawingml/2006/main">
              <a:ext uri="{FF2B5EF4-FFF2-40B4-BE49-F238E27FC236}">
                <a16:creationId xmlns:a16="http://schemas.microsoft.com/office/drawing/2014/main" id="{7DBC7F5A-C228-4407-97CA-A0C3F0BEFFD1}"/>
              </a:ext>
            </a:extLst>
          </p:cNvPr>
          <p:cNvSpPr>
            <a:spLocks xmlns:a="http://schemas.openxmlformats.org/drawingml/2006/main" noGrp="1"/>
          </p:cNvSpPr>
          <p:nvPr/>
        </p:nvSpPr>
        <p:spPr>
          <a:xfrm xmlns:a="http://schemas.openxmlformats.org/drawingml/2006/main">
            <a:off x="762000" y="6000750"/>
            <a:ext cx="10572750" cy="361950"/>
          </a:xfrm>
          <a:prstGeom xmlns:a="http://schemas.openxmlformats.org/drawingml/2006/main" prst="rect">
            <a:avLst/>
          </a:prstGeom>
          <a:solidFill xmlns:a="http://schemas.openxmlformats.org/drawingml/2006/main">
            <a:srgbClr val="EFEC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0B8B8E-967B-4482-9025-8F8CB129FF83}"/>
              </a:ext>
            </a:extLst>
          </p:cNvPr>
          <p:cNvSpPr>
            <a:spLocks xmlns:a="http://schemas.openxmlformats.org/drawingml/2006/main" noGrp="1"/>
          </p:cNvSpPr>
          <p:nvPr/>
        </p:nvSpPr>
        <p:spPr>
          <a:xfrm xmlns:a="http://schemas.openxmlformats.org/drawingml/2006/main">
            <a:off x="933450" y="60960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PROPOSED IMPLEMENTATION · Issuer and corporate-action data dependencies remain.</a:t>
            </a:r>
          </a:p>
        </p:txBody>
      </p:sp>
    </p:spTree>
    <p:extLst>
      <p:ext uri="{BB962C8B-B14F-4D97-AF65-F5344CB8AC3E}">
        <p14:creationId xmlns:p14="http://schemas.microsoft.com/office/powerpoint/2010/main" val="220022557"/>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AFD1AE-2C4A-451C-AA17-8C4F01F2326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DAF8B4-1AC1-4380-945C-30D50716370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D640D4-6714-4919-9E5A-710A6140750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4613575-10B4-4D5C-A952-0AE47D44B5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stock split is not a dividend</a:t>
            </a:r>
          </a:p>
        </p:txBody>
      </p:sp>
      <p:sp>
        <p:nvSpPr>
          <p:cNvPr id="5" name="">
            <a:extLst xmlns:a="http://schemas.openxmlformats.org/drawingml/2006/main">
              <a:ext uri="{FF2B5EF4-FFF2-40B4-BE49-F238E27FC236}">
                <a16:creationId xmlns:a16="http://schemas.microsoft.com/office/drawing/2014/main" id="{381768E3-FBF9-4C6E-8D79-77741127F2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1CECF516-B811-4FC9-81AE-A19C3FFAB4DC}"/>
              </a:ext>
            </a:extLst>
          </p:cNvPr>
          <p:cNvSpPr>
            <a:spLocks xmlns:a="http://schemas.openxmlformats.org/drawingml/2006/main" noGrp="1"/>
          </p:cNvSpPr>
          <p:nvPr/>
        </p:nvSpPr>
        <p:spPr>
          <a:xfrm xmlns:a="http://schemas.openxmlformats.org/drawingml/2006/main">
            <a:off x="762000" y="18478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ISSUER EVENT</a:t>
            </a:r>
          </a:p>
        </p:txBody>
      </p:sp>
      <p:sp>
        <p:nvSpPr>
          <p:cNvPr id="7" name="">
            <a:extLst xmlns:a="http://schemas.openxmlformats.org/drawingml/2006/main">
              <a:ext uri="{FF2B5EF4-FFF2-40B4-BE49-F238E27FC236}">
                <a16:creationId xmlns:a16="http://schemas.microsoft.com/office/drawing/2014/main" id="{CF650C94-868B-4414-B4D2-8A8D3BDAFF09}"/>
              </a:ext>
            </a:extLst>
          </p:cNvPr>
          <p:cNvSpPr>
            <a:spLocks xmlns:a="http://schemas.openxmlformats.org/drawingml/2006/main" noGrp="1"/>
          </p:cNvSpPr>
          <p:nvPr/>
        </p:nvSpPr>
        <p:spPr>
          <a:xfrm xmlns:a="http://schemas.openxmlformats.org/drawingml/2006/main">
            <a:off x="4333875" y="184785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TREATMENT</a:t>
            </a:r>
          </a:p>
        </p:txBody>
      </p:sp>
      <p:sp>
        <p:nvSpPr>
          <p:cNvPr id="8" name="">
            <a:extLst xmlns:a="http://schemas.openxmlformats.org/drawingml/2006/main">
              <a:ext uri="{FF2B5EF4-FFF2-40B4-BE49-F238E27FC236}">
                <a16:creationId xmlns:a16="http://schemas.microsoft.com/office/drawing/2014/main" id="{30F5AFEC-68E7-4792-BB9F-806C9C2B2C1D}"/>
              </a:ext>
            </a:extLst>
          </p:cNvPr>
          <p:cNvSpPr>
            <a:spLocks xmlns:a="http://schemas.openxmlformats.org/drawingml/2006/main" noGrp="1"/>
          </p:cNvSpPr>
          <p:nvPr/>
        </p:nvSpPr>
        <p:spPr>
          <a:xfrm xmlns:a="http://schemas.openxmlformats.org/drawingml/2006/main">
            <a:off x="762000" y="2143125"/>
            <a:ext cx="10382250" cy="1905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539D2B3-2EDB-4F44-AAD7-35E8A20059F8}"/>
              </a:ext>
            </a:extLst>
          </p:cNvPr>
          <p:cNvSpPr>
            <a:spLocks xmlns:a="http://schemas.openxmlformats.org/drawingml/2006/main" noGrp="1"/>
          </p:cNvSpPr>
          <p:nvPr/>
        </p:nvSpPr>
        <p:spPr>
          <a:xfrm xmlns:a="http://schemas.openxmlformats.org/drawingml/2006/main">
            <a:off x="762000" y="2457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KOx cash dividend</a:t>
            </a:r>
          </a:p>
        </p:txBody>
      </p:sp>
      <p:sp>
        <p:nvSpPr>
          <p:cNvPr id="10" name="">
            <a:extLst xmlns:a="http://schemas.openxmlformats.org/drawingml/2006/main">
              <a:ext uri="{FF2B5EF4-FFF2-40B4-BE49-F238E27FC236}">
                <a16:creationId xmlns:a16="http://schemas.microsoft.com/office/drawing/2014/main" id="{C2C51410-E961-4E64-A8B4-7C9EA0754135}"/>
              </a:ext>
            </a:extLst>
          </p:cNvPr>
          <p:cNvSpPr>
            <a:spLocks xmlns:a="http://schemas.openxmlformats.org/drawingml/2006/main" noGrp="1"/>
          </p:cNvSpPr>
          <p:nvPr/>
        </p:nvSpPr>
        <p:spPr>
          <a:xfrm xmlns:a="http://schemas.openxmlformats.org/drawingml/2006/main">
            <a:off x="4333875" y="24574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Allocate verified dividend-derived KOx to DR</a:t>
            </a:r>
          </a:p>
        </p:txBody>
      </p:sp>
      <p:sp>
        <p:nvSpPr>
          <p:cNvPr id="11" name="">
            <a:extLst xmlns:a="http://schemas.openxmlformats.org/drawingml/2006/main">
              <a:ext uri="{FF2B5EF4-FFF2-40B4-BE49-F238E27FC236}">
                <a16:creationId xmlns:a16="http://schemas.microsoft.com/office/drawing/2014/main" id="{E2CD7543-D8E3-40F9-BA68-CA45D7E5F39E}"/>
              </a:ext>
            </a:extLst>
          </p:cNvPr>
          <p:cNvSpPr>
            <a:spLocks xmlns:a="http://schemas.openxmlformats.org/drawingml/2006/main" noGrp="1"/>
          </p:cNvSpPr>
          <p:nvPr/>
        </p:nvSpPr>
        <p:spPr>
          <a:xfrm xmlns:a="http://schemas.openxmlformats.org/drawingml/2006/main">
            <a:off x="762000" y="2895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15 Sep 2026 · event 75c0… v2</a:t>
            </a:r>
          </a:p>
        </p:txBody>
      </p:sp>
      <p:sp>
        <p:nvSpPr>
          <p:cNvPr id="12" name="">
            <a:extLst xmlns:a="http://schemas.openxmlformats.org/drawingml/2006/main">
              <a:ext uri="{FF2B5EF4-FFF2-40B4-BE49-F238E27FC236}">
                <a16:creationId xmlns:a16="http://schemas.microsoft.com/office/drawing/2014/main" id="{A6087547-C7F5-49C7-989C-E8BCE1067127}"/>
              </a:ext>
            </a:extLst>
          </p:cNvPr>
          <p:cNvSpPr>
            <a:spLocks xmlns:a="http://schemas.openxmlformats.org/drawingml/2006/main" noGrp="1"/>
          </p:cNvSpPr>
          <p:nvPr/>
        </p:nvSpPr>
        <p:spPr>
          <a:xfrm xmlns:a="http://schemas.openxmlformats.org/drawingml/2006/main">
            <a:off x="762000" y="33337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208CAB-B3CE-40EE-9329-C60330FCC209}"/>
              </a:ext>
            </a:extLst>
          </p:cNvPr>
          <p:cNvSpPr>
            <a:spLocks xmlns:a="http://schemas.openxmlformats.org/drawingml/2006/main" noGrp="1"/>
          </p:cNvSpPr>
          <p:nvPr/>
        </p:nvSpPr>
        <p:spPr>
          <a:xfrm xmlns:a="http://schemas.openxmlformats.org/drawingml/2006/main">
            <a:off x="76200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HONx reverse split</a:t>
            </a:r>
          </a:p>
        </p:txBody>
      </p:sp>
      <p:sp>
        <p:nvSpPr>
          <p:cNvPr id="14" name="">
            <a:extLst xmlns:a="http://schemas.openxmlformats.org/drawingml/2006/main">
              <a:ext uri="{FF2B5EF4-FFF2-40B4-BE49-F238E27FC236}">
                <a16:creationId xmlns:a16="http://schemas.microsoft.com/office/drawing/2014/main" id="{0544977F-CBE0-4341-9C39-110538740BE2}"/>
              </a:ext>
            </a:extLst>
          </p:cNvPr>
          <p:cNvSpPr>
            <a:spLocks xmlns:a="http://schemas.openxmlformats.org/drawingml/2006/main" noGrp="1"/>
          </p:cNvSpPr>
          <p:nvPr/>
        </p:nvSpPr>
        <p:spPr>
          <a:xfrm xmlns:a="http://schemas.openxmlformats.org/drawingml/2006/main">
            <a:off x="4333875" y="37147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B42318"/>
                </a:solidFill>
                <a:latin typeface="Helvetica Neue"/>
                <a:ea typeface="Helvetica Neue"/>
                <a:cs typeface="Helvetica Neue"/>
              </a:defRPr>
            </a:pPr>
            <a:r>
              <a:rPr sz="1725" b="1">
                <a:solidFill>
                  <a:srgbClr val="B42318"/>
                </a:solidFill>
                <a:latin typeface="Helvetica Neue"/>
                <a:ea typeface="Helvetica Neue"/>
                <a:cs typeface="Helvetica Neue"/>
              </a:rPr>
              <a:t>Reject as a dividend; allocate no dividend yield</a:t>
            </a:r>
          </a:p>
        </p:txBody>
      </p:sp>
      <p:sp>
        <p:nvSpPr>
          <p:cNvPr id="15" name="">
            <a:extLst xmlns:a="http://schemas.openxmlformats.org/drawingml/2006/main">
              <a:ext uri="{FF2B5EF4-FFF2-40B4-BE49-F238E27FC236}">
                <a16:creationId xmlns:a16="http://schemas.microsoft.com/office/drawing/2014/main" id="{86C2DD48-B212-4725-B0E3-93291A7AB379}"/>
              </a:ext>
            </a:extLst>
          </p:cNvPr>
          <p:cNvSpPr>
            <a:spLocks xmlns:a="http://schemas.openxmlformats.org/drawingml/2006/main" noGrp="1"/>
          </p:cNvSpPr>
          <p:nvPr/>
        </p:nvSpPr>
        <p:spPr>
          <a:xfrm xmlns:a="http://schemas.openxmlformats.org/drawingml/2006/main">
            <a:off x="76200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29 Jun 2026 · event ccb423… v2</a:t>
            </a:r>
          </a:p>
        </p:txBody>
      </p:sp>
      <p:sp>
        <p:nvSpPr>
          <p:cNvPr id="16" name="">
            <a:extLst xmlns:a="http://schemas.openxmlformats.org/drawingml/2006/main">
              <a:ext uri="{FF2B5EF4-FFF2-40B4-BE49-F238E27FC236}">
                <a16:creationId xmlns:a16="http://schemas.microsoft.com/office/drawing/2014/main" id="{BE8E5090-2230-4AAF-A15E-F2802D4137D8}"/>
              </a:ext>
            </a:extLst>
          </p:cNvPr>
          <p:cNvSpPr>
            <a:spLocks xmlns:a="http://schemas.openxmlformats.org/drawingml/2006/main" noGrp="1"/>
          </p:cNvSpPr>
          <p:nvPr/>
        </p:nvSpPr>
        <p:spPr>
          <a:xfrm xmlns:a="http://schemas.openxmlformats.org/drawingml/2006/main">
            <a:off x="762000" y="461010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302B2E9-73A6-45CC-B102-93435DE2FDCA}"/>
              </a:ext>
            </a:extLst>
          </p:cNvPr>
          <p:cNvSpPr>
            <a:spLocks xmlns:a="http://schemas.openxmlformats.org/drawingml/2006/main" noGrp="1"/>
          </p:cNvSpPr>
          <p:nvPr/>
        </p:nvSpPr>
        <p:spPr>
          <a:xfrm xmlns:a="http://schemas.openxmlformats.org/drawingml/2006/main">
            <a:off x="762000" y="50673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Check the issuer event and the onchain multiplier together.</a:t>
            </a:r>
          </a:p>
        </p:txBody>
      </p:sp>
      <p:sp>
        <p:nvSpPr>
          <p:cNvPr id="18" name="">
            <a:extLst xmlns:a="http://schemas.openxmlformats.org/drawingml/2006/main">
              <a:ext uri="{FF2B5EF4-FFF2-40B4-BE49-F238E27FC236}">
                <a16:creationId xmlns:a16="http://schemas.microsoft.com/office/drawing/2014/main" id="{1D2548AD-1AAD-428F-9742-D00A0842BE85}"/>
              </a:ext>
            </a:extLst>
          </p:cNvPr>
          <p:cNvSpPr>
            <a:spLocks xmlns:a="http://schemas.openxmlformats.org/drawingml/2006/main" noGrp="1"/>
          </p:cNvSpPr>
          <p:nvPr/>
        </p:nvSpPr>
        <p:spPr>
          <a:xfrm xmlns:a="http://schemas.openxmlformats.org/drawingml/2006/main">
            <a:off x="762000" y="56388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820"/>
                </a:solidFill>
                <a:latin typeface="Helvetica Neue"/>
                <a:ea typeface="Helvetica Neue"/>
                <a:cs typeface="Helvetica Neue"/>
              </a:defRPr>
            </a:pPr>
            <a:r>
              <a:rPr b="1">
                <a:solidFill>
                  <a:srgbClr val="1639A6"/>
                </a:solidFill>
                <a:latin typeface="Helvetica Neue"/>
                <a:ea typeface="Helvetica Neue"/>
                <a:cs typeface="Helvetica Neue"/>
              </a:rPr>
              <a:t>Pendle</a:t>
            </a:r>
            <a:r>
              <a:rPr>
                <a:solidFill>
                  <a:srgbClr val="53606B"/>
                </a:solidFill>
                <a:latin typeface="Helvetica Neue"/>
                <a:ea typeface="Helvetica Neue"/>
                <a:cs typeface="Helvetica Neue"/>
              </a:rPr>
              <a:t> provides the yield-splitting model. Equities need corporate-action rules.</a:t>
            </a:r>
          </a:p>
        </p:txBody>
      </p:sp>
    </p:spTree>
    <p:extLst>
      <p:ext uri="{BB962C8B-B14F-4D97-AF65-F5344CB8AC3E}">
        <p14:creationId xmlns:p14="http://schemas.microsoft.com/office/powerpoint/2010/main" val="1554237532"/>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B29871-A1F1-4BEA-A76D-08F77308FC6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A84354-1F67-47FF-844C-72BDEEFFA58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3676E8-A641-4DB3-A5C4-8DA9F05A9B5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3AE28848-93BC-4215-89A4-85C1F01DF10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real dividend, already inspectable</a:t>
            </a:r>
          </a:p>
        </p:txBody>
      </p:sp>
      <p:sp>
        <p:nvSpPr>
          <p:cNvPr id="5" name="">
            <a:extLst xmlns:a="http://schemas.openxmlformats.org/drawingml/2006/main">
              <a:ext uri="{FF2B5EF4-FFF2-40B4-BE49-F238E27FC236}">
                <a16:creationId xmlns:a16="http://schemas.microsoft.com/office/drawing/2014/main" id="{9FCF2B9C-FF66-4C65-9A59-63A61F3C427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c3646dff7eb470a"/>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F8843142-3502-4D83-91DB-B18C497C5D3A}"/>
              </a:ext>
            </a:extLst>
          </p:cNvPr>
          <p:cNvSpPr>
            <a:spLocks xmlns:a="http://schemas.openxmlformats.org/drawingml/2006/main" noGrp="1"/>
          </p:cNvSpPr>
          <p:nvPr/>
        </p:nvSpPr>
        <p:spPr>
          <a:xfrm xmlns:a="http://schemas.openxmlformats.org/drawingml/2006/main">
            <a:off x="83343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BB91F031-0FC3-4D27-94CD-46C963542FB8}"/>
              </a:ext>
            </a:extLst>
          </p:cNvPr>
          <p:cNvSpPr>
            <a:spLocks xmlns:a="http://schemas.openxmlformats.org/drawingml/2006/main" noGrp="1"/>
          </p:cNvSpPr>
          <p:nvPr/>
        </p:nvSpPr>
        <p:spPr>
          <a:xfrm xmlns:a="http://schemas.openxmlformats.org/drawingml/2006/main">
            <a:off x="8334375" y="21907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100 KOx before the event</a:t>
            </a:r>
          </a:p>
        </p:txBody>
      </p:sp>
      <p:sp>
        <p:nvSpPr>
          <p:cNvPr id="9" name="">
            <a:extLst xmlns:a="http://schemas.openxmlformats.org/drawingml/2006/main">
              <a:ext uri="{FF2B5EF4-FFF2-40B4-BE49-F238E27FC236}">
                <a16:creationId xmlns:a16="http://schemas.microsoft.com/office/drawing/2014/main" id="{99B0A1FD-815E-4B37-8330-20419BB3D5E9}"/>
              </a:ext>
            </a:extLst>
          </p:cNvPr>
          <p:cNvSpPr>
            <a:spLocks xmlns:a="http://schemas.openxmlformats.org/drawingml/2006/main" noGrp="1"/>
          </p:cNvSpPr>
          <p:nvPr/>
        </p:nvSpPr>
        <p:spPr>
          <a:xfrm xmlns:a="http://schemas.openxmlformats.org/drawingml/2006/main">
            <a:off x="8334375" y="29718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2457F5"/>
                </a:solidFill>
                <a:latin typeface="Helvetica Neue"/>
                <a:ea typeface="Helvetica Neue"/>
                <a:cs typeface="Helvetica Neue"/>
              </a:defRPr>
            </a:pPr>
            <a:r>
              <a:rPr sz="2250" b="1">
                <a:solidFill>
                  <a:srgbClr val="2457F5"/>
                </a:solidFill>
                <a:latin typeface="Helvetica Neue"/>
                <a:ea typeface="Helvetica Neue"/>
                <a:cs typeface="Helvetica Neue"/>
              </a:rPr>
              <a:t>100.0000 KOx</a:t>
            </a:r>
          </a:p>
        </p:txBody>
      </p:sp>
      <p:sp>
        <p:nvSpPr>
          <p:cNvPr id="10" name="">
            <a:extLst xmlns:a="http://schemas.openxmlformats.org/drawingml/2006/main">
              <a:ext uri="{FF2B5EF4-FFF2-40B4-BE49-F238E27FC236}">
                <a16:creationId xmlns:a16="http://schemas.microsoft.com/office/drawing/2014/main" id="{F5830632-7929-4373-BEC0-AD4ADD6E26BC}"/>
              </a:ext>
            </a:extLst>
          </p:cNvPr>
          <p:cNvSpPr>
            <a:spLocks xmlns:a="http://schemas.openxmlformats.org/drawingml/2006/main" noGrp="1"/>
          </p:cNvSpPr>
          <p:nvPr/>
        </p:nvSpPr>
        <p:spPr>
          <a:xfrm xmlns:a="http://schemas.openxmlformats.org/drawingml/2006/main">
            <a:off x="8334375" y="3352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stock exposure</a:t>
            </a:r>
          </a:p>
        </p:txBody>
      </p:sp>
      <p:sp>
        <p:nvSpPr>
          <p:cNvPr id="11" name="">
            <a:extLst xmlns:a="http://schemas.openxmlformats.org/drawingml/2006/main">
              <a:ext uri="{FF2B5EF4-FFF2-40B4-BE49-F238E27FC236}">
                <a16:creationId xmlns:a16="http://schemas.microsoft.com/office/drawing/2014/main" id="{E1F0B5F6-D519-4F68-A163-F2596C831999}"/>
              </a:ext>
            </a:extLst>
          </p:cNvPr>
          <p:cNvSpPr>
            <a:spLocks xmlns:a="http://schemas.openxmlformats.org/drawingml/2006/main" noGrp="1"/>
          </p:cNvSpPr>
          <p:nvPr/>
        </p:nvSpPr>
        <p:spPr>
          <a:xfrm xmlns:a="http://schemas.openxmlformats.org/drawingml/2006/main">
            <a:off x="8334375" y="38290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C46A00"/>
                </a:solidFill>
                <a:latin typeface="Helvetica Neue"/>
                <a:ea typeface="Helvetica Neue"/>
                <a:cs typeface="Helvetica Neue"/>
              </a:defRPr>
            </a:pPr>
            <a:r>
              <a:rPr sz="2250" b="1">
                <a:solidFill>
                  <a:srgbClr val="C46A00"/>
                </a:solidFill>
                <a:latin typeface="Helvetica Neue"/>
                <a:ea typeface="Helvetica Neue"/>
                <a:cs typeface="Helvetica Neue"/>
              </a:rPr>
              <a:t>+ 0.4152 KOx</a:t>
            </a:r>
          </a:p>
        </p:txBody>
      </p:sp>
      <p:sp>
        <p:nvSpPr>
          <p:cNvPr id="12" name="">
            <a:extLst xmlns:a="http://schemas.openxmlformats.org/drawingml/2006/main">
              <a:ext uri="{FF2B5EF4-FFF2-40B4-BE49-F238E27FC236}">
                <a16:creationId xmlns:a16="http://schemas.microsoft.com/office/drawing/2014/main" id="{F929EA70-80F3-41FE-AE26-1CDBBBE4FE3A}"/>
              </a:ext>
            </a:extLst>
          </p:cNvPr>
          <p:cNvSpPr>
            <a:spLocks xmlns:a="http://schemas.openxmlformats.org/drawingml/2006/main" noGrp="1"/>
          </p:cNvSpPr>
          <p:nvPr/>
        </p:nvSpPr>
        <p:spPr>
          <a:xfrm xmlns:a="http://schemas.openxmlformats.org/drawingml/2006/main">
            <a:off x="8334375" y="42100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dividend allocation</a:t>
            </a:r>
          </a:p>
        </p:txBody>
      </p:sp>
      <p:sp>
        <p:nvSpPr>
          <p:cNvPr id="13" name="">
            <a:extLst xmlns:a="http://schemas.openxmlformats.org/drawingml/2006/main">
              <a:ext uri="{FF2B5EF4-FFF2-40B4-BE49-F238E27FC236}">
                <a16:creationId xmlns:a16="http://schemas.microsoft.com/office/drawing/2014/main" id="{D27D3B4F-3582-4DBF-A294-A406E1BC51C6}"/>
              </a:ext>
            </a:extLst>
          </p:cNvPr>
          <p:cNvSpPr>
            <a:spLocks xmlns:a="http://schemas.openxmlformats.org/drawingml/2006/main" noGrp="1"/>
          </p:cNvSpPr>
          <p:nvPr/>
        </p:nvSpPr>
        <p:spPr>
          <a:xfrm xmlns:a="http://schemas.openxmlformats.org/drawingml/2006/main">
            <a:off x="8334375" y="468630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69280E-06A7-416A-B45E-ADB0BB0CF868}"/>
              </a:ext>
            </a:extLst>
          </p:cNvPr>
          <p:cNvSpPr>
            <a:spLocks xmlns:a="http://schemas.openxmlformats.org/drawingml/2006/main" noGrp="1"/>
          </p:cNvSpPr>
          <p:nvPr/>
        </p:nvSpPr>
        <p:spPr>
          <a:xfrm xmlns:a="http://schemas.openxmlformats.org/drawingml/2006/main">
            <a:off x="8334375" y="49339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101820"/>
                </a:solidFill>
                <a:latin typeface="Helvetica Neue"/>
                <a:ea typeface="Helvetica Neue"/>
                <a:cs typeface="Helvetica Neue"/>
              </a:defRPr>
            </a:pPr>
            <a:r>
              <a:rPr sz="1275" b="1">
                <a:solidFill>
                  <a:srgbClr val="101820"/>
                </a:solidFill>
                <a:latin typeface="Helvetica Neue"/>
                <a:ea typeface="Helvetica Neue"/>
                <a:cs typeface="Helvetica Neue"/>
              </a:rPr>
              <a:t>KOx issuer adjustment</a:t>
            </a:r>
          </a:p>
        </p:txBody>
      </p:sp>
      <p:sp>
        <p:nvSpPr>
          <p:cNvPr id="15" name="">
            <a:extLst xmlns:a="http://schemas.openxmlformats.org/drawingml/2006/main">
              <a:ext uri="{FF2B5EF4-FFF2-40B4-BE49-F238E27FC236}">
                <a16:creationId xmlns:a16="http://schemas.microsoft.com/office/drawing/2014/main" id="{0BFD7A82-8DC8-4A53-A708-E5F14A1379B8}"/>
              </a:ext>
            </a:extLst>
          </p:cNvPr>
          <p:cNvSpPr>
            <a:spLocks xmlns:a="http://schemas.openxmlformats.org/drawingml/2006/main" noGrp="1"/>
          </p:cNvSpPr>
          <p:nvPr/>
        </p:nvSpPr>
        <p:spPr>
          <a:xfrm xmlns:a="http://schemas.openxmlformats.org/drawingml/2006/main">
            <a:off x="8334375" y="523875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15 September 2026</a:t>
            </a:r>
          </a:p>
        </p:txBody>
      </p:sp>
      <p:sp>
        <p:nvSpPr>
          <p:cNvPr id="16" name="">
            <a:extLst xmlns:a="http://schemas.openxmlformats.org/drawingml/2006/main">
              <a:ext uri="{FF2B5EF4-FFF2-40B4-BE49-F238E27FC236}">
                <a16:creationId xmlns:a16="http://schemas.microsoft.com/office/drawing/2014/main" id="{C08E1783-A49D-4AD4-A637-4EFBF8C62B4B}"/>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106BDF-0D3F-496C-9792-E01201CEE5A6}"/>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214623881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FA09DFC-9E20-43A7-AEAC-0A4FCAFAB8E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1EFCD1-662E-4D79-930B-B544BC8113F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2F0922-D43F-480F-A1E4-C88CDAEFE05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4589190-B9FD-43EC-BE90-4647B2C0573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28CE8B30-A892-4964-9B31-4C51FB8601B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34CFE5F9-13EF-430B-B12B-232CAABFB0A0}"/>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32C9F2D0-C693-4260-B1D7-6445DB8B5C5D}"/>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43A8104-30E8-491B-A9AF-643E54E10AD6}"/>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93E488D7-D5B4-4B1F-BD6C-A40E21D8068E}"/>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50C30520-0BEF-48FD-B473-4762F90CC885}"/>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claim">
            <a:extLst xmlns:a="http://schemas.openxmlformats.org/drawingml/2006/main">
              <a:ext uri="{FF2B5EF4-FFF2-40B4-BE49-F238E27FC236}">
                <a16:creationId xmlns:a16="http://schemas.microsoft.com/office/drawing/2014/main" id="{8A39C617-C720-4BA9-9089-433A39728B0D}"/>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6925B062-3B84-40D3-8B76-0146042F335E}"/>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 claim</a:t>
            </a:r>
          </a:p>
        </p:txBody>
      </p:sp>
      <p:sp>
        <p:nvSpPr>
          <p:cNvPr id="13" name="Redeem separately">
            <a:extLst xmlns:a="http://schemas.openxmlformats.org/drawingml/2006/main">
              <a:ext uri="{FF2B5EF4-FFF2-40B4-BE49-F238E27FC236}">
                <a16:creationId xmlns:a16="http://schemas.microsoft.com/office/drawing/2014/main" id="{70AAC326-2796-43B5-ABEC-38609B4C6E07}"/>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35D92A12-82CD-4819-86CA-29CD4835A601}"/>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cxnSp>
        <p:nvCxnSpPr>
          <p:cNvPr id="41"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sp>
        <p:nvSpPr>
          <p:cNvPr id="18" name="">
            <a:extLst xmlns:a="http://schemas.openxmlformats.org/drawingml/2006/main">
              <a:ext uri="{FF2B5EF4-FFF2-40B4-BE49-F238E27FC236}">
                <a16:creationId xmlns:a16="http://schemas.microsoft.com/office/drawing/2014/main" id="{85CCD53A-4B77-4D3D-861B-75D08FB6FB27}"/>
              </a:ext>
            </a:extLst>
          </p:cNvPr>
          <p:cNvSpPr>
            <a:spLocks xmlns:a="http://schemas.openxmlformats.org/drawingml/2006/main" noGrp="1"/>
          </p:cNvSpPr>
          <p:nvPr/>
        </p:nvSpPr>
        <p:spPr>
          <a:xfrm xmlns:a="http://schemas.openxmlformats.org/drawingml/2006/main">
            <a:off x="762000" y="37719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Build one complete flow with test assets and a real historical event.</a:t>
            </a:r>
          </a:p>
        </p:txBody>
      </p:sp>
      <p:sp>
        <p:nvSpPr>
          <p:cNvPr id="19" name="">
            <a:extLst xmlns:a="http://schemas.openxmlformats.org/drawingml/2006/main">
              <a:ext uri="{FF2B5EF4-FFF2-40B4-BE49-F238E27FC236}">
                <a16:creationId xmlns:a16="http://schemas.microsoft.com/office/drawing/2014/main" id="{321A352E-85CB-4563-A4E3-E9EB24CF209B}"/>
              </a:ext>
            </a:extLst>
          </p:cNvPr>
          <p:cNvSpPr>
            <a:spLocks xmlns:a="http://schemas.openxmlformats.org/drawingml/2006/main" noGrp="1"/>
          </p:cNvSpPr>
          <p:nvPr/>
        </p:nvSpPr>
        <p:spPr>
          <a:xfrm xmlns:a="http://schemas.openxmlformats.org/drawingml/2006/main">
            <a:off x="762000" y="4448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577A43-DD92-4E4D-A3F5-2B805967D6E1}"/>
              </a:ext>
            </a:extLst>
          </p:cNvPr>
          <p:cNvSpPr>
            <a:spLocks xmlns:a="http://schemas.openxmlformats.org/drawingml/2006/main" noGrp="1"/>
          </p:cNvSpPr>
          <p:nvPr/>
        </p:nvSpPr>
        <p:spPr>
          <a:xfrm xmlns:a="http://schemas.openxmlformats.org/drawingml/2006/main">
            <a:off x="762000" y="47815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NEXT</a:t>
            </a:r>
          </a:p>
        </p:txBody>
      </p:sp>
      <p:sp>
        <p:nvSpPr>
          <p:cNvPr id="21" name="">
            <a:extLst xmlns:a="http://schemas.openxmlformats.org/drawingml/2006/main">
              <a:ext uri="{FF2B5EF4-FFF2-40B4-BE49-F238E27FC236}">
                <a16:creationId xmlns:a16="http://schemas.microsoft.com/office/drawing/2014/main" id="{F970807A-685C-46B8-B3BE-4EC50A645BD2}"/>
              </a:ext>
            </a:extLst>
          </p:cNvPr>
          <p:cNvSpPr>
            <a:spLocks xmlns:a="http://schemas.openxmlformats.org/drawingml/2006/main" noGrp="1"/>
          </p:cNvSpPr>
          <p:nvPr/>
        </p:nvSpPr>
        <p:spPr>
          <a:xfrm xmlns:a="http://schemas.openxmlformats.org/drawingml/2006/main">
            <a:off x="1981200" y="47053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2457F5"/>
                </a:solidFill>
                <a:latin typeface="Helvetica Neue"/>
                <a:ea typeface="Helvetica Neue"/>
                <a:cs typeface="Helvetica Neue"/>
              </a:defRPr>
            </a:pPr>
            <a:r>
              <a:rPr sz="2025" b="1">
                <a:solidFill>
                  <a:srgbClr val="2457F5"/>
                </a:solidFill>
                <a:latin typeface="Helvetica Neue"/>
                <a:ea typeface="Helvetica Neue"/>
                <a:cs typeface="Helvetica Neue"/>
              </a:rPr>
              <a:t>A future live series</a:t>
            </a:r>
          </a:p>
        </p:txBody>
      </p:sp>
      <p:sp>
        <p:nvSpPr>
          <p:cNvPr id="22" name="">
            <a:extLst xmlns:a="http://schemas.openxmlformats.org/drawingml/2006/main">
              <a:ext uri="{FF2B5EF4-FFF2-40B4-BE49-F238E27FC236}">
                <a16:creationId xmlns:a16="http://schemas.microsoft.com/office/drawing/2014/main" id="{5C1C4590-1ED7-442B-809E-D6AE7BEEFCAB}"/>
              </a:ext>
            </a:extLst>
          </p:cNvPr>
          <p:cNvSpPr>
            <a:spLocks xmlns:a="http://schemas.openxmlformats.org/drawingml/2006/main" noGrp="1"/>
          </p:cNvSpPr>
          <p:nvPr/>
        </p:nvSpPr>
        <p:spPr>
          <a:xfrm xmlns:a="http://schemas.openxmlformats.org/drawingml/2006/main">
            <a:off x="5572125" y="47053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then additional stocks and issuers</a:t>
            </a:r>
          </a:p>
        </p:txBody>
      </p:sp>
      <p:sp>
        <p:nvSpPr>
          <p:cNvPr id="23" name="">
            <a:extLst xmlns:a="http://schemas.openxmlformats.org/drawingml/2006/main">
              <a:ext uri="{FF2B5EF4-FFF2-40B4-BE49-F238E27FC236}">
                <a16:creationId xmlns:a16="http://schemas.microsoft.com/office/drawing/2014/main" id="{FC6DE2B8-A994-4FC0-AAAC-D1F758DB5C45}"/>
              </a:ext>
            </a:extLst>
          </p:cNvPr>
          <p:cNvSpPr>
            <a:spLocks xmlns:a="http://schemas.openxmlformats.org/drawingml/2006/main" noGrp="1"/>
          </p:cNvSpPr>
          <p:nvPr/>
        </p:nvSpPr>
        <p:spPr>
          <a:xfrm xmlns:a="http://schemas.openxmlformats.org/drawingml/2006/main">
            <a:off x="762000" y="5448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Backpack remains a candidate after its corporate-action data is verified. No partnership or integration is claimed.</a:t>
            </a:r>
          </a:p>
        </p:txBody>
      </p:sp>
      <p:sp>
        <p:nvSpPr>
          <p:cNvPr id="24" name="">
            <a:extLst xmlns:a="http://schemas.openxmlformats.org/drawingml/2006/main">
              <a:ext uri="{FF2B5EF4-FFF2-40B4-BE49-F238E27FC236}">
                <a16:creationId xmlns:a16="http://schemas.microsoft.com/office/drawing/2014/main" id="{6CD2DD0A-28DF-4613-9FF3-9032EC1C38A1}"/>
              </a:ext>
            </a:extLst>
          </p:cNvPr>
          <p:cNvSpPr>
            <a:spLocks xmlns:a="http://schemas.openxmlformats.org/drawingml/2006/main" noGrp="1"/>
          </p:cNvSpPr>
          <p:nvPr/>
        </p:nvSpPr>
        <p:spPr>
          <a:xfrm xmlns:a="http://schemas.openxmlformats.org/drawingml/2006/main">
            <a:off x="762000" y="61150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Keep the stock exposure. Sell the dividend rights.</a:t>
            </a:r>
          </a:p>
        </p:txBody>
      </p:sp>
    </p:spTree>
    <p:extLst>
      <p:ext uri="{BB962C8B-B14F-4D97-AF65-F5344CB8AC3E}">
        <p14:creationId xmlns:p14="http://schemas.microsoft.com/office/powerpoint/2010/main" val="940947510"/>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2026-09-16T04:39:10.6970000Z</dcterms:created>
  <dcterms:modified xsi:type="dcterms:W3CDTF">2026-09-16T04:39:10.6970000Z</dcterms:modified>
</coreProperties>
</file>