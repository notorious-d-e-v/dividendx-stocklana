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037f1e1453a43c1" /><Relationship Type="http://schemas.openxmlformats.org/officeDocument/2006/relationships/extended-properties" Target="/docProps/app.xml" Id="R1e239fc4fb44477c" /><Relationship Type="http://schemas.openxmlformats.org/officeDocument/2006/relationships/officeDocument" Target="/ppt/presentation.xml" Id="R329352aad03248d2" /></Relationships>
</file>

<file path=ppt/presentation.xml><?xml version="1.0" encoding="utf-8"?>
<p:presentation xmlns:p="http://schemas.openxmlformats.org/presentationml/2006/main">
  <p:sldMasterIdLst>
    <p:sldMasterId xmlns:r="http://schemas.openxmlformats.org/officeDocument/2006/relationships" id="2147483648" r:id="Rc3b8963a8d2847ad"/>
  </p:sldMasterIdLst>
  <p:notesMasterIdLst>
    <p:notesMasterId xmlns:r="http://schemas.openxmlformats.org/officeDocument/2006/relationships" r:id="Rcb589c7ba85049c3"/>
  </p:notesMasterIdLst>
  <p:sldIdLst>
    <p:sldId xmlns:r="http://schemas.openxmlformats.org/officeDocument/2006/relationships" id="256" r:id="R5584e93d8c9c4a1e"/>
    <p:sldId xmlns:r="http://schemas.openxmlformats.org/officeDocument/2006/relationships" id="257" r:id="R612a53129e8a48dc"/>
    <p:sldId xmlns:r="http://schemas.openxmlformats.org/officeDocument/2006/relationships" id="258" r:id="R7b6ea39fa57a4976"/>
    <p:sldId xmlns:r="http://schemas.openxmlformats.org/officeDocument/2006/relationships" id="259" r:id="Rff412283f1d446a4"/>
    <p:sldId xmlns:r="http://schemas.openxmlformats.org/officeDocument/2006/relationships" id="260" r:id="Rd6b4706891ca4701"/>
    <p:sldId xmlns:r="http://schemas.openxmlformats.org/officeDocument/2006/relationships" id="261" r:id="R54181b3806dd4aea"/>
    <p:sldId xmlns:r="http://schemas.openxmlformats.org/officeDocument/2006/relationships" id="262" r:id="Ra684655ea984475e"/>
    <p:sldId xmlns:r="http://schemas.openxmlformats.org/officeDocument/2006/relationships" id="263" r:id="R5266d4eb0cb74b01"/>
    <p:sldId xmlns:r="http://schemas.openxmlformats.org/officeDocument/2006/relationships" id="264" r:id="R52c5de517ce645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d7abfd4de2d4cb1" /><Relationship Type="http://schemas.openxmlformats.org/officeDocument/2006/relationships/slideMaster" Target="/ppt/slideMasters/slideMaster1.xml" Id="Rc3b8963a8d2847ad" /><Relationship Type="http://schemas.openxmlformats.org/officeDocument/2006/relationships/notesMaster" Target="/ppt/notesMasters/notesMaster1.xml" Id="Rcb589c7ba85049c3" /><Relationship Type="http://schemas.openxmlformats.org/officeDocument/2006/relationships/presProps" Target="/ppt/presProps.xml" Id="Rcb3bb2f6e06840b5" /><Relationship Type="http://schemas.openxmlformats.org/officeDocument/2006/relationships/tableStyles" Target="/ppt/tableStyles.xml" Id="Rad6d454a582544b5" /><Relationship Type="http://schemas.openxmlformats.org/officeDocument/2006/relationships/slide" Target="/ppt/slides/slide1.xml" Id="R5584e93d8c9c4a1e" /><Relationship Type="http://schemas.openxmlformats.org/officeDocument/2006/relationships/slide" Target="/ppt/slides/slide2.xml" Id="R612a53129e8a48dc" /><Relationship Type="http://schemas.openxmlformats.org/officeDocument/2006/relationships/slide" Target="/ppt/slides/slide3.xml" Id="R7b6ea39fa57a4976" /><Relationship Type="http://schemas.openxmlformats.org/officeDocument/2006/relationships/slide" Target="/ppt/slides/slide4.xml" Id="Rff412283f1d446a4" /><Relationship Type="http://schemas.openxmlformats.org/officeDocument/2006/relationships/slide" Target="/ppt/slides/slide5.xml" Id="Rd6b4706891ca4701" /><Relationship Type="http://schemas.openxmlformats.org/officeDocument/2006/relationships/slide" Target="/ppt/slides/slide6.xml" Id="R54181b3806dd4aea" /><Relationship Type="http://schemas.openxmlformats.org/officeDocument/2006/relationships/slide" Target="/ppt/slides/slide7.xml" Id="Ra684655ea984475e" /><Relationship Type="http://schemas.openxmlformats.org/officeDocument/2006/relationships/slide" Target="/ppt/slides/slide8.xml" Id="R5266d4eb0cb74b01" /><Relationship Type="http://schemas.openxmlformats.org/officeDocument/2006/relationships/slide" Target="/ppt/slides/slide9.xml" Id="R52c5de517ce645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63b9fdcd1b41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a1b7559d154c8d" /><Relationship Type="http://schemas.openxmlformats.org/officeDocument/2006/relationships/notesMaster" Target="/ppt/notesMasters/notesMaster1.xml" Id="R8027e81085ce47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6c1f945c624ce2" /><Relationship Type="http://schemas.openxmlformats.org/officeDocument/2006/relationships/notesMaster" Target="/ppt/notesMasters/notesMaster1.xml" Id="R724c6d4be8e0460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8e9ebbf1c042f5" /><Relationship Type="http://schemas.openxmlformats.org/officeDocument/2006/relationships/notesMaster" Target="/ppt/notesMasters/notesMaster1.xml" Id="R10b7e3d4173c41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13963b27ec047e6" /><Relationship Type="http://schemas.openxmlformats.org/officeDocument/2006/relationships/notesMaster" Target="/ppt/notesMasters/notesMaster1.xml" Id="Rf424de6933324cbd"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6af8ac7b944183" /><Relationship Type="http://schemas.openxmlformats.org/officeDocument/2006/relationships/notesMaster" Target="/ppt/notesMasters/notesMaster1.xml" Id="R877a03e6c88542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24d130f5d54781" /><Relationship Type="http://schemas.openxmlformats.org/officeDocument/2006/relationships/notesMaster" Target="/ppt/notesMasters/notesMaster1.xml" Id="Re2597f2d82d941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99179026c8834346" /><Relationship Type="http://schemas.openxmlformats.org/officeDocument/2006/relationships/notesMaster" Target="/ppt/notesMasters/notesMaster1.xml" Id="Rfd53864d081d47d7"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76d2a5efc24b6d" /><Relationship Type="http://schemas.openxmlformats.org/officeDocument/2006/relationships/notesMaster" Target="/ppt/notesMasters/notesMaster1.xml" Id="R4739171e81154cbf" /></Relationships>
</file>

<file path=ppt/notesSlides/_rels/notesSlide9.xml.rels>&#65279;<?xml version="1.0" encoding="utf-8"?><Relationships xmlns="http://schemas.openxmlformats.org/package/2006/relationships"><Relationship Type="http://schemas.openxmlformats.org/officeDocument/2006/relationships/slide" Target="/ppt/slides/slide9.xml" Id="Rcd61a41a40b04203" /><Relationship Type="http://schemas.openxmlformats.org/officeDocument/2006/relationships/notesMaster" Target="/ppt/notesMasters/notesMaster1.xml" Id="R42f393eb9cd842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DivX lets a stock holder keep the stock exposure and sell the dividend rights. We are building a permissionless dividend market for selected stock tokens from xStocks, Backpack and Ondo on Solana.</a:t>
            </a:r>
          </a:p>
          <a:p xmlns:a="http://schemas.openxmlformats.org/drawingml/2006/main">
            <a:r>
              <a:t>Presenter notes: The protocol is not launched. Current software is an approved interface and working historical calculator. Selected integration scope does not mean every token from these issuers is eligible or already integrated.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Traditional finance already has both sides: banks sell dividend exposure to manage risk from structured products; asset managers such as Survista buy discounted dividend futures. DivX brings that choice to tokenized-stock holders: keep the stock exposure and sell the dividend rights.</a:t>
            </a:r>
          </a:p>
          <a:p xmlns:a="http://schemas.openxmlformats.org/drawingml/2006/main">
            <a:r>
              <a:t>Presenter notes: The institutions shown are participants in traditional dividend markets, not DivX users. Bank direction varies by book and tenor; hedge funds can buy or sell. Traditional dividend futures and swaps are generally cash-settled. DivX allocates collateral in the deposited stock token, and proceeds require a willing buyer at an agreed price.</a:t>
            </a:r>
          </a:p>
          <a:p xmlns:a="http://schemas.openxmlformats.org/drawingml/2006/main">
            <a:r>
              <a:t>Sources (accessed/observed 16 September 2026 unless stated): Eurex 2025 whitepaper, pp. 31–32: https://www.eurex.com/resource/blob/4418754/f90fd622a278beb08757729864e93925/data/whitepaper-derivatives-forum-frankfurt-2025.pdf | CME, Trading Dividend Uncertainty, 2024: https://www.cmegroup.com/articles/2024/trading-dividend-uncertainty.html | CME dividend-futures primer, 2024: https://www.cmegroup.com/articles/2024/equity-index-dividend-futures-a-primer.html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One deposit enters a locked vault. The program issues two paired claims: PT for the stock exposure and DR for the dividend-derived share. Each pair is backed by its own stock-token collateral and redeems in that token. Its dollar value can change.</a:t>
            </a:r>
          </a:p>
          <a:p xmlns:a="http://schemas.openxmlformats.org/drawingml/2006/main">
            <a:r>
              <a:t>Presenter notes: This describes product mechanics, not deployed execution. Each vault isolates one issuer, mint and event. The supported Scaled UI reinvestment model shares raw-unit allocation rules across qualified xStocks, Backpack and Ondo tokens. Reinvested-token settlement stays in the deposited token. No third circulating wrapper exists. Deposit must precede the supported event, and claim receipt units differ from raw redemption allocations.</a:t>
            </a:r>
          </a:p>
          <a:p xmlns:a="http://schemas.openxmlformats.org/drawingml/2006/main">
            <a:r>
              <a:t>Sources (accessed/observed 16 September 2026 unless stated): xStocks multipliers: https://docs.xstocks.fi/developers/multipliers | Backpack MU: https://learn.backpack.exchange/blog/tokenized-micron-mu | Ondo corporate actions: https://docs.ondo.finance/ondo-stocks/corporate-actions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Eurex handled more than 21 million dividend contracts in 2024. Pendle reported 96.4 million dollars of average daily trading volume that year. Investors already trade dividends separately, and crypto users already separate yield. DivX connects those two ideas.</a:t>
            </a:r>
          </a:p>
          <a:p xmlns:a="http://schemas.openxmlformats.org/drawingml/2006/main">
            <a:r>
              <a:t>Presenter notes: Contracts and dollars are different measures. These figures establish precedents; they do not prove demand for DivX or forecast future volume.</a:t>
            </a:r>
          </a:p>
          <a:p xmlns:a="http://schemas.openxmlformats.org/drawingml/2006/main">
            <a:r>
              <a:t>Sources (accessed/observed 16 September 2026 unless stated): Eurex release, published 6 January 2025: https://www.eurex.com/ex-en/find/news-center/news/Eurex-dividend-options-received-CFTC-approval-for-trading-in-the-U.S.--4248358 | Pendle team review, published 4 February 2025: https://medium.com/pendle/pendle-2025-zenith-cf1a91e6e23f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Global dividends totaled 1.75 trillion dollars in 2024. RWA.xyz reported 2.92 billion dollars of tokenized-stock value on September 16, 2026. Our starting package includes familiar dividend payers such as Apple, Microsoft and Coca-Cola, represented by stock tokens on Solana.</a:t>
            </a:r>
          </a:p>
          <a:p xmlns:a="http://schemas.openxmlformats.org/drawingml/2006/main">
            <a:r>
              <a:t>Presenter notes: The RWA.xyz total is global and includes stocks, ETFs, native instruments, and synthetic representations. Eligible Solana dividend collateral is only a subset. Initial scope names issuer families under review, not a supported-token inventory or partnership announcement. The two measures are not additive TAM and do not support a growth estimate. The selected package contains 15 candidate mints across six companies: all six from xStocks and Ondo, and Micron, Nike and IBM from Backpack; this is not 15 completed integrations.</a:t>
            </a:r>
          </a:p>
          <a:p xmlns:a="http://schemas.openxmlformats.org/drawingml/2006/main">
            <a:r>
              <a:t>Sources (accessed/observed 16 September 2026 unless stated): Janus Henderson, published 2025: https://www.janushenderson.com/en-dk/advisor/press-releases/global-dividends-jumped-to-a-record-1-75-trillion-in-2024/ | RWA.xyz Stocks dashboard, observed and reconfirmed 16 September 2026: https://app.rwa.xyz/stocks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Solana lets stock tokens from different issuers use the same vault design. Each issuer's dividend data feeds common allocation rules. One transaction deposits collateral and creates both claims. Holders use the same deposit, trade and redemption flow, while each issuer's collateral stays separate.</a:t>
            </a:r>
          </a:p>
          <a:p xmlns:a="http://schemas.openxmlformats.org/drawingml/2006/main">
            <a:r>
              <a:t>Presenter notes: All three observed families use Token-2022 Scaled UI Amount, so qualified reinvested-dividend accounting can share one engine. Each issuer still needs its own event reader and custody checks. Exact mint, decimals, event source, extensions and issuer controls stay pinned per series. The engine never pools collateral, makes claims across issuers fungible, or guarantees liquidity. Permissioned holder or approved-vault products, no-dividend products and fee-bearing products are outside scope, not an upcoming integration track. Permissionless means no DivX holder allowlist or issuer-specific approved-vault onboarding for admitted assets; underlying issuer controls and product restrictions remain. Ondo documents secondary transferability outside the United States subject to restrictions; issuer KYC for primary issuance or redemption is separate. Exact mint checks, event evidence and execution tests are required before a series opens. xStocks has public event history. Backpack MU has a fully bracketed sourced onchain reconstruction around its DividendDistribute transaction and later ordinary mint/redeem multiplier recomputations; an official event ledger and finality semantics remain unverified. Today's multiplier must not be used as an event factor. Ondo's keyed multiplier history still needs classified event joins, and no Ondo event is source-complete.</a:t>
            </a:r>
          </a:p>
          <a:p xmlns:a="http://schemas.openxmlformats.org/drawingml/2006/main">
            <a:r>
              <a:t>Sources (accessed/observed 16 September 2026 unless stated): xStocks multipliers: https://docs.xstocks.fi/developers/multipliers | xStocks corporate actions: https://docs.xstocks.fi/apis/openapi/corporate-actions | Backpack MU: https://learn.backpack.exchange/blog/tokenized-micron-mu | Backpack MU finalized DividendDistribute transaction: https://explorer.solana.com/tx/39vTkahE7rUnFypAkKpaHUxwMyuC1nG4nJ12GEm3y9V1Kqep6ijvcX4isqsNXB63s3vsGNDjfi7uFFgH32Te59R | Local Backpack audit: planning/evidence/backpack-scope-mu-raw-transactions-2026-09-16.json | Ondo corporate actions: https://docs.ondo.finance/ondo-stocks/corporate-actions | Ondo multiplier history API: https://docs.ondo.finance/api-reference/assets/get-shares-multiplier-history-for-an-asset | Ondo transferability: https://docs.ondo.finance/ondo-stocks/transferability | Ondo Solana repository: https://github.com/ondoprotocol/global-markets-solana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Dividend claims are divisible, so a holder can sell part of an entitlement and a buyer can take a smaller position. Onchain records let users inspect the vault balance, claims outstanding and redemption history. Other Solana applications can integrate the same claim interface.</a:t>
            </a:r>
          </a:p>
          <a:p xmlns:a="http://schemas.openxmlformats.org/drawingml/2006/main">
            <a:r>
              <a:t>Presenter notes: Onchain auditability covers held collateral and program records. It does not independently prove issuer reserves, correct issuer data, correct program code, or audit certification. Claim transferability remains subject to each eligible series' rules. Corporate-action handling remains technical Q&amp;A: the verified KOx dividend is accepted, while the exact HONx reverse split and later spinoff are unsupported dividend events.</a:t>
            </a:r>
          </a:p>
          <a:p xmlns:a="http://schemas.openxmlformats.org/drawingml/2006/main">
            <a:r>
              <a:t>Sources (accessed/observed 16 September 2026 unless stated): Solana tokens: https://solana.com/docs/tokens | Solana accounts: https://solana.com/docs/core/accounts | Solana transactions: https://solana.com/docs/core/transactions | Token supply RPC: https://solana.com/docs/rpc/http/gettokensupply | KOx history: https://api.xstocks.fi/api/v2/public/corporate-actions/history?page=1&amp;pageSize=100&amp;symbol=KOx&amp;sortBy=createdTimeUtc&amp;sortOrder=asc | HONx history: https://api.xstocks.fi/api/v2/public/corporate-actions/history?page=1&amp;pageSize=100&amp;symbol=HONx&amp;sortBy=createdTimeUtc&amp;sortOrder=asc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Our example uses Coca-Cola, ticker KO, represented on Solana as KOx. For 100 share-equivalents, the historical event separates about 8,935 dollars of stock exposure from 37 dollars and 10 cents of reinvested dividends, valued at the event-implied share price. The calculator makes that allocation inspectable today; vault execution comes next.</a:t>
            </a:r>
          </a:p>
          <a:p xmlns:a="http://schemas.openxmlformats.org/drawingml/2006/main">
            <a:r>
              <a:t>Presenter notes: KOx is the first source-verified reference example, not the only intended issuer. No Backpack or Ondo event is fabricated. Valuation basis: P = $0.371 / (1.0225601246249238 / 1.0183317967386898 - 1) = $89.349999989, approximately $89.35/share. The $37.10 is the event's net reinvestment reference value, not cash paid by DivX, a DR sale price, or a guaranteed payout. Both claims redeem in KOx units and their dollar value changes. Screenshot is a historical scenario, not a wallet position or proof that a vault captured the event. Exact raw Q=9,819,982,084; PT=9,779,376,057; DR=40,606,027; decimals=8; event 75c0c70e-1ae4-4ccd-ace6-d8990e1e8f9e v2. Coca-Cola company payment date is 1 October 2026; issuer adjustment is 15 September.</a:t>
            </a:r>
          </a:p>
          <a:p xmlns:a="http://schemas.openxmlformats.org/drawingml/2006/main">
            <a:r>
              <a:t>Sources (accessed/observed 16 September 2026 unless stated): KOx history: https://api.xstocks.fi/api/v2/public/corporate-actions/history?page=1&amp;pageSize=100&amp;symbol=KOx&amp;sortBy=createdTimeUtc&amp;sortOrder=asc | xStocks multiplier mechanics: https://docs.xstocks.fi/developers/multipliers | Coca-Cola announcement, published 15 July 2026: https://investors.coca-colacompany.com/news-events/press-releases/detail/1165/board-of-directors-of-the-coca-cola-company-elects-new-officer-and-declares-regular-quarterly-dividend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hackathon target is one complete flow across supported Solana stock tokens: deposit, split, sell the dividend, redeem each side separately. We start with selected stocks from xStocks, Backpack and Ondo, proving one dividend event per issuer before expanding within the package. Other networks come later, with Solana as our home base for dividend liquidity.</a:t>
            </a:r>
          </a:p>
          <a:p xmlns:a="http://schemas.openxmlformats.org/drawingml/2006/main">
            <a:r>
              <a:t>Presenter notes: This is build scope and roadmap, not a claim of completed integration or partnership. The package contains 15 candidate mints across six companies: xStocks and Ondo each include Coca-Cola, Apple, Microsoft, Micron, Nike and IBM; Backpack includes Micron, Nike and IBM only. The six companies are not all available from all three issuers. KOx has a complete source-verified replay fixture; Backpack MU has a fully bracketed sourced onchain reconstruction; Ondo event binding still needs authenticated source data. One event per issuer is the first execution target. All vault execution remains planned. Excluded restricted, no-dividend, discontinued and fee-bearing families are outside scope. Coinbase collateral is on Base. The roadmap refers to Robinhood's new wallet-held Stock Tokens on Robinhood Chain. Cross-chain custody, settlement and messaging remain future design work.</a:t>
            </a:r>
          </a:p>
          <a:p xmlns:a="http://schemas.openxmlformats.org/drawingml/2006/main">
            <a:r>
              <a:t>Sources (accessed/observed 16 September 2026 unless stated): Selected asset package: planning/research/initial-asset-package.md | xStocks: https://xstocks.fi/ | xStocks docs: https://docs.xstocks.fi/docs | Backpack assets registry: https://api.backpack.exchange/api/v1/assets | Backpack MU: https://learn.backpack.exchange/blog/tokenized-micron-mu | Ondo corporate actions: https://docs.ondo.finance/ondo-stocks/corporate-actions | Ondo Solana registry: https://github.com/ondoprotocol/gm-solana-simulator/blob/0688add3c64aadc7006712989e9ec0592b5b10f8/constants.rs | Coinbase Tokenized Stocks: https://www.coinbase.com/tokenize | Robinhood Stock Tokens: https://robinhood.com/rhj/stocktokens/ | Robinhood Chain: https://robinhood.com/us/en/support/articles/robinhood-chain-testnet/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0f22e7179b4a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661480e91c4fed" /><Relationship Type="http://schemas.openxmlformats.org/officeDocument/2006/relationships/slideLayout" Target="/ppt/slideLayouts/slideLayout1.xml" Id="Rff332593b0f540c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332593b0f540c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89a428309c74dcf" /><Relationship Type="http://schemas.openxmlformats.org/officeDocument/2006/relationships/notesSlide" Target="/ppt/notesSlides/notesSlide1.xml" Id="R145012b8a1cb4c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40886db8596433f" /><Relationship Type="http://schemas.openxmlformats.org/officeDocument/2006/relationships/notesSlide" Target="/ppt/notesSlides/notesSlide2.xml" Id="Rf528258f9f1f496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10e53c2206f435d" /><Relationship Type="http://schemas.openxmlformats.org/officeDocument/2006/relationships/notesSlide" Target="/ppt/notesSlides/notesSlide3.xml" Id="R2ae4c6d503284c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d391bdb46fb4cd2" /><Relationship Type="http://schemas.openxmlformats.org/officeDocument/2006/relationships/notesSlide" Target="/ppt/notesSlides/notesSlide4.xml" Id="R2be587af014c4c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a69b3954f3444bf" /><Relationship Type="http://schemas.openxmlformats.org/officeDocument/2006/relationships/notesSlide" Target="/ppt/notesSlides/notesSlide5.xml" Id="Rc955f12b3b694b0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554084d0d7b499b" /><Relationship Type="http://schemas.openxmlformats.org/officeDocument/2006/relationships/notesSlide" Target="/ppt/notesSlides/notesSlide6.xml" Id="Rfb7b29e37c4e4f8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29cea8543b04fae" /><Relationship Type="http://schemas.openxmlformats.org/officeDocument/2006/relationships/notesSlide" Target="/ppt/notesSlides/notesSlide7.xml" Id="R845147ba6b6240b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6d8e7356d6142c8" /><Relationship Type="http://schemas.openxmlformats.org/officeDocument/2006/relationships/image" Target="/ppt/media/image.png" Id="R1a03750130b94e0f" /><Relationship Type="http://schemas.openxmlformats.org/officeDocument/2006/relationships/notesSlide" Target="/ppt/notesSlides/notesSlide8.xml" Id="Rae870d9e2dfe43f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46fe0badd054c88" /><Relationship Type="http://schemas.openxmlformats.org/officeDocument/2006/relationships/notesSlide" Target="/ppt/notesSlides/notesSlide9.xml" Id="R49db95e2d7f1431f" /></Relationships>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B0BFD0A-C967-4813-90F2-1C50FFC625B6}"/>
              </a:ext>
            </a:extLst>
          </p:cNvPr>
          <p:cNvSpPr>
            <a:spLocks xmlns:a="http://schemas.openxmlformats.org/drawingml/2006/main" noGrp="1"/>
          </p:cNvSpPr>
          <p:nvPr/>
        </p:nvSpPr>
        <p:spPr>
          <a:xfrm xmlns:a="http://schemas.openxmlformats.org/drawingml/2006/main" rot="2700000">
            <a:off x="781050" y="666750"/>
            <a:ext cx="171450" cy="171450"/>
          </a:xfrm>
          <a:prstGeom xmlns:a="http://schemas.openxmlformats.org/drawingml/2006/main" prst="rect">
            <a:avLst/>
          </a:prstGeom>
          <a:solidFill xmlns:a="http://schemas.openxmlformats.org/drawingml/2006/main">
            <a:srgbClr val="729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2B37235-AE25-4916-ADA9-F92352CE415A}"/>
              </a:ext>
            </a:extLst>
          </p:cNvPr>
          <p:cNvSpPr>
            <a:spLocks xmlns:a="http://schemas.openxmlformats.org/drawingml/2006/main" noGrp="1"/>
          </p:cNvSpPr>
          <p:nvPr/>
        </p:nvSpPr>
        <p:spPr>
          <a:xfrm xmlns:a="http://schemas.openxmlformats.org/drawingml/2006/main" rot="2700000">
            <a:off x="923925" y="809625"/>
            <a:ext cx="171450" cy="171450"/>
          </a:xfrm>
          <a:prstGeom xmlns:a="http://schemas.openxmlformats.org/drawingml/2006/main" prst="rect">
            <a:avLst/>
          </a:prstGeom>
          <a:solidFill xmlns:a="http://schemas.openxmlformats.org/drawingml/2006/main">
            <a:srgbClr val="FFB6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43C1E51-8435-48E0-8066-CEAB428EEDF4}"/>
              </a:ext>
            </a:extLst>
          </p:cNvPr>
          <p:cNvSpPr>
            <a:spLocks xmlns:a="http://schemas.openxmlformats.org/drawingml/2006/main" noGrp="1"/>
          </p:cNvSpPr>
          <p:nvPr/>
        </p:nvSpPr>
        <p:spPr>
          <a:xfrm xmlns:a="http://schemas.openxmlformats.org/drawingml/2006/main">
            <a:off x="1152525" y="6572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B26AC26D-8B42-4A12-93D2-7C2C160B90C9}"/>
              </a:ext>
            </a:extLst>
          </p:cNvPr>
          <p:cNvSpPr>
            <a:spLocks xmlns:a="http://schemas.openxmlformats.org/drawingml/2006/main" noGrp="1"/>
          </p:cNvSpPr>
          <p:nvPr/>
        </p:nvSpPr>
        <p:spPr>
          <a:xfrm xmlns:a="http://schemas.openxmlformats.org/drawingml/2006/main">
            <a:off x="781050" y="13906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STOCKLANA PROTOTYPE · SEPTEMBER 2026</a:t>
            </a:r>
          </a:p>
        </p:txBody>
      </p:sp>
      <p:sp>
        <p:nvSpPr>
          <p:cNvPr id="5" name="">
            <a:extLst xmlns:a="http://schemas.openxmlformats.org/drawingml/2006/main">
              <a:ext uri="{FF2B5EF4-FFF2-40B4-BE49-F238E27FC236}">
                <a16:creationId xmlns:a16="http://schemas.microsoft.com/office/drawing/2014/main" id="{D768B187-69FC-4665-90AA-DAAA2704AD7F}"/>
              </a:ext>
            </a:extLst>
          </p:cNvPr>
          <p:cNvSpPr>
            <a:spLocks xmlns:a="http://schemas.openxmlformats.org/drawingml/2006/main" noGrp="1"/>
          </p:cNvSpPr>
          <p:nvPr/>
        </p:nvSpPr>
        <p:spPr>
          <a:xfrm xmlns:a="http://schemas.openxmlformats.org/drawingml/2006/main">
            <a:off x="781050" y="2114550"/>
            <a:ext cx="9810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Helvetica Neue"/>
                <a:ea typeface="Helvetica Neue"/>
                <a:cs typeface="Helvetica Neue"/>
              </a:defRPr>
            </a:pPr>
            <a:r>
              <a:rPr b="1">
                <a:solidFill>
                  <a:srgbClr val="7292FF"/>
                </a:solidFill>
                <a:latin typeface="Helvetica Neue"/>
                <a:ea typeface="Helvetica Neue"/>
                <a:cs typeface="Helvetica Neue"/>
              </a:rPr>
              <a:t>Keep the stock exposure.</a:t>
            </a:r>
            <a:r>
              <a:rPr b="1">
                <a:solidFill>
                  <a:srgbClr val="FFB657"/>
                </a:solidFill>
                <a:latin typeface="Helvetica Neue"/>
                <a:ea typeface="Helvetica Neue"/>
                <a:cs typeface="Helvetica Neue"/>
              </a:rPr>
              <a:t>
Sell the dividend rights.</a:t>
            </a:r>
          </a:p>
        </p:txBody>
      </p:sp>
      <p:sp>
        <p:nvSpPr>
          <p:cNvPr id="6" name="">
            <a:extLst xmlns:a="http://schemas.openxmlformats.org/drawingml/2006/main">
              <a:ext uri="{FF2B5EF4-FFF2-40B4-BE49-F238E27FC236}">
                <a16:creationId xmlns:a16="http://schemas.microsoft.com/office/drawing/2014/main" id="{AAFFD6E0-CBD7-4212-B1EB-463C7C5FB57D}"/>
              </a:ext>
            </a:extLst>
          </p:cNvPr>
          <p:cNvSpPr>
            <a:spLocks xmlns:a="http://schemas.openxmlformats.org/drawingml/2006/main" noGrp="1"/>
          </p:cNvSpPr>
          <p:nvPr/>
        </p:nvSpPr>
        <p:spPr>
          <a:xfrm xmlns:a="http://schemas.openxmlformats.org/drawingml/2006/main">
            <a:off x="800100" y="4695825"/>
            <a:ext cx="742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0">
                <a:solidFill>
                  <a:srgbClr val="E6E8EA"/>
                </a:solidFill>
                <a:latin typeface="Helvetica Neue"/>
                <a:ea typeface="Helvetica Neue"/>
                <a:cs typeface="Helvetica Neue"/>
              </a:defRPr>
            </a:pPr>
            <a:r>
              <a:rPr sz="1875" b="0">
                <a:solidFill>
                  <a:srgbClr val="E6E8EA"/>
                </a:solidFill>
                <a:latin typeface="Helvetica Neue"/>
                <a:ea typeface="Helvetica Neue"/>
                <a:cs typeface="Helvetica Neue"/>
              </a:rPr>
              <a:t>A dividend market for tokenized stocks on Solana.</a:t>
            </a:r>
          </a:p>
        </p:txBody>
      </p:sp>
      <p:sp>
        <p:nvSpPr>
          <p:cNvPr id="7" name="">
            <a:extLst xmlns:a="http://schemas.openxmlformats.org/drawingml/2006/main">
              <a:ext uri="{FF2B5EF4-FFF2-40B4-BE49-F238E27FC236}">
                <a16:creationId xmlns:a16="http://schemas.microsoft.com/office/drawing/2014/main" id="{157660C5-B075-4847-AC67-0CF8E059F645}"/>
              </a:ext>
            </a:extLst>
          </p:cNvPr>
          <p:cNvSpPr>
            <a:spLocks xmlns:a="http://schemas.openxmlformats.org/drawingml/2006/main" noGrp="1"/>
          </p:cNvSpPr>
          <p:nvPr/>
        </p:nvSpPr>
        <p:spPr>
          <a:xfrm xmlns:a="http://schemas.openxmlformats.org/drawingml/2006/main">
            <a:off x="800100" y="5857875"/>
            <a:ext cx="10572750" cy="9525"/>
          </a:xfrm>
          <a:prstGeom xmlns:a="http://schemas.openxmlformats.org/drawingml/2006/main" prst="rect">
            <a:avLst/>
          </a:prstGeom>
          <a:solidFill xmlns:a="http://schemas.openxmlformats.org/drawingml/2006/main">
            <a:srgbClr val="303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C4459C2-0728-4F7B-B000-149A72454A03}"/>
              </a:ext>
            </a:extLst>
          </p:cNvPr>
          <p:cNvSpPr>
            <a:spLocks xmlns:a="http://schemas.openxmlformats.org/drawingml/2006/main" noGrp="1"/>
          </p:cNvSpPr>
          <p:nvPr/>
        </p:nvSpPr>
        <p:spPr>
          <a:xfrm xmlns:a="http://schemas.openxmlformats.org/drawingml/2006/main">
            <a:off x="800100" y="60960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CONCEPT + WORKING HISTORICAL CALCULATOR</a:t>
            </a:r>
          </a:p>
        </p:txBody>
      </p:sp>
    </p:spTree>
    <p:extLst>
      <p:ext uri="{BB962C8B-B14F-4D97-AF65-F5344CB8AC3E}">
        <p14:creationId xmlns:p14="http://schemas.microsoft.com/office/powerpoint/2010/main" val="198861988"/>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8925C33-365E-42E9-8298-5D50DBDCB8D8}"/>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0CBDB70-01BC-43E5-88F3-057B65447B68}"/>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ADBD0BC-37E7-4F34-ABEF-C131236F1D67}"/>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60368D0B-1D4F-444D-9EFC-B4283C74DFBC}"/>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Two sides of one trade</a:t>
            </a:r>
          </a:p>
        </p:txBody>
      </p:sp>
      <p:sp>
        <p:nvSpPr>
          <p:cNvPr id="5" name="">
            <a:extLst xmlns:a="http://schemas.openxmlformats.org/drawingml/2006/main">
              <a:ext uri="{FF2B5EF4-FFF2-40B4-BE49-F238E27FC236}">
                <a16:creationId xmlns:a16="http://schemas.microsoft.com/office/drawing/2014/main" id="{F191F7E6-82ED-4BF1-94DF-DD51C2C4DDF8}"/>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BA815749-4CEF-4CFB-AC0D-6A8C524FE808}"/>
              </a:ext>
            </a:extLst>
          </p:cNvPr>
          <p:cNvSpPr>
            <a:spLocks xmlns:a="http://schemas.openxmlformats.org/drawingml/2006/main" noGrp="1"/>
          </p:cNvSpPr>
          <p:nvPr/>
        </p:nvSpPr>
        <p:spPr>
          <a:xfrm xmlns:a="http://schemas.openxmlformats.org/drawingml/2006/main">
            <a:off x="762000" y="17145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TRADITIONAL DIVIDEND MARKET</a:t>
            </a:r>
          </a:p>
        </p:txBody>
      </p:sp>
      <p:sp>
        <p:nvSpPr>
          <p:cNvPr id="7" name="">
            <a:extLst xmlns:a="http://schemas.openxmlformats.org/drawingml/2006/main">
              <a:ext uri="{FF2B5EF4-FFF2-40B4-BE49-F238E27FC236}">
                <a16:creationId xmlns:a16="http://schemas.microsoft.com/office/drawing/2014/main" id="{0BE68E7F-0FCD-4245-ABF2-FDCD3A4994DB}"/>
              </a:ext>
            </a:extLst>
          </p:cNvPr>
          <p:cNvSpPr>
            <a:spLocks xmlns:a="http://schemas.openxmlformats.org/drawingml/2006/main" noGrp="1"/>
          </p:cNvSpPr>
          <p:nvPr/>
        </p:nvSpPr>
        <p:spPr>
          <a:xfrm xmlns:a="http://schemas.openxmlformats.org/drawingml/2006/main">
            <a:off x="7620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SELLERS</a:t>
            </a:r>
          </a:p>
        </p:txBody>
      </p:sp>
      <p:sp>
        <p:nvSpPr>
          <p:cNvPr id="8" name="">
            <a:extLst xmlns:a="http://schemas.openxmlformats.org/drawingml/2006/main">
              <a:ext uri="{FF2B5EF4-FFF2-40B4-BE49-F238E27FC236}">
                <a16:creationId xmlns:a16="http://schemas.microsoft.com/office/drawing/2014/main" id="{2A703064-E943-4AD4-98AC-F60E11A80CE9}"/>
              </a:ext>
            </a:extLst>
          </p:cNvPr>
          <p:cNvSpPr>
            <a:spLocks xmlns:a="http://schemas.openxmlformats.org/drawingml/2006/main" noGrp="1"/>
          </p:cNvSpPr>
          <p:nvPr/>
        </p:nvSpPr>
        <p:spPr>
          <a:xfrm xmlns:a="http://schemas.openxmlformats.org/drawingml/2006/main">
            <a:off x="762000" y="2362200"/>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Bank trading desks</a:t>
            </a:r>
          </a:p>
        </p:txBody>
      </p:sp>
      <p:sp>
        <p:nvSpPr>
          <p:cNvPr id="9" name="">
            <a:extLst xmlns:a="http://schemas.openxmlformats.org/drawingml/2006/main">
              <a:ext uri="{FF2B5EF4-FFF2-40B4-BE49-F238E27FC236}">
                <a16:creationId xmlns:a16="http://schemas.microsoft.com/office/drawing/2014/main" id="{01C3A6D6-B911-484B-95A0-F0B22D586593}"/>
              </a:ext>
            </a:extLst>
          </p:cNvPr>
          <p:cNvSpPr>
            <a:spLocks xmlns:a="http://schemas.openxmlformats.org/drawingml/2006/main" noGrp="1"/>
          </p:cNvSpPr>
          <p:nvPr/>
        </p:nvSpPr>
        <p:spPr>
          <a:xfrm xmlns:a="http://schemas.openxmlformats.org/drawingml/2006/main">
            <a:off x="762000" y="278130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Manage dividend risk from structured products.</a:t>
            </a:r>
          </a:p>
        </p:txBody>
      </p:sp>
      <p:sp>
        <p:nvSpPr>
          <p:cNvPr id="10" name="">
            <a:extLst xmlns:a="http://schemas.openxmlformats.org/drawingml/2006/main">
              <a:ext uri="{FF2B5EF4-FFF2-40B4-BE49-F238E27FC236}">
                <a16:creationId xmlns:a16="http://schemas.microsoft.com/office/drawing/2014/main" id="{2635910C-BFEB-49BD-BDCC-5AC2ECD1231B}"/>
              </a:ext>
            </a:extLst>
          </p:cNvPr>
          <p:cNvSpPr>
            <a:spLocks xmlns:a="http://schemas.openxmlformats.org/drawingml/2006/main" noGrp="1"/>
          </p:cNvSpPr>
          <p:nvPr/>
        </p:nvSpPr>
        <p:spPr>
          <a:xfrm xmlns:a="http://schemas.openxmlformats.org/drawingml/2006/main">
            <a:off x="67056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BUYERS</a:t>
            </a:r>
          </a:p>
        </p:txBody>
      </p:sp>
      <p:sp>
        <p:nvSpPr>
          <p:cNvPr id="11" name="">
            <a:extLst xmlns:a="http://schemas.openxmlformats.org/drawingml/2006/main">
              <a:ext uri="{FF2B5EF4-FFF2-40B4-BE49-F238E27FC236}">
                <a16:creationId xmlns:a16="http://schemas.microsoft.com/office/drawing/2014/main" id="{FBF45D13-FA18-4BC6-B4EB-F51BA9675D84}"/>
              </a:ext>
            </a:extLst>
          </p:cNvPr>
          <p:cNvSpPr>
            <a:spLocks xmlns:a="http://schemas.openxmlformats.org/drawingml/2006/main" noGrp="1"/>
          </p:cNvSpPr>
          <p:nvPr/>
        </p:nvSpPr>
        <p:spPr>
          <a:xfrm xmlns:a="http://schemas.openxmlformats.org/drawingml/2006/main">
            <a:off x="6705600" y="2362200"/>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Asset managers and hedge funds</a:t>
            </a:r>
          </a:p>
        </p:txBody>
      </p:sp>
      <p:sp>
        <p:nvSpPr>
          <p:cNvPr id="12" name="">
            <a:extLst xmlns:a="http://schemas.openxmlformats.org/drawingml/2006/main">
              <a:ext uri="{FF2B5EF4-FFF2-40B4-BE49-F238E27FC236}">
                <a16:creationId xmlns:a16="http://schemas.microsoft.com/office/drawing/2014/main" id="{67B5A139-63D0-4FF9-9D53-54355502B056}"/>
              </a:ext>
            </a:extLst>
          </p:cNvPr>
          <p:cNvSpPr>
            <a:spLocks xmlns:a="http://schemas.openxmlformats.org/drawingml/2006/main" noGrp="1"/>
          </p:cNvSpPr>
          <p:nvPr/>
        </p:nvSpPr>
        <p:spPr>
          <a:xfrm xmlns:a="http://schemas.openxmlformats.org/drawingml/2006/main">
            <a:off x="6705600" y="27813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Trade expected payouts. Survista is one documented buyer.</a:t>
            </a:r>
          </a:p>
        </p:txBody>
      </p:sp>
      <p:sp>
        <p:nvSpPr>
          <p:cNvPr id="13" name="">
            <a:extLst xmlns:a="http://schemas.openxmlformats.org/drawingml/2006/main">
              <a:ext uri="{FF2B5EF4-FFF2-40B4-BE49-F238E27FC236}">
                <a16:creationId xmlns:a16="http://schemas.microsoft.com/office/drawing/2014/main" id="{333A0B16-4962-43BB-B15A-3459C4146E4C}"/>
              </a:ext>
            </a:extLst>
          </p:cNvPr>
          <p:cNvSpPr>
            <a:spLocks xmlns:a="http://schemas.openxmlformats.org/drawingml/2006/main" noGrp="1"/>
          </p:cNvSpPr>
          <p:nvPr/>
        </p:nvSpPr>
        <p:spPr>
          <a:xfrm xmlns:a="http://schemas.openxmlformats.org/drawingml/2006/main">
            <a:off x="762000" y="337185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A8763A6-9D2C-4C26-BD8A-44D462F8611A}"/>
              </a:ext>
            </a:extLst>
          </p:cNvPr>
          <p:cNvSpPr>
            <a:spLocks xmlns:a="http://schemas.openxmlformats.org/drawingml/2006/main" noGrp="1"/>
          </p:cNvSpPr>
          <p:nvPr/>
        </p:nvSpPr>
        <p:spPr>
          <a:xfrm xmlns:a="http://schemas.openxmlformats.org/drawingml/2006/main">
            <a:off x="762000" y="3590925"/>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DIVX FLOW</a:t>
            </a:r>
          </a:p>
        </p:txBody>
      </p:sp>
      <p:sp>
        <p:nvSpPr>
          <p:cNvPr id="15" name="Stock holder">
            <a:extLst xmlns:a="http://schemas.openxmlformats.org/drawingml/2006/main">
              <a:ext uri="{FF2B5EF4-FFF2-40B4-BE49-F238E27FC236}">
                <a16:creationId xmlns:a16="http://schemas.microsoft.com/office/drawing/2014/main" id="{8B675601-D75A-4F12-9B46-B3717DBA8F0C}"/>
              </a:ext>
            </a:extLst>
          </p:cNvPr>
          <p:cNvSpPr>
            <a:spLocks xmlns:a="http://schemas.openxmlformats.org/drawingml/2006/main" noGrp="1"/>
          </p:cNvSpPr>
          <p:nvPr/>
        </p:nvSpPr>
        <p:spPr>
          <a:xfrm xmlns:a="http://schemas.openxmlformats.org/drawingml/2006/main">
            <a:off x="85725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6" name="">
            <a:extLst xmlns:a="http://schemas.openxmlformats.org/drawingml/2006/main">
              <a:ext uri="{FF2B5EF4-FFF2-40B4-BE49-F238E27FC236}">
                <a16:creationId xmlns:a16="http://schemas.microsoft.com/office/drawing/2014/main" id="{BB01C712-53D1-44C6-A3BD-35FB3FC23EBA}"/>
              </a:ext>
            </a:extLst>
          </p:cNvPr>
          <p:cNvSpPr>
            <a:spLocks xmlns:a="http://schemas.openxmlformats.org/drawingml/2006/main" noGrp="1"/>
          </p:cNvSpPr>
          <p:nvPr/>
        </p:nvSpPr>
        <p:spPr>
          <a:xfrm xmlns:a="http://schemas.openxmlformats.org/drawingml/2006/main">
            <a:off x="106680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STOCK HOLDER</a:t>
            </a:r>
          </a:p>
        </p:txBody>
      </p:sp>
      <p:sp>
        <p:nvSpPr>
          <p:cNvPr id="17" name="Buyer">
            <a:extLst xmlns:a="http://schemas.openxmlformats.org/drawingml/2006/main">
              <a:ext uri="{FF2B5EF4-FFF2-40B4-BE49-F238E27FC236}">
                <a16:creationId xmlns:a16="http://schemas.microsoft.com/office/drawing/2014/main" id="{EC94CD4D-387A-4A92-8CBF-307B590920F8}"/>
              </a:ext>
            </a:extLst>
          </p:cNvPr>
          <p:cNvSpPr>
            <a:spLocks xmlns:a="http://schemas.openxmlformats.org/drawingml/2006/main" noGrp="1"/>
          </p:cNvSpPr>
          <p:nvPr/>
        </p:nvSpPr>
        <p:spPr>
          <a:xfrm xmlns:a="http://schemas.openxmlformats.org/drawingml/2006/main">
            <a:off x="952500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8" name="">
            <a:extLst xmlns:a="http://schemas.openxmlformats.org/drawingml/2006/main">
              <a:ext uri="{FF2B5EF4-FFF2-40B4-BE49-F238E27FC236}">
                <a16:creationId xmlns:a16="http://schemas.microsoft.com/office/drawing/2014/main" id="{6F0E53A3-82B9-47FE-9AD6-B35EBD9B836E}"/>
              </a:ext>
            </a:extLst>
          </p:cNvPr>
          <p:cNvSpPr>
            <a:spLocks xmlns:a="http://schemas.openxmlformats.org/drawingml/2006/main" noGrp="1"/>
          </p:cNvSpPr>
          <p:nvPr/>
        </p:nvSpPr>
        <p:spPr>
          <a:xfrm xmlns:a="http://schemas.openxmlformats.org/drawingml/2006/main">
            <a:off x="973455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BUYER</a:t>
            </a:r>
          </a:p>
        </p:txBody>
      </p:sp>
      <p:sp>
        <p:nvSpPr>
          <p:cNvPr id="19" name="Dividend right label">
            <a:extLst xmlns:a="http://schemas.openxmlformats.org/drawingml/2006/main">
              <a:ext uri="{FF2B5EF4-FFF2-40B4-BE49-F238E27FC236}">
                <a16:creationId xmlns:a16="http://schemas.microsoft.com/office/drawing/2014/main" id="{07D93419-F219-4E44-B8C4-20C218C853DB}"/>
              </a:ext>
            </a:extLst>
          </p:cNvPr>
          <p:cNvSpPr>
            <a:spLocks xmlns:a="http://schemas.openxmlformats.org/drawingml/2006/main" noGrp="1"/>
          </p:cNvSpPr>
          <p:nvPr/>
        </p:nvSpPr>
        <p:spPr>
          <a:xfrm xmlns:a="http://schemas.openxmlformats.org/drawingml/2006/main">
            <a:off x="4667250" y="3876675"/>
            <a:ext cx="2857500" cy="476250"/>
          </a:xfrm>
          <a:prstGeom xmlns:a="http://schemas.openxmlformats.org/drawingml/2006/main" prst="roundRect">
            <a:avLst>
              <a:gd name="adj" fmla="val 24000"/>
            </a:avLst>
          </a:prstGeom>
          <a:solidFill xmlns:a="http://schemas.openxmlformats.org/drawingml/2006/main">
            <a:srgbClr val="F8E8D4"/>
          </a:solidFill>
          <a:ln xmlns:a="http://schemas.openxmlformats.org/drawingml/2006/main" w="9525">
            <a:solidFill>
              <a:srgbClr val="C46A00"/>
            </a:solidFill>
            <a:prstDash val="solid"/>
          </a:ln>
        </p:spPr>
      </p:sp>
      <p:sp>
        <p:nvSpPr>
          <p:cNvPr id="20" name="">
            <a:extLst xmlns:a="http://schemas.openxmlformats.org/drawingml/2006/main">
              <a:ext uri="{FF2B5EF4-FFF2-40B4-BE49-F238E27FC236}">
                <a16:creationId xmlns:a16="http://schemas.microsoft.com/office/drawing/2014/main" id="{471F5586-C666-4D42-9EAE-4179B3DAB400}"/>
              </a:ext>
            </a:extLst>
          </p:cNvPr>
          <p:cNvSpPr>
            <a:spLocks xmlns:a="http://schemas.openxmlformats.org/drawingml/2006/main" noGrp="1"/>
          </p:cNvSpPr>
          <p:nvPr/>
        </p:nvSpPr>
        <p:spPr>
          <a:xfrm xmlns:a="http://schemas.openxmlformats.org/drawingml/2006/main">
            <a:off x="5010150" y="4000500"/>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7A4000"/>
                </a:solidFill>
                <a:latin typeface="Helvetica Neue"/>
                <a:ea typeface="Helvetica Neue"/>
                <a:cs typeface="Helvetica Neue"/>
              </a:defRPr>
            </a:pPr>
            <a:r>
              <a:rPr sz="1125" b="1">
                <a:solidFill>
                  <a:srgbClr val="7A4000"/>
                </a:solidFill>
                <a:latin typeface="Helvetica Neue"/>
                <a:ea typeface="Helvetica Neue"/>
                <a:cs typeface="Helvetica Neue"/>
              </a:rPr>
              <a:t>DIVIDEND RIGHT</a:t>
            </a:r>
          </a:p>
        </p:txBody>
      </p:sp>
      <p:sp>
        <p:nvSpPr>
          <p:cNvPr id="21" name="Payment label">
            <a:extLst xmlns:a="http://schemas.openxmlformats.org/drawingml/2006/main">
              <a:ext uri="{FF2B5EF4-FFF2-40B4-BE49-F238E27FC236}">
                <a16:creationId xmlns:a16="http://schemas.microsoft.com/office/drawing/2014/main" id="{4ED5D67E-4664-439A-9949-F79B53A43137}"/>
              </a:ext>
            </a:extLst>
          </p:cNvPr>
          <p:cNvSpPr>
            <a:spLocks xmlns:a="http://schemas.openxmlformats.org/drawingml/2006/main" noGrp="1"/>
          </p:cNvSpPr>
          <p:nvPr/>
        </p:nvSpPr>
        <p:spPr>
          <a:xfrm xmlns:a="http://schemas.openxmlformats.org/drawingml/2006/main">
            <a:off x="4667250" y="5010150"/>
            <a:ext cx="2857500" cy="476250"/>
          </a:xfrm>
          <a:prstGeom xmlns:a="http://schemas.openxmlformats.org/drawingml/2006/main" prst="roundRect">
            <a:avLst>
              <a:gd name="adj" fmla="val 24000"/>
            </a:avLst>
          </a:prstGeom>
          <a:solidFill xmlns:a="http://schemas.openxmlformats.org/drawingml/2006/main">
            <a:srgbClr val="EAF0FF"/>
          </a:solidFill>
          <a:ln xmlns:a="http://schemas.openxmlformats.org/drawingml/2006/main" w="9525">
            <a:solidFill>
              <a:srgbClr val="2457F5"/>
            </a:solidFill>
            <a:prstDash val="solid"/>
          </a:ln>
        </p:spPr>
      </p:sp>
      <p:sp>
        <p:nvSpPr>
          <p:cNvPr id="22" name="">
            <a:extLst xmlns:a="http://schemas.openxmlformats.org/drawingml/2006/main">
              <a:ext uri="{FF2B5EF4-FFF2-40B4-BE49-F238E27FC236}">
                <a16:creationId xmlns:a16="http://schemas.microsoft.com/office/drawing/2014/main" id="{5B1E8260-2919-414A-AAF3-08C0E7FA140E}"/>
              </a:ext>
            </a:extLst>
          </p:cNvPr>
          <p:cNvSpPr>
            <a:spLocks xmlns:a="http://schemas.openxmlformats.org/drawingml/2006/main" noGrp="1"/>
          </p:cNvSpPr>
          <p:nvPr/>
        </p:nvSpPr>
        <p:spPr>
          <a:xfrm xmlns:a="http://schemas.openxmlformats.org/drawingml/2006/main">
            <a:off x="5010150" y="5133975"/>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PAYMENT</a:t>
            </a:r>
          </a:p>
        </p:txBody>
      </p:sp>
      <p:cxnSp>
        <p:nvCxnSpPr>
          <p:cNvPr id="52" name=""/>
          <p:cNvCxnSpPr>
            <a:stCxn xmlns:a="http://schemas.openxmlformats.org/drawingml/2006/main" id="15" idx="0"/>
            <a:endCxn xmlns:a="http://schemas.openxmlformats.org/drawingml/2006/main" id="19" idx="1"/>
          </p:cNvCxnSpPr>
          <p:nvPr/>
        </p:nvCxnSpPr>
        <p:spPr>
          <a:xfrm xmlns:a="http://schemas.openxmlformats.org/drawingml/2006/main" flipV="1">
            <a:off x="1762125" y="4095750"/>
            <a:ext cx="2905125" cy="228600"/>
          </a:xfrm>
          <a:prstGeom xmlns:a="http://schemas.openxmlformats.org/drawingml/2006/main" prst="bentConnector4">
            <a:avLst/>
          </a:prstGeom>
          <a:ln xmlns:a="http://schemas.openxmlformats.org/drawingml/2006/main" w="19050">
            <a:solidFill>
              <a:srgbClr val="C46A00"/>
            </a:solidFill>
            <a:prstDash val="solid"/>
          </a:ln>
        </p:spPr>
      </p:cxnSp>
      <p:cxnSp>
        <p:nvCxnSpPr>
          <p:cNvPr id="53" name=""/>
          <p:cNvCxnSpPr>
            <a:stCxn xmlns:a="http://schemas.openxmlformats.org/drawingml/2006/main" id="19" idx="3"/>
            <a:endCxn xmlns:a="http://schemas.openxmlformats.org/drawingml/2006/main" id="17" idx="0"/>
          </p:cNvCxnSpPr>
          <p:nvPr/>
        </p:nvCxnSpPr>
        <p:spPr>
          <a:xfrm xmlns:a="http://schemas.openxmlformats.org/drawingml/2006/main">
            <a:off x="7524750" y="4095750"/>
            <a:ext cx="2905125" cy="228600"/>
          </a:xfrm>
          <a:prstGeom xmlns:a="http://schemas.openxmlformats.org/drawingml/2006/main" prst="bentConnector4">
            <a:avLst/>
          </a:prstGeom>
          <a:ln xmlns:a="http://schemas.openxmlformats.org/drawingml/2006/main" w="19050">
            <a:solidFill>
              <a:srgbClr val="C46A00"/>
            </a:solidFill>
            <a:prstDash val="solid"/>
            <a:tailEnd type="triangle" w="sm" len="sm"/>
          </a:ln>
        </p:spPr>
      </p:cxnSp>
      <p:cxnSp>
        <p:nvCxnSpPr>
          <p:cNvPr id="54" name=""/>
          <p:cNvCxnSpPr>
            <a:stCxn xmlns:a="http://schemas.openxmlformats.org/drawingml/2006/main" id="17" idx="2"/>
            <a:endCxn xmlns:a="http://schemas.openxmlformats.org/drawingml/2006/main" id="21" idx="3"/>
          </p:cNvCxnSpPr>
          <p:nvPr/>
        </p:nvCxnSpPr>
        <p:spPr>
          <a:xfrm xmlns:a="http://schemas.openxmlformats.org/drawingml/2006/main" flipH="1">
            <a:off x="7524750" y="5029200"/>
            <a:ext cx="2905125" cy="228600"/>
          </a:xfrm>
          <a:prstGeom xmlns:a="http://schemas.openxmlformats.org/drawingml/2006/main" prst="bentConnector4">
            <a:avLst/>
          </a:prstGeom>
          <a:ln xmlns:a="http://schemas.openxmlformats.org/drawingml/2006/main" w="19050">
            <a:solidFill>
              <a:srgbClr val="2457F5"/>
            </a:solidFill>
            <a:prstDash val="solid"/>
          </a:ln>
        </p:spPr>
      </p:cxnSp>
      <p:cxnSp>
        <p:nvCxnSpPr>
          <p:cNvPr id="55" name=""/>
          <p:cNvCxnSpPr>
            <a:stCxn xmlns:a="http://schemas.openxmlformats.org/drawingml/2006/main" id="21" idx="1"/>
            <a:endCxn xmlns:a="http://schemas.openxmlformats.org/drawingml/2006/main" id="15" idx="2"/>
          </p:cNvCxnSpPr>
          <p:nvPr/>
        </p:nvCxnSpPr>
        <p:spPr>
          <a:xfrm xmlns:a="http://schemas.openxmlformats.org/drawingml/2006/main" flipH="1" flipV="1">
            <a:off x="1762125" y="5029200"/>
            <a:ext cx="2905125" cy="228600"/>
          </a:xfrm>
          <a:prstGeom xmlns:a="http://schemas.openxmlformats.org/drawingml/2006/main" prst="bentConnector4">
            <a:avLst/>
          </a:prstGeom>
          <a:ln xmlns:a="http://schemas.openxmlformats.org/drawingml/2006/main" w="19050">
            <a:solidFill>
              <a:srgbClr val="2457F5"/>
            </a:solidFill>
            <a:prstDash val="solid"/>
            <a:tailEnd type="triangle" w="sm" len="sm"/>
          </a:ln>
        </p:spPr>
      </p:cxnSp>
      <p:sp>
        <p:nvSpPr>
          <p:cNvPr id="27" name="Retained PT">
            <a:extLst xmlns:a="http://schemas.openxmlformats.org/drawingml/2006/main">
              <a:ext uri="{FF2B5EF4-FFF2-40B4-BE49-F238E27FC236}">
                <a16:creationId xmlns:a16="http://schemas.microsoft.com/office/drawing/2014/main" id="{24C2729E-A5FA-42DF-AC10-6BFFA57584E1}"/>
              </a:ext>
            </a:extLst>
          </p:cNvPr>
          <p:cNvSpPr>
            <a:spLocks xmlns:a="http://schemas.openxmlformats.org/drawingml/2006/main" noGrp="1"/>
          </p:cNvSpPr>
          <p:nvPr/>
        </p:nvSpPr>
        <p:spPr>
          <a:xfrm xmlns:a="http://schemas.openxmlformats.org/drawingml/2006/main">
            <a:off x="857250" y="5438775"/>
            <a:ext cx="1809750" cy="400050"/>
          </a:xfrm>
          <a:prstGeom xmlns:a="http://schemas.openxmlformats.org/drawingml/2006/main" prst="roundRect">
            <a:avLst>
              <a:gd name="adj" fmla="val 19048"/>
            </a:avLst>
          </a:prstGeom>
          <a:solidFill xmlns:a="http://schemas.openxmlformats.org/drawingml/2006/main">
            <a:srgbClr val="EAF0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3004E8F-98DE-4E34-9338-4E1717213B94}"/>
              </a:ext>
            </a:extLst>
          </p:cNvPr>
          <p:cNvSpPr>
            <a:spLocks xmlns:a="http://schemas.openxmlformats.org/drawingml/2006/main" noGrp="1"/>
          </p:cNvSpPr>
          <p:nvPr/>
        </p:nvSpPr>
        <p:spPr>
          <a:xfrm xmlns:a="http://schemas.openxmlformats.org/drawingml/2006/main">
            <a:off x="1066800" y="5534025"/>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PT retained</a:t>
            </a:r>
          </a:p>
        </p:txBody>
      </p:sp>
      <p:sp>
        <p:nvSpPr>
          <p:cNvPr id="29" name="">
            <a:extLst xmlns:a="http://schemas.openxmlformats.org/drawingml/2006/main">
              <a:ext uri="{FF2B5EF4-FFF2-40B4-BE49-F238E27FC236}">
                <a16:creationId xmlns:a16="http://schemas.microsoft.com/office/drawing/2014/main" id="{418B741C-B833-49D7-886D-1F0E2578C52F}"/>
              </a:ext>
            </a:extLst>
          </p:cNvPr>
          <p:cNvSpPr>
            <a:spLocks xmlns:a="http://schemas.openxmlformats.org/drawingml/2006/main" noGrp="1"/>
          </p:cNvSpPr>
          <p:nvPr/>
        </p:nvSpPr>
        <p:spPr>
          <a:xfrm xmlns:a="http://schemas.openxmlformats.org/drawingml/2006/main">
            <a:off x="762000" y="607695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Stock exposure stays with the holder.</a:t>
            </a:r>
          </a:p>
        </p:txBody>
      </p:sp>
    </p:spTree>
    <p:extLst>
      <p:ext uri="{BB962C8B-B14F-4D97-AF65-F5344CB8AC3E}">
        <p14:creationId xmlns:p14="http://schemas.microsoft.com/office/powerpoint/2010/main" val="448837711"/>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7757A20-21B7-4602-BBAC-B1C9B29C9798}"/>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D757F0A-89DB-45D8-90E4-77E44CC79D15}"/>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312536C-1B61-4FC2-AF2D-EA5A1C46B65E}"/>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00D3532A-3085-4E82-AC7C-98BB2C340D52}"/>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deposit, two claims</a:t>
            </a:r>
          </a:p>
        </p:txBody>
      </p:sp>
      <p:sp>
        <p:nvSpPr>
          <p:cNvPr id="5" name="">
            <a:extLst xmlns:a="http://schemas.openxmlformats.org/drawingml/2006/main">
              <a:ext uri="{FF2B5EF4-FFF2-40B4-BE49-F238E27FC236}">
                <a16:creationId xmlns:a16="http://schemas.microsoft.com/office/drawing/2014/main" id="{838FE1F8-4CC2-45C6-A3EE-81F19696BAB5}"/>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03</a:t>
            </a:r>
          </a:p>
        </p:txBody>
      </p:sp>
      <p:sp>
        <p:nvSpPr>
          <p:cNvPr id="6" name="Stock token">
            <a:extLst xmlns:a="http://schemas.openxmlformats.org/drawingml/2006/main">
              <a:ext uri="{FF2B5EF4-FFF2-40B4-BE49-F238E27FC236}">
                <a16:creationId xmlns:a16="http://schemas.microsoft.com/office/drawing/2014/main" id="{31A471C9-814F-4680-A727-1B26B9A29E41}"/>
              </a:ext>
            </a:extLst>
          </p:cNvPr>
          <p:cNvSpPr>
            <a:spLocks xmlns:a="http://schemas.openxmlformats.org/drawingml/2006/main" noGrp="1"/>
          </p:cNvSpPr>
          <p:nvPr/>
        </p:nvSpPr>
        <p:spPr>
          <a:xfrm xmlns:a="http://schemas.openxmlformats.org/drawingml/2006/main">
            <a:off x="742950" y="2705100"/>
            <a:ext cx="1809750" cy="952500"/>
          </a:xfrm>
          <a:prstGeom xmlns:a="http://schemas.openxmlformats.org/drawingml/2006/main" prst="roundRect">
            <a:avLst>
              <a:gd name="adj" fmla="val 14000"/>
            </a:avLst>
          </a:prstGeom>
          <a:solidFill xmlns:a="http://schemas.openxmlformats.org/drawingml/2006/main">
            <a:srgbClr val="101820"/>
          </a:solidFill>
          <a:ln xmlns:a="http://schemas.openxmlformats.org/drawingml/2006/main" w="9525">
            <a:solidFill>
              <a:srgbClr val="101820"/>
            </a:solidFill>
            <a:prstDash val="solid"/>
          </a:ln>
        </p:spPr>
      </p:sp>
      <p:sp>
        <p:nvSpPr>
          <p:cNvPr id="7" name="">
            <a:extLst xmlns:a="http://schemas.openxmlformats.org/drawingml/2006/main">
              <a:ext uri="{FF2B5EF4-FFF2-40B4-BE49-F238E27FC236}">
                <a16:creationId xmlns:a16="http://schemas.microsoft.com/office/drawing/2014/main" id="{985C6A0C-1AE9-4529-9458-A625A1F90ECA}"/>
              </a:ext>
            </a:extLst>
          </p:cNvPr>
          <p:cNvSpPr>
            <a:spLocks xmlns:a="http://schemas.openxmlformats.org/drawingml/2006/main" noGrp="1"/>
          </p:cNvSpPr>
          <p:nvPr/>
        </p:nvSpPr>
        <p:spPr>
          <a:xfrm xmlns:a="http://schemas.openxmlformats.org/drawingml/2006/main">
            <a:off x="914400" y="2924175"/>
            <a:ext cx="1466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Stock token</a:t>
            </a:r>
          </a:p>
        </p:txBody>
      </p:sp>
      <p:sp>
        <p:nvSpPr>
          <p:cNvPr id="8" name="Vault">
            <a:extLst xmlns:a="http://schemas.openxmlformats.org/drawingml/2006/main">
              <a:ext uri="{FF2B5EF4-FFF2-40B4-BE49-F238E27FC236}">
                <a16:creationId xmlns:a16="http://schemas.microsoft.com/office/drawing/2014/main" id="{8304673A-A114-462E-8A97-6E3F445C52F5}"/>
              </a:ext>
            </a:extLst>
          </p:cNvPr>
          <p:cNvSpPr>
            <a:spLocks xmlns:a="http://schemas.openxmlformats.org/drawingml/2006/main" noGrp="1"/>
          </p:cNvSpPr>
          <p:nvPr/>
        </p:nvSpPr>
        <p:spPr>
          <a:xfrm xmlns:a="http://schemas.openxmlformats.org/drawingml/2006/main">
            <a:off x="3676650" y="2533650"/>
            <a:ext cx="2095500" cy="1295400"/>
          </a:xfrm>
          <a:prstGeom xmlns:a="http://schemas.openxmlformats.org/drawingml/2006/main" prst="roundRect">
            <a:avLst>
              <a:gd name="adj" fmla="val 11765"/>
            </a:avLst>
          </a:prstGeom>
          <a:solidFill xmlns:a="http://schemas.openxmlformats.org/drawingml/2006/main">
            <a:srgbClr val="FFFEFB"/>
          </a:solidFill>
          <a:ln xmlns:a="http://schemas.openxmlformats.org/drawingml/2006/main" w="9525">
            <a:solidFill>
              <a:srgbClr val="D7D2C8"/>
            </a:solidFill>
            <a:prstDash val="solid"/>
          </a:ln>
        </p:spPr>
      </p:sp>
      <p:sp>
        <p:nvSpPr>
          <p:cNvPr id="9" name="">
            <a:extLst xmlns:a="http://schemas.openxmlformats.org/drawingml/2006/main">
              <a:ext uri="{FF2B5EF4-FFF2-40B4-BE49-F238E27FC236}">
                <a16:creationId xmlns:a16="http://schemas.microsoft.com/office/drawing/2014/main" id="{6A4A3D95-B104-4EEC-81AC-6AB392D6C570}"/>
              </a:ext>
            </a:extLst>
          </p:cNvPr>
          <p:cNvSpPr>
            <a:spLocks xmlns:a="http://schemas.openxmlformats.org/drawingml/2006/main" noGrp="1"/>
          </p:cNvSpPr>
          <p:nvPr/>
        </p:nvSpPr>
        <p:spPr>
          <a:xfrm xmlns:a="http://schemas.openxmlformats.org/drawingml/2006/main">
            <a:off x="4038600" y="272415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LOCKED</a:t>
            </a:r>
          </a:p>
        </p:txBody>
      </p:sp>
      <p:sp>
        <p:nvSpPr>
          <p:cNvPr id="10" name="">
            <a:extLst xmlns:a="http://schemas.openxmlformats.org/drawingml/2006/main">
              <a:ext uri="{FF2B5EF4-FFF2-40B4-BE49-F238E27FC236}">
                <a16:creationId xmlns:a16="http://schemas.microsoft.com/office/drawing/2014/main" id="{586654FF-85F5-410D-9F9E-23BA5DD07176}"/>
              </a:ext>
            </a:extLst>
          </p:cNvPr>
          <p:cNvSpPr>
            <a:spLocks xmlns:a="http://schemas.openxmlformats.org/drawingml/2006/main" noGrp="1"/>
          </p:cNvSpPr>
          <p:nvPr/>
        </p:nvSpPr>
        <p:spPr>
          <a:xfrm xmlns:a="http://schemas.openxmlformats.org/drawingml/2006/main">
            <a:off x="4038600" y="3038475"/>
            <a:ext cx="1352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VAULT</a:t>
            </a:r>
          </a:p>
        </p:txBody>
      </p:sp>
      <p:sp>
        <p:nvSpPr>
          <p:cNvPr id="11" name="Stock exposure PT">
            <a:extLst xmlns:a="http://schemas.openxmlformats.org/drawingml/2006/main">
              <a:ext uri="{FF2B5EF4-FFF2-40B4-BE49-F238E27FC236}">
                <a16:creationId xmlns:a16="http://schemas.microsoft.com/office/drawing/2014/main" id="{CBB88D2A-B29B-435C-8F60-3830DDC3E388}"/>
              </a:ext>
            </a:extLst>
          </p:cNvPr>
          <p:cNvSpPr>
            <a:spLocks xmlns:a="http://schemas.openxmlformats.org/drawingml/2006/main" noGrp="1"/>
          </p:cNvSpPr>
          <p:nvPr/>
        </p:nvSpPr>
        <p:spPr>
          <a:xfrm xmlns:a="http://schemas.openxmlformats.org/drawingml/2006/main">
            <a:off x="7477125" y="1714500"/>
            <a:ext cx="3714750" cy="1428750"/>
          </a:xfrm>
          <a:prstGeom xmlns:a="http://schemas.openxmlformats.org/drawingml/2006/main" prst="roundRect">
            <a:avLst>
              <a:gd name="adj" fmla="val 9333"/>
            </a:avLst>
          </a:prstGeom>
          <a:solidFill xmlns:a="http://schemas.openxmlformats.org/drawingml/2006/main">
            <a:srgbClr val="EAF0FF"/>
          </a:solidFill>
          <a:ln xmlns:a="http://schemas.openxmlformats.org/drawingml/2006/main" w="9525">
            <a:solidFill>
              <a:srgbClr val="2457F5"/>
            </a:solidFill>
            <a:prstDash val="solid"/>
          </a:ln>
        </p:spPr>
      </p:sp>
      <p:sp>
        <p:nvSpPr>
          <p:cNvPr id="12" name="">
            <a:extLst xmlns:a="http://schemas.openxmlformats.org/drawingml/2006/main">
              <a:ext uri="{FF2B5EF4-FFF2-40B4-BE49-F238E27FC236}">
                <a16:creationId xmlns:a16="http://schemas.microsoft.com/office/drawing/2014/main" id="{49E29265-2D41-4BCF-B184-061318FF914C}"/>
              </a:ext>
            </a:extLst>
          </p:cNvPr>
          <p:cNvSpPr>
            <a:spLocks xmlns:a="http://schemas.openxmlformats.org/drawingml/2006/main" noGrp="1"/>
          </p:cNvSpPr>
          <p:nvPr/>
        </p:nvSpPr>
        <p:spPr>
          <a:xfrm xmlns:a="http://schemas.openxmlformats.org/drawingml/2006/main">
            <a:off x="7753350" y="192405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PT</a:t>
            </a:r>
          </a:p>
        </p:txBody>
      </p:sp>
      <p:sp>
        <p:nvSpPr>
          <p:cNvPr id="13" name="">
            <a:extLst xmlns:a="http://schemas.openxmlformats.org/drawingml/2006/main">
              <a:ext uri="{FF2B5EF4-FFF2-40B4-BE49-F238E27FC236}">
                <a16:creationId xmlns:a16="http://schemas.microsoft.com/office/drawing/2014/main" id="{58AD4105-77A8-4203-9048-108BF9904E52}"/>
              </a:ext>
            </a:extLst>
          </p:cNvPr>
          <p:cNvSpPr>
            <a:spLocks xmlns:a="http://schemas.openxmlformats.org/drawingml/2006/main" noGrp="1"/>
          </p:cNvSpPr>
          <p:nvPr/>
        </p:nvSpPr>
        <p:spPr>
          <a:xfrm xmlns:a="http://schemas.openxmlformats.org/drawingml/2006/main">
            <a:off x="7753350" y="222885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639A6"/>
                </a:solidFill>
                <a:latin typeface="Helvetica Neue"/>
                <a:ea typeface="Helvetica Neue"/>
                <a:cs typeface="Helvetica Neue"/>
              </a:defRPr>
            </a:pPr>
            <a:r>
              <a:rPr sz="2100" b="1">
                <a:solidFill>
                  <a:srgbClr val="1639A6"/>
                </a:solidFill>
                <a:latin typeface="Helvetica Neue"/>
                <a:ea typeface="Helvetica Neue"/>
                <a:cs typeface="Helvetica Neue"/>
              </a:rPr>
              <a:t>Stock exposure</a:t>
            </a:r>
          </a:p>
        </p:txBody>
      </p:sp>
      <p:sp>
        <p:nvSpPr>
          <p:cNvPr id="14" name="">
            <a:extLst xmlns:a="http://schemas.openxmlformats.org/drawingml/2006/main">
              <a:ext uri="{FF2B5EF4-FFF2-40B4-BE49-F238E27FC236}">
                <a16:creationId xmlns:a16="http://schemas.microsoft.com/office/drawing/2014/main" id="{8410D2A4-E317-4357-8129-825CC94C41B5}"/>
              </a:ext>
            </a:extLst>
          </p:cNvPr>
          <p:cNvSpPr>
            <a:spLocks xmlns:a="http://schemas.openxmlformats.org/drawingml/2006/main" noGrp="1"/>
          </p:cNvSpPr>
          <p:nvPr/>
        </p:nvSpPr>
        <p:spPr>
          <a:xfrm xmlns:a="http://schemas.openxmlformats.org/drawingml/2006/main">
            <a:off x="7753350" y="264795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Collateral remaining after this event’s dividend allocation.</a:t>
            </a:r>
          </a:p>
        </p:txBody>
      </p:sp>
      <p:sp>
        <p:nvSpPr>
          <p:cNvPr id="15" name="Dividend rights DR">
            <a:extLst xmlns:a="http://schemas.openxmlformats.org/drawingml/2006/main">
              <a:ext uri="{FF2B5EF4-FFF2-40B4-BE49-F238E27FC236}">
                <a16:creationId xmlns:a16="http://schemas.microsoft.com/office/drawing/2014/main" id="{B3E515CE-3BDD-4FFF-A804-C27CBE0804BD}"/>
              </a:ext>
            </a:extLst>
          </p:cNvPr>
          <p:cNvSpPr>
            <a:spLocks xmlns:a="http://schemas.openxmlformats.org/drawingml/2006/main" noGrp="1"/>
          </p:cNvSpPr>
          <p:nvPr/>
        </p:nvSpPr>
        <p:spPr>
          <a:xfrm xmlns:a="http://schemas.openxmlformats.org/drawingml/2006/main">
            <a:off x="7477125" y="3562350"/>
            <a:ext cx="3714750" cy="1428750"/>
          </a:xfrm>
          <a:prstGeom xmlns:a="http://schemas.openxmlformats.org/drawingml/2006/main" prst="roundRect">
            <a:avLst>
              <a:gd name="adj" fmla="val 9333"/>
            </a:avLst>
          </a:prstGeom>
          <a:solidFill xmlns:a="http://schemas.openxmlformats.org/drawingml/2006/main">
            <a:srgbClr val="F8E8D4"/>
          </a:solidFill>
          <a:ln xmlns:a="http://schemas.openxmlformats.org/drawingml/2006/main" w="9525">
            <a:solidFill>
              <a:srgbClr val="C46A00"/>
            </a:solidFill>
            <a:prstDash val="solid"/>
          </a:ln>
        </p:spPr>
      </p:sp>
      <p:sp>
        <p:nvSpPr>
          <p:cNvPr id="16" name="">
            <a:extLst xmlns:a="http://schemas.openxmlformats.org/drawingml/2006/main">
              <a:ext uri="{FF2B5EF4-FFF2-40B4-BE49-F238E27FC236}">
                <a16:creationId xmlns:a16="http://schemas.microsoft.com/office/drawing/2014/main" id="{996AE1BB-D44F-4928-B09E-18DA4D5C6A9D}"/>
              </a:ext>
            </a:extLst>
          </p:cNvPr>
          <p:cNvSpPr>
            <a:spLocks xmlns:a="http://schemas.openxmlformats.org/drawingml/2006/main" noGrp="1"/>
          </p:cNvSpPr>
          <p:nvPr/>
        </p:nvSpPr>
        <p:spPr>
          <a:xfrm xmlns:a="http://schemas.openxmlformats.org/drawingml/2006/main">
            <a:off x="7753350" y="377190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DR</a:t>
            </a:r>
          </a:p>
        </p:txBody>
      </p:sp>
      <p:sp>
        <p:nvSpPr>
          <p:cNvPr id="17" name="">
            <a:extLst xmlns:a="http://schemas.openxmlformats.org/drawingml/2006/main">
              <a:ext uri="{FF2B5EF4-FFF2-40B4-BE49-F238E27FC236}">
                <a16:creationId xmlns:a16="http://schemas.microsoft.com/office/drawing/2014/main" id="{06A7671A-50AA-4B76-BD02-70535895B57F}"/>
              </a:ext>
            </a:extLst>
          </p:cNvPr>
          <p:cNvSpPr>
            <a:spLocks xmlns:a="http://schemas.openxmlformats.org/drawingml/2006/main" noGrp="1"/>
          </p:cNvSpPr>
          <p:nvPr/>
        </p:nvSpPr>
        <p:spPr>
          <a:xfrm xmlns:a="http://schemas.openxmlformats.org/drawingml/2006/main">
            <a:off x="7753350" y="407670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7A4000"/>
                </a:solidFill>
                <a:latin typeface="Helvetica Neue"/>
                <a:ea typeface="Helvetica Neue"/>
                <a:cs typeface="Helvetica Neue"/>
              </a:defRPr>
            </a:pPr>
            <a:r>
              <a:rPr sz="2100" b="1">
                <a:solidFill>
                  <a:srgbClr val="7A4000"/>
                </a:solidFill>
                <a:latin typeface="Helvetica Neue"/>
                <a:ea typeface="Helvetica Neue"/>
                <a:cs typeface="Helvetica Neue"/>
              </a:rPr>
              <a:t>Dividend rights</a:t>
            </a:r>
          </a:p>
        </p:txBody>
      </p:sp>
      <p:sp>
        <p:nvSpPr>
          <p:cNvPr id="18" name="">
            <a:extLst xmlns:a="http://schemas.openxmlformats.org/drawingml/2006/main">
              <a:ext uri="{FF2B5EF4-FFF2-40B4-BE49-F238E27FC236}">
                <a16:creationId xmlns:a16="http://schemas.microsoft.com/office/drawing/2014/main" id="{DAE04498-22FC-404B-A591-4E45688E82DC}"/>
              </a:ext>
            </a:extLst>
          </p:cNvPr>
          <p:cNvSpPr>
            <a:spLocks xmlns:a="http://schemas.openxmlformats.org/drawingml/2006/main" noGrp="1"/>
          </p:cNvSpPr>
          <p:nvPr/>
        </p:nvSpPr>
        <p:spPr>
          <a:xfrm xmlns:a="http://schemas.openxmlformats.org/drawingml/2006/main">
            <a:off x="7753350" y="44958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This event’s dividend-derived share of the collateral.</a:t>
            </a:r>
          </a:p>
        </p:txBody>
      </p:sp>
      <p:cxnSp>
        <p:nvCxnSpPr>
          <p:cNvPr id="43" name=""/>
          <p:cNvCxnSpPr>
            <a:stCxn xmlns:a="http://schemas.openxmlformats.org/drawingml/2006/main" id="6" idx="3"/>
            <a:endCxn xmlns:a="http://schemas.openxmlformats.org/drawingml/2006/main" id="8" idx="1"/>
          </p:cNvCxnSpPr>
          <p:nvPr/>
        </p:nvCxnSpPr>
        <p:spPr>
          <a:xfrm xmlns:a="http://schemas.openxmlformats.org/drawingml/2006/main">
            <a:off x="2552700" y="3181350"/>
            <a:ext cx="1123950" cy="0"/>
          </a:xfrm>
          <a:prstGeom xmlns:a="http://schemas.openxmlformats.org/drawingml/2006/main" prst="straightConnector1">
            <a:avLst/>
          </a:prstGeom>
          <a:ln xmlns:a="http://schemas.openxmlformats.org/drawingml/2006/main" w="19050">
            <a:solidFill>
              <a:srgbClr val="101820"/>
            </a:solidFill>
            <a:prstDash val="solid"/>
            <a:tailEnd type="triangle" w="sm" len="sm"/>
          </a:ln>
        </p:spPr>
      </p:cxnSp>
      <p:cxnSp>
        <p:nvCxnSpPr>
          <p:cNvPr id="44" name=""/>
          <p:cNvCxnSpPr>
            <a:stCxn xmlns:a="http://schemas.openxmlformats.org/drawingml/2006/main" id="8" idx="3"/>
            <a:endCxn xmlns:a="http://schemas.openxmlformats.org/drawingml/2006/main" id="11" idx="1"/>
          </p:cNvCxnSpPr>
          <p:nvPr/>
        </p:nvCxnSpPr>
        <p:spPr>
          <a:xfrm xmlns:a="http://schemas.openxmlformats.org/drawingml/2006/main" flipV="1">
            <a:off x="5772150" y="2428875"/>
            <a:ext cx="1704975" cy="752475"/>
          </a:xfrm>
          <a:prstGeom xmlns:a="http://schemas.openxmlformats.org/drawingml/2006/main" prst="straightConnector1">
            <a:avLst/>
          </a:prstGeom>
          <a:ln xmlns:a="http://schemas.openxmlformats.org/drawingml/2006/main" w="19050">
            <a:solidFill>
              <a:srgbClr val="2457F5"/>
            </a:solidFill>
            <a:prstDash val="solid"/>
            <a:tailEnd type="triangle" w="sm" len="sm"/>
          </a:ln>
        </p:spPr>
      </p:cxnSp>
      <p:cxnSp>
        <p:nvCxnSpPr>
          <p:cNvPr id="45" name=""/>
          <p:cNvCxnSpPr>
            <a:stCxn xmlns:a="http://schemas.openxmlformats.org/drawingml/2006/main" id="8" idx="3"/>
            <a:endCxn xmlns:a="http://schemas.openxmlformats.org/drawingml/2006/main" id="15" idx="1"/>
          </p:cNvCxnSpPr>
          <p:nvPr/>
        </p:nvCxnSpPr>
        <p:spPr>
          <a:xfrm xmlns:a="http://schemas.openxmlformats.org/drawingml/2006/main">
            <a:off x="5772150" y="3181350"/>
            <a:ext cx="1704975" cy="1095375"/>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22" name="">
            <a:extLst xmlns:a="http://schemas.openxmlformats.org/drawingml/2006/main">
              <a:ext uri="{FF2B5EF4-FFF2-40B4-BE49-F238E27FC236}">
                <a16:creationId xmlns:a16="http://schemas.microsoft.com/office/drawing/2014/main" id="{2ED4D1D8-BD7E-437E-9C4D-06D1B8C43535}"/>
              </a:ext>
            </a:extLst>
          </p:cNvPr>
          <p:cNvSpPr>
            <a:spLocks xmlns:a="http://schemas.openxmlformats.org/drawingml/2006/main" noGrp="1"/>
          </p:cNvSpPr>
          <p:nvPr/>
        </p:nvSpPr>
        <p:spPr>
          <a:xfrm xmlns:a="http://schemas.openxmlformats.org/drawingml/2006/main">
            <a:off x="742950" y="5505450"/>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Each pair of claims has its own locked collateral.</a:t>
            </a:r>
          </a:p>
        </p:txBody>
      </p:sp>
      <p:sp>
        <p:nvSpPr>
          <p:cNvPr id="23" name="">
            <a:extLst xmlns:a="http://schemas.openxmlformats.org/drawingml/2006/main">
              <a:ext uri="{FF2B5EF4-FFF2-40B4-BE49-F238E27FC236}">
                <a16:creationId xmlns:a16="http://schemas.microsoft.com/office/drawing/2014/main" id="{1D5EA28A-22A2-4734-9F9B-99014814DF6D}"/>
              </a:ext>
            </a:extLst>
          </p:cNvPr>
          <p:cNvSpPr>
            <a:spLocks xmlns:a="http://schemas.openxmlformats.org/drawingml/2006/main" noGrp="1"/>
          </p:cNvSpPr>
          <p:nvPr/>
        </p:nvSpPr>
        <p:spPr>
          <a:xfrm xmlns:a="http://schemas.openxmlformats.org/drawingml/2006/main">
            <a:off x="742950" y="5962650"/>
            <a:ext cx="771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Redeems in the deposited stock token. Dollar value can change.</a:t>
            </a:r>
          </a:p>
        </p:txBody>
      </p:sp>
      <p:sp>
        <p:nvSpPr>
          <p:cNvPr id="24" name="">
            <a:extLst xmlns:a="http://schemas.openxmlformats.org/drawingml/2006/main">
              <a:ext uri="{FF2B5EF4-FFF2-40B4-BE49-F238E27FC236}">
                <a16:creationId xmlns:a16="http://schemas.microsoft.com/office/drawing/2014/main" id="{B68B8154-586D-404B-AA9D-73CDDD87C233}"/>
              </a:ext>
            </a:extLst>
          </p:cNvPr>
          <p:cNvSpPr>
            <a:spLocks xmlns:a="http://schemas.openxmlformats.org/drawingml/2006/main" noGrp="1"/>
          </p:cNvSpPr>
          <p:nvPr/>
        </p:nvSpPr>
        <p:spPr>
          <a:xfrm xmlns:a="http://schemas.openxmlformats.org/drawingml/2006/main">
            <a:off x="8801100" y="604837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SCHEMATIC, NOT A 50/50 ALLOCATION</a:t>
            </a:r>
          </a:p>
        </p:txBody>
      </p:sp>
    </p:spTree>
    <p:extLst>
      <p:ext uri="{BB962C8B-B14F-4D97-AF65-F5344CB8AC3E}">
        <p14:creationId xmlns:p14="http://schemas.microsoft.com/office/powerpoint/2010/main" val="1528097939"/>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87385A5-714D-43AC-8D3F-32A46DCD5FBE}"/>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11BE23D-7165-4DF7-B82F-D08E93872062}"/>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B4F5DD2-C168-4E5A-A258-D66BFD060773}"/>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5F61A7C3-7C06-4147-B8B4-F24964103A04}"/>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Established markets, familiar behavior</a:t>
            </a:r>
          </a:p>
        </p:txBody>
      </p:sp>
      <p:sp>
        <p:nvSpPr>
          <p:cNvPr id="5" name="">
            <a:extLst xmlns:a="http://schemas.openxmlformats.org/drawingml/2006/main">
              <a:ext uri="{FF2B5EF4-FFF2-40B4-BE49-F238E27FC236}">
                <a16:creationId xmlns:a16="http://schemas.microsoft.com/office/drawing/2014/main" id="{26E7CCE7-1F7C-4ACA-A31B-46A1C8269F17}"/>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8464F40B-5AB3-46BB-83EA-022A5136C9FE}"/>
              </a:ext>
            </a:extLst>
          </p:cNvPr>
          <p:cNvSpPr>
            <a:spLocks xmlns:a="http://schemas.openxmlformats.org/drawingml/2006/main" noGrp="1"/>
          </p:cNvSpPr>
          <p:nvPr/>
        </p:nvSpPr>
        <p:spPr>
          <a:xfrm xmlns:a="http://schemas.openxmlformats.org/drawingml/2006/main">
            <a:off x="7620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LISTED DIVIDEND DERIVATIVES</a:t>
            </a:r>
          </a:p>
        </p:txBody>
      </p:sp>
      <p:sp>
        <p:nvSpPr>
          <p:cNvPr id="7" name="">
            <a:extLst xmlns:a="http://schemas.openxmlformats.org/drawingml/2006/main">
              <a:ext uri="{FF2B5EF4-FFF2-40B4-BE49-F238E27FC236}">
                <a16:creationId xmlns:a16="http://schemas.microsoft.com/office/drawing/2014/main" id="{4DF6A14B-7C30-402D-8317-594FB7ED31E8}"/>
              </a:ext>
            </a:extLst>
          </p:cNvPr>
          <p:cNvSpPr>
            <a:spLocks xmlns:a="http://schemas.openxmlformats.org/drawingml/2006/main" noGrp="1"/>
          </p:cNvSpPr>
          <p:nvPr/>
        </p:nvSpPr>
        <p:spPr>
          <a:xfrm xmlns:a="http://schemas.openxmlformats.org/drawingml/2006/main">
            <a:off x="762000" y="22479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101820"/>
                </a:solidFill>
                <a:latin typeface="Helvetica Neue"/>
                <a:ea typeface="Helvetica Neue"/>
                <a:cs typeface="Helvetica Neue"/>
              </a:defRPr>
            </a:pPr>
            <a:r>
              <a:rPr sz="5700" b="1">
                <a:solidFill>
                  <a:srgbClr val="101820"/>
                </a:solidFill>
                <a:latin typeface="Helvetica Neue"/>
                <a:ea typeface="Helvetica Neue"/>
                <a:cs typeface="Helvetica Neue"/>
              </a:rPr>
              <a:t>21M+</a:t>
            </a:r>
          </a:p>
        </p:txBody>
      </p:sp>
      <p:sp>
        <p:nvSpPr>
          <p:cNvPr id="8" name="">
            <a:extLst xmlns:a="http://schemas.openxmlformats.org/drawingml/2006/main">
              <a:ext uri="{FF2B5EF4-FFF2-40B4-BE49-F238E27FC236}">
                <a16:creationId xmlns:a16="http://schemas.microsoft.com/office/drawing/2014/main" id="{CD4EACE9-92EB-4272-A399-442CBD753A48}"/>
              </a:ext>
            </a:extLst>
          </p:cNvPr>
          <p:cNvSpPr>
            <a:spLocks xmlns:a="http://schemas.openxmlformats.org/drawingml/2006/main" noGrp="1"/>
          </p:cNvSpPr>
          <p:nvPr/>
        </p:nvSpPr>
        <p:spPr>
          <a:xfrm xmlns:a="http://schemas.openxmlformats.org/drawingml/2006/main">
            <a:off x="781050" y="323850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dividend contracts traded on Eurex in 2024</a:t>
            </a:r>
          </a:p>
        </p:txBody>
      </p:sp>
      <p:sp>
        <p:nvSpPr>
          <p:cNvPr id="9" name="">
            <a:extLst xmlns:a="http://schemas.openxmlformats.org/drawingml/2006/main">
              <a:ext uri="{FF2B5EF4-FFF2-40B4-BE49-F238E27FC236}">
                <a16:creationId xmlns:a16="http://schemas.microsoft.com/office/drawing/2014/main" id="{08B5D504-F199-4877-BB26-F3903145A63B}"/>
              </a:ext>
            </a:extLst>
          </p:cNvPr>
          <p:cNvSpPr>
            <a:spLocks xmlns:a="http://schemas.openxmlformats.org/drawingml/2006/main" noGrp="1"/>
          </p:cNvSpPr>
          <p:nvPr/>
        </p:nvSpPr>
        <p:spPr>
          <a:xfrm xmlns:a="http://schemas.openxmlformats.org/drawingml/2006/main">
            <a:off x="60960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802E1A6-3680-43D4-B5F4-2F2934D7EAB5}"/>
              </a:ext>
            </a:extLst>
          </p:cNvPr>
          <p:cNvSpPr>
            <a:spLocks xmlns:a="http://schemas.openxmlformats.org/drawingml/2006/main" noGrp="1"/>
          </p:cNvSpPr>
          <p:nvPr/>
        </p:nvSpPr>
        <p:spPr>
          <a:xfrm xmlns:a="http://schemas.openxmlformats.org/drawingml/2006/main">
            <a:off x="66675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ONCHAIN YIELD SEPARATION</a:t>
            </a:r>
          </a:p>
        </p:txBody>
      </p:sp>
      <p:sp>
        <p:nvSpPr>
          <p:cNvPr id="11" name="">
            <a:extLst xmlns:a="http://schemas.openxmlformats.org/drawingml/2006/main">
              <a:ext uri="{FF2B5EF4-FFF2-40B4-BE49-F238E27FC236}">
                <a16:creationId xmlns:a16="http://schemas.microsoft.com/office/drawing/2014/main" id="{FF52CC87-4B34-4A7B-9C63-7006192E7DFE}"/>
              </a:ext>
            </a:extLst>
          </p:cNvPr>
          <p:cNvSpPr>
            <a:spLocks xmlns:a="http://schemas.openxmlformats.org/drawingml/2006/main" noGrp="1"/>
          </p:cNvSpPr>
          <p:nvPr/>
        </p:nvSpPr>
        <p:spPr>
          <a:xfrm xmlns:a="http://schemas.openxmlformats.org/drawingml/2006/main">
            <a:off x="6667500" y="2247900"/>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2457F5"/>
                </a:solidFill>
                <a:latin typeface="Helvetica Neue"/>
                <a:ea typeface="Helvetica Neue"/>
                <a:cs typeface="Helvetica Neue"/>
              </a:defRPr>
            </a:pPr>
            <a:r>
              <a:rPr sz="5700" b="1">
                <a:solidFill>
                  <a:srgbClr val="2457F5"/>
                </a:solidFill>
                <a:latin typeface="Helvetica Neue"/>
                <a:ea typeface="Helvetica Neue"/>
                <a:cs typeface="Helvetica Neue"/>
              </a:rPr>
              <a:t>$96.4M</a:t>
            </a:r>
          </a:p>
        </p:txBody>
      </p:sp>
      <p:sp>
        <p:nvSpPr>
          <p:cNvPr id="12" name="">
            <a:extLst xmlns:a="http://schemas.openxmlformats.org/drawingml/2006/main">
              <a:ext uri="{FF2B5EF4-FFF2-40B4-BE49-F238E27FC236}">
                <a16:creationId xmlns:a16="http://schemas.microsoft.com/office/drawing/2014/main" id="{E9046B47-B28E-45D3-9910-0252C95EFFDD}"/>
              </a:ext>
            </a:extLst>
          </p:cNvPr>
          <p:cNvSpPr>
            <a:spLocks xmlns:a="http://schemas.openxmlformats.org/drawingml/2006/main" noGrp="1"/>
          </p:cNvSpPr>
          <p:nvPr/>
        </p:nvSpPr>
        <p:spPr>
          <a:xfrm xmlns:a="http://schemas.openxmlformats.org/drawingml/2006/main">
            <a:off x="6686550" y="323850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average daily trading volume in 2024, reported by Pendle</a:t>
            </a:r>
          </a:p>
        </p:txBody>
      </p:sp>
      <p:sp>
        <p:nvSpPr>
          <p:cNvPr id="13" name="">
            <a:extLst xmlns:a="http://schemas.openxmlformats.org/drawingml/2006/main">
              <a:ext uri="{FF2B5EF4-FFF2-40B4-BE49-F238E27FC236}">
                <a16:creationId xmlns:a16="http://schemas.microsoft.com/office/drawing/2014/main" id="{16F77C38-C4AA-49E7-951E-124816E02A69}"/>
              </a:ext>
            </a:extLst>
          </p:cNvPr>
          <p:cNvSpPr>
            <a:spLocks xmlns:a="http://schemas.openxmlformats.org/drawingml/2006/main" noGrp="1"/>
          </p:cNvSpPr>
          <p:nvPr/>
        </p:nvSpPr>
        <p:spPr>
          <a:xfrm xmlns:a="http://schemas.openxmlformats.org/drawingml/2006/main">
            <a:off x="762000" y="4762500"/>
            <a:ext cx="981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Investors already trade dividends separately.</a:t>
            </a:r>
            <a:r>
              <a:rPr b="1">
                <a:solidFill>
                  <a:srgbClr val="101820"/>
                </a:solidFill>
                <a:latin typeface="Helvetica Neue"/>
                <a:ea typeface="Helvetica Neue"/>
                <a:cs typeface="Helvetica Neue"/>
              </a:rPr>
              <a:t>
Crypto users already separate yield.</a:t>
            </a:r>
          </a:p>
        </p:txBody>
      </p:sp>
      <p:sp>
        <p:nvSpPr>
          <p:cNvPr id="14" name="">
            <a:extLst xmlns:a="http://schemas.openxmlformats.org/drawingml/2006/main">
              <a:ext uri="{FF2B5EF4-FFF2-40B4-BE49-F238E27FC236}">
                <a16:creationId xmlns:a16="http://schemas.microsoft.com/office/drawing/2014/main" id="{8FD25A2D-2F98-4B52-A2BE-959CE725C172}"/>
              </a:ext>
            </a:extLst>
          </p:cNvPr>
          <p:cNvSpPr>
            <a:spLocks xmlns:a="http://schemas.openxmlformats.org/drawingml/2006/main" noGrp="1"/>
          </p:cNvSpPr>
          <p:nvPr/>
        </p:nvSpPr>
        <p:spPr>
          <a:xfrm xmlns:a="http://schemas.openxmlformats.org/drawingml/2006/main">
            <a:off x="762000" y="59626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0">
                <a:solidFill>
                  <a:srgbClr val="53606B"/>
                </a:solidFill>
                <a:latin typeface="Helvetica Neue"/>
                <a:ea typeface="Helvetica Neue"/>
                <a:cs typeface="Helvetica Neue"/>
              </a:defRPr>
            </a:pPr>
            <a:r>
              <a:rPr sz="1200" b="0">
                <a:solidFill>
                  <a:srgbClr val="53606B"/>
                </a:solidFill>
                <a:latin typeface="Helvetica Neue"/>
                <a:ea typeface="Helvetica Neue"/>
                <a:cs typeface="Helvetica Neue"/>
              </a:rPr>
              <a:t>Established markets for trading dividends and separating yield.</a:t>
            </a:r>
          </a:p>
        </p:txBody>
      </p:sp>
    </p:spTree>
    <p:extLst>
      <p:ext uri="{BB962C8B-B14F-4D97-AF65-F5344CB8AC3E}">
        <p14:creationId xmlns:p14="http://schemas.microsoft.com/office/powerpoint/2010/main" val="553785025"/>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36141B7-CFF4-4FCF-9C49-7435BF6430B8}"/>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F400C9F-9CAB-4015-B48D-615906BD767D}"/>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98DB6E7-F8F8-4C4A-B7DB-522E9A8DF6F4}"/>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1136E1F4-D240-4FE7-B4A7-04A466D2232A}"/>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Tokenized stocks bring the collateral onchain</a:t>
            </a:r>
          </a:p>
        </p:txBody>
      </p:sp>
      <p:sp>
        <p:nvSpPr>
          <p:cNvPr id="5" name="">
            <a:extLst xmlns:a="http://schemas.openxmlformats.org/drawingml/2006/main">
              <a:ext uri="{FF2B5EF4-FFF2-40B4-BE49-F238E27FC236}">
                <a16:creationId xmlns:a16="http://schemas.microsoft.com/office/drawing/2014/main" id="{3ABD1F2E-10AD-4997-90D7-27E4C559EBD6}"/>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ED5059E1-A332-4024-81E1-6198540E6348}"/>
              </a:ext>
            </a:extLst>
          </p:cNvPr>
          <p:cNvSpPr>
            <a:spLocks xmlns:a="http://schemas.openxmlformats.org/drawingml/2006/main" noGrp="1"/>
          </p:cNvSpPr>
          <p:nvPr/>
        </p:nvSpPr>
        <p:spPr>
          <a:xfrm xmlns:a="http://schemas.openxmlformats.org/drawingml/2006/main">
            <a:off x="762000" y="198120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ANNUAL GLOBAL DIVIDENDS</a:t>
            </a:r>
          </a:p>
        </p:txBody>
      </p:sp>
      <p:sp>
        <p:nvSpPr>
          <p:cNvPr id="7" name="">
            <a:extLst xmlns:a="http://schemas.openxmlformats.org/drawingml/2006/main">
              <a:ext uri="{FF2B5EF4-FFF2-40B4-BE49-F238E27FC236}">
                <a16:creationId xmlns:a16="http://schemas.microsoft.com/office/drawing/2014/main" id="{A72971EC-35A4-476F-9BDF-668065E3652D}"/>
              </a:ext>
            </a:extLst>
          </p:cNvPr>
          <p:cNvSpPr>
            <a:spLocks xmlns:a="http://schemas.openxmlformats.org/drawingml/2006/main" noGrp="1"/>
          </p:cNvSpPr>
          <p:nvPr/>
        </p:nvSpPr>
        <p:spPr>
          <a:xfrm xmlns:a="http://schemas.openxmlformats.org/drawingml/2006/main">
            <a:off x="762000" y="2333625"/>
            <a:ext cx="438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C46A00"/>
                </a:solidFill>
                <a:latin typeface="Helvetica Neue"/>
                <a:ea typeface="Helvetica Neue"/>
                <a:cs typeface="Helvetica Neue"/>
              </a:defRPr>
            </a:pPr>
            <a:r>
              <a:rPr sz="5400" b="1">
                <a:solidFill>
                  <a:srgbClr val="C46A00"/>
                </a:solidFill>
                <a:latin typeface="Helvetica Neue"/>
                <a:ea typeface="Helvetica Neue"/>
                <a:cs typeface="Helvetica Neue"/>
              </a:rPr>
              <a:t>$1.75T</a:t>
            </a:r>
          </a:p>
        </p:txBody>
      </p:sp>
      <p:sp>
        <p:nvSpPr>
          <p:cNvPr id="8" name="">
            <a:extLst xmlns:a="http://schemas.openxmlformats.org/drawingml/2006/main">
              <a:ext uri="{FF2B5EF4-FFF2-40B4-BE49-F238E27FC236}">
                <a16:creationId xmlns:a16="http://schemas.microsoft.com/office/drawing/2014/main" id="{F431620F-4C8C-44AA-84FA-779BD86F2FDE}"/>
              </a:ext>
            </a:extLst>
          </p:cNvPr>
          <p:cNvSpPr>
            <a:spLocks xmlns:a="http://schemas.openxmlformats.org/drawingml/2006/main" noGrp="1"/>
          </p:cNvSpPr>
          <p:nvPr/>
        </p:nvSpPr>
        <p:spPr>
          <a:xfrm xmlns:a="http://schemas.openxmlformats.org/drawingml/2006/main">
            <a:off x="781050" y="3286125"/>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paid in 2024</a:t>
            </a:r>
          </a:p>
        </p:txBody>
      </p:sp>
      <p:sp>
        <p:nvSpPr>
          <p:cNvPr id="9" name="">
            <a:extLst xmlns:a="http://schemas.openxmlformats.org/drawingml/2006/main">
              <a:ext uri="{FF2B5EF4-FFF2-40B4-BE49-F238E27FC236}">
                <a16:creationId xmlns:a16="http://schemas.microsoft.com/office/drawing/2014/main" id="{D3C8DF9D-3A39-49AE-8344-293DF464239F}"/>
              </a:ext>
            </a:extLst>
          </p:cNvPr>
          <p:cNvSpPr>
            <a:spLocks xmlns:a="http://schemas.openxmlformats.org/drawingml/2006/main" noGrp="1"/>
          </p:cNvSpPr>
          <p:nvPr/>
        </p:nvSpPr>
        <p:spPr>
          <a:xfrm xmlns:a="http://schemas.openxmlformats.org/drawingml/2006/main">
            <a:off x="59436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ED7B053-C644-4FD9-8DD6-64EE7156D77A}"/>
              </a:ext>
            </a:extLst>
          </p:cNvPr>
          <p:cNvSpPr>
            <a:spLocks xmlns:a="http://schemas.openxmlformats.org/drawingml/2006/main" noGrp="1"/>
          </p:cNvSpPr>
          <p:nvPr/>
        </p:nvSpPr>
        <p:spPr>
          <a:xfrm xmlns:a="http://schemas.openxmlformats.org/drawingml/2006/main">
            <a:off x="6572250" y="19812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DISTRIBUTED TOKENIZED-STOCK VALUE</a:t>
            </a:r>
          </a:p>
        </p:txBody>
      </p:sp>
      <p:sp>
        <p:nvSpPr>
          <p:cNvPr id="11" name="">
            <a:extLst xmlns:a="http://schemas.openxmlformats.org/drawingml/2006/main">
              <a:ext uri="{FF2B5EF4-FFF2-40B4-BE49-F238E27FC236}">
                <a16:creationId xmlns:a16="http://schemas.microsoft.com/office/drawing/2014/main" id="{2414EBFF-7C1F-497F-9031-F964A76E97D1}"/>
              </a:ext>
            </a:extLst>
          </p:cNvPr>
          <p:cNvSpPr>
            <a:spLocks xmlns:a="http://schemas.openxmlformats.org/drawingml/2006/main" noGrp="1"/>
          </p:cNvSpPr>
          <p:nvPr/>
        </p:nvSpPr>
        <p:spPr>
          <a:xfrm xmlns:a="http://schemas.openxmlformats.org/drawingml/2006/main">
            <a:off x="6572250" y="2333625"/>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2457F5"/>
                </a:solidFill>
                <a:latin typeface="Helvetica Neue"/>
                <a:ea typeface="Helvetica Neue"/>
                <a:cs typeface="Helvetica Neue"/>
              </a:defRPr>
            </a:pPr>
            <a:r>
              <a:rPr sz="5400" b="1">
                <a:solidFill>
                  <a:srgbClr val="2457F5"/>
                </a:solidFill>
                <a:latin typeface="Helvetica Neue"/>
                <a:ea typeface="Helvetica Neue"/>
                <a:cs typeface="Helvetica Neue"/>
              </a:rPr>
              <a:t>$2.92B</a:t>
            </a:r>
          </a:p>
        </p:txBody>
      </p:sp>
      <p:sp>
        <p:nvSpPr>
          <p:cNvPr id="12" name="">
            <a:extLst xmlns:a="http://schemas.openxmlformats.org/drawingml/2006/main">
              <a:ext uri="{FF2B5EF4-FFF2-40B4-BE49-F238E27FC236}">
                <a16:creationId xmlns:a16="http://schemas.microsoft.com/office/drawing/2014/main" id="{74F34880-1A3C-4664-9B87-54332B5709E6}"/>
              </a:ext>
            </a:extLst>
          </p:cNvPr>
          <p:cNvSpPr>
            <a:spLocks xmlns:a="http://schemas.openxmlformats.org/drawingml/2006/main" noGrp="1"/>
          </p:cNvSpPr>
          <p:nvPr/>
        </p:nvSpPr>
        <p:spPr>
          <a:xfrm xmlns:a="http://schemas.openxmlformats.org/drawingml/2006/main">
            <a:off x="6591300" y="32861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observed 16 September 2026</a:t>
            </a:r>
          </a:p>
        </p:txBody>
      </p:sp>
      <p:sp>
        <p:nvSpPr>
          <p:cNvPr id="13" name="">
            <a:extLst xmlns:a="http://schemas.openxmlformats.org/drawingml/2006/main">
              <a:ext uri="{FF2B5EF4-FFF2-40B4-BE49-F238E27FC236}">
                <a16:creationId xmlns:a16="http://schemas.microsoft.com/office/drawing/2014/main" id="{7B2B0DCC-943C-4159-9E59-B51935FE3C6F}"/>
              </a:ext>
            </a:extLst>
          </p:cNvPr>
          <p:cNvSpPr>
            <a:spLocks xmlns:a="http://schemas.openxmlformats.org/drawingml/2006/main" noGrp="1"/>
          </p:cNvSpPr>
          <p:nvPr/>
        </p:nvSpPr>
        <p:spPr>
          <a:xfrm xmlns:a="http://schemas.openxmlformats.org/drawingml/2006/main">
            <a:off x="762000" y="4371975"/>
            <a:ext cx="10572750" cy="190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42E0DE6-334B-43B6-857B-CB366BB0B11F}"/>
              </a:ext>
            </a:extLst>
          </p:cNvPr>
          <p:cNvSpPr>
            <a:spLocks xmlns:a="http://schemas.openxmlformats.org/drawingml/2006/main" noGrp="1"/>
          </p:cNvSpPr>
          <p:nvPr/>
        </p:nvSpPr>
        <p:spPr>
          <a:xfrm xmlns:a="http://schemas.openxmlformats.org/drawingml/2006/main">
            <a:off x="762000" y="46958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a:solidFill>
                  <a:srgbClr val="53606B"/>
                </a:solidFill>
                <a:latin typeface="Helvetica Neue"/>
                <a:ea typeface="Helvetica Neue"/>
                <a:cs typeface="Helvetica Neue"/>
              </a:defRPr>
            </a:pPr>
            <a:r>
              <a:rPr sz="1125" b="1">
                <a:solidFill>
                  <a:srgbClr val="53606B"/>
                </a:solidFill>
                <a:latin typeface="Helvetica Neue"/>
                <a:ea typeface="Helvetica Neue"/>
                <a:cs typeface="Helvetica Neue"/>
              </a:rPr>
              <a:t>Starting market</a:t>
            </a:r>
          </a:p>
        </p:txBody>
      </p:sp>
      <p:sp>
        <p:nvSpPr>
          <p:cNvPr id="15" name="">
            <a:extLst xmlns:a="http://schemas.openxmlformats.org/drawingml/2006/main">
              <a:ext uri="{FF2B5EF4-FFF2-40B4-BE49-F238E27FC236}">
                <a16:creationId xmlns:a16="http://schemas.microsoft.com/office/drawing/2014/main" id="{F04E50EB-C5DA-487A-A388-8761972055A8}"/>
              </a:ext>
            </a:extLst>
          </p:cNvPr>
          <p:cNvSpPr>
            <a:spLocks xmlns:a="http://schemas.openxmlformats.org/drawingml/2006/main" noGrp="1"/>
          </p:cNvSpPr>
          <p:nvPr/>
        </p:nvSpPr>
        <p:spPr>
          <a:xfrm xmlns:a="http://schemas.openxmlformats.org/drawingml/2006/main">
            <a:off x="2971800" y="4610100"/>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101820"/>
                </a:solidFill>
                <a:latin typeface="Helvetica Neue"/>
                <a:ea typeface="Helvetica Neue"/>
                <a:cs typeface="Helvetica Neue"/>
              </a:defRPr>
            </a:pPr>
            <a:r>
              <a:rPr sz="2250" b="1">
                <a:solidFill>
                  <a:srgbClr val="101820"/>
                </a:solidFill>
                <a:latin typeface="Helvetica Neue"/>
                <a:ea typeface="Helvetica Neue"/>
                <a:cs typeface="Helvetica Neue"/>
              </a:rPr>
              <a:t>Selected dividend stocks on Solana</a:t>
            </a:r>
          </a:p>
        </p:txBody>
      </p:sp>
      <p:sp>
        <p:nvSpPr>
          <p:cNvPr id="16" name="">
            <a:extLst xmlns:a="http://schemas.openxmlformats.org/drawingml/2006/main">
              <a:ext uri="{FF2B5EF4-FFF2-40B4-BE49-F238E27FC236}">
                <a16:creationId xmlns:a16="http://schemas.microsoft.com/office/drawing/2014/main" id="{032B06EE-50E9-4813-8345-C98A23C0CBC6}"/>
              </a:ext>
            </a:extLst>
          </p:cNvPr>
          <p:cNvSpPr>
            <a:spLocks xmlns:a="http://schemas.openxmlformats.org/drawingml/2006/main" noGrp="1"/>
          </p:cNvSpPr>
          <p:nvPr/>
        </p:nvSpPr>
        <p:spPr>
          <a:xfrm xmlns:a="http://schemas.openxmlformats.org/drawingml/2006/main">
            <a:off x="2971800" y="512445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1639A6"/>
                </a:solidFill>
                <a:latin typeface="Helvetica Neue"/>
                <a:ea typeface="Helvetica Neue"/>
                <a:cs typeface="Helvetica Neue"/>
              </a:defRPr>
            </a:pPr>
            <a:r>
              <a:rPr sz="1350" b="1">
                <a:solidFill>
                  <a:srgbClr val="1639A6"/>
                </a:solidFill>
                <a:latin typeface="Helvetica Neue"/>
                <a:ea typeface="Helvetica Neue"/>
                <a:cs typeface="Helvetica Neue"/>
              </a:rPr>
              <a:t>Initial scope: xStocks, Backpack and Ondo</a:t>
            </a:r>
          </a:p>
        </p:txBody>
      </p:sp>
      <p:sp>
        <p:nvSpPr>
          <p:cNvPr id="17" name="">
            <a:extLst xmlns:a="http://schemas.openxmlformats.org/drawingml/2006/main">
              <a:ext uri="{FF2B5EF4-FFF2-40B4-BE49-F238E27FC236}">
                <a16:creationId xmlns:a16="http://schemas.microsoft.com/office/drawing/2014/main" id="{FA795E0B-2192-4842-996D-C430E16D92B4}"/>
              </a:ext>
            </a:extLst>
          </p:cNvPr>
          <p:cNvSpPr>
            <a:spLocks xmlns:a="http://schemas.openxmlformats.org/drawingml/2006/main" noGrp="1"/>
          </p:cNvSpPr>
          <p:nvPr/>
        </p:nvSpPr>
        <p:spPr>
          <a:xfrm xmlns:a="http://schemas.openxmlformats.org/drawingml/2006/main">
            <a:off x="762000" y="59531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RWA.xyz includes stocks and ETFs represented natively or synthetically.</a:t>
            </a:r>
          </a:p>
        </p:txBody>
      </p:sp>
    </p:spTree>
    <p:extLst>
      <p:ext uri="{BB962C8B-B14F-4D97-AF65-F5344CB8AC3E}">
        <p14:creationId xmlns:p14="http://schemas.microsoft.com/office/powerpoint/2010/main" val="1714539063"/>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B2CC7B1-604F-477F-931C-26A9FC03A256}"/>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13D44C9-1E17-42BA-A43D-320647BC5030}"/>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93987AF-6401-49F6-B246-A6D3CB55E54C}"/>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C1BA4B95-7AAF-46EE-8B2F-D3619EC928CD}"/>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workflow across issuers</a:t>
            </a:r>
          </a:p>
        </p:txBody>
      </p:sp>
      <p:sp>
        <p:nvSpPr>
          <p:cNvPr id="5" name="">
            <a:extLst xmlns:a="http://schemas.openxmlformats.org/drawingml/2006/main">
              <a:ext uri="{FF2B5EF4-FFF2-40B4-BE49-F238E27FC236}">
                <a16:creationId xmlns:a16="http://schemas.microsoft.com/office/drawing/2014/main" id="{04D12EFE-A42F-44E8-A846-C406F30CDC28}"/>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069DF361-43FF-457B-A7F0-92753BB8553E}"/>
              </a:ext>
            </a:extLst>
          </p:cNvPr>
          <p:cNvSpPr>
            <a:spLocks xmlns:a="http://schemas.openxmlformats.org/drawingml/2006/main" noGrp="1"/>
          </p:cNvSpPr>
          <p:nvPr/>
        </p:nvSpPr>
        <p:spPr>
          <a:xfrm xmlns:a="http://schemas.openxmlformats.org/drawingml/2006/main">
            <a:off x="762000" y="19240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0D14A4DD-866A-4326-BEC8-1CA03815846C}"/>
              </a:ext>
            </a:extLst>
          </p:cNvPr>
          <p:cNvSpPr>
            <a:spLocks xmlns:a="http://schemas.openxmlformats.org/drawingml/2006/main" noGrp="1"/>
          </p:cNvSpPr>
          <p:nvPr/>
        </p:nvSpPr>
        <p:spPr>
          <a:xfrm xmlns:a="http://schemas.openxmlformats.org/drawingml/2006/main">
            <a:off x="1504950" y="1885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2457F5"/>
                </a:solidFill>
                <a:latin typeface="Helvetica Neue"/>
                <a:ea typeface="Helvetica Neue"/>
                <a:cs typeface="Helvetica Neue"/>
              </a:defRPr>
            </a:pPr>
            <a:r>
              <a:rPr sz="2100" b="1">
                <a:solidFill>
                  <a:srgbClr val="2457F5"/>
                </a:solidFill>
                <a:latin typeface="Helvetica Neue"/>
                <a:ea typeface="Helvetica Neue"/>
                <a:cs typeface="Helvetica Neue"/>
              </a:rPr>
              <a:t>Multiple issuers</a:t>
            </a:r>
          </a:p>
        </p:txBody>
      </p:sp>
      <p:sp>
        <p:nvSpPr>
          <p:cNvPr id="8" name="">
            <a:extLst xmlns:a="http://schemas.openxmlformats.org/drawingml/2006/main">
              <a:ext uri="{FF2B5EF4-FFF2-40B4-BE49-F238E27FC236}">
                <a16:creationId xmlns:a16="http://schemas.microsoft.com/office/drawing/2014/main" id="{007829E1-8CAE-404F-B552-90D725039A14}"/>
              </a:ext>
            </a:extLst>
          </p:cNvPr>
          <p:cNvSpPr>
            <a:spLocks xmlns:a="http://schemas.openxmlformats.org/drawingml/2006/main" noGrp="1"/>
          </p:cNvSpPr>
          <p:nvPr/>
        </p:nvSpPr>
        <p:spPr>
          <a:xfrm xmlns:a="http://schemas.openxmlformats.org/drawingml/2006/main">
            <a:off x="4838700" y="19240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xStocks, Backpack and Ondo feed one vault design.</a:t>
            </a:r>
          </a:p>
        </p:txBody>
      </p:sp>
      <p:sp>
        <p:nvSpPr>
          <p:cNvPr id="9" name="">
            <a:extLst xmlns:a="http://schemas.openxmlformats.org/drawingml/2006/main">
              <a:ext uri="{FF2B5EF4-FFF2-40B4-BE49-F238E27FC236}">
                <a16:creationId xmlns:a16="http://schemas.microsoft.com/office/drawing/2014/main" id="{9305E17A-56E6-4BCE-A5E7-BDD8668F2BD0}"/>
              </a:ext>
            </a:extLst>
          </p:cNvPr>
          <p:cNvSpPr>
            <a:spLocks xmlns:a="http://schemas.openxmlformats.org/drawingml/2006/main" noGrp="1"/>
          </p:cNvSpPr>
          <p:nvPr/>
        </p:nvSpPr>
        <p:spPr>
          <a:xfrm xmlns:a="http://schemas.openxmlformats.org/drawingml/2006/main">
            <a:off x="762000" y="26193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02E7B81-9B84-4DBE-9870-2A8328E7F6B7}"/>
              </a:ext>
            </a:extLst>
          </p:cNvPr>
          <p:cNvSpPr>
            <a:spLocks xmlns:a="http://schemas.openxmlformats.org/drawingml/2006/main" noGrp="1"/>
          </p:cNvSpPr>
          <p:nvPr/>
        </p:nvSpPr>
        <p:spPr>
          <a:xfrm xmlns:a="http://schemas.openxmlformats.org/drawingml/2006/main">
            <a:off x="762000" y="29908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DC6AF56F-F55B-47EF-8033-165F17887688}"/>
              </a:ext>
            </a:extLst>
          </p:cNvPr>
          <p:cNvSpPr>
            <a:spLocks xmlns:a="http://schemas.openxmlformats.org/drawingml/2006/main" noGrp="1"/>
          </p:cNvSpPr>
          <p:nvPr/>
        </p:nvSpPr>
        <p:spPr>
          <a:xfrm xmlns:a="http://schemas.openxmlformats.org/drawingml/2006/main">
            <a:off x="1504950" y="29527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Atomic issuance</a:t>
            </a:r>
          </a:p>
        </p:txBody>
      </p:sp>
      <p:sp>
        <p:nvSpPr>
          <p:cNvPr id="12" name="">
            <a:extLst xmlns:a="http://schemas.openxmlformats.org/drawingml/2006/main">
              <a:ext uri="{FF2B5EF4-FFF2-40B4-BE49-F238E27FC236}">
                <a16:creationId xmlns:a16="http://schemas.microsoft.com/office/drawing/2014/main" id="{5FD7134D-FD46-44E1-A34C-6079DE11F975}"/>
              </a:ext>
            </a:extLst>
          </p:cNvPr>
          <p:cNvSpPr>
            <a:spLocks xmlns:a="http://schemas.openxmlformats.org/drawingml/2006/main" noGrp="1"/>
          </p:cNvSpPr>
          <p:nvPr/>
        </p:nvSpPr>
        <p:spPr>
          <a:xfrm xmlns:a="http://schemas.openxmlformats.org/drawingml/2006/main">
            <a:off x="4838700" y="2990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Deposit collateral and issue both claims together.</a:t>
            </a:r>
          </a:p>
        </p:txBody>
      </p:sp>
      <p:sp>
        <p:nvSpPr>
          <p:cNvPr id="13" name="">
            <a:extLst xmlns:a="http://schemas.openxmlformats.org/drawingml/2006/main">
              <a:ext uri="{FF2B5EF4-FFF2-40B4-BE49-F238E27FC236}">
                <a16:creationId xmlns:a16="http://schemas.microsoft.com/office/drawing/2014/main" id="{D376677A-E159-4C15-8555-67ABF0093625}"/>
              </a:ext>
            </a:extLst>
          </p:cNvPr>
          <p:cNvSpPr>
            <a:spLocks xmlns:a="http://schemas.openxmlformats.org/drawingml/2006/main" noGrp="1"/>
          </p:cNvSpPr>
          <p:nvPr/>
        </p:nvSpPr>
        <p:spPr>
          <a:xfrm xmlns:a="http://schemas.openxmlformats.org/drawingml/2006/main">
            <a:off x="762000" y="36861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1FADD1C-DD33-40E1-9144-62263E6C43D9}"/>
              </a:ext>
            </a:extLst>
          </p:cNvPr>
          <p:cNvSpPr>
            <a:spLocks xmlns:a="http://schemas.openxmlformats.org/drawingml/2006/main" noGrp="1"/>
          </p:cNvSpPr>
          <p:nvPr/>
        </p:nvSpPr>
        <p:spPr>
          <a:xfrm xmlns:a="http://schemas.openxmlformats.org/drawingml/2006/main">
            <a:off x="762000" y="40576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289D5927-A74F-4BC8-91F7-98F95981F25E}"/>
              </a:ext>
            </a:extLst>
          </p:cNvPr>
          <p:cNvSpPr>
            <a:spLocks xmlns:a="http://schemas.openxmlformats.org/drawingml/2006/main" noGrp="1"/>
          </p:cNvSpPr>
          <p:nvPr/>
        </p:nvSpPr>
        <p:spPr>
          <a:xfrm xmlns:a="http://schemas.openxmlformats.org/drawingml/2006/main">
            <a:off x="1504950" y="4019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C46A00"/>
                </a:solidFill>
                <a:latin typeface="Helvetica Neue"/>
                <a:ea typeface="Helvetica Neue"/>
                <a:cs typeface="Helvetica Neue"/>
              </a:defRPr>
            </a:pPr>
            <a:r>
              <a:rPr sz="2100" b="1">
                <a:solidFill>
                  <a:srgbClr val="C46A00"/>
                </a:solidFill>
                <a:latin typeface="Helvetica Neue"/>
                <a:ea typeface="Helvetica Neue"/>
                <a:cs typeface="Helvetica Neue"/>
              </a:rPr>
              <a:t>Separate ownership</a:t>
            </a:r>
          </a:p>
        </p:txBody>
      </p:sp>
      <p:sp>
        <p:nvSpPr>
          <p:cNvPr id="16" name="">
            <a:extLst xmlns:a="http://schemas.openxmlformats.org/drawingml/2006/main">
              <a:ext uri="{FF2B5EF4-FFF2-40B4-BE49-F238E27FC236}">
                <a16:creationId xmlns:a16="http://schemas.microsoft.com/office/drawing/2014/main" id="{D7A83726-182B-4A56-8552-779952B38699}"/>
              </a:ext>
            </a:extLst>
          </p:cNvPr>
          <p:cNvSpPr>
            <a:spLocks xmlns:a="http://schemas.openxmlformats.org/drawingml/2006/main" noGrp="1"/>
          </p:cNvSpPr>
          <p:nvPr/>
        </p:nvSpPr>
        <p:spPr>
          <a:xfrm xmlns:a="http://schemas.openxmlformats.org/drawingml/2006/main">
            <a:off x="4838700" y="40576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Transfer and redeem each claim under common rules.</a:t>
            </a:r>
          </a:p>
        </p:txBody>
      </p:sp>
      <p:sp>
        <p:nvSpPr>
          <p:cNvPr id="17" name="">
            <a:extLst xmlns:a="http://schemas.openxmlformats.org/drawingml/2006/main">
              <a:ext uri="{FF2B5EF4-FFF2-40B4-BE49-F238E27FC236}">
                <a16:creationId xmlns:a16="http://schemas.microsoft.com/office/drawing/2014/main" id="{B67BD006-81BE-48E4-B0CD-DF60CE0A0057}"/>
              </a:ext>
            </a:extLst>
          </p:cNvPr>
          <p:cNvSpPr>
            <a:spLocks xmlns:a="http://schemas.openxmlformats.org/drawingml/2006/main" noGrp="1"/>
          </p:cNvSpPr>
          <p:nvPr/>
        </p:nvSpPr>
        <p:spPr>
          <a:xfrm xmlns:a="http://schemas.openxmlformats.org/drawingml/2006/main">
            <a:off x="762000" y="47529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09E73CD-9E48-4C4C-823B-231A8A6D4462}"/>
              </a:ext>
            </a:extLst>
          </p:cNvPr>
          <p:cNvSpPr>
            <a:spLocks xmlns:a="http://schemas.openxmlformats.org/drawingml/2006/main" noGrp="1"/>
          </p:cNvSpPr>
          <p:nvPr/>
        </p:nvSpPr>
        <p:spPr>
          <a:xfrm xmlns:a="http://schemas.openxmlformats.org/drawingml/2006/main">
            <a:off x="1504950" y="5334000"/>
            <a:ext cx="914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One shared flow. Separate collateral for each issuer.</a:t>
            </a:r>
          </a:p>
        </p:txBody>
      </p:sp>
    </p:spTree>
    <p:extLst>
      <p:ext uri="{BB962C8B-B14F-4D97-AF65-F5344CB8AC3E}">
        <p14:creationId xmlns:p14="http://schemas.microsoft.com/office/powerpoint/2010/main" val="562911181"/>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757665DA-B0DA-4531-AD39-C975BC8711ED}"/>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4A0800D-BA33-4983-A323-A014655A54AD}"/>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9742FB4-7FA6-4023-A299-E437B5A205DE}"/>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18EE205B-2DB3-4D39-A74B-9BFED4644678}"/>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Fractional ownership and auditability</a:t>
            </a:r>
          </a:p>
        </p:txBody>
      </p:sp>
      <p:sp>
        <p:nvSpPr>
          <p:cNvPr id="5" name="">
            <a:extLst xmlns:a="http://schemas.openxmlformats.org/drawingml/2006/main">
              <a:ext uri="{FF2B5EF4-FFF2-40B4-BE49-F238E27FC236}">
                <a16:creationId xmlns:a16="http://schemas.microsoft.com/office/drawing/2014/main" id="{84ABB087-9E53-478E-ACAB-3ACF393D731D}"/>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A734A967-C86F-4D1B-B3EA-66D296C2B441}"/>
              </a:ext>
            </a:extLst>
          </p:cNvPr>
          <p:cNvSpPr>
            <a:spLocks xmlns:a="http://schemas.openxmlformats.org/drawingml/2006/main" noGrp="1"/>
          </p:cNvSpPr>
          <p:nvPr/>
        </p:nvSpPr>
        <p:spPr>
          <a:xfrm xmlns:a="http://schemas.openxmlformats.org/drawingml/2006/main">
            <a:off x="762000" y="188595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FRACTIONAL OWNERSHIP</a:t>
            </a:r>
          </a:p>
        </p:txBody>
      </p:sp>
      <p:sp>
        <p:nvSpPr>
          <p:cNvPr id="7" name="">
            <a:extLst xmlns:a="http://schemas.openxmlformats.org/drawingml/2006/main">
              <a:ext uri="{FF2B5EF4-FFF2-40B4-BE49-F238E27FC236}">
                <a16:creationId xmlns:a16="http://schemas.microsoft.com/office/drawing/2014/main" id="{3AD47766-F060-4352-95B5-681F3583DF47}"/>
              </a:ext>
            </a:extLst>
          </p:cNvPr>
          <p:cNvSpPr>
            <a:spLocks xmlns:a="http://schemas.openxmlformats.org/drawingml/2006/main" noGrp="1"/>
          </p:cNvSpPr>
          <p:nvPr/>
        </p:nvSpPr>
        <p:spPr>
          <a:xfrm xmlns:a="http://schemas.openxmlformats.org/drawingml/2006/main">
            <a:off x="762000" y="2228850"/>
            <a:ext cx="4572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Buy or sell part of a dividend claim.</a:t>
            </a:r>
          </a:p>
        </p:txBody>
      </p:sp>
      <p:sp>
        <p:nvSpPr>
          <p:cNvPr id="8" name="Dividend claim">
            <a:extLst xmlns:a="http://schemas.openxmlformats.org/drawingml/2006/main">
              <a:ext uri="{FF2B5EF4-FFF2-40B4-BE49-F238E27FC236}">
                <a16:creationId xmlns:a16="http://schemas.microsoft.com/office/drawing/2014/main" id="{94FFABA7-D8A4-404C-8CFA-C107EA60F7F1}"/>
              </a:ext>
            </a:extLst>
          </p:cNvPr>
          <p:cNvSpPr>
            <a:spLocks xmlns:a="http://schemas.openxmlformats.org/drawingml/2006/main" noGrp="1"/>
          </p:cNvSpPr>
          <p:nvPr/>
        </p:nvSpPr>
        <p:spPr>
          <a:xfrm xmlns:a="http://schemas.openxmlformats.org/drawingml/2006/main">
            <a:off x="762000" y="3276600"/>
            <a:ext cx="4381500" cy="457200"/>
          </a:xfrm>
          <a:prstGeom xmlns:a="http://schemas.openxmlformats.org/drawingml/2006/main" prst="roundRect">
            <a:avLst>
              <a:gd name="adj" fmla="val 20833"/>
            </a:avLst>
          </a:prstGeom>
          <a:solidFill xmlns:a="http://schemas.openxmlformats.org/drawingml/2006/main">
            <a:srgbClr val="F8E8D4"/>
          </a:solidFill>
          <a:ln xmlns:a="http://schemas.openxmlformats.org/drawingml/2006/main" w="9525">
            <a:solidFill>
              <a:srgbClr val="C46A00"/>
            </a:solidFill>
            <a:prstDash val="solid"/>
          </a:ln>
        </p:spPr>
      </p:sp>
      <p:sp>
        <p:nvSpPr>
          <p:cNvPr id="9" name="">
            <a:extLst xmlns:a="http://schemas.openxmlformats.org/drawingml/2006/main">
              <a:ext uri="{FF2B5EF4-FFF2-40B4-BE49-F238E27FC236}">
                <a16:creationId xmlns:a16="http://schemas.microsoft.com/office/drawing/2014/main" id="{67E77774-2C1E-4E64-BD1F-48B7EDE41DA2}"/>
              </a:ext>
            </a:extLst>
          </p:cNvPr>
          <p:cNvSpPr>
            <a:spLocks xmlns:a="http://schemas.openxmlformats.org/drawingml/2006/main" noGrp="1"/>
          </p:cNvSpPr>
          <p:nvPr/>
        </p:nvSpPr>
        <p:spPr>
          <a:xfrm xmlns:a="http://schemas.openxmlformats.org/drawingml/2006/main">
            <a:off x="933450" y="340995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050" b="1">
                <a:solidFill>
                  <a:srgbClr val="7A4000"/>
                </a:solidFill>
                <a:latin typeface="Helvetica Neue"/>
                <a:ea typeface="Helvetica Neue"/>
                <a:cs typeface="Helvetica Neue"/>
              </a:defRPr>
            </a:pPr>
            <a:r>
              <a:rPr sz="1050" b="1">
                <a:solidFill>
                  <a:srgbClr val="7A4000"/>
                </a:solidFill>
                <a:latin typeface="Helvetica Neue"/>
                <a:ea typeface="Helvetica Neue"/>
                <a:cs typeface="Helvetica Neue"/>
              </a:rPr>
              <a:t>DIVIDEND CLAIM</a:t>
            </a:r>
          </a:p>
        </p:txBody>
      </p:sp>
      <p:sp>
        <p:nvSpPr>
          <p:cNvPr id="10" name="Holder part">
            <a:extLst xmlns:a="http://schemas.openxmlformats.org/drawingml/2006/main">
              <a:ext uri="{FF2B5EF4-FFF2-40B4-BE49-F238E27FC236}">
                <a16:creationId xmlns:a16="http://schemas.microsoft.com/office/drawing/2014/main" id="{3061882E-C4B4-4D12-9A3D-F9FF917AA8EE}"/>
              </a:ext>
            </a:extLst>
          </p:cNvPr>
          <p:cNvSpPr>
            <a:spLocks xmlns:a="http://schemas.openxmlformats.org/drawingml/2006/main" noGrp="1"/>
          </p:cNvSpPr>
          <p:nvPr/>
        </p:nvSpPr>
        <p:spPr>
          <a:xfrm xmlns:a="http://schemas.openxmlformats.org/drawingml/2006/main">
            <a:off x="762000" y="4019550"/>
            <a:ext cx="1476375" cy="628650"/>
          </a:xfrm>
          <a:prstGeom xmlns:a="http://schemas.openxmlformats.org/drawingml/2006/main" prst="roundRect">
            <a:avLst>
              <a:gd name="adj" fmla="val 15152"/>
            </a:avLst>
          </a:prstGeom>
          <a:solidFill xmlns:a="http://schemas.openxmlformats.org/drawingml/2006/main">
            <a:srgbClr val="FFFEFB"/>
          </a:solidFill>
          <a:ln xmlns:a="http://schemas.openxmlformats.org/drawingml/2006/main" w="9525">
            <a:solidFill>
              <a:srgbClr val="C46A00"/>
            </a:solidFill>
            <a:prstDash val="solid"/>
          </a:ln>
        </p:spPr>
      </p:sp>
      <p:sp>
        <p:nvSpPr>
          <p:cNvPr id="11" name="">
            <a:extLst xmlns:a="http://schemas.openxmlformats.org/drawingml/2006/main">
              <a:ext uri="{FF2B5EF4-FFF2-40B4-BE49-F238E27FC236}">
                <a16:creationId xmlns:a16="http://schemas.microsoft.com/office/drawing/2014/main" id="{6DDD3A8C-3749-41B0-A89C-116F6DCDFEBE}"/>
              </a:ext>
            </a:extLst>
          </p:cNvPr>
          <p:cNvSpPr>
            <a:spLocks xmlns:a="http://schemas.openxmlformats.org/drawingml/2006/main" noGrp="1"/>
          </p:cNvSpPr>
          <p:nvPr/>
        </p:nvSpPr>
        <p:spPr>
          <a:xfrm xmlns:a="http://schemas.openxmlformats.org/drawingml/2006/main">
            <a:off x="914400" y="4210050"/>
            <a:ext cx="11715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a:solidFill>
                  <a:srgbClr val="7A4000"/>
                </a:solidFill>
                <a:latin typeface="Helvetica Neue"/>
                <a:ea typeface="Helvetica Neue"/>
                <a:cs typeface="Helvetica Neue"/>
              </a:defRPr>
            </a:pPr>
            <a:r>
              <a:rPr sz="1200" b="1">
                <a:solidFill>
                  <a:srgbClr val="7A4000"/>
                </a:solidFill>
                <a:latin typeface="Helvetica Neue"/>
                <a:ea typeface="Helvetica Neue"/>
                <a:cs typeface="Helvetica Neue"/>
              </a:rPr>
              <a:t>holder keeps</a:t>
            </a:r>
          </a:p>
        </p:txBody>
      </p:sp>
      <p:sp>
        <p:nvSpPr>
          <p:cNvPr id="12" name="Buyer part">
            <a:extLst xmlns:a="http://schemas.openxmlformats.org/drawingml/2006/main">
              <a:ext uri="{FF2B5EF4-FFF2-40B4-BE49-F238E27FC236}">
                <a16:creationId xmlns:a16="http://schemas.microsoft.com/office/drawing/2014/main" id="{B1FD9C63-EBE9-4818-BA5F-3B2897B0905B}"/>
              </a:ext>
            </a:extLst>
          </p:cNvPr>
          <p:cNvSpPr>
            <a:spLocks xmlns:a="http://schemas.openxmlformats.org/drawingml/2006/main" noGrp="1"/>
          </p:cNvSpPr>
          <p:nvPr/>
        </p:nvSpPr>
        <p:spPr>
          <a:xfrm xmlns:a="http://schemas.openxmlformats.org/drawingml/2006/main">
            <a:off x="2505075" y="4019550"/>
            <a:ext cx="2638425" cy="628650"/>
          </a:xfrm>
          <a:prstGeom xmlns:a="http://schemas.openxmlformats.org/drawingml/2006/main" prst="roundRect">
            <a:avLst>
              <a:gd name="adj" fmla="val 15152"/>
            </a:avLst>
          </a:prstGeom>
          <a:solidFill xmlns:a="http://schemas.openxmlformats.org/drawingml/2006/main">
            <a:srgbClr val="F8E8D4"/>
          </a:solidFill>
          <a:ln xmlns:a="http://schemas.openxmlformats.org/drawingml/2006/main" w="9525">
            <a:solidFill>
              <a:srgbClr val="C46A00"/>
            </a:solidFill>
            <a:prstDash val="solid"/>
          </a:ln>
        </p:spPr>
      </p:sp>
      <p:sp>
        <p:nvSpPr>
          <p:cNvPr id="13" name="">
            <a:extLst xmlns:a="http://schemas.openxmlformats.org/drawingml/2006/main">
              <a:ext uri="{FF2B5EF4-FFF2-40B4-BE49-F238E27FC236}">
                <a16:creationId xmlns:a16="http://schemas.microsoft.com/office/drawing/2014/main" id="{6188DA25-A9EF-469C-AD44-67EDC763EDA8}"/>
              </a:ext>
            </a:extLst>
          </p:cNvPr>
          <p:cNvSpPr>
            <a:spLocks xmlns:a="http://schemas.openxmlformats.org/drawingml/2006/main" noGrp="1"/>
          </p:cNvSpPr>
          <p:nvPr/>
        </p:nvSpPr>
        <p:spPr>
          <a:xfrm xmlns:a="http://schemas.openxmlformats.org/drawingml/2006/main">
            <a:off x="2676525" y="4210050"/>
            <a:ext cx="2295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a:solidFill>
                  <a:srgbClr val="7A4000"/>
                </a:solidFill>
                <a:latin typeface="Helvetica Neue"/>
                <a:ea typeface="Helvetica Neue"/>
                <a:cs typeface="Helvetica Neue"/>
              </a:defRPr>
            </a:pPr>
            <a:r>
              <a:rPr sz="1200" b="1">
                <a:solidFill>
                  <a:srgbClr val="7A4000"/>
                </a:solidFill>
                <a:latin typeface="Helvetica Neue"/>
                <a:ea typeface="Helvetica Neue"/>
                <a:cs typeface="Helvetica Neue"/>
              </a:rPr>
              <a:t>buyer takes part</a:t>
            </a:r>
          </a:p>
        </p:txBody>
      </p:sp>
      <p:cxnSp>
        <p:nvCxnSpPr>
          <p:cNvPr id="42" name=""/>
          <p:cNvCxnSpPr>
            <a:stCxn xmlns:a="http://schemas.openxmlformats.org/drawingml/2006/main" id="8" idx="2"/>
            <a:endCxn xmlns:a="http://schemas.openxmlformats.org/drawingml/2006/main" id="10" idx="0"/>
          </p:cNvCxnSpPr>
          <p:nvPr/>
        </p:nvCxnSpPr>
        <p:spPr>
          <a:xfrm xmlns:a="http://schemas.openxmlformats.org/drawingml/2006/main" flipH="1">
            <a:off x="1500188" y="3733800"/>
            <a:ext cx="1452563" cy="285750"/>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cxnSp>
        <p:nvCxnSpPr>
          <p:cNvPr id="43" name=""/>
          <p:cNvCxnSpPr>
            <a:stCxn xmlns:a="http://schemas.openxmlformats.org/drawingml/2006/main" id="8" idx="2"/>
            <a:endCxn xmlns:a="http://schemas.openxmlformats.org/drawingml/2006/main" id="12" idx="0"/>
          </p:cNvCxnSpPr>
          <p:nvPr/>
        </p:nvCxnSpPr>
        <p:spPr>
          <a:xfrm xmlns:a="http://schemas.openxmlformats.org/drawingml/2006/main">
            <a:off x="2952750" y="3733800"/>
            <a:ext cx="871538" cy="285750"/>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16" name="">
            <a:extLst xmlns:a="http://schemas.openxmlformats.org/drawingml/2006/main">
              <a:ext uri="{FF2B5EF4-FFF2-40B4-BE49-F238E27FC236}">
                <a16:creationId xmlns:a16="http://schemas.microsoft.com/office/drawing/2014/main" id="{FF9D3183-E78E-4532-8A09-451E51DE1FD7}"/>
              </a:ext>
            </a:extLst>
          </p:cNvPr>
          <p:cNvSpPr>
            <a:spLocks xmlns:a="http://schemas.openxmlformats.org/drawingml/2006/main" noGrp="1"/>
          </p:cNvSpPr>
          <p:nvPr/>
        </p:nvSpPr>
        <p:spPr>
          <a:xfrm xmlns:a="http://schemas.openxmlformats.org/drawingml/2006/main">
            <a:off x="5943600" y="1809750"/>
            <a:ext cx="9525" cy="339090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CECBBE6-4B5C-4E06-863D-ECDF6EEABDFB}"/>
              </a:ext>
            </a:extLst>
          </p:cNvPr>
          <p:cNvSpPr>
            <a:spLocks xmlns:a="http://schemas.openxmlformats.org/drawingml/2006/main" noGrp="1"/>
          </p:cNvSpPr>
          <p:nvPr/>
        </p:nvSpPr>
        <p:spPr>
          <a:xfrm xmlns:a="http://schemas.openxmlformats.org/drawingml/2006/main">
            <a:off x="6572250" y="188595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AUDITABILITY</a:t>
            </a:r>
          </a:p>
        </p:txBody>
      </p:sp>
      <p:sp>
        <p:nvSpPr>
          <p:cNvPr id="18" name="">
            <a:extLst xmlns:a="http://schemas.openxmlformats.org/drawingml/2006/main">
              <a:ext uri="{FF2B5EF4-FFF2-40B4-BE49-F238E27FC236}">
                <a16:creationId xmlns:a16="http://schemas.microsoft.com/office/drawing/2014/main" id="{06260A0B-5356-47D2-97AF-2587E722E95F}"/>
              </a:ext>
            </a:extLst>
          </p:cNvPr>
          <p:cNvSpPr>
            <a:spLocks xmlns:a="http://schemas.openxmlformats.org/drawingml/2006/main" noGrp="1"/>
          </p:cNvSpPr>
          <p:nvPr/>
        </p:nvSpPr>
        <p:spPr>
          <a:xfrm xmlns:a="http://schemas.openxmlformats.org/drawingml/2006/main">
            <a:off x="6572250" y="2228850"/>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Inspect the onchain record.</a:t>
            </a:r>
          </a:p>
        </p:txBody>
      </p:sp>
      <p:sp>
        <p:nvSpPr>
          <p:cNvPr id="19" name="">
            <a:extLst xmlns:a="http://schemas.openxmlformats.org/drawingml/2006/main">
              <a:ext uri="{FF2B5EF4-FFF2-40B4-BE49-F238E27FC236}">
                <a16:creationId xmlns:a16="http://schemas.microsoft.com/office/drawing/2014/main" id="{DE9518DA-137C-4ADB-8466-F1CC86D6E44B}"/>
              </a:ext>
            </a:extLst>
          </p:cNvPr>
          <p:cNvSpPr>
            <a:spLocks xmlns:a="http://schemas.openxmlformats.org/drawingml/2006/main" noGrp="1"/>
          </p:cNvSpPr>
          <p:nvPr/>
        </p:nvSpPr>
        <p:spPr>
          <a:xfrm xmlns:a="http://schemas.openxmlformats.org/drawingml/2006/main">
            <a:off x="6572250" y="31623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01</a:t>
            </a:r>
          </a:p>
        </p:txBody>
      </p:sp>
      <p:sp>
        <p:nvSpPr>
          <p:cNvPr id="20" name="">
            <a:extLst xmlns:a="http://schemas.openxmlformats.org/drawingml/2006/main">
              <a:ext uri="{FF2B5EF4-FFF2-40B4-BE49-F238E27FC236}">
                <a16:creationId xmlns:a16="http://schemas.microsoft.com/office/drawing/2014/main" id="{E45D3186-93EB-491E-8C70-67BA10C383CD}"/>
              </a:ext>
            </a:extLst>
          </p:cNvPr>
          <p:cNvSpPr>
            <a:spLocks xmlns:a="http://schemas.openxmlformats.org/drawingml/2006/main" noGrp="1"/>
          </p:cNvSpPr>
          <p:nvPr/>
        </p:nvSpPr>
        <p:spPr>
          <a:xfrm xmlns:a="http://schemas.openxmlformats.org/drawingml/2006/main">
            <a:off x="7200900" y="31432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2457F5"/>
                </a:solidFill>
                <a:latin typeface="Helvetica Neue"/>
                <a:ea typeface="Helvetica Neue"/>
                <a:cs typeface="Helvetica Neue"/>
              </a:defRPr>
            </a:pPr>
            <a:r>
              <a:rPr sz="1650" b="1">
                <a:solidFill>
                  <a:srgbClr val="2457F5"/>
                </a:solidFill>
                <a:latin typeface="Helvetica Neue"/>
                <a:ea typeface="Helvetica Neue"/>
                <a:cs typeface="Helvetica Neue"/>
              </a:rPr>
              <a:t>Vault balance</a:t>
            </a:r>
          </a:p>
        </p:txBody>
      </p:sp>
      <p:sp>
        <p:nvSpPr>
          <p:cNvPr id="21" name="">
            <a:extLst xmlns:a="http://schemas.openxmlformats.org/drawingml/2006/main">
              <a:ext uri="{FF2B5EF4-FFF2-40B4-BE49-F238E27FC236}">
                <a16:creationId xmlns:a16="http://schemas.microsoft.com/office/drawing/2014/main" id="{C2B79F59-BD31-4DC9-B8C5-4CA79DB8B232}"/>
              </a:ext>
            </a:extLst>
          </p:cNvPr>
          <p:cNvSpPr>
            <a:spLocks xmlns:a="http://schemas.openxmlformats.org/drawingml/2006/main" noGrp="1"/>
          </p:cNvSpPr>
          <p:nvPr/>
        </p:nvSpPr>
        <p:spPr>
          <a:xfrm xmlns:a="http://schemas.openxmlformats.org/drawingml/2006/main">
            <a:off x="6572250" y="35623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475BDB4-CB86-4C47-9A73-7259A2052554}"/>
              </a:ext>
            </a:extLst>
          </p:cNvPr>
          <p:cNvSpPr>
            <a:spLocks xmlns:a="http://schemas.openxmlformats.org/drawingml/2006/main" noGrp="1"/>
          </p:cNvSpPr>
          <p:nvPr/>
        </p:nvSpPr>
        <p:spPr>
          <a:xfrm xmlns:a="http://schemas.openxmlformats.org/drawingml/2006/main">
            <a:off x="6572250" y="3848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02</a:t>
            </a:r>
          </a:p>
        </p:txBody>
      </p:sp>
      <p:sp>
        <p:nvSpPr>
          <p:cNvPr id="23" name="">
            <a:extLst xmlns:a="http://schemas.openxmlformats.org/drawingml/2006/main">
              <a:ext uri="{FF2B5EF4-FFF2-40B4-BE49-F238E27FC236}">
                <a16:creationId xmlns:a16="http://schemas.microsoft.com/office/drawing/2014/main" id="{BF11307E-451E-4357-81FC-1131B2BA0E3E}"/>
              </a:ext>
            </a:extLst>
          </p:cNvPr>
          <p:cNvSpPr>
            <a:spLocks xmlns:a="http://schemas.openxmlformats.org/drawingml/2006/main" noGrp="1"/>
          </p:cNvSpPr>
          <p:nvPr/>
        </p:nvSpPr>
        <p:spPr>
          <a:xfrm xmlns:a="http://schemas.openxmlformats.org/drawingml/2006/main">
            <a:off x="7200900" y="38290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01820"/>
                </a:solidFill>
                <a:latin typeface="Helvetica Neue"/>
                <a:ea typeface="Helvetica Neue"/>
                <a:cs typeface="Helvetica Neue"/>
              </a:defRPr>
            </a:pPr>
            <a:r>
              <a:rPr sz="1650" b="1">
                <a:solidFill>
                  <a:srgbClr val="101820"/>
                </a:solidFill>
                <a:latin typeface="Helvetica Neue"/>
                <a:ea typeface="Helvetica Neue"/>
                <a:cs typeface="Helvetica Neue"/>
              </a:rPr>
              <a:t>Claims outstanding</a:t>
            </a:r>
          </a:p>
        </p:txBody>
      </p:sp>
      <p:sp>
        <p:nvSpPr>
          <p:cNvPr id="24" name="">
            <a:extLst xmlns:a="http://schemas.openxmlformats.org/drawingml/2006/main">
              <a:ext uri="{FF2B5EF4-FFF2-40B4-BE49-F238E27FC236}">
                <a16:creationId xmlns:a16="http://schemas.microsoft.com/office/drawing/2014/main" id="{DD26B8EB-B876-433D-9D25-979F04984971}"/>
              </a:ext>
            </a:extLst>
          </p:cNvPr>
          <p:cNvSpPr>
            <a:spLocks xmlns:a="http://schemas.openxmlformats.org/drawingml/2006/main" noGrp="1"/>
          </p:cNvSpPr>
          <p:nvPr/>
        </p:nvSpPr>
        <p:spPr>
          <a:xfrm xmlns:a="http://schemas.openxmlformats.org/drawingml/2006/main">
            <a:off x="6572250" y="42481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E996B95-F608-48FF-95D8-37707D4AE543}"/>
              </a:ext>
            </a:extLst>
          </p:cNvPr>
          <p:cNvSpPr>
            <a:spLocks xmlns:a="http://schemas.openxmlformats.org/drawingml/2006/main" noGrp="1"/>
          </p:cNvSpPr>
          <p:nvPr/>
        </p:nvSpPr>
        <p:spPr>
          <a:xfrm xmlns:a="http://schemas.openxmlformats.org/drawingml/2006/main">
            <a:off x="6572250" y="4533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03</a:t>
            </a:r>
          </a:p>
        </p:txBody>
      </p:sp>
      <p:sp>
        <p:nvSpPr>
          <p:cNvPr id="26" name="">
            <a:extLst xmlns:a="http://schemas.openxmlformats.org/drawingml/2006/main">
              <a:ext uri="{FF2B5EF4-FFF2-40B4-BE49-F238E27FC236}">
                <a16:creationId xmlns:a16="http://schemas.microsoft.com/office/drawing/2014/main" id="{7C121C9B-9078-415F-9065-B75E09BAB4B2}"/>
              </a:ext>
            </a:extLst>
          </p:cNvPr>
          <p:cNvSpPr>
            <a:spLocks xmlns:a="http://schemas.openxmlformats.org/drawingml/2006/main" noGrp="1"/>
          </p:cNvSpPr>
          <p:nvPr/>
        </p:nvSpPr>
        <p:spPr>
          <a:xfrm xmlns:a="http://schemas.openxmlformats.org/drawingml/2006/main">
            <a:off x="7200900" y="45148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01820"/>
                </a:solidFill>
                <a:latin typeface="Helvetica Neue"/>
                <a:ea typeface="Helvetica Neue"/>
                <a:cs typeface="Helvetica Neue"/>
              </a:defRPr>
            </a:pPr>
            <a:r>
              <a:rPr sz="1650" b="1">
                <a:solidFill>
                  <a:srgbClr val="101820"/>
                </a:solidFill>
                <a:latin typeface="Helvetica Neue"/>
                <a:ea typeface="Helvetica Neue"/>
                <a:cs typeface="Helvetica Neue"/>
              </a:rPr>
              <a:t>Redemption history</a:t>
            </a:r>
          </a:p>
        </p:txBody>
      </p:sp>
      <p:sp>
        <p:nvSpPr>
          <p:cNvPr id="27" name="">
            <a:extLst xmlns:a="http://schemas.openxmlformats.org/drawingml/2006/main">
              <a:ext uri="{FF2B5EF4-FFF2-40B4-BE49-F238E27FC236}">
                <a16:creationId xmlns:a16="http://schemas.microsoft.com/office/drawing/2014/main" id="{EB8EE223-1CC2-450B-9CD4-85A9E14F9BE3}"/>
              </a:ext>
            </a:extLst>
          </p:cNvPr>
          <p:cNvSpPr>
            <a:spLocks xmlns:a="http://schemas.openxmlformats.org/drawingml/2006/main" noGrp="1"/>
          </p:cNvSpPr>
          <p:nvPr/>
        </p:nvSpPr>
        <p:spPr>
          <a:xfrm xmlns:a="http://schemas.openxmlformats.org/drawingml/2006/main">
            <a:off x="6572250" y="49339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13BC326-923E-4E55-8980-ECF5CBCB603B}"/>
              </a:ext>
            </a:extLst>
          </p:cNvPr>
          <p:cNvSpPr>
            <a:spLocks xmlns:a="http://schemas.openxmlformats.org/drawingml/2006/main" noGrp="1"/>
          </p:cNvSpPr>
          <p:nvPr/>
        </p:nvSpPr>
        <p:spPr>
          <a:xfrm xmlns:a="http://schemas.openxmlformats.org/drawingml/2006/main">
            <a:off x="762000" y="577215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A common claim interface for other Solana applications.</a:t>
            </a:r>
          </a:p>
        </p:txBody>
      </p:sp>
    </p:spTree>
    <p:extLst>
      <p:ext uri="{BB962C8B-B14F-4D97-AF65-F5344CB8AC3E}">
        <p14:creationId xmlns:p14="http://schemas.microsoft.com/office/powerpoint/2010/main" val="638974403"/>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26911F6-A9DC-48BC-B9FC-559FB07EF1C8}"/>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3B6B3C6-05DD-49C3-8D92-EB9C6A1768FB}"/>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710D597-F361-4861-8BED-F3B3A5A3C312}"/>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82684642-7AB4-40A6-ADCB-9D835B630F07}"/>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Coca-Cola, in dollars</a:t>
            </a:r>
          </a:p>
        </p:txBody>
      </p:sp>
      <p:sp>
        <p:nvSpPr>
          <p:cNvPr id="5" name="">
            <a:extLst xmlns:a="http://schemas.openxmlformats.org/drawingml/2006/main">
              <a:ext uri="{FF2B5EF4-FFF2-40B4-BE49-F238E27FC236}">
                <a16:creationId xmlns:a16="http://schemas.microsoft.com/office/drawing/2014/main" id="{55197E99-9D1E-474D-BCE9-E875F0B42D1A}"/>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08</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1a03750130b94e0f"/>
          <a:srcRect xmlns:a="http://schemas.openxmlformats.org/drawingml/2006/main" l="0" t="8194" r="0" b="8194"/>
          <a:stretch xmlns:a="http://schemas.openxmlformats.org/drawingml/2006/main">
            <a:fillRect l="0" t="0" r="0" b="0"/>
          </a:stretch>
        </p:blipFill>
        <p:spPr>
          <a:xfrm xmlns:a="http://schemas.openxmlformats.org/drawingml/2006/main">
            <a:off x="523875" y="1581150"/>
            <a:ext cx="7381875" cy="4714875"/>
          </a:xfrm>
          <a:prstGeom xmlns:a="http://schemas.openxmlformats.org/drawingml/2006/main" prst="roundRect">
            <a:avLst>
              <a:gd name="adj" fmla="val 2828"/>
            </a:avLst>
          </a:prstGeom>
        </p:spPr>
      </p:pic>
      <p:sp>
        <p:nvSpPr>
          <p:cNvPr id="7" name="">
            <a:extLst xmlns:a="http://schemas.openxmlformats.org/drawingml/2006/main">
              <a:ext uri="{FF2B5EF4-FFF2-40B4-BE49-F238E27FC236}">
                <a16:creationId xmlns:a16="http://schemas.microsoft.com/office/drawing/2014/main" id="{65B90961-BAB9-4058-86B7-F4896C6231F0}"/>
              </a:ext>
            </a:extLst>
          </p:cNvPr>
          <p:cNvSpPr>
            <a:spLocks xmlns:a="http://schemas.openxmlformats.org/drawingml/2006/main" noGrp="1"/>
          </p:cNvSpPr>
          <p:nvPr/>
        </p:nvSpPr>
        <p:spPr>
          <a:xfrm xmlns:a="http://schemas.openxmlformats.org/drawingml/2006/main">
            <a:off x="8334375" y="17907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HISTORICAL SCENARIO</a:t>
            </a:r>
          </a:p>
        </p:txBody>
      </p:sp>
      <p:sp>
        <p:nvSpPr>
          <p:cNvPr id="8" name="">
            <a:extLst xmlns:a="http://schemas.openxmlformats.org/drawingml/2006/main">
              <a:ext uri="{FF2B5EF4-FFF2-40B4-BE49-F238E27FC236}">
                <a16:creationId xmlns:a16="http://schemas.microsoft.com/office/drawing/2014/main" id="{88EEAAAB-7EE0-43A2-99FB-845D1F8DE761}"/>
              </a:ext>
            </a:extLst>
          </p:cNvPr>
          <p:cNvSpPr>
            <a:spLocks xmlns:a="http://schemas.openxmlformats.org/drawingml/2006/main" noGrp="1"/>
          </p:cNvSpPr>
          <p:nvPr/>
        </p:nvSpPr>
        <p:spPr>
          <a:xfrm xmlns:a="http://schemas.openxmlformats.org/drawingml/2006/main">
            <a:off x="8334375" y="209550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100 Coca-Cola share-equivalents</a:t>
            </a:r>
          </a:p>
        </p:txBody>
      </p:sp>
      <p:sp>
        <p:nvSpPr>
          <p:cNvPr id="9" name="">
            <a:extLst xmlns:a="http://schemas.openxmlformats.org/drawingml/2006/main">
              <a:ext uri="{FF2B5EF4-FFF2-40B4-BE49-F238E27FC236}">
                <a16:creationId xmlns:a16="http://schemas.microsoft.com/office/drawing/2014/main" id="{46E46AE0-B991-431A-B4F7-A859030D42CB}"/>
              </a:ext>
            </a:extLst>
          </p:cNvPr>
          <p:cNvSpPr>
            <a:spLocks xmlns:a="http://schemas.openxmlformats.org/drawingml/2006/main" noGrp="1"/>
          </p:cNvSpPr>
          <p:nvPr/>
        </p:nvSpPr>
        <p:spPr>
          <a:xfrm xmlns:a="http://schemas.openxmlformats.org/drawingml/2006/main">
            <a:off x="8334375" y="26479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KOx</a:t>
            </a:r>
          </a:p>
        </p:txBody>
      </p:sp>
      <p:sp>
        <p:nvSpPr>
          <p:cNvPr id="10" name="">
            <a:extLst xmlns:a="http://schemas.openxmlformats.org/drawingml/2006/main">
              <a:ext uri="{FF2B5EF4-FFF2-40B4-BE49-F238E27FC236}">
                <a16:creationId xmlns:a16="http://schemas.microsoft.com/office/drawing/2014/main" id="{6B47A3CE-A77E-4787-A0E3-5367A3F836AC}"/>
              </a:ext>
            </a:extLst>
          </p:cNvPr>
          <p:cNvSpPr>
            <a:spLocks xmlns:a="http://schemas.openxmlformats.org/drawingml/2006/main" noGrp="1"/>
          </p:cNvSpPr>
          <p:nvPr/>
        </p:nvSpPr>
        <p:spPr>
          <a:xfrm xmlns:a="http://schemas.openxmlformats.org/drawingml/2006/main">
            <a:off x="8334375" y="300990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2457F5"/>
                </a:solidFill>
                <a:latin typeface="Helvetica Neue"/>
                <a:ea typeface="Helvetica Neue"/>
                <a:cs typeface="Helvetica Neue"/>
              </a:defRPr>
            </a:pPr>
            <a:r>
              <a:rPr sz="2550" b="1">
                <a:solidFill>
                  <a:srgbClr val="2457F5"/>
                </a:solidFill>
                <a:latin typeface="Helvetica Neue"/>
                <a:ea typeface="Helvetica Neue"/>
                <a:cs typeface="Helvetica Neue"/>
              </a:rPr>
              <a:t>≈ $8,935</a:t>
            </a:r>
          </a:p>
        </p:txBody>
      </p:sp>
      <p:sp>
        <p:nvSpPr>
          <p:cNvPr id="11" name="">
            <a:extLst xmlns:a="http://schemas.openxmlformats.org/drawingml/2006/main">
              <a:ext uri="{FF2B5EF4-FFF2-40B4-BE49-F238E27FC236}">
                <a16:creationId xmlns:a16="http://schemas.microsoft.com/office/drawing/2014/main" id="{D9D4F9B5-3B41-476A-9178-B9AC95495C60}"/>
              </a:ext>
            </a:extLst>
          </p:cNvPr>
          <p:cNvSpPr>
            <a:spLocks xmlns:a="http://schemas.openxmlformats.org/drawingml/2006/main" noGrp="1"/>
          </p:cNvSpPr>
          <p:nvPr/>
        </p:nvSpPr>
        <p:spPr>
          <a:xfrm xmlns:a="http://schemas.openxmlformats.org/drawingml/2006/main">
            <a:off x="8334375" y="3429000"/>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100.0000 KOx · stock exposure</a:t>
            </a:r>
          </a:p>
        </p:txBody>
      </p:sp>
      <p:sp>
        <p:nvSpPr>
          <p:cNvPr id="12" name="">
            <a:extLst xmlns:a="http://schemas.openxmlformats.org/drawingml/2006/main">
              <a:ext uri="{FF2B5EF4-FFF2-40B4-BE49-F238E27FC236}">
                <a16:creationId xmlns:a16="http://schemas.microsoft.com/office/drawing/2014/main" id="{B70612AC-5877-458D-8188-7089710DDA71}"/>
              </a:ext>
            </a:extLst>
          </p:cNvPr>
          <p:cNvSpPr>
            <a:spLocks xmlns:a="http://schemas.openxmlformats.org/drawingml/2006/main" noGrp="1"/>
          </p:cNvSpPr>
          <p:nvPr/>
        </p:nvSpPr>
        <p:spPr>
          <a:xfrm xmlns:a="http://schemas.openxmlformats.org/drawingml/2006/main">
            <a:off x="8334375" y="38766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C46A00"/>
                </a:solidFill>
                <a:latin typeface="Helvetica Neue"/>
                <a:ea typeface="Helvetica Neue"/>
                <a:cs typeface="Helvetica Neue"/>
              </a:defRPr>
            </a:pPr>
            <a:r>
              <a:rPr sz="2550" b="1">
                <a:solidFill>
                  <a:srgbClr val="C46A00"/>
                </a:solidFill>
                <a:latin typeface="Helvetica Neue"/>
                <a:ea typeface="Helvetica Neue"/>
                <a:cs typeface="Helvetica Neue"/>
              </a:rPr>
              <a:t>≈ $37.10</a:t>
            </a:r>
          </a:p>
        </p:txBody>
      </p:sp>
      <p:sp>
        <p:nvSpPr>
          <p:cNvPr id="13" name="">
            <a:extLst xmlns:a="http://schemas.openxmlformats.org/drawingml/2006/main">
              <a:ext uri="{FF2B5EF4-FFF2-40B4-BE49-F238E27FC236}">
                <a16:creationId xmlns:a16="http://schemas.microsoft.com/office/drawing/2014/main" id="{A85D1FEF-AB03-4976-AD81-67C7DFECC211}"/>
              </a:ext>
            </a:extLst>
          </p:cNvPr>
          <p:cNvSpPr>
            <a:spLocks xmlns:a="http://schemas.openxmlformats.org/drawingml/2006/main" noGrp="1"/>
          </p:cNvSpPr>
          <p:nvPr/>
        </p:nvSpPr>
        <p:spPr>
          <a:xfrm xmlns:a="http://schemas.openxmlformats.org/drawingml/2006/main">
            <a:off x="8334375" y="4295775"/>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0.4152 KOx · dividend allocation</a:t>
            </a:r>
          </a:p>
        </p:txBody>
      </p:sp>
      <p:sp>
        <p:nvSpPr>
          <p:cNvPr id="14" name="">
            <a:extLst xmlns:a="http://schemas.openxmlformats.org/drawingml/2006/main">
              <a:ext uri="{FF2B5EF4-FFF2-40B4-BE49-F238E27FC236}">
                <a16:creationId xmlns:a16="http://schemas.microsoft.com/office/drawing/2014/main" id="{4E722180-FCDE-40A8-899A-E133D535217F}"/>
              </a:ext>
            </a:extLst>
          </p:cNvPr>
          <p:cNvSpPr>
            <a:spLocks xmlns:a="http://schemas.openxmlformats.org/drawingml/2006/main" noGrp="1"/>
          </p:cNvSpPr>
          <p:nvPr/>
        </p:nvSpPr>
        <p:spPr>
          <a:xfrm xmlns:a="http://schemas.openxmlformats.org/drawingml/2006/main">
            <a:off x="8334375" y="47053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101820"/>
                </a:solidFill>
                <a:latin typeface="Helvetica Neue"/>
                <a:ea typeface="Helvetica Neue"/>
                <a:cs typeface="Helvetica Neue"/>
              </a:defRPr>
            </a:pPr>
            <a:r>
              <a:rPr sz="1200" b="1">
                <a:solidFill>
                  <a:srgbClr val="101820"/>
                </a:solidFill>
                <a:latin typeface="Helvetica Neue"/>
                <a:ea typeface="Helvetica Neue"/>
                <a:cs typeface="Helvetica Neue"/>
              </a:rPr>
              <a:t>At the event-implied $89.35/share</a:t>
            </a:r>
          </a:p>
        </p:txBody>
      </p:sp>
      <p:sp>
        <p:nvSpPr>
          <p:cNvPr id="15" name="">
            <a:extLst xmlns:a="http://schemas.openxmlformats.org/drawingml/2006/main">
              <a:ext uri="{FF2B5EF4-FFF2-40B4-BE49-F238E27FC236}">
                <a16:creationId xmlns:a16="http://schemas.microsoft.com/office/drawing/2014/main" id="{24A229C5-9628-4858-B16D-D9147ACF7B08}"/>
              </a:ext>
            </a:extLst>
          </p:cNvPr>
          <p:cNvSpPr>
            <a:spLocks xmlns:a="http://schemas.openxmlformats.org/drawingml/2006/main" noGrp="1"/>
          </p:cNvSpPr>
          <p:nvPr/>
        </p:nvSpPr>
        <p:spPr>
          <a:xfrm xmlns:a="http://schemas.openxmlformats.org/drawingml/2006/main">
            <a:off x="8334375" y="5048250"/>
            <a:ext cx="295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5ACDC57-BB09-4735-BC81-08DCB39E1D12}"/>
              </a:ext>
            </a:extLst>
          </p:cNvPr>
          <p:cNvSpPr>
            <a:spLocks xmlns:a="http://schemas.openxmlformats.org/drawingml/2006/main" noGrp="1"/>
          </p:cNvSpPr>
          <p:nvPr/>
        </p:nvSpPr>
        <p:spPr>
          <a:xfrm xmlns:a="http://schemas.openxmlformats.org/drawingml/2006/main">
            <a:off x="8334375" y="5219700"/>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Event · 15 September 2026</a:t>
            </a:r>
          </a:p>
        </p:txBody>
      </p:sp>
      <p:sp>
        <p:nvSpPr>
          <p:cNvPr id="17" name="">
            <a:extLst xmlns:a="http://schemas.openxmlformats.org/drawingml/2006/main">
              <a:ext uri="{FF2B5EF4-FFF2-40B4-BE49-F238E27FC236}">
                <a16:creationId xmlns:a16="http://schemas.microsoft.com/office/drawing/2014/main" id="{1CF985A5-86D6-4471-A895-DAC9DEC1A9AA}"/>
              </a:ext>
            </a:extLst>
          </p:cNvPr>
          <p:cNvSpPr>
            <a:spLocks xmlns:a="http://schemas.openxmlformats.org/drawingml/2006/main" noGrp="1"/>
          </p:cNvSpPr>
          <p:nvPr/>
        </p:nvSpPr>
        <p:spPr>
          <a:xfrm xmlns:a="http://schemas.openxmlformats.org/drawingml/2006/main">
            <a:off x="8334375" y="5686425"/>
            <a:ext cx="2952750" cy="552450"/>
          </a:xfrm>
          <a:prstGeom xmlns:a="http://schemas.openxmlformats.org/drawingml/2006/main" prst="roundRect">
            <a:avLst>
              <a:gd name="adj" fmla="val 13793"/>
            </a:avLst>
          </a:prstGeom>
          <a:solidFill xmlns:a="http://schemas.openxmlformats.org/drawingml/2006/main">
            <a:srgbClr val="10182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B09DF7D-69BB-4E51-A3EE-EDCDB7B189CB}"/>
              </a:ext>
            </a:extLst>
          </p:cNvPr>
          <p:cNvSpPr>
            <a:spLocks xmlns:a="http://schemas.openxmlformats.org/drawingml/2006/main" noGrp="1"/>
          </p:cNvSpPr>
          <p:nvPr/>
        </p:nvSpPr>
        <p:spPr>
          <a:xfrm xmlns:a="http://schemas.openxmlformats.org/drawingml/2006/main">
            <a:off x="8505825" y="5791200"/>
            <a:ext cx="2647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Working now: historical calculator</a:t>
            </a:r>
          </a:p>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Next: vault execution</a:t>
            </a:r>
          </a:p>
        </p:txBody>
      </p:sp>
    </p:spTree>
    <p:extLst>
      <p:ext uri="{BB962C8B-B14F-4D97-AF65-F5344CB8AC3E}">
        <p14:creationId xmlns:p14="http://schemas.microsoft.com/office/powerpoint/2010/main" val="730066775"/>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0D709A2-477F-464E-91F0-522158246144}"/>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A1DC941-8A55-4972-8162-04D541C831B8}"/>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DA50D91-CBDA-420B-98E2-25AE8F8F5FD7}"/>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29452CD8-858A-4543-9C2A-4F59E208C466}"/>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Solana issuers first</a:t>
            </a:r>
          </a:p>
        </p:txBody>
      </p:sp>
      <p:sp>
        <p:nvSpPr>
          <p:cNvPr id="5" name="">
            <a:extLst xmlns:a="http://schemas.openxmlformats.org/drawingml/2006/main">
              <a:ext uri="{FF2B5EF4-FFF2-40B4-BE49-F238E27FC236}">
                <a16:creationId xmlns:a16="http://schemas.microsoft.com/office/drawing/2014/main" id="{7332A973-6699-4C39-AC8F-7F95F6517801}"/>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8B51C1A1-6CA0-4F3B-B37B-250BBD15F73E}"/>
              </a:ext>
            </a:extLst>
          </p:cNvPr>
          <p:cNvSpPr>
            <a:spLocks xmlns:a="http://schemas.openxmlformats.org/drawingml/2006/main" noGrp="1"/>
          </p:cNvSpPr>
          <p:nvPr/>
        </p:nvSpPr>
        <p:spPr>
          <a:xfrm xmlns:a="http://schemas.openxmlformats.org/drawingml/2006/main">
            <a:off x="762000" y="184785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HACKATHON TARGET</a:t>
            </a:r>
          </a:p>
        </p:txBody>
      </p:sp>
      <p:sp>
        <p:nvSpPr>
          <p:cNvPr id="7" name="Deposit">
            <a:extLst xmlns:a="http://schemas.openxmlformats.org/drawingml/2006/main">
              <a:ext uri="{FF2B5EF4-FFF2-40B4-BE49-F238E27FC236}">
                <a16:creationId xmlns:a16="http://schemas.microsoft.com/office/drawing/2014/main" id="{2F748819-632C-4275-99CF-C2D0B1251F16}"/>
              </a:ext>
            </a:extLst>
          </p:cNvPr>
          <p:cNvSpPr>
            <a:spLocks xmlns:a="http://schemas.openxmlformats.org/drawingml/2006/main" noGrp="1"/>
          </p:cNvSpPr>
          <p:nvPr/>
        </p:nvSpPr>
        <p:spPr>
          <a:xfrm xmlns:a="http://schemas.openxmlformats.org/drawingml/2006/main">
            <a:off x="762000"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BEC02158-AF01-4532-9B20-992D16BF0CCE}"/>
              </a:ext>
            </a:extLst>
          </p:cNvPr>
          <p:cNvSpPr>
            <a:spLocks xmlns:a="http://schemas.openxmlformats.org/drawingml/2006/main" noGrp="1"/>
          </p:cNvSpPr>
          <p:nvPr/>
        </p:nvSpPr>
        <p:spPr>
          <a:xfrm xmlns:a="http://schemas.openxmlformats.org/drawingml/2006/main">
            <a:off x="914400"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Deposit</a:t>
            </a:r>
          </a:p>
        </p:txBody>
      </p:sp>
      <p:sp>
        <p:nvSpPr>
          <p:cNvPr id="9" name="Split">
            <a:extLst xmlns:a="http://schemas.openxmlformats.org/drawingml/2006/main">
              <a:ext uri="{FF2B5EF4-FFF2-40B4-BE49-F238E27FC236}">
                <a16:creationId xmlns:a16="http://schemas.microsoft.com/office/drawing/2014/main" id="{DB4B1C41-74CF-4867-A985-A0B9616C1BC0}"/>
              </a:ext>
            </a:extLst>
          </p:cNvPr>
          <p:cNvSpPr>
            <a:spLocks xmlns:a="http://schemas.openxmlformats.org/drawingml/2006/main" noGrp="1"/>
          </p:cNvSpPr>
          <p:nvPr/>
        </p:nvSpPr>
        <p:spPr>
          <a:xfrm xmlns:a="http://schemas.openxmlformats.org/drawingml/2006/main">
            <a:off x="3476625" y="2419350"/>
            <a:ext cx="1714500" cy="838200"/>
          </a:xfrm>
          <a:prstGeom xmlns:a="http://schemas.openxmlformats.org/drawingml/2006/main" prst="roundRect">
            <a:avLst>
              <a:gd name="adj" fmla="val 13636"/>
            </a:avLst>
          </a:prstGeom>
          <a:solidFill xmlns:a="http://schemas.openxmlformats.org/drawingml/2006/main">
            <a:srgbClr val="EAF0FF"/>
          </a:solidFill>
          <a:ln xmlns:a="http://schemas.openxmlformats.org/drawingml/2006/main" w="9525">
            <a:solidFill>
              <a:srgbClr val="2457F5"/>
            </a:solidFill>
            <a:prstDash val="solid"/>
          </a:ln>
        </p:spPr>
      </p:sp>
      <p:sp>
        <p:nvSpPr>
          <p:cNvPr id="10" name="">
            <a:extLst xmlns:a="http://schemas.openxmlformats.org/drawingml/2006/main">
              <a:ext uri="{FF2B5EF4-FFF2-40B4-BE49-F238E27FC236}">
                <a16:creationId xmlns:a16="http://schemas.microsoft.com/office/drawing/2014/main" id="{A9761FDE-25A0-4F04-9126-2404DAB8FD44}"/>
              </a:ext>
            </a:extLst>
          </p:cNvPr>
          <p:cNvSpPr>
            <a:spLocks xmlns:a="http://schemas.openxmlformats.org/drawingml/2006/main" noGrp="1"/>
          </p:cNvSpPr>
          <p:nvPr/>
        </p:nvSpPr>
        <p:spPr>
          <a:xfrm xmlns:a="http://schemas.openxmlformats.org/drawingml/2006/main">
            <a:off x="362902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2457F5"/>
                </a:solidFill>
                <a:latin typeface="Helvetica Neue"/>
                <a:ea typeface="Helvetica Neue"/>
                <a:cs typeface="Helvetica Neue"/>
              </a:defRPr>
            </a:pPr>
            <a:r>
              <a:rPr sz="1725" b="1">
                <a:solidFill>
                  <a:srgbClr val="2457F5"/>
                </a:solidFill>
                <a:latin typeface="Helvetica Neue"/>
                <a:ea typeface="Helvetica Neue"/>
                <a:cs typeface="Helvetica Neue"/>
              </a:rPr>
              <a:t>Split</a:t>
            </a:r>
          </a:p>
        </p:txBody>
      </p:sp>
      <p:sp>
        <p:nvSpPr>
          <p:cNvPr id="11" name="Sell the dividend">
            <a:extLst xmlns:a="http://schemas.openxmlformats.org/drawingml/2006/main">
              <a:ext uri="{FF2B5EF4-FFF2-40B4-BE49-F238E27FC236}">
                <a16:creationId xmlns:a16="http://schemas.microsoft.com/office/drawing/2014/main" id="{2C0D3083-7F1B-4055-B14D-B1AFA75DCFEA}"/>
              </a:ext>
            </a:extLst>
          </p:cNvPr>
          <p:cNvSpPr>
            <a:spLocks xmlns:a="http://schemas.openxmlformats.org/drawingml/2006/main" noGrp="1"/>
          </p:cNvSpPr>
          <p:nvPr/>
        </p:nvSpPr>
        <p:spPr>
          <a:xfrm xmlns:a="http://schemas.openxmlformats.org/drawingml/2006/main">
            <a:off x="6191250" y="2419350"/>
            <a:ext cx="2143125" cy="838200"/>
          </a:xfrm>
          <a:prstGeom xmlns:a="http://schemas.openxmlformats.org/drawingml/2006/main" prst="roundRect">
            <a:avLst>
              <a:gd name="adj" fmla="val 13636"/>
            </a:avLst>
          </a:prstGeom>
          <a:solidFill xmlns:a="http://schemas.openxmlformats.org/drawingml/2006/main">
            <a:srgbClr val="F8E8D4"/>
          </a:solidFill>
          <a:ln xmlns:a="http://schemas.openxmlformats.org/drawingml/2006/main" w="9525">
            <a:solidFill>
              <a:srgbClr val="C46A00"/>
            </a:solidFill>
            <a:prstDash val="solid"/>
          </a:ln>
        </p:spPr>
      </p:sp>
      <p:sp>
        <p:nvSpPr>
          <p:cNvPr id="12" name="">
            <a:extLst xmlns:a="http://schemas.openxmlformats.org/drawingml/2006/main">
              <a:ext uri="{FF2B5EF4-FFF2-40B4-BE49-F238E27FC236}">
                <a16:creationId xmlns:a16="http://schemas.microsoft.com/office/drawing/2014/main" id="{7424D9DC-D4FC-4D8A-A16D-36B454F111E7}"/>
              </a:ext>
            </a:extLst>
          </p:cNvPr>
          <p:cNvSpPr>
            <a:spLocks xmlns:a="http://schemas.openxmlformats.org/drawingml/2006/main" noGrp="1"/>
          </p:cNvSpPr>
          <p:nvPr/>
        </p:nvSpPr>
        <p:spPr>
          <a:xfrm xmlns:a="http://schemas.openxmlformats.org/drawingml/2006/main">
            <a:off x="6343650" y="2609850"/>
            <a:ext cx="1838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a:solidFill>
                  <a:srgbClr val="C46A00"/>
                </a:solidFill>
                <a:latin typeface="Helvetica Neue"/>
                <a:ea typeface="Helvetica Neue"/>
                <a:cs typeface="Helvetica Neue"/>
              </a:defRPr>
            </a:pPr>
            <a:r>
              <a:rPr sz="1575" b="1">
                <a:solidFill>
                  <a:srgbClr val="C46A00"/>
                </a:solidFill>
                <a:latin typeface="Helvetica Neue"/>
                <a:ea typeface="Helvetica Neue"/>
                <a:cs typeface="Helvetica Neue"/>
              </a:rPr>
              <a:t>Sell the dividend</a:t>
            </a:r>
          </a:p>
        </p:txBody>
      </p:sp>
      <p:sp>
        <p:nvSpPr>
          <p:cNvPr id="13" name="Redeem separately">
            <a:extLst xmlns:a="http://schemas.openxmlformats.org/drawingml/2006/main">
              <a:ext uri="{FF2B5EF4-FFF2-40B4-BE49-F238E27FC236}">
                <a16:creationId xmlns:a16="http://schemas.microsoft.com/office/drawing/2014/main" id="{C26BF184-848E-4667-946B-3568F621DCCE}"/>
              </a:ext>
            </a:extLst>
          </p:cNvPr>
          <p:cNvSpPr>
            <a:spLocks xmlns:a="http://schemas.openxmlformats.org/drawingml/2006/main" noGrp="1"/>
          </p:cNvSpPr>
          <p:nvPr/>
        </p:nvSpPr>
        <p:spPr>
          <a:xfrm xmlns:a="http://schemas.openxmlformats.org/drawingml/2006/main">
            <a:off x="8905875"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14" name="">
            <a:extLst xmlns:a="http://schemas.openxmlformats.org/drawingml/2006/main">
              <a:ext uri="{FF2B5EF4-FFF2-40B4-BE49-F238E27FC236}">
                <a16:creationId xmlns:a16="http://schemas.microsoft.com/office/drawing/2014/main" id="{900F862A-6FE8-4BEC-8806-90AC8BB24B99}"/>
              </a:ext>
            </a:extLst>
          </p:cNvPr>
          <p:cNvSpPr>
            <a:spLocks xmlns:a="http://schemas.openxmlformats.org/drawingml/2006/main" noGrp="1"/>
          </p:cNvSpPr>
          <p:nvPr/>
        </p:nvSpPr>
        <p:spPr>
          <a:xfrm xmlns:a="http://schemas.openxmlformats.org/drawingml/2006/main">
            <a:off x="905827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Redeem separately</a:t>
            </a:r>
          </a:p>
        </p:txBody>
      </p:sp>
      <p:cxnSp>
        <p:nvCxnSpPr>
          <p:cNvPr id="46" name=""/>
          <p:cNvCxnSpPr>
            <a:stCxn xmlns:a="http://schemas.openxmlformats.org/drawingml/2006/main" id="7" idx="3"/>
            <a:endCxn xmlns:a="http://schemas.openxmlformats.org/drawingml/2006/main" id="9" idx="1"/>
          </p:cNvCxnSpPr>
          <p:nvPr/>
        </p:nvCxnSpPr>
        <p:spPr>
          <a:xfrm xmlns:a="http://schemas.openxmlformats.org/drawingml/2006/main">
            <a:off x="2476500"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7" name=""/>
          <p:cNvCxnSpPr>
            <a:stCxn xmlns:a="http://schemas.openxmlformats.org/drawingml/2006/main" id="9" idx="3"/>
            <a:endCxn xmlns:a="http://schemas.openxmlformats.org/drawingml/2006/main" id="11" idx="1"/>
          </p:cNvCxnSpPr>
          <p:nvPr/>
        </p:nvCxnSpPr>
        <p:spPr>
          <a:xfrm xmlns:a="http://schemas.openxmlformats.org/drawingml/2006/main">
            <a:off x="5191125"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8" name=""/>
          <p:cNvCxnSpPr>
            <a:stCxn xmlns:a="http://schemas.openxmlformats.org/drawingml/2006/main" id="11" idx="3"/>
            <a:endCxn xmlns:a="http://schemas.openxmlformats.org/drawingml/2006/main" id="13" idx="1"/>
          </p:cNvCxnSpPr>
          <p:nvPr/>
        </p:nvCxnSpPr>
        <p:spPr>
          <a:xfrm xmlns:a="http://schemas.openxmlformats.org/drawingml/2006/main">
            <a:off x="8334375" y="2838450"/>
            <a:ext cx="571500"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sp>
        <p:nvSpPr>
          <p:cNvPr id="18" name="">
            <a:extLst xmlns:a="http://schemas.openxmlformats.org/drawingml/2006/main">
              <a:ext uri="{FF2B5EF4-FFF2-40B4-BE49-F238E27FC236}">
                <a16:creationId xmlns:a16="http://schemas.microsoft.com/office/drawing/2014/main" id="{78321F3A-EE05-4365-906D-C213A6D71B86}"/>
              </a:ext>
            </a:extLst>
          </p:cNvPr>
          <p:cNvSpPr>
            <a:spLocks xmlns:a="http://schemas.openxmlformats.org/drawingml/2006/main" noGrp="1"/>
          </p:cNvSpPr>
          <p:nvPr/>
        </p:nvSpPr>
        <p:spPr>
          <a:xfrm xmlns:a="http://schemas.openxmlformats.org/drawingml/2006/main">
            <a:off x="762000" y="36385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BUILD SCOPE AND ROADMAP</a:t>
            </a:r>
          </a:p>
        </p:txBody>
      </p:sp>
      <p:sp>
        <p:nvSpPr>
          <p:cNvPr id="19" name="">
            <a:extLst xmlns:a="http://schemas.openxmlformats.org/drawingml/2006/main">
              <a:ext uri="{FF2B5EF4-FFF2-40B4-BE49-F238E27FC236}">
                <a16:creationId xmlns:a16="http://schemas.microsoft.com/office/drawing/2014/main" id="{21228522-D793-4947-ACDD-5F3AE9A2EA3A}"/>
              </a:ext>
            </a:extLst>
          </p:cNvPr>
          <p:cNvSpPr>
            <a:spLocks xmlns:a="http://schemas.openxmlformats.org/drawingml/2006/main" noGrp="1"/>
          </p:cNvSpPr>
          <p:nvPr/>
        </p:nvSpPr>
        <p:spPr>
          <a:xfrm xmlns:a="http://schemas.openxmlformats.org/drawingml/2006/main">
            <a:off x="762000" y="3943350"/>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52C6760-D236-41DC-8F2C-2DD40A80170A}"/>
              </a:ext>
            </a:extLst>
          </p:cNvPr>
          <p:cNvSpPr>
            <a:spLocks xmlns:a="http://schemas.openxmlformats.org/drawingml/2006/main" noGrp="1"/>
          </p:cNvSpPr>
          <p:nvPr/>
        </p:nvSpPr>
        <p:spPr>
          <a:xfrm xmlns:a="http://schemas.openxmlformats.org/drawingml/2006/main">
            <a:off x="762000" y="414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01</a:t>
            </a:r>
          </a:p>
        </p:txBody>
      </p:sp>
      <p:sp>
        <p:nvSpPr>
          <p:cNvPr id="21" name="">
            <a:extLst xmlns:a="http://schemas.openxmlformats.org/drawingml/2006/main">
              <a:ext uri="{FF2B5EF4-FFF2-40B4-BE49-F238E27FC236}">
                <a16:creationId xmlns:a16="http://schemas.microsoft.com/office/drawing/2014/main" id="{B8703106-2F9D-4B5D-B9B5-E7C5BD520119}"/>
              </a:ext>
            </a:extLst>
          </p:cNvPr>
          <p:cNvSpPr>
            <a:spLocks xmlns:a="http://schemas.openxmlformats.org/drawingml/2006/main" noGrp="1"/>
          </p:cNvSpPr>
          <p:nvPr/>
        </p:nvSpPr>
        <p:spPr>
          <a:xfrm xmlns:a="http://schemas.openxmlformats.org/drawingml/2006/main">
            <a:off x="1381125" y="41243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2457F5"/>
                </a:solidFill>
                <a:latin typeface="Helvetica Neue"/>
                <a:ea typeface="Helvetica Neue"/>
                <a:cs typeface="Helvetica Neue"/>
              </a:defRPr>
            </a:pPr>
            <a:r>
              <a:rPr sz="1500" b="1">
                <a:solidFill>
                  <a:srgbClr val="2457F5"/>
                </a:solidFill>
                <a:latin typeface="Helvetica Neue"/>
                <a:ea typeface="Helvetica Neue"/>
                <a:cs typeface="Helvetica Neue"/>
              </a:rPr>
              <a:t>Initial Solana scope</a:t>
            </a:r>
          </a:p>
        </p:txBody>
      </p:sp>
      <p:sp>
        <p:nvSpPr>
          <p:cNvPr id="22" name="">
            <a:extLst xmlns:a="http://schemas.openxmlformats.org/drawingml/2006/main">
              <a:ext uri="{FF2B5EF4-FFF2-40B4-BE49-F238E27FC236}">
                <a16:creationId xmlns:a16="http://schemas.microsoft.com/office/drawing/2014/main" id="{D40F1EFE-01BA-4B1C-8BC5-D059A174C702}"/>
              </a:ext>
            </a:extLst>
          </p:cNvPr>
          <p:cNvSpPr>
            <a:spLocks xmlns:a="http://schemas.openxmlformats.org/drawingml/2006/main" noGrp="1"/>
          </p:cNvSpPr>
          <p:nvPr/>
        </p:nvSpPr>
        <p:spPr>
          <a:xfrm xmlns:a="http://schemas.openxmlformats.org/drawingml/2006/main">
            <a:off x="4362450" y="412432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xStocks · Backpack · Ondo</a:t>
            </a:r>
          </a:p>
        </p:txBody>
      </p:sp>
      <p:sp>
        <p:nvSpPr>
          <p:cNvPr id="23" name="">
            <a:extLst xmlns:a="http://schemas.openxmlformats.org/drawingml/2006/main">
              <a:ext uri="{FF2B5EF4-FFF2-40B4-BE49-F238E27FC236}">
                <a16:creationId xmlns:a16="http://schemas.microsoft.com/office/drawing/2014/main" id="{066EBDC0-75D4-447C-ADD5-5A5169A217DE}"/>
              </a:ext>
            </a:extLst>
          </p:cNvPr>
          <p:cNvSpPr>
            <a:spLocks xmlns:a="http://schemas.openxmlformats.org/drawingml/2006/main" noGrp="1"/>
          </p:cNvSpPr>
          <p:nvPr/>
        </p:nvSpPr>
        <p:spPr>
          <a:xfrm xmlns:a="http://schemas.openxmlformats.org/drawingml/2006/main">
            <a:off x="1381125" y="4514850"/>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CF8A50C-7208-4D9C-8283-44C38F85659C}"/>
              </a:ext>
            </a:extLst>
          </p:cNvPr>
          <p:cNvSpPr>
            <a:spLocks xmlns:a="http://schemas.openxmlformats.org/drawingml/2006/main" noGrp="1"/>
          </p:cNvSpPr>
          <p:nvPr/>
        </p:nvSpPr>
        <p:spPr>
          <a:xfrm xmlns:a="http://schemas.openxmlformats.org/drawingml/2006/main">
            <a:off x="762000" y="46863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02</a:t>
            </a:r>
          </a:p>
        </p:txBody>
      </p:sp>
      <p:sp>
        <p:nvSpPr>
          <p:cNvPr id="25" name="">
            <a:extLst xmlns:a="http://schemas.openxmlformats.org/drawingml/2006/main">
              <a:ext uri="{FF2B5EF4-FFF2-40B4-BE49-F238E27FC236}">
                <a16:creationId xmlns:a16="http://schemas.microsoft.com/office/drawing/2014/main" id="{ECAFE1DD-7B58-4416-994C-00605DD39A35}"/>
              </a:ext>
            </a:extLst>
          </p:cNvPr>
          <p:cNvSpPr>
            <a:spLocks xmlns:a="http://schemas.openxmlformats.org/drawingml/2006/main" noGrp="1"/>
          </p:cNvSpPr>
          <p:nvPr/>
        </p:nvSpPr>
        <p:spPr>
          <a:xfrm xmlns:a="http://schemas.openxmlformats.org/drawingml/2006/main">
            <a:off x="1381125" y="466725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7A4000"/>
                </a:solidFill>
                <a:latin typeface="Helvetica Neue"/>
                <a:ea typeface="Helvetica Neue"/>
                <a:cs typeface="Helvetica Neue"/>
              </a:defRPr>
            </a:pPr>
            <a:r>
              <a:rPr sz="1500" b="1">
                <a:solidFill>
                  <a:srgbClr val="7A4000"/>
                </a:solidFill>
                <a:latin typeface="Helvetica Neue"/>
                <a:ea typeface="Helvetica Neue"/>
                <a:cs typeface="Helvetica Neue"/>
              </a:rPr>
              <a:t>Selected stocks</a:t>
            </a:r>
          </a:p>
        </p:txBody>
      </p:sp>
      <p:sp>
        <p:nvSpPr>
          <p:cNvPr id="26" name="">
            <a:extLst xmlns:a="http://schemas.openxmlformats.org/drawingml/2006/main">
              <a:ext uri="{FF2B5EF4-FFF2-40B4-BE49-F238E27FC236}">
                <a16:creationId xmlns:a16="http://schemas.microsoft.com/office/drawing/2014/main" id="{AB712EAB-F30E-4A96-ABAE-42BF05BD8880}"/>
              </a:ext>
            </a:extLst>
          </p:cNvPr>
          <p:cNvSpPr>
            <a:spLocks xmlns:a="http://schemas.openxmlformats.org/drawingml/2006/main" noGrp="1"/>
          </p:cNvSpPr>
          <p:nvPr/>
        </p:nvSpPr>
        <p:spPr>
          <a:xfrm xmlns:a="http://schemas.openxmlformats.org/drawingml/2006/main">
            <a:off x="4362450" y="46672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Coca-Cola · Apple · Microsoft · Micron · Nike · IBM</a:t>
            </a:r>
          </a:p>
        </p:txBody>
      </p:sp>
      <p:sp>
        <p:nvSpPr>
          <p:cNvPr id="27" name="">
            <a:extLst xmlns:a="http://schemas.openxmlformats.org/drawingml/2006/main">
              <a:ext uri="{FF2B5EF4-FFF2-40B4-BE49-F238E27FC236}">
                <a16:creationId xmlns:a16="http://schemas.microsoft.com/office/drawing/2014/main" id="{C0198DD3-3624-4B3D-9503-3A01020ABEA7}"/>
              </a:ext>
            </a:extLst>
          </p:cNvPr>
          <p:cNvSpPr>
            <a:spLocks xmlns:a="http://schemas.openxmlformats.org/drawingml/2006/main" noGrp="1"/>
          </p:cNvSpPr>
          <p:nvPr/>
        </p:nvSpPr>
        <p:spPr>
          <a:xfrm xmlns:a="http://schemas.openxmlformats.org/drawingml/2006/main">
            <a:off x="1381125" y="5057775"/>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9BBB3A4-F39D-486D-88E0-277FED49C527}"/>
              </a:ext>
            </a:extLst>
          </p:cNvPr>
          <p:cNvSpPr>
            <a:spLocks xmlns:a="http://schemas.openxmlformats.org/drawingml/2006/main" noGrp="1"/>
          </p:cNvSpPr>
          <p:nvPr/>
        </p:nvSpPr>
        <p:spPr>
          <a:xfrm xmlns:a="http://schemas.openxmlformats.org/drawingml/2006/main">
            <a:off x="762000" y="52292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03</a:t>
            </a:r>
          </a:p>
        </p:txBody>
      </p:sp>
      <p:sp>
        <p:nvSpPr>
          <p:cNvPr id="29" name="">
            <a:extLst xmlns:a="http://schemas.openxmlformats.org/drawingml/2006/main">
              <a:ext uri="{FF2B5EF4-FFF2-40B4-BE49-F238E27FC236}">
                <a16:creationId xmlns:a16="http://schemas.microsoft.com/office/drawing/2014/main" id="{14A23154-F7B9-4535-9CB9-AB72452FA804}"/>
              </a:ext>
            </a:extLst>
          </p:cNvPr>
          <p:cNvSpPr>
            <a:spLocks xmlns:a="http://schemas.openxmlformats.org/drawingml/2006/main" noGrp="1"/>
          </p:cNvSpPr>
          <p:nvPr/>
        </p:nvSpPr>
        <p:spPr>
          <a:xfrm xmlns:a="http://schemas.openxmlformats.org/drawingml/2006/main">
            <a:off x="1381125" y="521017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Other networks later</a:t>
            </a:r>
          </a:p>
        </p:txBody>
      </p:sp>
      <p:sp>
        <p:nvSpPr>
          <p:cNvPr id="30" name="">
            <a:extLst xmlns:a="http://schemas.openxmlformats.org/drawingml/2006/main">
              <a:ext uri="{FF2B5EF4-FFF2-40B4-BE49-F238E27FC236}">
                <a16:creationId xmlns:a16="http://schemas.microsoft.com/office/drawing/2014/main" id="{9D53DBA3-B1EC-4057-A682-FA2C215E6C07}"/>
              </a:ext>
            </a:extLst>
          </p:cNvPr>
          <p:cNvSpPr>
            <a:spLocks xmlns:a="http://schemas.openxmlformats.org/drawingml/2006/main" noGrp="1"/>
          </p:cNvSpPr>
          <p:nvPr/>
        </p:nvSpPr>
        <p:spPr>
          <a:xfrm xmlns:a="http://schemas.openxmlformats.org/drawingml/2006/main">
            <a:off x="4362450" y="52101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Coinbase on Base · Robinhood Chain</a:t>
            </a:r>
          </a:p>
        </p:txBody>
      </p:sp>
      <p:sp>
        <p:nvSpPr>
          <p:cNvPr id="31" name="">
            <a:extLst xmlns:a="http://schemas.openxmlformats.org/drawingml/2006/main">
              <a:ext uri="{FF2B5EF4-FFF2-40B4-BE49-F238E27FC236}">
                <a16:creationId xmlns:a16="http://schemas.microsoft.com/office/drawing/2014/main" id="{C1ECD35C-5230-420C-99DC-60EE1CD27E55}"/>
              </a:ext>
            </a:extLst>
          </p:cNvPr>
          <p:cNvSpPr>
            <a:spLocks xmlns:a="http://schemas.openxmlformats.org/drawingml/2006/main" noGrp="1"/>
          </p:cNvSpPr>
          <p:nvPr/>
        </p:nvSpPr>
        <p:spPr>
          <a:xfrm xmlns:a="http://schemas.openxmlformats.org/drawingml/2006/main">
            <a:off x="762000" y="60388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Solana as the home base for dividend liquidity.</a:t>
            </a:r>
          </a:p>
        </p:txBody>
      </p:sp>
    </p:spTree>
    <p:extLst>
      <p:ext uri="{BB962C8B-B14F-4D97-AF65-F5344CB8AC3E}">
        <p14:creationId xmlns:p14="http://schemas.microsoft.com/office/powerpoint/2010/main" val="1023622752"/>
      </p:ext>
    </p:extLst>
  </p:cSld>
</p:sld>
</file>

<file path=ppt/theme/theme1.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2026-09-16T07:15:57.0410000Z</dcterms:created>
  <dcterms:modified xsi:type="dcterms:W3CDTF">2026-09-16T07:15:57.0410000Z</dcterms:modified>
</coreProperties>
</file>